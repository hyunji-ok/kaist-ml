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93" r:id="rId2"/>
    <p:sldId id="294" r:id="rId3"/>
    <p:sldId id="295" r:id="rId4"/>
    <p:sldId id="297" r:id="rId5"/>
    <p:sldId id="298" r:id="rId6"/>
    <p:sldId id="299" r:id="rId7"/>
    <p:sldId id="300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49" d="100"/>
          <a:sy n="49" d="100"/>
        </p:scale>
        <p:origin x="35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5F3-A77E-408E-9F90-D3B01E2760CC}" type="datetimeFigureOut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1C5F-1D0F-4256-BD1C-618DF4C9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78E696B-9374-4FC8-A4A4-DDB21E4308C9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601A0AE-82B0-4EE0-BB01-FCB58416881D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EF5DD2A-9A58-465F-9A0F-1C8629BE06FE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57CAFD41-B754-45DC-A522-98D3F864B24A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1E221B1-7A1E-426C-AF01-35749B7BF4ED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F4C3A041-F064-4634-BCB4-E288DF9234D4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37DB916-A8CC-4508-BDB7-A7C41CF51D78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6380F88-DEEA-4445-973D-596FFE796746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68E8D3-738E-482E-B8E9-37E700B6269C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FDD-37C3-44C6-926E-30504FBD2D12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9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0876C0D-36C2-4B2B-9620-3F481773C3BD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174896E-ED42-4D61-895F-99B0D2E268F3}" type="datetime1">
              <a:rPr lang="ko-KR" altLang="en-US" smtClean="0"/>
              <a:t>2015-08-28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94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2012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2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Learn hidden Markov model</a:t>
            </a:r>
          </a:p>
          <a:p>
            <a:pPr lvl="1"/>
            <a:r>
              <a:rPr lang="en-US" altLang="ko-KR" dirty="0" smtClean="0"/>
              <a:t>Transition from the static clustering to the dynamic clustering</a:t>
            </a:r>
          </a:p>
          <a:p>
            <a:pPr lvl="1"/>
            <a:r>
              <a:rPr lang="en-US" altLang="ko-KR" dirty="0" smtClean="0"/>
              <a:t>Understand the difference of the graphical model</a:t>
            </a:r>
          </a:p>
          <a:p>
            <a:r>
              <a:rPr lang="en-US" altLang="ko-KR" dirty="0" smtClean="0"/>
              <a:t>Know and able to answer the three major questions of HMM</a:t>
            </a:r>
          </a:p>
          <a:p>
            <a:pPr lvl="1"/>
            <a:r>
              <a:rPr lang="en-US" altLang="ko-KR" dirty="0" smtClean="0"/>
              <a:t>Know how to solve the evaluation question</a:t>
            </a:r>
          </a:p>
          <a:p>
            <a:pPr lvl="1"/>
            <a:r>
              <a:rPr lang="en-US" altLang="ko-KR" dirty="0" smtClean="0"/>
              <a:t>Know how to solve the decoding question</a:t>
            </a:r>
          </a:p>
          <a:p>
            <a:pPr lvl="1"/>
            <a:r>
              <a:rPr lang="en-US" altLang="ko-KR" dirty="0" smtClean="0"/>
              <a:t>Know how to solve the learning question</a:t>
            </a:r>
          </a:p>
          <a:p>
            <a:r>
              <a:rPr lang="en-US" altLang="ko-KR" dirty="0" smtClean="0"/>
              <a:t>Link to the previous lectures</a:t>
            </a:r>
          </a:p>
          <a:p>
            <a:pPr lvl="1"/>
            <a:r>
              <a:rPr lang="en-US" altLang="ko-KR" dirty="0" smtClean="0"/>
              <a:t>Link the forward-backward algorithm to the message passing</a:t>
            </a:r>
          </a:p>
          <a:p>
            <a:pPr lvl="1"/>
            <a:r>
              <a:rPr lang="en-US" altLang="ko-KR" dirty="0" smtClean="0"/>
              <a:t>Link the </a:t>
            </a:r>
            <a:r>
              <a:rPr lang="en-US" altLang="ko-KR" dirty="0" err="1" smtClean="0"/>
              <a:t>baum</a:t>
            </a:r>
            <a:r>
              <a:rPr lang="en-US" altLang="ko-KR" dirty="0" smtClean="0"/>
              <a:t>-welch algorithm to the </a:t>
            </a:r>
            <a:r>
              <a:rPr lang="en-US" altLang="ko-KR" smtClean="0"/>
              <a:t>EM algorithm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4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5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Time Series Data for GMM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5391"/>
            <a:ext cx="5737123" cy="200693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Imagine the following case</a:t>
            </a:r>
          </a:p>
          <a:p>
            <a:pPr lvl="1"/>
            <a:r>
              <a:rPr lang="en-US" altLang="ko-KR" dirty="0" smtClean="0"/>
              <a:t>Data points on the plane</a:t>
            </a:r>
          </a:p>
          <a:p>
            <a:pPr lvl="1"/>
            <a:r>
              <a:rPr lang="en-US" altLang="ko-KR" dirty="0" smtClean="0"/>
              <a:t>Have a temporal trace of data points</a:t>
            </a:r>
          </a:p>
          <a:p>
            <a:pPr lvl="1"/>
            <a:r>
              <a:rPr lang="en-US" altLang="ko-KR" dirty="0" smtClean="0"/>
              <a:t>Now, any broken assumption in the analysis?</a:t>
            </a:r>
          </a:p>
          <a:p>
            <a:r>
              <a:rPr lang="en-US" altLang="ko-KR" dirty="0" smtClean="0"/>
              <a:t>Any real world applications</a:t>
            </a:r>
          </a:p>
          <a:p>
            <a:pPr lvl="1"/>
            <a:r>
              <a:rPr lang="en-US" altLang="ko-KR" dirty="0" smtClean="0"/>
              <a:t>Many, many, many…</a:t>
            </a:r>
          </a:p>
          <a:p>
            <a:pPr lvl="1"/>
            <a:r>
              <a:rPr lang="en-US" altLang="ko-KR" dirty="0" smtClean="0"/>
              <a:t>Stock market analysis, text mining…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7422048" y="1015757"/>
            <a:ext cx="1224136" cy="2376264"/>
          </a:xfrm>
          <a:prstGeom prst="rect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710080" y="1303789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7710080" y="79653"/>
                <a:ext cx="648072" cy="57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080" y="79653"/>
                <a:ext cx="648072" cy="576064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7710080" y="2527925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304424" y="3022689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N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6440800" y="1626382"/>
                <a:ext cx="648072" cy="57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800" y="1626382"/>
                <a:ext cx="648072" cy="576064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6440800" y="2527925"/>
                <a:ext cx="648072" cy="57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800" y="2527925"/>
                <a:ext cx="648072" cy="576064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7" idx="4"/>
            <a:endCxn id="6" idx="0"/>
          </p:cNvCxnSpPr>
          <p:nvPr/>
        </p:nvCxnSpPr>
        <p:spPr>
          <a:xfrm>
            <a:off x="8034116" y="655717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4"/>
            <a:endCxn id="8" idx="0"/>
          </p:cNvCxnSpPr>
          <p:nvPr/>
        </p:nvCxnSpPr>
        <p:spPr>
          <a:xfrm>
            <a:off x="8034116" y="1879853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6"/>
            <a:endCxn id="8" idx="1"/>
          </p:cNvCxnSpPr>
          <p:nvPr/>
        </p:nvCxnSpPr>
        <p:spPr>
          <a:xfrm>
            <a:off x="7088872" y="1914414"/>
            <a:ext cx="716116" cy="69787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8" idx="2"/>
          </p:cNvCxnSpPr>
          <p:nvPr/>
        </p:nvCxnSpPr>
        <p:spPr>
          <a:xfrm>
            <a:off x="7088872" y="2815957"/>
            <a:ext cx="62120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65" y="3402669"/>
            <a:ext cx="4605732" cy="3455331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V="1">
            <a:off x="2381865" y="4933335"/>
            <a:ext cx="250722" cy="1696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2728452" y="4771103"/>
            <a:ext cx="7374" cy="1106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735826" y="4483510"/>
            <a:ext cx="147484" cy="2875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949677" y="4483510"/>
            <a:ext cx="81117" cy="663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3030794" y="4417142"/>
            <a:ext cx="199103" cy="1327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16575" y="6159143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DJIA</a:t>
            </a:r>
            <a:endParaRPr lang="ko-KR" altLang="en-US" sz="2400" b="1" dirty="0"/>
          </a:p>
        </p:txBody>
      </p:sp>
      <p:sp>
        <p:nvSpPr>
          <p:cNvPr id="32" name="TextBox 31"/>
          <p:cNvSpPr txBox="1"/>
          <p:nvPr/>
        </p:nvSpPr>
        <p:spPr>
          <a:xfrm rot="16200000">
            <a:off x="71041" y="5002098"/>
            <a:ext cx="1055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KOSPI</a:t>
            </a:r>
            <a:endParaRPr lang="ko-KR" altLang="en-US" sz="2400" b="1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384" y="3540580"/>
            <a:ext cx="3575603" cy="1904637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5585971" y="4817945"/>
            <a:ext cx="176980" cy="191729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35"/>
          <p:cNvSpPr/>
          <p:nvPr/>
        </p:nvSpPr>
        <p:spPr>
          <a:xfrm>
            <a:off x="5907216" y="4492898"/>
            <a:ext cx="176980" cy="191729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Straight Arrow Connector 37"/>
          <p:cNvCxnSpPr>
            <a:stCxn id="35" idx="7"/>
            <a:endCxn id="36" idx="2"/>
          </p:cNvCxnSpPr>
          <p:nvPr/>
        </p:nvCxnSpPr>
        <p:spPr>
          <a:xfrm flipV="1">
            <a:off x="5737033" y="4588763"/>
            <a:ext cx="170183" cy="2572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ular Callout 39"/>
          <p:cNvSpPr/>
          <p:nvPr/>
        </p:nvSpPr>
        <p:spPr>
          <a:xfrm>
            <a:off x="6084196" y="4913809"/>
            <a:ext cx="1150984" cy="397268"/>
          </a:xfrm>
          <a:prstGeom prst="wedgeRectCallout">
            <a:avLst>
              <a:gd name="adj1" fmla="val -72088"/>
              <a:gd name="adj2" fmla="val -91567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Related…</a:t>
            </a:r>
            <a:endParaRPr lang="ko-KR" altLang="en-US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2450" y="5656185"/>
            <a:ext cx="3739142" cy="825823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5585971" y="5656185"/>
            <a:ext cx="387126" cy="31691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Rectangle 42"/>
          <p:cNvSpPr/>
          <p:nvPr/>
        </p:nvSpPr>
        <p:spPr>
          <a:xfrm>
            <a:off x="6769510" y="5656185"/>
            <a:ext cx="538315" cy="31691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Straight Arrow Connector 43"/>
          <p:cNvCxnSpPr>
            <a:stCxn id="42" idx="3"/>
            <a:endCxn id="43" idx="1"/>
          </p:cNvCxnSpPr>
          <p:nvPr/>
        </p:nvCxnSpPr>
        <p:spPr>
          <a:xfrm>
            <a:off x="5973097" y="5814641"/>
            <a:ext cx="796413" cy="0"/>
          </a:xfrm>
          <a:prstGeom prst="straightConnector1">
            <a:avLst/>
          </a:prstGeom>
          <a:ln w="381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ular Callout 46"/>
          <p:cNvSpPr/>
          <p:nvPr/>
        </p:nvSpPr>
        <p:spPr>
          <a:xfrm>
            <a:off x="6061037" y="6287038"/>
            <a:ext cx="1150984" cy="397268"/>
          </a:xfrm>
          <a:prstGeom prst="wedgeRectCallout">
            <a:avLst>
              <a:gd name="adj1" fmla="val -19552"/>
              <a:gd name="adj2" fmla="val -16396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Related…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491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39" y="234317"/>
            <a:ext cx="8435280" cy="1138138"/>
          </a:xfrm>
        </p:spPr>
        <p:txBody>
          <a:bodyPr/>
          <a:lstStyle/>
          <a:p>
            <a:r>
              <a:rPr lang="en-US" altLang="ko-KR" dirty="0" smtClean="0"/>
              <a:t>What to Model and How to Model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13642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Previously, all data points are independent trials</a:t>
            </a:r>
          </a:p>
          <a:p>
            <a:pPr lvl="1"/>
            <a:r>
              <a:rPr lang="en-US" altLang="ko-KR" dirty="0" smtClean="0"/>
              <a:t>Now, they are not any further</a:t>
            </a:r>
          </a:p>
          <a:p>
            <a:r>
              <a:rPr lang="en-US" altLang="ko-KR" dirty="0" smtClean="0"/>
              <a:t>Temporal relation: causality from time t to time t+1</a:t>
            </a:r>
          </a:p>
          <a:p>
            <a:r>
              <a:rPr lang="en-US" altLang="ko-KR" dirty="0" smtClean="0"/>
              <a:t>Overall trend: latent state variables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1458800" y="4295773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z2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1453590" y="3123787"/>
                <a:ext cx="648072" cy="57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590" y="3123787"/>
                <a:ext cx="648072" cy="576064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1458800" y="5519909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x2</a:t>
            </a:r>
            <a:endParaRPr lang="ko-KR" altLang="en-US" b="1" dirty="0"/>
          </a:p>
        </p:txBody>
      </p:sp>
      <p:cxnSp>
        <p:nvCxnSpPr>
          <p:cNvPr id="12" name="Straight Arrow Connector 11"/>
          <p:cNvCxnSpPr>
            <a:stCxn id="7" idx="4"/>
            <a:endCxn id="6" idx="0"/>
          </p:cNvCxnSpPr>
          <p:nvPr/>
        </p:nvCxnSpPr>
        <p:spPr>
          <a:xfrm>
            <a:off x="1777626" y="3699851"/>
            <a:ext cx="5210" cy="59592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4"/>
            <a:endCxn id="8" idx="0"/>
          </p:cNvCxnSpPr>
          <p:nvPr/>
        </p:nvCxnSpPr>
        <p:spPr>
          <a:xfrm>
            <a:off x="1782836" y="4871837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7530957" y="647272"/>
            <a:ext cx="1361522" cy="2147299"/>
            <a:chOff x="6687096" y="57616"/>
            <a:chExt cx="2205384" cy="3312368"/>
          </a:xfrm>
        </p:grpSpPr>
        <p:sp>
          <p:nvSpPr>
            <p:cNvPr id="16" name="Rectangle 15"/>
            <p:cNvSpPr/>
            <p:nvPr/>
          </p:nvSpPr>
          <p:spPr>
            <a:xfrm>
              <a:off x="7668344" y="993720"/>
              <a:ext cx="1224136" cy="237626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956376" y="1281752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/>
                <a:t>z</a:t>
              </a:r>
              <a:endParaRPr lang="ko-KR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/>
                <p:cNvSpPr/>
                <p:nvPr/>
              </p:nvSpPr>
              <p:spPr>
                <a:xfrm>
                  <a:off x="7956376" y="57616"/>
                  <a:ext cx="648072" cy="57606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6376" y="57616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/>
            <p:cNvSpPr/>
            <p:nvPr/>
          </p:nvSpPr>
          <p:spPr>
            <a:xfrm>
              <a:off x="7956376" y="2505888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/>
                <a:t>x</a:t>
              </a:r>
              <a:endParaRPr lang="ko-KR" alt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50720" y="3000652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N</a:t>
              </a:r>
              <a:endParaRPr lang="ko-KR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/>
                <p:cNvSpPr/>
                <p:nvPr/>
              </p:nvSpPr>
              <p:spPr>
                <a:xfrm>
                  <a:off x="6687096" y="1604345"/>
                  <a:ext cx="648072" cy="57606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096" y="1604345"/>
                  <a:ext cx="648072" cy="576064"/>
                </a:xfrm>
                <a:prstGeom prst="ellipse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/>
                <p:cNvSpPr/>
                <p:nvPr/>
              </p:nvSpPr>
              <p:spPr>
                <a:xfrm>
                  <a:off x="6687096" y="2505888"/>
                  <a:ext cx="648072" cy="57606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Oval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096" y="2505888"/>
                  <a:ext cx="648072" cy="576064"/>
                </a:xfrm>
                <a:prstGeom prst="ellipse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/>
            <p:cNvCxnSpPr>
              <a:stCxn id="18" idx="4"/>
              <a:endCxn id="17" idx="0"/>
            </p:cNvCxnSpPr>
            <p:nvPr/>
          </p:nvCxnSpPr>
          <p:spPr>
            <a:xfrm>
              <a:off x="8280412" y="633680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7" idx="4"/>
              <a:endCxn id="19" idx="0"/>
            </p:cNvCxnSpPr>
            <p:nvPr/>
          </p:nvCxnSpPr>
          <p:spPr>
            <a:xfrm>
              <a:off x="8280412" y="1857816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1" idx="6"/>
              <a:endCxn id="19" idx="1"/>
            </p:cNvCxnSpPr>
            <p:nvPr/>
          </p:nvCxnSpPr>
          <p:spPr>
            <a:xfrm>
              <a:off x="7335168" y="1892377"/>
              <a:ext cx="716116" cy="69787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6"/>
              <a:endCxn id="19" idx="2"/>
            </p:cNvCxnSpPr>
            <p:nvPr/>
          </p:nvCxnSpPr>
          <p:spPr>
            <a:xfrm>
              <a:off x="7335168" y="2793920"/>
              <a:ext cx="62120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/>
          <p:cNvSpPr/>
          <p:nvPr/>
        </p:nvSpPr>
        <p:spPr>
          <a:xfrm>
            <a:off x="324674" y="4295773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z1</a:t>
            </a:r>
            <a:endParaRPr lang="ko-KR" altLang="en-US" b="1" dirty="0"/>
          </a:p>
        </p:txBody>
      </p:sp>
      <p:sp>
        <p:nvSpPr>
          <p:cNvPr id="29" name="Oval 28"/>
          <p:cNvSpPr/>
          <p:nvPr/>
        </p:nvSpPr>
        <p:spPr>
          <a:xfrm>
            <a:off x="324674" y="5519909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x1</a:t>
            </a:r>
            <a:endParaRPr lang="ko-KR" altLang="en-US" b="1" dirty="0"/>
          </a:p>
        </p:txBody>
      </p:sp>
      <p:cxnSp>
        <p:nvCxnSpPr>
          <p:cNvPr id="30" name="Straight Arrow Connector 29"/>
          <p:cNvCxnSpPr>
            <a:stCxn id="28" idx="4"/>
            <a:endCxn id="29" idx="0"/>
          </p:cNvCxnSpPr>
          <p:nvPr/>
        </p:nvCxnSpPr>
        <p:spPr>
          <a:xfrm>
            <a:off x="648710" y="4871837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4"/>
            <a:endCxn id="28" idx="0"/>
          </p:cNvCxnSpPr>
          <p:nvPr/>
        </p:nvCxnSpPr>
        <p:spPr>
          <a:xfrm flipH="1">
            <a:off x="648710" y="3699851"/>
            <a:ext cx="1128916" cy="59592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>
            <a:off x="3585984" y="3620065"/>
            <a:ext cx="616449" cy="1994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Oval 46"/>
          <p:cNvSpPr/>
          <p:nvPr/>
        </p:nvSpPr>
        <p:spPr>
          <a:xfrm>
            <a:off x="2598186" y="4295773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z3</a:t>
            </a:r>
            <a:endParaRPr lang="ko-KR" altLang="en-US" b="1" dirty="0"/>
          </a:p>
        </p:txBody>
      </p:sp>
      <p:sp>
        <p:nvSpPr>
          <p:cNvPr id="48" name="Oval 47"/>
          <p:cNvSpPr/>
          <p:nvPr/>
        </p:nvSpPr>
        <p:spPr>
          <a:xfrm>
            <a:off x="2598186" y="5519909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x3</a:t>
            </a:r>
            <a:endParaRPr lang="ko-KR" altLang="en-US" b="1" dirty="0"/>
          </a:p>
        </p:txBody>
      </p:sp>
      <p:cxnSp>
        <p:nvCxnSpPr>
          <p:cNvPr id="49" name="Straight Arrow Connector 48"/>
          <p:cNvCxnSpPr>
            <a:stCxn id="47" idx="4"/>
            <a:endCxn id="48" idx="0"/>
          </p:cNvCxnSpPr>
          <p:nvPr/>
        </p:nvCxnSpPr>
        <p:spPr>
          <a:xfrm>
            <a:off x="2922222" y="4871837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7" idx="4"/>
            <a:endCxn id="47" idx="0"/>
          </p:cNvCxnSpPr>
          <p:nvPr/>
        </p:nvCxnSpPr>
        <p:spPr>
          <a:xfrm>
            <a:off x="1777626" y="3699851"/>
            <a:ext cx="1144596" cy="59592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957648" y="4201945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z2</a:t>
            </a:r>
            <a:endParaRPr lang="ko-KR" altLang="en-US" b="1" dirty="0"/>
          </a:p>
        </p:txBody>
      </p:sp>
      <p:sp>
        <p:nvSpPr>
          <p:cNvPr id="57" name="Oval 56"/>
          <p:cNvSpPr/>
          <p:nvPr/>
        </p:nvSpPr>
        <p:spPr>
          <a:xfrm>
            <a:off x="6957648" y="5426081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x2</a:t>
            </a:r>
            <a:endParaRPr lang="ko-KR" altLang="en-US" b="1" dirty="0"/>
          </a:p>
        </p:txBody>
      </p:sp>
      <p:cxnSp>
        <p:nvCxnSpPr>
          <p:cNvPr id="58" name="Straight Arrow Connector 57"/>
          <p:cNvCxnSpPr>
            <a:stCxn id="60" idx="6"/>
            <a:endCxn id="55" idx="2"/>
          </p:cNvCxnSpPr>
          <p:nvPr/>
        </p:nvCxnSpPr>
        <p:spPr>
          <a:xfrm>
            <a:off x="6471594" y="4489977"/>
            <a:ext cx="48605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5" idx="4"/>
            <a:endCxn id="57" idx="0"/>
          </p:cNvCxnSpPr>
          <p:nvPr/>
        </p:nvCxnSpPr>
        <p:spPr>
          <a:xfrm>
            <a:off x="7281684" y="4778009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23522" y="4201945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z1</a:t>
            </a:r>
            <a:endParaRPr lang="ko-KR" alt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823522" y="5426081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x1</a:t>
            </a:r>
            <a:endParaRPr lang="ko-KR" altLang="en-US" b="1" dirty="0"/>
          </a:p>
        </p:txBody>
      </p:sp>
      <p:cxnSp>
        <p:nvCxnSpPr>
          <p:cNvPr id="62" name="Straight Arrow Connector 61"/>
          <p:cNvCxnSpPr>
            <a:stCxn id="60" idx="4"/>
            <a:endCxn id="61" idx="0"/>
          </p:cNvCxnSpPr>
          <p:nvPr/>
        </p:nvCxnSpPr>
        <p:spPr>
          <a:xfrm>
            <a:off x="6147558" y="4778009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68" idx="6"/>
            <a:endCxn id="60" idx="2"/>
          </p:cNvCxnSpPr>
          <p:nvPr/>
        </p:nvCxnSpPr>
        <p:spPr>
          <a:xfrm>
            <a:off x="5141352" y="4483899"/>
            <a:ext cx="682170" cy="607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097034" y="4201945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z3</a:t>
            </a:r>
            <a:endParaRPr lang="ko-KR" alt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097034" y="5426081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x3</a:t>
            </a:r>
            <a:endParaRPr lang="ko-KR" altLang="en-US" b="1" dirty="0"/>
          </a:p>
        </p:txBody>
      </p:sp>
      <p:cxnSp>
        <p:nvCxnSpPr>
          <p:cNvPr id="66" name="Straight Arrow Connector 65"/>
          <p:cNvCxnSpPr>
            <a:stCxn id="64" idx="4"/>
            <a:endCxn id="65" idx="0"/>
          </p:cNvCxnSpPr>
          <p:nvPr/>
        </p:nvCxnSpPr>
        <p:spPr>
          <a:xfrm>
            <a:off x="8421070" y="4778009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5" idx="6"/>
            <a:endCxn id="64" idx="2"/>
          </p:cNvCxnSpPr>
          <p:nvPr/>
        </p:nvCxnSpPr>
        <p:spPr>
          <a:xfrm>
            <a:off x="7605720" y="4489977"/>
            <a:ext cx="49131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/>
              <p:cNvSpPr/>
              <p:nvPr/>
            </p:nvSpPr>
            <p:spPr>
              <a:xfrm>
                <a:off x="4493280" y="4195867"/>
                <a:ext cx="648072" cy="57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Oval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280" y="4195867"/>
                <a:ext cx="648072" cy="576064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Left Brace 76"/>
          <p:cNvSpPr/>
          <p:nvPr/>
        </p:nvSpPr>
        <p:spPr>
          <a:xfrm rot="5400000">
            <a:off x="7005994" y="2418657"/>
            <a:ext cx="478922" cy="2938409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6187938" y="3255921"/>
            <a:ext cx="190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Latent Variables</a:t>
            </a:r>
            <a:endParaRPr lang="ko-KR" altLang="en-US" b="1" dirty="0"/>
          </a:p>
        </p:txBody>
      </p:sp>
      <p:sp>
        <p:nvSpPr>
          <p:cNvPr id="79" name="Left Brace 78"/>
          <p:cNvSpPr/>
          <p:nvPr/>
        </p:nvSpPr>
        <p:spPr>
          <a:xfrm rot="5400000">
            <a:off x="4596295" y="3463249"/>
            <a:ext cx="478922" cy="849226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3919475" y="3253392"/>
            <a:ext cx="1971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Initial State </a:t>
            </a:r>
            <a:r>
              <a:rPr lang="en-US" altLang="ko-KR" b="1" dirty="0" err="1" smtClean="0"/>
              <a:t>Prob</a:t>
            </a:r>
            <a:endParaRPr lang="ko-KR" altLang="en-US" b="1" dirty="0"/>
          </a:p>
        </p:txBody>
      </p:sp>
      <p:sp>
        <p:nvSpPr>
          <p:cNvPr id="81" name="TextBox 80"/>
          <p:cNvSpPr txBox="1"/>
          <p:nvPr/>
        </p:nvSpPr>
        <p:spPr>
          <a:xfrm>
            <a:off x="3784980" y="6085286"/>
            <a:ext cx="2228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Temporal Causality</a:t>
            </a:r>
            <a:endParaRPr lang="ko-KR" altLang="en-US" b="1" dirty="0"/>
          </a:p>
        </p:txBody>
      </p:sp>
      <p:sp>
        <p:nvSpPr>
          <p:cNvPr id="82" name="Freeform 81"/>
          <p:cNvSpPr/>
          <p:nvPr/>
        </p:nvSpPr>
        <p:spPr>
          <a:xfrm>
            <a:off x="6010382" y="4572000"/>
            <a:ext cx="779168" cy="1903518"/>
          </a:xfrm>
          <a:custGeom>
            <a:avLst/>
            <a:gdLst>
              <a:gd name="connsiteX0" fmla="*/ 0 w 779168"/>
              <a:gd name="connsiteY0" fmla="*/ 1746607 h 1903518"/>
              <a:gd name="connsiteX1" fmla="*/ 154112 w 779168"/>
              <a:gd name="connsiteY1" fmla="*/ 1756881 h 1903518"/>
              <a:gd name="connsiteX2" fmla="*/ 739739 w 779168"/>
              <a:gd name="connsiteY2" fmla="*/ 1777429 h 1903518"/>
              <a:gd name="connsiteX3" fmla="*/ 678094 w 779168"/>
              <a:gd name="connsiteY3" fmla="*/ 0 h 190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168" h="1903518">
                <a:moveTo>
                  <a:pt x="0" y="1746607"/>
                </a:moveTo>
                <a:cubicBezTo>
                  <a:pt x="15411" y="1749175"/>
                  <a:pt x="154112" y="1756881"/>
                  <a:pt x="154112" y="1756881"/>
                </a:cubicBezTo>
                <a:cubicBezTo>
                  <a:pt x="277402" y="1762018"/>
                  <a:pt x="652409" y="2070242"/>
                  <a:pt x="739739" y="1777429"/>
                </a:cubicBezTo>
                <a:cubicBezTo>
                  <a:pt x="827069" y="1484616"/>
                  <a:pt x="752581" y="742308"/>
                  <a:pt x="678094" y="0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Freeform 82"/>
          <p:cNvSpPr/>
          <p:nvPr/>
        </p:nvSpPr>
        <p:spPr>
          <a:xfrm>
            <a:off x="6010382" y="4551452"/>
            <a:ext cx="1979966" cy="1924352"/>
          </a:xfrm>
          <a:custGeom>
            <a:avLst/>
            <a:gdLst>
              <a:gd name="connsiteX0" fmla="*/ 0 w 1979966"/>
              <a:gd name="connsiteY0" fmla="*/ 1787703 h 1924352"/>
              <a:gd name="connsiteX1" fmla="*/ 1839074 w 1979966"/>
              <a:gd name="connsiteY1" fmla="*/ 1869896 h 1924352"/>
              <a:gd name="connsiteX2" fmla="*/ 1849348 w 1979966"/>
              <a:gd name="connsiteY2" fmla="*/ 1068512 h 1924352"/>
              <a:gd name="connsiteX3" fmla="*/ 1808252 w 1979966"/>
              <a:gd name="connsiteY3" fmla="*/ 0 h 1924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9966" h="1924352">
                <a:moveTo>
                  <a:pt x="0" y="1787703"/>
                </a:moveTo>
                <a:cubicBezTo>
                  <a:pt x="765424" y="1888732"/>
                  <a:pt x="1530849" y="1989761"/>
                  <a:pt x="1839074" y="1869896"/>
                </a:cubicBezTo>
                <a:cubicBezTo>
                  <a:pt x="2147299" y="1750031"/>
                  <a:pt x="1854485" y="1380161"/>
                  <a:pt x="1849348" y="1068512"/>
                </a:cubicBezTo>
                <a:cubicBezTo>
                  <a:pt x="1844211" y="756863"/>
                  <a:pt x="1826231" y="378431"/>
                  <a:pt x="1808252" y="0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72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5731" y="1416055"/>
                <a:ext cx="4672067" cy="49251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Observation, </a:t>
                </a:r>
                <a:r>
                  <a:rPr lang="en-US" altLang="ko-KR" i="1" dirty="0" smtClean="0"/>
                  <a:t>x</a:t>
                </a:r>
              </a:p>
              <a:p>
                <a:pPr lvl="1"/>
                <a:r>
                  <a:rPr lang="en-US" altLang="ko-KR" dirty="0" smtClean="0"/>
                  <a:t>Can be either discrete or continuous</a:t>
                </a:r>
              </a:p>
              <a:p>
                <a:pPr lvl="2"/>
                <a:r>
                  <a:rPr lang="en-US" altLang="ko-KR" dirty="0" smtClean="0"/>
                  <a:t>Just a difference in probability distributions</a:t>
                </a:r>
              </a:p>
              <a:p>
                <a:pPr lvl="2"/>
                <a:r>
                  <a:rPr lang="en-US" altLang="ko-KR" dirty="0" smtClean="0"/>
                  <a:t>Will only handle discrete case in this course</a:t>
                </a:r>
              </a:p>
              <a:p>
                <a:pPr lvl="1"/>
                <a:r>
                  <a:rPr lang="en-US" altLang="ko-KR" i="1" dirty="0" smtClean="0"/>
                  <a:t>x</a:t>
                </a:r>
                <a:r>
                  <a:rPr lang="en-US" altLang="ko-KR" i="1" baseline="-25000" dirty="0" smtClean="0"/>
                  <a:t>1</a:t>
                </a:r>
                <a:r>
                  <a:rPr lang="en-US" altLang="ko-KR" i="1" dirty="0" smtClean="0"/>
                  <a:t>…</a:t>
                </a:r>
                <a:r>
                  <a:rPr lang="en-US" altLang="ko-KR" i="1" dirty="0" err="1" smtClean="0"/>
                  <a:t>x</a:t>
                </a:r>
                <a:r>
                  <a:rPr lang="en-US" altLang="ko-KR" i="1" baseline="-25000" dirty="0" err="1" smtClean="0"/>
                  <a:t>T</a:t>
                </a:r>
                <a:r>
                  <a:rPr lang="en-US" altLang="ko-KR" dirty="0" smtClean="0"/>
                  <a:t>: Observation from time 1 to time </a:t>
                </a:r>
                <a:r>
                  <a:rPr lang="en-US" altLang="ko-KR" i="1" dirty="0" smtClean="0"/>
                  <a:t>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 smtClean="0"/>
                  <a:t>: </a:t>
                </a:r>
                <a:r>
                  <a:rPr lang="en-US" altLang="ko-KR" i="1" dirty="0" smtClean="0"/>
                  <a:t>m</a:t>
                </a:r>
                <a:r>
                  <a:rPr lang="en-US" altLang="ko-KR" dirty="0" smtClean="0"/>
                  <a:t> types of observation values</a:t>
                </a:r>
              </a:p>
              <a:p>
                <a:r>
                  <a:rPr lang="en-US" altLang="ko-KR" dirty="0" smtClean="0"/>
                  <a:t>Latent state, z</a:t>
                </a:r>
              </a:p>
              <a:p>
                <a:pPr lvl="1"/>
                <a:r>
                  <a:rPr lang="en-US" altLang="ko-KR" dirty="0" smtClean="0"/>
                  <a:t>Vector variable with K elements</a:t>
                </a:r>
              </a:p>
              <a:p>
                <a:pPr lvl="2"/>
                <a:r>
                  <a:rPr lang="en-US" altLang="ko-KR" dirty="0">
                    <a:sym typeface="Wingdings" panose="05000000000000000000" pitchFamily="2" charset="2"/>
                  </a:rPr>
                  <a:t>Let’s say that there are K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types of state </a:t>
                </a:r>
                <a:r>
                  <a:rPr lang="en-US" altLang="ko-KR" dirty="0">
                    <a:sym typeface="Wingdings" panose="05000000000000000000" pitchFamily="2" charset="2"/>
                  </a:rPr>
                  <a:t>values corresponding to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each element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 smtClean="0"/>
                  <a:t>Can be either discrete or continuous</a:t>
                </a:r>
              </a:p>
              <a:p>
                <a:pPr lvl="2"/>
                <a:r>
                  <a:rPr lang="en-US" altLang="ko-KR" dirty="0" smtClean="0"/>
                  <a:t>If continuous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:r>
                  <a:rPr lang="en-US" altLang="ko-KR" dirty="0" err="1" smtClean="0">
                    <a:sym typeface="Wingdings" panose="05000000000000000000" pitchFamily="2" charset="2"/>
                  </a:rPr>
                  <a:t>Kalman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 filter, and this is a continuous version of HMM</a:t>
                </a:r>
              </a:p>
              <a:p>
                <a:pPr lvl="2"/>
                <a:r>
                  <a:rPr lang="en-US" altLang="ko-KR" dirty="0" smtClean="0">
                    <a:sym typeface="Wingdings" panose="05000000000000000000" pitchFamily="2" charset="2"/>
                  </a:rPr>
                  <a:t>Out of scope of this course</a:t>
                </a:r>
              </a:p>
              <a:p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pPr lvl="2"/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731" y="1416055"/>
                <a:ext cx="4672067" cy="4925144"/>
              </a:xfrm>
              <a:blipFill rotWithShape="0">
                <a:blip r:embed="rId2"/>
                <a:stretch>
                  <a:fillRect t="-1856" b="-8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8" name="Group 17"/>
          <p:cNvGrpSpPr/>
          <p:nvPr/>
        </p:nvGrpSpPr>
        <p:grpSpPr>
          <a:xfrm>
            <a:off x="5460686" y="1666518"/>
            <a:ext cx="3310325" cy="1290533"/>
            <a:chOff x="4493280" y="4195867"/>
            <a:chExt cx="4251826" cy="1806278"/>
          </a:xfrm>
        </p:grpSpPr>
        <p:sp>
          <p:nvSpPr>
            <p:cNvPr id="5" name="Oval 4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7" name="Straight Arrow Connector 6"/>
            <p:cNvCxnSpPr>
              <a:stCxn id="9" idx="6"/>
              <a:endCxn id="5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5" idx="4"/>
              <a:endCxn id="6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1" name="Straight Arrow Connector 10"/>
            <p:cNvCxnSpPr>
              <a:stCxn id="9" idx="4"/>
              <a:endCxn id="10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17" idx="6"/>
              <a:endCxn id="9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15" name="Straight Arrow Connector 14"/>
            <p:cNvCxnSpPr>
              <a:stCxn id="13" idx="4"/>
              <a:endCxn id="14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6"/>
              <a:endCxn id="13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val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Oval 18"/>
          <p:cNvSpPr/>
          <p:nvPr/>
        </p:nvSpPr>
        <p:spPr>
          <a:xfrm>
            <a:off x="5965252" y="4497266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A</a:t>
            </a:r>
            <a:endParaRPr lang="en-US" altLang="ko-KR" sz="1200" b="1" dirty="0" smtClean="0"/>
          </a:p>
        </p:txBody>
      </p:sp>
      <p:sp>
        <p:nvSpPr>
          <p:cNvPr id="20" name="Oval 19"/>
          <p:cNvSpPr/>
          <p:nvPr/>
        </p:nvSpPr>
        <p:spPr>
          <a:xfrm>
            <a:off x="7427272" y="4495998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B</a:t>
            </a:r>
            <a:endParaRPr lang="ko-KR" altLang="en-US" sz="1200" b="1" dirty="0"/>
          </a:p>
        </p:txBody>
      </p:sp>
      <p:sp>
        <p:nvSpPr>
          <p:cNvPr id="21" name="Oval 20"/>
          <p:cNvSpPr/>
          <p:nvPr/>
        </p:nvSpPr>
        <p:spPr>
          <a:xfrm>
            <a:off x="7427272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D</a:t>
            </a:r>
            <a:endParaRPr lang="ko-KR" altLang="en-US" sz="1200" b="1" dirty="0"/>
          </a:p>
        </p:txBody>
      </p:sp>
      <p:sp>
        <p:nvSpPr>
          <p:cNvPr id="22" name="Oval 21"/>
          <p:cNvSpPr/>
          <p:nvPr/>
        </p:nvSpPr>
        <p:spPr>
          <a:xfrm>
            <a:off x="5965252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C</a:t>
            </a:r>
            <a:endParaRPr lang="ko-KR" altLang="en-US" sz="1200" b="1" dirty="0"/>
          </a:p>
        </p:txBody>
      </p:sp>
      <p:sp>
        <p:nvSpPr>
          <p:cNvPr id="23" name="Oval 22"/>
          <p:cNvSpPr/>
          <p:nvPr/>
        </p:nvSpPr>
        <p:spPr>
          <a:xfrm>
            <a:off x="5007798" y="4495997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sp>
        <p:nvSpPr>
          <p:cNvPr id="24" name="Oval 23"/>
          <p:cNvSpPr/>
          <p:nvPr/>
        </p:nvSpPr>
        <p:spPr>
          <a:xfrm>
            <a:off x="5965252" y="387989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5" name="Oval 24"/>
          <p:cNvSpPr/>
          <p:nvPr/>
        </p:nvSpPr>
        <p:spPr>
          <a:xfrm>
            <a:off x="7427272" y="3878627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6" name="Oval 25"/>
          <p:cNvSpPr/>
          <p:nvPr/>
        </p:nvSpPr>
        <p:spPr>
          <a:xfrm>
            <a:off x="8384726" y="4495996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sp>
        <p:nvSpPr>
          <p:cNvPr id="27" name="Oval 26"/>
          <p:cNvSpPr/>
          <p:nvPr/>
        </p:nvSpPr>
        <p:spPr>
          <a:xfrm>
            <a:off x="8384726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8" name="Oval 27"/>
          <p:cNvSpPr/>
          <p:nvPr/>
        </p:nvSpPr>
        <p:spPr>
          <a:xfrm>
            <a:off x="5007798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9" name="Oval 28"/>
          <p:cNvSpPr/>
          <p:nvPr/>
        </p:nvSpPr>
        <p:spPr>
          <a:xfrm>
            <a:off x="5965252" y="6113763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sp>
        <p:nvSpPr>
          <p:cNvPr id="30" name="Oval 29"/>
          <p:cNvSpPr/>
          <p:nvPr/>
        </p:nvSpPr>
        <p:spPr>
          <a:xfrm>
            <a:off x="7427272" y="610923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cxnSp>
        <p:nvCxnSpPr>
          <p:cNvPr id="32" name="Straight Arrow Connector 31"/>
          <p:cNvCxnSpPr>
            <a:stCxn id="19" idx="0"/>
            <a:endCxn id="24" idx="4"/>
          </p:cNvCxnSpPr>
          <p:nvPr/>
        </p:nvCxnSpPr>
        <p:spPr>
          <a:xfrm flipV="1">
            <a:off x="6217535" y="4291475"/>
            <a:ext cx="0" cy="2057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9" idx="2"/>
            <a:endCxn id="23" idx="6"/>
          </p:cNvCxnSpPr>
          <p:nvPr/>
        </p:nvCxnSpPr>
        <p:spPr>
          <a:xfrm flipH="1" flipV="1">
            <a:off x="5512364" y="4701788"/>
            <a:ext cx="452888" cy="1269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2"/>
            <a:endCxn id="28" idx="6"/>
          </p:cNvCxnSpPr>
          <p:nvPr/>
        </p:nvCxnSpPr>
        <p:spPr>
          <a:xfrm flipH="1">
            <a:off x="5512364" y="5709375"/>
            <a:ext cx="452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4"/>
            <a:endCxn id="29" idx="0"/>
          </p:cNvCxnSpPr>
          <p:nvPr/>
        </p:nvCxnSpPr>
        <p:spPr>
          <a:xfrm>
            <a:off x="6217535" y="5915165"/>
            <a:ext cx="0" cy="198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1" idx="4"/>
            <a:endCxn id="30" idx="0"/>
          </p:cNvCxnSpPr>
          <p:nvPr/>
        </p:nvCxnSpPr>
        <p:spPr>
          <a:xfrm>
            <a:off x="7679555" y="5915165"/>
            <a:ext cx="0" cy="194069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1" idx="6"/>
            <a:endCxn id="27" idx="2"/>
          </p:cNvCxnSpPr>
          <p:nvPr/>
        </p:nvCxnSpPr>
        <p:spPr>
          <a:xfrm>
            <a:off x="7931838" y="5709375"/>
            <a:ext cx="452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0" idx="6"/>
            <a:endCxn id="26" idx="2"/>
          </p:cNvCxnSpPr>
          <p:nvPr/>
        </p:nvCxnSpPr>
        <p:spPr>
          <a:xfrm flipV="1">
            <a:off x="7931838" y="4701787"/>
            <a:ext cx="452888" cy="2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0" idx="0"/>
            <a:endCxn id="25" idx="4"/>
          </p:cNvCxnSpPr>
          <p:nvPr/>
        </p:nvCxnSpPr>
        <p:spPr>
          <a:xfrm flipV="1">
            <a:off x="7679555" y="4290208"/>
            <a:ext cx="0" cy="2057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0" idx="5"/>
            <a:endCxn id="21" idx="7"/>
          </p:cNvCxnSpPr>
          <p:nvPr/>
        </p:nvCxnSpPr>
        <p:spPr>
          <a:xfrm>
            <a:off x="7857946" y="4847304"/>
            <a:ext cx="0" cy="716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1" idx="1"/>
            <a:endCxn id="20" idx="3"/>
          </p:cNvCxnSpPr>
          <p:nvPr/>
        </p:nvCxnSpPr>
        <p:spPr>
          <a:xfrm flipV="1">
            <a:off x="7501164" y="4847304"/>
            <a:ext cx="0" cy="716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19" idx="5"/>
            <a:endCxn id="22" idx="7"/>
          </p:cNvCxnSpPr>
          <p:nvPr/>
        </p:nvCxnSpPr>
        <p:spPr>
          <a:xfrm>
            <a:off x="6395926" y="4848572"/>
            <a:ext cx="0" cy="7152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2" idx="1"/>
            <a:endCxn id="19" idx="3"/>
          </p:cNvCxnSpPr>
          <p:nvPr/>
        </p:nvCxnSpPr>
        <p:spPr>
          <a:xfrm flipV="1">
            <a:off x="6039144" y="4848572"/>
            <a:ext cx="0" cy="715287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9" idx="7"/>
            <a:endCxn id="20" idx="1"/>
          </p:cNvCxnSpPr>
          <p:nvPr/>
        </p:nvCxnSpPr>
        <p:spPr>
          <a:xfrm flipV="1">
            <a:off x="6395926" y="4556273"/>
            <a:ext cx="1105238" cy="12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20" idx="3"/>
            <a:endCxn id="19" idx="5"/>
          </p:cNvCxnSpPr>
          <p:nvPr/>
        </p:nvCxnSpPr>
        <p:spPr>
          <a:xfrm flipH="1">
            <a:off x="6395926" y="4847304"/>
            <a:ext cx="1105238" cy="12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2" idx="7"/>
            <a:endCxn id="21" idx="1"/>
          </p:cNvCxnSpPr>
          <p:nvPr/>
        </p:nvCxnSpPr>
        <p:spPr>
          <a:xfrm>
            <a:off x="6395926" y="5563859"/>
            <a:ext cx="11052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1" idx="3"/>
            <a:endCxn id="22" idx="5"/>
          </p:cNvCxnSpPr>
          <p:nvPr/>
        </p:nvCxnSpPr>
        <p:spPr>
          <a:xfrm flipH="1">
            <a:off x="6395926" y="5854890"/>
            <a:ext cx="11052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2" idx="0"/>
            <a:endCxn id="20" idx="2"/>
          </p:cNvCxnSpPr>
          <p:nvPr/>
        </p:nvCxnSpPr>
        <p:spPr>
          <a:xfrm flipV="1">
            <a:off x="6217535" y="4701789"/>
            <a:ext cx="1209737" cy="8017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0" idx="4"/>
            <a:endCxn id="22" idx="6"/>
          </p:cNvCxnSpPr>
          <p:nvPr/>
        </p:nvCxnSpPr>
        <p:spPr>
          <a:xfrm flipH="1">
            <a:off x="6469818" y="4907579"/>
            <a:ext cx="1209737" cy="801796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21" idx="0"/>
            <a:endCxn id="19" idx="6"/>
          </p:cNvCxnSpPr>
          <p:nvPr/>
        </p:nvCxnSpPr>
        <p:spPr>
          <a:xfrm flipH="1" flipV="1">
            <a:off x="6469818" y="4703057"/>
            <a:ext cx="1209737" cy="8005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9" idx="4"/>
            <a:endCxn id="21" idx="2"/>
          </p:cNvCxnSpPr>
          <p:nvPr/>
        </p:nvCxnSpPr>
        <p:spPr>
          <a:xfrm>
            <a:off x="6217535" y="4908847"/>
            <a:ext cx="1209737" cy="8005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3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5731" y="1416055"/>
                <a:ext cx="4541830" cy="4925144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 smtClean="0">
                    <a:sym typeface="Wingdings" panose="05000000000000000000" pitchFamily="2" charset="2"/>
                  </a:rPr>
                  <a:t>Initial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State probabilities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𝑀𝑢𝑙𝑡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r>
                  <a:rPr lang="en-US" altLang="ko-KR" dirty="0" smtClean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∼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𝑀𝑢𝑙𝑡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 smtClean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endParaRPr lang="en-US" altLang="ko-KR" dirty="0">
                  <a:sym typeface="Wingdings" panose="05000000000000000000" pitchFamily="2" charset="2"/>
                </a:endParaRPr>
              </a:p>
              <a:p>
                <a:r>
                  <a:rPr lang="en-US" altLang="ko-KR" dirty="0" smtClean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=1)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∼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𝑀𝑢𝑙𝑡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 smtClean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r>
                  <a:rPr lang="en-US" altLang="ko-KR" b="1" dirty="0" smtClean="0">
                    <a:sym typeface="Wingdings" panose="05000000000000000000" pitchFamily="2" charset="2"/>
                  </a:rPr>
                  <a:t>A stochastic generative model</a:t>
                </a:r>
                <a:endParaRPr lang="en-US" altLang="ko-KR" b="1" dirty="0">
                  <a:sym typeface="Wingdings" panose="05000000000000000000" pitchFamily="2" charset="2"/>
                </a:endParaRPr>
              </a:p>
              <a:p>
                <a:pPr lvl="1"/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pPr lvl="2"/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731" y="1416055"/>
                <a:ext cx="4541830" cy="4925144"/>
              </a:xfrm>
              <a:blipFill rotWithShape="0">
                <a:blip r:embed="rId2"/>
                <a:stretch>
                  <a:fillRect t="-7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18" name="Group 17"/>
          <p:cNvGrpSpPr/>
          <p:nvPr/>
        </p:nvGrpSpPr>
        <p:grpSpPr>
          <a:xfrm>
            <a:off x="5460686" y="1666518"/>
            <a:ext cx="3310325" cy="1290533"/>
            <a:chOff x="4493280" y="4195867"/>
            <a:chExt cx="4251826" cy="1806278"/>
          </a:xfrm>
        </p:grpSpPr>
        <p:sp>
          <p:nvSpPr>
            <p:cNvPr id="5" name="Oval 4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7" name="Straight Arrow Connector 6"/>
            <p:cNvCxnSpPr>
              <a:stCxn id="9" idx="6"/>
              <a:endCxn id="5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5" idx="4"/>
              <a:endCxn id="6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1" name="Straight Arrow Connector 10"/>
            <p:cNvCxnSpPr>
              <a:stCxn id="9" idx="4"/>
              <a:endCxn id="10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17" idx="6"/>
              <a:endCxn id="9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15" name="Straight Arrow Connector 14"/>
            <p:cNvCxnSpPr>
              <a:stCxn id="13" idx="4"/>
              <a:endCxn id="14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6"/>
              <a:endCxn id="13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Oval 16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Oval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Oval 18"/>
          <p:cNvSpPr/>
          <p:nvPr/>
        </p:nvSpPr>
        <p:spPr>
          <a:xfrm>
            <a:off x="5965252" y="4497266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A</a:t>
            </a:r>
            <a:endParaRPr lang="en-US" altLang="ko-KR" sz="1200" b="1" dirty="0" smtClean="0"/>
          </a:p>
        </p:txBody>
      </p:sp>
      <p:sp>
        <p:nvSpPr>
          <p:cNvPr id="20" name="Oval 19"/>
          <p:cNvSpPr/>
          <p:nvPr/>
        </p:nvSpPr>
        <p:spPr>
          <a:xfrm>
            <a:off x="7427272" y="4495998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B</a:t>
            </a:r>
            <a:endParaRPr lang="ko-KR" altLang="en-US" sz="1200" b="1" dirty="0"/>
          </a:p>
        </p:txBody>
      </p:sp>
      <p:sp>
        <p:nvSpPr>
          <p:cNvPr id="21" name="Oval 20"/>
          <p:cNvSpPr/>
          <p:nvPr/>
        </p:nvSpPr>
        <p:spPr>
          <a:xfrm>
            <a:off x="7427272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D</a:t>
            </a:r>
            <a:endParaRPr lang="ko-KR" altLang="en-US" sz="1200" b="1" dirty="0"/>
          </a:p>
        </p:txBody>
      </p:sp>
      <p:sp>
        <p:nvSpPr>
          <p:cNvPr id="22" name="Oval 21"/>
          <p:cNvSpPr/>
          <p:nvPr/>
        </p:nvSpPr>
        <p:spPr>
          <a:xfrm>
            <a:off x="5965252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C</a:t>
            </a:r>
            <a:endParaRPr lang="ko-KR" altLang="en-US" sz="1200" b="1" dirty="0"/>
          </a:p>
        </p:txBody>
      </p:sp>
      <p:sp>
        <p:nvSpPr>
          <p:cNvPr id="23" name="Oval 22"/>
          <p:cNvSpPr/>
          <p:nvPr/>
        </p:nvSpPr>
        <p:spPr>
          <a:xfrm>
            <a:off x="5007798" y="4495997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sp>
        <p:nvSpPr>
          <p:cNvPr id="24" name="Oval 23"/>
          <p:cNvSpPr/>
          <p:nvPr/>
        </p:nvSpPr>
        <p:spPr>
          <a:xfrm>
            <a:off x="5965252" y="387989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5" name="Oval 24"/>
          <p:cNvSpPr/>
          <p:nvPr/>
        </p:nvSpPr>
        <p:spPr>
          <a:xfrm>
            <a:off x="7427272" y="3878627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6" name="Oval 25"/>
          <p:cNvSpPr/>
          <p:nvPr/>
        </p:nvSpPr>
        <p:spPr>
          <a:xfrm>
            <a:off x="8384726" y="4495996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sp>
        <p:nvSpPr>
          <p:cNvPr id="27" name="Oval 26"/>
          <p:cNvSpPr/>
          <p:nvPr/>
        </p:nvSpPr>
        <p:spPr>
          <a:xfrm>
            <a:off x="8384726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8" name="Oval 27"/>
          <p:cNvSpPr/>
          <p:nvPr/>
        </p:nvSpPr>
        <p:spPr>
          <a:xfrm>
            <a:off x="5007798" y="550358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2</a:t>
            </a:r>
            <a:endParaRPr lang="ko-KR" altLang="en-US" sz="1200" b="1" dirty="0"/>
          </a:p>
        </p:txBody>
      </p:sp>
      <p:sp>
        <p:nvSpPr>
          <p:cNvPr id="29" name="Oval 28"/>
          <p:cNvSpPr/>
          <p:nvPr/>
        </p:nvSpPr>
        <p:spPr>
          <a:xfrm>
            <a:off x="5965252" y="6113763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sp>
        <p:nvSpPr>
          <p:cNvPr id="30" name="Oval 29"/>
          <p:cNvSpPr/>
          <p:nvPr/>
        </p:nvSpPr>
        <p:spPr>
          <a:xfrm>
            <a:off x="7427272" y="6109234"/>
            <a:ext cx="504566" cy="411581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1</a:t>
            </a:r>
            <a:endParaRPr lang="ko-KR" altLang="en-US" sz="1200" b="1" dirty="0"/>
          </a:p>
        </p:txBody>
      </p:sp>
      <p:cxnSp>
        <p:nvCxnSpPr>
          <p:cNvPr id="32" name="Straight Arrow Connector 31"/>
          <p:cNvCxnSpPr>
            <a:stCxn id="19" idx="0"/>
            <a:endCxn id="24" idx="4"/>
          </p:cNvCxnSpPr>
          <p:nvPr/>
        </p:nvCxnSpPr>
        <p:spPr>
          <a:xfrm flipV="1">
            <a:off x="6217535" y="4291475"/>
            <a:ext cx="0" cy="2057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9" idx="2"/>
            <a:endCxn id="23" idx="6"/>
          </p:cNvCxnSpPr>
          <p:nvPr/>
        </p:nvCxnSpPr>
        <p:spPr>
          <a:xfrm flipH="1" flipV="1">
            <a:off x="5512364" y="4701788"/>
            <a:ext cx="452888" cy="1269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2"/>
            <a:endCxn id="28" idx="6"/>
          </p:cNvCxnSpPr>
          <p:nvPr/>
        </p:nvCxnSpPr>
        <p:spPr>
          <a:xfrm flipH="1">
            <a:off x="5512364" y="5709375"/>
            <a:ext cx="452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4"/>
            <a:endCxn id="29" idx="0"/>
          </p:cNvCxnSpPr>
          <p:nvPr/>
        </p:nvCxnSpPr>
        <p:spPr>
          <a:xfrm>
            <a:off x="6217535" y="5915165"/>
            <a:ext cx="0" cy="198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1" idx="4"/>
            <a:endCxn id="30" idx="0"/>
          </p:cNvCxnSpPr>
          <p:nvPr/>
        </p:nvCxnSpPr>
        <p:spPr>
          <a:xfrm>
            <a:off x="7679555" y="5915165"/>
            <a:ext cx="0" cy="194069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1" idx="6"/>
            <a:endCxn id="27" idx="2"/>
          </p:cNvCxnSpPr>
          <p:nvPr/>
        </p:nvCxnSpPr>
        <p:spPr>
          <a:xfrm>
            <a:off x="7931838" y="5709375"/>
            <a:ext cx="452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0" idx="6"/>
            <a:endCxn id="26" idx="2"/>
          </p:cNvCxnSpPr>
          <p:nvPr/>
        </p:nvCxnSpPr>
        <p:spPr>
          <a:xfrm flipV="1">
            <a:off x="7931838" y="4701787"/>
            <a:ext cx="452888" cy="2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0" idx="0"/>
            <a:endCxn id="25" idx="4"/>
          </p:cNvCxnSpPr>
          <p:nvPr/>
        </p:nvCxnSpPr>
        <p:spPr>
          <a:xfrm flipV="1">
            <a:off x="7679555" y="4290208"/>
            <a:ext cx="0" cy="2057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0" idx="5"/>
            <a:endCxn id="21" idx="7"/>
          </p:cNvCxnSpPr>
          <p:nvPr/>
        </p:nvCxnSpPr>
        <p:spPr>
          <a:xfrm>
            <a:off x="7857946" y="4847304"/>
            <a:ext cx="0" cy="716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1" idx="1"/>
            <a:endCxn id="20" idx="3"/>
          </p:cNvCxnSpPr>
          <p:nvPr/>
        </p:nvCxnSpPr>
        <p:spPr>
          <a:xfrm flipV="1">
            <a:off x="7501164" y="4847304"/>
            <a:ext cx="0" cy="716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19" idx="5"/>
            <a:endCxn id="22" idx="7"/>
          </p:cNvCxnSpPr>
          <p:nvPr/>
        </p:nvCxnSpPr>
        <p:spPr>
          <a:xfrm>
            <a:off x="6395926" y="4848572"/>
            <a:ext cx="0" cy="7152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2" idx="1"/>
            <a:endCxn id="19" idx="3"/>
          </p:cNvCxnSpPr>
          <p:nvPr/>
        </p:nvCxnSpPr>
        <p:spPr>
          <a:xfrm flipV="1">
            <a:off x="6039144" y="4848572"/>
            <a:ext cx="0" cy="715287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9" idx="7"/>
            <a:endCxn id="20" idx="1"/>
          </p:cNvCxnSpPr>
          <p:nvPr/>
        </p:nvCxnSpPr>
        <p:spPr>
          <a:xfrm flipV="1">
            <a:off x="6395926" y="4556273"/>
            <a:ext cx="1105238" cy="12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20" idx="3"/>
            <a:endCxn id="19" idx="5"/>
          </p:cNvCxnSpPr>
          <p:nvPr/>
        </p:nvCxnSpPr>
        <p:spPr>
          <a:xfrm flipH="1">
            <a:off x="6395926" y="4847304"/>
            <a:ext cx="1105238" cy="12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2" idx="7"/>
            <a:endCxn id="21" idx="1"/>
          </p:cNvCxnSpPr>
          <p:nvPr/>
        </p:nvCxnSpPr>
        <p:spPr>
          <a:xfrm>
            <a:off x="6395926" y="5563859"/>
            <a:ext cx="11052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1" idx="3"/>
            <a:endCxn id="22" idx="5"/>
          </p:cNvCxnSpPr>
          <p:nvPr/>
        </p:nvCxnSpPr>
        <p:spPr>
          <a:xfrm flipH="1">
            <a:off x="6395926" y="5854890"/>
            <a:ext cx="11052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2" idx="0"/>
            <a:endCxn id="20" idx="2"/>
          </p:cNvCxnSpPr>
          <p:nvPr/>
        </p:nvCxnSpPr>
        <p:spPr>
          <a:xfrm flipV="1">
            <a:off x="6217535" y="4701789"/>
            <a:ext cx="1209737" cy="8017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0" idx="4"/>
            <a:endCxn id="22" idx="6"/>
          </p:cNvCxnSpPr>
          <p:nvPr/>
        </p:nvCxnSpPr>
        <p:spPr>
          <a:xfrm flipH="1">
            <a:off x="6469818" y="4907579"/>
            <a:ext cx="1209737" cy="801796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21" idx="0"/>
            <a:endCxn id="19" idx="6"/>
          </p:cNvCxnSpPr>
          <p:nvPr/>
        </p:nvCxnSpPr>
        <p:spPr>
          <a:xfrm flipH="1" flipV="1">
            <a:off x="6469818" y="4703057"/>
            <a:ext cx="1209737" cy="8005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9" idx="4"/>
            <a:endCxn id="21" idx="2"/>
          </p:cNvCxnSpPr>
          <p:nvPr/>
        </p:nvCxnSpPr>
        <p:spPr>
          <a:xfrm>
            <a:off x="6217535" y="4908847"/>
            <a:ext cx="1209737" cy="8005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86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Templat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Template.potx</Template>
  <TotalTime>5229</TotalTime>
  <Words>297</Words>
  <Application>Microsoft Office PowerPoint</Application>
  <PresentationFormat>화면 슬라이드 쇼(4:3)</PresentationFormat>
  <Paragraphs>132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Presentation Template</vt:lpstr>
      <vt:lpstr>Hidden Markov Model</vt:lpstr>
      <vt:lpstr>Weekly Objectives</vt:lpstr>
      <vt:lpstr>Hidden Markov Model</vt:lpstr>
      <vt:lpstr>Time Series Data for GMM</vt:lpstr>
      <vt:lpstr>What to Model and How to Model</vt:lpstr>
      <vt:lpstr>Hidden Markov Model</vt:lpstr>
      <vt:lpstr>Hidden Markov Model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Inference on Probabilistic Graphical Models</dc:title>
  <dc:creator>Il-Chul Moon</dc:creator>
  <cp:lastModifiedBy>SESLab-4102</cp:lastModifiedBy>
  <cp:revision>386</cp:revision>
  <dcterms:created xsi:type="dcterms:W3CDTF">2013-08-14T02:12:56Z</dcterms:created>
  <dcterms:modified xsi:type="dcterms:W3CDTF">2015-08-28T07:20:57Z</dcterms:modified>
</cp:coreProperties>
</file>
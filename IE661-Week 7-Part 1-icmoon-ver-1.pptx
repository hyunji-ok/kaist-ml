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17" r:id="rId2"/>
    <p:sldId id="318" r:id="rId3"/>
    <p:sldId id="319" r:id="rId4"/>
    <p:sldId id="271" r:id="rId5"/>
    <p:sldId id="272" r:id="rId6"/>
    <p:sldId id="273" r:id="rId7"/>
    <p:sldId id="280" r:id="rId8"/>
    <p:sldId id="281" r:id="rId9"/>
    <p:sldId id="274" r:id="rId10"/>
    <p:sldId id="329" r:id="rId11"/>
    <p:sldId id="324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11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40F-6D86-4AAB-B084-B6837CFA557A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EE363-3225-4A55-87F5-506D5992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2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2EE363-3225-4A55-87F5-506D599296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757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6C1422-17D4-405A-8E02-AE38B0687554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0360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D986CC-3BFC-4AC4-B58F-48B73856F06F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96196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03693598-37C8-49CF-8A15-A46445026EA3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82A517A-290A-4238-AB2F-3319C3C1EEC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C86CAE6B-AEE5-43E0-B953-53AA4C35BA3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B8D3057-63C8-43D4-9572-5CC0D90B770D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20C42DC5-7698-4FA9-A2BC-C96F65B2FA04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46FB218-9B93-4105-B777-DA361C04621C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D3B59D4-BDC1-4C58-9D99-3809D68DE86E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3119303-09BF-436C-8602-A0679EF986D9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F07741F-3D9C-4A64-9F63-4DA11E7EC935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6B16-B7E8-4F7D-A7CF-C26340AE3A5D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A36E3C6-6DD7-413E-BAD6-C2509285FF8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A588B01-A67B-47BC-B714-F41ADBB1241E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859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2010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Bayesian Network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Know and memorize the theorems of probability</a:t>
            </a:r>
          </a:p>
          <a:p>
            <a:pPr lvl="1"/>
            <a:r>
              <a:rPr lang="en-US" altLang="ko-KR" dirty="0" smtClean="0"/>
              <a:t>Recover the probability concepts</a:t>
            </a:r>
          </a:p>
          <a:p>
            <a:pPr lvl="1"/>
            <a:r>
              <a:rPr lang="en-US" altLang="ko-KR" dirty="0" smtClean="0"/>
              <a:t>Recover the probability theorems</a:t>
            </a:r>
          </a:p>
          <a:p>
            <a:pPr lvl="1"/>
            <a:r>
              <a:rPr lang="en-US" altLang="ko-KR" dirty="0" smtClean="0"/>
              <a:t>Recover the concepts of the marginal and the conditional independencies</a:t>
            </a:r>
          </a:p>
          <a:p>
            <a:r>
              <a:rPr lang="en-US" altLang="ko-KR" dirty="0" smtClean="0"/>
              <a:t>Understand Bayesian networks</a:t>
            </a:r>
          </a:p>
          <a:p>
            <a:pPr lvl="1"/>
            <a:r>
              <a:rPr lang="en-US" altLang="ko-KR" dirty="0" smtClean="0"/>
              <a:t>Know the syntax and the semantics of Bayesian networks</a:t>
            </a:r>
          </a:p>
          <a:p>
            <a:pPr lvl="1"/>
            <a:r>
              <a:rPr lang="en-US" altLang="ko-KR" dirty="0" smtClean="0"/>
              <a:t>Know how to factorize Bayesian networks</a:t>
            </a:r>
          </a:p>
          <a:p>
            <a:pPr lvl="1"/>
            <a:r>
              <a:rPr lang="en-US" altLang="ko-KR" dirty="0" smtClean="0"/>
              <a:t>Able to calculate a probability with given conditions</a:t>
            </a:r>
          </a:p>
          <a:p>
            <a:r>
              <a:rPr lang="en-US" altLang="ko-KR" dirty="0" smtClean="0"/>
              <a:t>Understand the inference of Bayesian networks</a:t>
            </a:r>
          </a:p>
          <a:p>
            <a:pPr lvl="1"/>
            <a:r>
              <a:rPr lang="en-US" altLang="ko-KR" dirty="0" smtClean="0"/>
              <a:t>Able to calculate parameters of Bayesian networks</a:t>
            </a:r>
          </a:p>
          <a:p>
            <a:pPr lvl="1"/>
            <a:r>
              <a:rPr lang="en-US" altLang="ko-KR" dirty="0" smtClean="0"/>
              <a:t>Able to list the exact inference of Bayesian networks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1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Recap on Probability 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52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</a:rPr>
              <a:t>Probabilities</a:t>
            </a:r>
          </a:p>
        </p:txBody>
      </p:sp>
      <p:sp>
        <p:nvSpPr>
          <p:cNvPr id="848900" name="Text Box 4"/>
          <p:cNvSpPr txBox="1">
            <a:spLocks noChangeArrowheads="1"/>
          </p:cNvSpPr>
          <p:nvPr/>
        </p:nvSpPr>
        <p:spPr bwMode="auto">
          <a:xfrm>
            <a:off x="710952" y="3949824"/>
            <a:ext cx="2593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2000" dirty="0">
                <a:latin typeface="Arial" charset="0"/>
                <a:ea typeface="굴림" charset="-127"/>
              </a:rPr>
              <a:t>The sum of the red and blue areas is 1</a:t>
            </a:r>
          </a:p>
        </p:txBody>
      </p:sp>
      <p:sp>
        <p:nvSpPr>
          <p:cNvPr id="848901" name="Rectangle 5"/>
          <p:cNvSpPr>
            <a:spLocks noChangeArrowheads="1"/>
          </p:cNvSpPr>
          <p:nvPr/>
        </p:nvSpPr>
        <p:spPr bwMode="auto">
          <a:xfrm>
            <a:off x="4139952" y="3645024"/>
            <a:ext cx="3810000" cy="25336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noFill/>
            <a:miter lim="800000"/>
            <a:headEnd/>
            <a:tailEnd/>
          </a:ln>
          <a:effectLst/>
          <a:extLst/>
        </p:spPr>
        <p:txBody>
          <a:bodyPr anchor="ctr">
            <a:spAutoFit/>
          </a:bodyPr>
          <a:lstStyle/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</p:txBody>
      </p:sp>
      <p:sp>
        <p:nvSpPr>
          <p:cNvPr id="848902" name="Oval 6"/>
          <p:cNvSpPr>
            <a:spLocks noChangeArrowheads="1"/>
          </p:cNvSpPr>
          <p:nvPr/>
        </p:nvSpPr>
        <p:spPr bwMode="auto">
          <a:xfrm>
            <a:off x="5663952" y="3740274"/>
            <a:ext cx="1905000" cy="1822450"/>
          </a:xfrm>
          <a:prstGeom prst="ellipse">
            <a:avLst/>
          </a:prstGeom>
          <a:solidFill>
            <a:schemeClr val="accent5"/>
          </a:solidFill>
          <a:ln w="3175">
            <a:noFill/>
            <a:round/>
            <a:headEnd/>
            <a:tailEnd/>
          </a:ln>
          <a:effectLst/>
          <a:extLst/>
        </p:spPr>
        <p:txBody>
          <a:bodyPr anchor="ctr">
            <a:spAutoFit/>
          </a:bodyPr>
          <a:lstStyle/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  <a:p>
            <a:pPr algn="ctr"/>
            <a:endParaRPr lang="en-US" altLang="ko-KR" sz="2000" dirty="0">
              <a:latin typeface="Arial" charset="0"/>
              <a:ea typeface="굴림" charset="-127"/>
            </a:endParaRPr>
          </a:p>
        </p:txBody>
      </p:sp>
      <p:sp>
        <p:nvSpPr>
          <p:cNvPr id="848903" name="Text Box 7"/>
          <p:cNvSpPr txBox="1">
            <a:spLocks noChangeArrowheads="1"/>
          </p:cNvSpPr>
          <p:nvPr/>
        </p:nvSpPr>
        <p:spPr bwMode="auto">
          <a:xfrm>
            <a:off x="4292352" y="5645274"/>
            <a:ext cx="1252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rgbClr val="000099"/>
                </a:solidFill>
                <a:latin typeface="Arial" charset="0"/>
                <a:ea typeface="굴림" charset="-127"/>
              </a:rPr>
              <a:t>P(A = false)</a:t>
            </a:r>
          </a:p>
        </p:txBody>
      </p:sp>
      <p:sp>
        <p:nvSpPr>
          <p:cNvPr id="848904" name="Text Box 8"/>
          <p:cNvSpPr txBox="1">
            <a:spLocks noChangeArrowheads="1"/>
          </p:cNvSpPr>
          <p:nvPr/>
        </p:nvSpPr>
        <p:spPr bwMode="auto">
          <a:xfrm>
            <a:off x="5971927" y="4483224"/>
            <a:ext cx="1295400" cy="33655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DC6C7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Arial" charset="0"/>
                <a:ea typeface="굴림" charset="-127"/>
              </a:rPr>
              <a:t>P(A = true)</a:t>
            </a:r>
          </a:p>
        </p:txBody>
      </p:sp>
      <p:sp>
        <p:nvSpPr>
          <p:cNvPr id="848907" name="Line 11"/>
          <p:cNvSpPr>
            <a:spLocks noChangeShapeType="1"/>
          </p:cNvSpPr>
          <p:nvPr/>
        </p:nvSpPr>
        <p:spPr bwMode="auto">
          <a:xfrm>
            <a:off x="2996952" y="4711824"/>
            <a:ext cx="990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848910" name="Picture 14" descr="thomas-bay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0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8911" name="AutoShape 15"/>
          <p:cNvSpPr>
            <a:spLocks noChangeArrowheads="1"/>
          </p:cNvSpPr>
          <p:nvPr/>
        </p:nvSpPr>
        <p:spPr bwMode="auto">
          <a:xfrm>
            <a:off x="533400" y="5410200"/>
            <a:ext cx="2819400" cy="685800"/>
          </a:xfrm>
          <a:prstGeom prst="wedgeRoundRectCallout">
            <a:avLst>
              <a:gd name="adj1" fmla="val -50620"/>
              <a:gd name="adj2" fmla="val 74537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ko-KR" sz="1200" baseline="30000" dirty="0">
                <a:ea typeface="굴림" charset="-127"/>
              </a:rPr>
              <a:t>*</a:t>
            </a:r>
            <a:r>
              <a:rPr lang="en-US" altLang="ko-KR" sz="1200" dirty="0">
                <a:ea typeface="굴림" charset="-127"/>
              </a:rPr>
              <a:t>Ahem…there’s also the Bayesian definition which says probability is your degree of belief in an outcome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51520" y="1401392"/>
            <a:ext cx="8435280" cy="2011633"/>
          </a:xfrm>
        </p:spPr>
        <p:txBody>
          <a:bodyPr>
            <a:normAutofit fontScale="92500"/>
          </a:bodyPr>
          <a:lstStyle/>
          <a:p>
            <a:pPr>
              <a:spcBef>
                <a:spcPct val="50000"/>
              </a:spcBef>
            </a:pPr>
            <a:r>
              <a:rPr lang="en-US" altLang="ko-KR" sz="2400" dirty="0"/>
              <a:t>We will write P(A = true) to mean the probability that A = true.</a:t>
            </a:r>
          </a:p>
          <a:p>
            <a:pPr>
              <a:spcBef>
                <a:spcPct val="50000"/>
              </a:spcBef>
            </a:pPr>
            <a:r>
              <a:rPr lang="en-US" altLang="ko-KR" sz="2400" dirty="0"/>
              <a:t>What is probability?  </a:t>
            </a:r>
            <a:endParaRPr lang="en-US" altLang="ko-KR" sz="2400" dirty="0" smtClean="0"/>
          </a:p>
          <a:p>
            <a:pPr lvl="1">
              <a:spcBef>
                <a:spcPct val="50000"/>
              </a:spcBef>
            </a:pPr>
            <a:r>
              <a:rPr lang="en-US" altLang="ko-KR" dirty="0" smtClean="0"/>
              <a:t>It </a:t>
            </a:r>
            <a:r>
              <a:rPr lang="en-US" altLang="ko-KR" dirty="0"/>
              <a:t>is the relative frequency with which an outcome would be obtained if the process were repeated a large number of times under similar conditions*</a:t>
            </a:r>
          </a:p>
          <a:p>
            <a:endParaRPr lang="ko-KR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75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</a:rPr>
              <a:t>Conditional Probability</a:t>
            </a:r>
          </a:p>
        </p:txBody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0964" y="1362684"/>
            <a:ext cx="7772400" cy="1676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P(</a:t>
            </a:r>
            <a:r>
              <a:rPr lang="en-US" altLang="ko-KR" sz="2400" i="1" dirty="0">
                <a:ea typeface="굴림" charset="-127"/>
              </a:rPr>
              <a:t>A = true </a:t>
            </a:r>
            <a:r>
              <a:rPr lang="en-US" altLang="ko-KR" sz="2400" dirty="0">
                <a:ea typeface="굴림" charset="-127"/>
              </a:rPr>
              <a:t>| </a:t>
            </a:r>
            <a:r>
              <a:rPr lang="en-US" altLang="ko-KR" sz="2400" i="1" dirty="0">
                <a:ea typeface="굴림" charset="-127"/>
              </a:rPr>
              <a:t>B = true</a:t>
            </a:r>
            <a:r>
              <a:rPr lang="en-US" altLang="ko-KR" sz="2400" dirty="0">
                <a:ea typeface="굴림" charset="-127"/>
              </a:rPr>
              <a:t>) </a:t>
            </a:r>
            <a:endParaRPr lang="en-US" altLang="ko-KR" sz="2400" dirty="0" smtClean="0">
              <a:ea typeface="굴림" charset="-127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 smtClean="0">
                <a:ea typeface="굴림" charset="-127"/>
              </a:rPr>
              <a:t>Out </a:t>
            </a:r>
            <a:r>
              <a:rPr lang="en-US" altLang="ko-KR" dirty="0">
                <a:ea typeface="굴림" charset="-127"/>
              </a:rPr>
              <a:t>of all the outcomes in which </a:t>
            </a:r>
            <a:r>
              <a:rPr lang="en-US" altLang="ko-KR" i="1" dirty="0">
                <a:ea typeface="굴림" charset="-127"/>
              </a:rPr>
              <a:t>B</a:t>
            </a:r>
            <a:r>
              <a:rPr lang="en-US" altLang="ko-KR" dirty="0">
                <a:ea typeface="굴림" charset="-127"/>
              </a:rPr>
              <a:t> is true, how many also have </a:t>
            </a:r>
            <a:r>
              <a:rPr lang="en-US" altLang="ko-KR" i="1" dirty="0">
                <a:ea typeface="굴림" charset="-127"/>
              </a:rPr>
              <a:t>A</a:t>
            </a:r>
            <a:r>
              <a:rPr lang="en-US" altLang="ko-KR" dirty="0">
                <a:ea typeface="굴림" charset="-127"/>
              </a:rPr>
              <a:t> equal to true</a:t>
            </a:r>
          </a:p>
          <a:p>
            <a:pPr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Read this as: </a:t>
            </a:r>
            <a:endParaRPr lang="en-US" altLang="ko-KR" sz="2400" dirty="0" smtClean="0">
              <a:ea typeface="굴림" charset="-127"/>
            </a:endParaRPr>
          </a:p>
          <a:p>
            <a:pPr lvl="1">
              <a:lnSpc>
                <a:spcPct val="90000"/>
              </a:lnSpc>
            </a:pPr>
            <a:r>
              <a:rPr lang="en-US" altLang="ko-KR" dirty="0" smtClean="0">
                <a:ea typeface="굴림" charset="-127"/>
              </a:rPr>
              <a:t>“</a:t>
            </a:r>
            <a:r>
              <a:rPr lang="en-US" altLang="ko-KR" dirty="0">
                <a:ea typeface="굴림" charset="-127"/>
              </a:rPr>
              <a:t>Probability of </a:t>
            </a:r>
            <a:r>
              <a:rPr lang="en-US" altLang="ko-KR" i="1" dirty="0">
                <a:ea typeface="굴림" charset="-127"/>
              </a:rPr>
              <a:t>A</a:t>
            </a:r>
            <a:r>
              <a:rPr lang="en-US" altLang="ko-KR" dirty="0">
                <a:ea typeface="굴림" charset="-127"/>
              </a:rPr>
              <a:t> conditioned on </a:t>
            </a:r>
            <a:r>
              <a:rPr lang="en-US" altLang="ko-KR" i="1" dirty="0">
                <a:ea typeface="굴림" charset="-127"/>
              </a:rPr>
              <a:t>B</a:t>
            </a:r>
            <a:r>
              <a:rPr lang="en-US" altLang="ko-KR" dirty="0">
                <a:ea typeface="굴림" charset="-127"/>
              </a:rPr>
              <a:t>” or “Probability of </a:t>
            </a:r>
            <a:r>
              <a:rPr lang="en-US" altLang="ko-KR" i="1" dirty="0">
                <a:ea typeface="굴림" charset="-127"/>
              </a:rPr>
              <a:t>A</a:t>
            </a:r>
            <a:r>
              <a:rPr lang="en-US" altLang="ko-KR" dirty="0">
                <a:ea typeface="굴림" charset="-127"/>
              </a:rPr>
              <a:t> given </a:t>
            </a:r>
            <a:r>
              <a:rPr lang="en-US" altLang="ko-KR" i="1" dirty="0">
                <a:ea typeface="굴림" charset="-127"/>
              </a:rPr>
              <a:t>B</a:t>
            </a:r>
            <a:r>
              <a:rPr lang="en-US" altLang="ko-KR" dirty="0">
                <a:ea typeface="굴림" charset="-127"/>
              </a:rPr>
              <a:t>”</a:t>
            </a:r>
          </a:p>
        </p:txBody>
      </p:sp>
      <p:sp>
        <p:nvSpPr>
          <p:cNvPr id="849936" name="Text Box 16"/>
          <p:cNvSpPr txBox="1">
            <a:spLocks noChangeArrowheads="1"/>
          </p:cNvSpPr>
          <p:nvPr/>
        </p:nvSpPr>
        <p:spPr bwMode="auto">
          <a:xfrm>
            <a:off x="1447800" y="365518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i="1" dirty="0">
                <a:solidFill>
                  <a:srgbClr val="0000FF"/>
                </a:solidFill>
                <a:ea typeface="굴림" charset="-127"/>
              </a:rPr>
              <a:t>P(F = true)</a:t>
            </a:r>
          </a:p>
        </p:txBody>
      </p:sp>
      <p:sp>
        <p:nvSpPr>
          <p:cNvPr id="849937" name="Text Box 17"/>
          <p:cNvSpPr txBox="1">
            <a:spLocks noChangeArrowheads="1"/>
          </p:cNvSpPr>
          <p:nvPr/>
        </p:nvSpPr>
        <p:spPr bwMode="auto">
          <a:xfrm>
            <a:off x="2438400" y="548398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i="1" dirty="0">
                <a:solidFill>
                  <a:srgbClr val="FF0000"/>
                </a:solidFill>
                <a:ea typeface="굴림" charset="-127"/>
              </a:rPr>
              <a:t>P(H = true)</a:t>
            </a:r>
          </a:p>
        </p:txBody>
      </p:sp>
      <p:sp>
        <p:nvSpPr>
          <p:cNvPr id="849938" name="Rectangle 18"/>
          <p:cNvSpPr>
            <a:spLocks noChangeArrowheads="1"/>
          </p:cNvSpPr>
          <p:nvPr/>
        </p:nvSpPr>
        <p:spPr bwMode="auto">
          <a:xfrm>
            <a:off x="457200" y="319798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49939" name="Rectangle 19"/>
          <p:cNvSpPr>
            <a:spLocks noChangeArrowheads="1"/>
          </p:cNvSpPr>
          <p:nvPr/>
        </p:nvSpPr>
        <p:spPr bwMode="auto">
          <a:xfrm>
            <a:off x="4388726" y="3212976"/>
            <a:ext cx="4572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2000" i="1" dirty="0">
                <a:solidFill>
                  <a:srgbClr val="FF0000"/>
                </a:solidFill>
                <a:ea typeface="굴림" charset="-127"/>
              </a:rPr>
              <a:t>H </a:t>
            </a:r>
            <a:r>
              <a:rPr lang="en-US" altLang="ko-KR" sz="2000" dirty="0">
                <a:solidFill>
                  <a:srgbClr val="FF0000"/>
                </a:solidFill>
                <a:ea typeface="굴림" charset="-127"/>
              </a:rPr>
              <a:t>= “Have a headache”</a:t>
            </a:r>
          </a:p>
          <a:p>
            <a:r>
              <a:rPr lang="en-US" altLang="ko-KR" sz="2000" i="1" dirty="0">
                <a:solidFill>
                  <a:srgbClr val="0000FF"/>
                </a:solidFill>
                <a:ea typeface="굴림" charset="-127"/>
              </a:rPr>
              <a:t>F</a:t>
            </a:r>
            <a:r>
              <a:rPr lang="en-US" altLang="ko-KR" sz="2000" dirty="0">
                <a:solidFill>
                  <a:srgbClr val="0000FF"/>
                </a:solidFill>
                <a:ea typeface="굴림" charset="-127"/>
              </a:rPr>
              <a:t> = “Coming down with Flu”</a:t>
            </a:r>
          </a:p>
          <a:p>
            <a:endParaRPr lang="en-US" altLang="ko-KR" sz="2000" dirty="0">
              <a:ea typeface="굴림" charset="-127"/>
            </a:endParaRPr>
          </a:p>
          <a:p>
            <a:r>
              <a:rPr lang="en-US" altLang="ko-KR" sz="2000" dirty="0">
                <a:solidFill>
                  <a:srgbClr val="FF0000"/>
                </a:solidFill>
                <a:ea typeface="굴림" charset="-127"/>
              </a:rPr>
              <a:t>P(</a:t>
            </a:r>
            <a:r>
              <a:rPr lang="en-US" altLang="ko-KR" sz="2000" i="1" dirty="0">
                <a:solidFill>
                  <a:srgbClr val="FF0000"/>
                </a:solidFill>
                <a:ea typeface="굴림" charset="-127"/>
              </a:rPr>
              <a:t>H = true</a:t>
            </a:r>
            <a:r>
              <a:rPr lang="en-US" altLang="ko-KR" sz="2000" dirty="0">
                <a:solidFill>
                  <a:srgbClr val="FF0000"/>
                </a:solidFill>
                <a:ea typeface="굴림" charset="-127"/>
              </a:rPr>
              <a:t>) = 1/10</a:t>
            </a:r>
          </a:p>
          <a:p>
            <a:r>
              <a:rPr lang="en-US" altLang="ko-KR" sz="2000" dirty="0">
                <a:solidFill>
                  <a:srgbClr val="0000FF"/>
                </a:solidFill>
                <a:ea typeface="굴림" charset="-127"/>
              </a:rPr>
              <a:t>P(</a:t>
            </a:r>
            <a:r>
              <a:rPr lang="en-US" altLang="ko-KR" sz="2000" i="1" dirty="0">
                <a:solidFill>
                  <a:srgbClr val="0000FF"/>
                </a:solidFill>
                <a:ea typeface="굴림" charset="-127"/>
              </a:rPr>
              <a:t>F = true</a:t>
            </a:r>
            <a:r>
              <a:rPr lang="en-US" altLang="ko-KR" sz="2000" dirty="0">
                <a:solidFill>
                  <a:srgbClr val="0000FF"/>
                </a:solidFill>
                <a:ea typeface="굴림" charset="-127"/>
              </a:rPr>
              <a:t>) = 1/40</a:t>
            </a:r>
          </a:p>
          <a:p>
            <a:r>
              <a:rPr lang="en-US" altLang="ko-KR" sz="2000" dirty="0">
                <a:ea typeface="굴림" charset="-127"/>
              </a:rPr>
              <a:t>P(</a:t>
            </a:r>
            <a:r>
              <a:rPr lang="en-US" altLang="ko-KR" sz="2000" i="1" dirty="0">
                <a:ea typeface="굴림" charset="-127"/>
              </a:rPr>
              <a:t>H  = true </a:t>
            </a:r>
            <a:r>
              <a:rPr lang="en-US" altLang="ko-KR" sz="2000" dirty="0">
                <a:ea typeface="굴림" charset="-127"/>
              </a:rPr>
              <a:t>| </a:t>
            </a:r>
            <a:r>
              <a:rPr lang="en-US" altLang="ko-KR" sz="2000" i="1" dirty="0">
                <a:ea typeface="굴림" charset="-127"/>
              </a:rPr>
              <a:t>F = true</a:t>
            </a:r>
            <a:r>
              <a:rPr lang="en-US" altLang="ko-KR" sz="2000" dirty="0">
                <a:ea typeface="굴림" charset="-127"/>
              </a:rPr>
              <a:t>) = 1/2</a:t>
            </a:r>
          </a:p>
          <a:p>
            <a:endParaRPr lang="en-US" altLang="ko-KR" sz="2000" dirty="0">
              <a:ea typeface="굴림" charset="-127"/>
            </a:endParaRPr>
          </a:p>
          <a:p>
            <a:r>
              <a:rPr lang="en-US" altLang="ko-KR" sz="2000" dirty="0">
                <a:ea typeface="굴림" charset="-127"/>
              </a:rPr>
              <a:t>“Headaches are rare and flu is rarer, but if you’re coming down with flu there’s a 50-50 chance you’ll have a headache.”</a:t>
            </a:r>
          </a:p>
        </p:txBody>
      </p:sp>
      <p:sp>
        <p:nvSpPr>
          <p:cNvPr id="849941" name="Rectangle 21"/>
          <p:cNvSpPr>
            <a:spLocks noChangeArrowheads="1"/>
          </p:cNvSpPr>
          <p:nvPr/>
        </p:nvSpPr>
        <p:spPr bwMode="auto">
          <a:xfrm>
            <a:off x="762000" y="4721980"/>
            <a:ext cx="2971800" cy="1143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49940" name="Rectangle 20"/>
          <p:cNvSpPr>
            <a:spLocks noChangeArrowheads="1"/>
          </p:cNvSpPr>
          <p:nvPr/>
        </p:nvSpPr>
        <p:spPr bwMode="auto">
          <a:xfrm>
            <a:off x="1447800" y="3655180"/>
            <a:ext cx="1524000" cy="16002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31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Joint Probability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85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1433513"/>
          </a:xfrm>
        </p:spPr>
        <p:txBody>
          <a:bodyPr/>
          <a:lstStyle/>
          <a:p>
            <a:r>
              <a:rPr lang="en-US" altLang="ko-KR" dirty="0">
                <a:ea typeface="굴림" charset="-127"/>
              </a:rPr>
              <a:t>We will write </a:t>
            </a:r>
            <a:r>
              <a:rPr lang="en-US" altLang="ko-KR" i="1" dirty="0">
                <a:ea typeface="굴림" charset="-127"/>
              </a:rPr>
              <a:t>P(A = true, B = true)</a:t>
            </a:r>
            <a:r>
              <a:rPr lang="en-US" altLang="ko-KR" dirty="0">
                <a:ea typeface="굴림" charset="-127"/>
              </a:rPr>
              <a:t> to mean </a:t>
            </a:r>
            <a:endParaRPr lang="en-US" altLang="ko-KR" dirty="0" smtClean="0">
              <a:ea typeface="굴림" charset="-127"/>
            </a:endParaRPr>
          </a:p>
          <a:p>
            <a:pPr lvl="1"/>
            <a:r>
              <a:rPr lang="en-US" altLang="ko-KR" dirty="0" smtClean="0">
                <a:ea typeface="굴림" charset="-127"/>
              </a:rPr>
              <a:t>the </a:t>
            </a:r>
            <a:r>
              <a:rPr lang="en-US" altLang="ko-KR" dirty="0">
                <a:ea typeface="굴림" charset="-127"/>
              </a:rPr>
              <a:t>probability of </a:t>
            </a:r>
            <a:r>
              <a:rPr lang="en-US" altLang="ko-KR" i="1" dirty="0">
                <a:ea typeface="굴림" charset="-127"/>
              </a:rPr>
              <a:t>A = true</a:t>
            </a:r>
            <a:r>
              <a:rPr lang="en-US" altLang="ko-KR" dirty="0">
                <a:ea typeface="굴림" charset="-127"/>
              </a:rPr>
              <a:t> </a:t>
            </a:r>
            <a:r>
              <a:rPr lang="en-US" altLang="ko-KR" b="1" dirty="0">
                <a:ea typeface="굴림" charset="-127"/>
              </a:rPr>
              <a:t>and</a:t>
            </a:r>
            <a:r>
              <a:rPr lang="en-US" altLang="ko-KR" dirty="0">
                <a:ea typeface="굴림" charset="-127"/>
              </a:rPr>
              <a:t> </a:t>
            </a:r>
            <a:r>
              <a:rPr lang="en-US" altLang="ko-KR" i="1" dirty="0">
                <a:ea typeface="굴림" charset="-127"/>
              </a:rPr>
              <a:t>B = </a:t>
            </a:r>
            <a:r>
              <a:rPr lang="en-US" altLang="ko-KR" i="1" dirty="0" smtClean="0">
                <a:ea typeface="굴림" charset="-127"/>
              </a:rPr>
              <a:t>true</a:t>
            </a:r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</p:txBody>
      </p:sp>
      <p:sp>
        <p:nvSpPr>
          <p:cNvPr id="851972" name="Text Box 4"/>
          <p:cNvSpPr txBox="1">
            <a:spLocks noChangeArrowheads="1"/>
          </p:cNvSpPr>
          <p:nvPr/>
        </p:nvSpPr>
        <p:spPr bwMode="auto">
          <a:xfrm>
            <a:off x="5219700" y="4710113"/>
            <a:ext cx="41687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ko-KR" altLang="ko-KR" sz="2000">
              <a:latin typeface="Tahoma" pitchFamily="34" charset="0"/>
            </a:endParaRPr>
          </a:p>
        </p:txBody>
      </p:sp>
      <p:sp>
        <p:nvSpPr>
          <p:cNvPr id="851973" name="Text Box 5"/>
          <p:cNvSpPr txBox="1">
            <a:spLocks noChangeArrowheads="1"/>
          </p:cNvSpPr>
          <p:nvPr/>
        </p:nvSpPr>
        <p:spPr bwMode="auto">
          <a:xfrm>
            <a:off x="5181600" y="3352800"/>
            <a:ext cx="4240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ko-KR" sz="2000" dirty="0">
                <a:latin typeface="Tahoma" pitchFamily="34" charset="0"/>
                <a:ea typeface="굴림" charset="-127"/>
              </a:rPr>
              <a:t>P(</a:t>
            </a:r>
            <a:r>
              <a:rPr lang="en-US" altLang="ko-KR" sz="2000" i="1" dirty="0">
                <a:latin typeface="Tahoma" pitchFamily="34" charset="0"/>
                <a:ea typeface="굴림" charset="-127"/>
              </a:rPr>
              <a:t>H=</a:t>
            </a:r>
            <a:r>
              <a:rPr lang="en-US" altLang="ko-KR" sz="2000" i="1" dirty="0" err="1">
                <a:latin typeface="Tahoma" pitchFamily="34" charset="0"/>
                <a:ea typeface="굴림" charset="-127"/>
              </a:rPr>
              <a:t>true</a:t>
            </a:r>
            <a:r>
              <a:rPr lang="en-US" altLang="ko-KR" sz="2000" dirty="0" err="1">
                <a:latin typeface="Tahoma" pitchFamily="34" charset="0"/>
                <a:ea typeface="굴림" charset="-127"/>
              </a:rPr>
              <a:t>|</a:t>
            </a:r>
            <a:r>
              <a:rPr lang="en-US" altLang="ko-KR" sz="2000" i="1" dirty="0" err="1">
                <a:latin typeface="Tahoma" pitchFamily="34" charset="0"/>
                <a:ea typeface="굴림" charset="-127"/>
              </a:rPr>
              <a:t>F</a:t>
            </a:r>
            <a:r>
              <a:rPr lang="en-US" altLang="ko-KR" sz="2000" i="1">
                <a:latin typeface="Tahoma" pitchFamily="34" charset="0"/>
                <a:ea typeface="굴림" charset="-127"/>
              </a:rPr>
              <a:t>=true</a:t>
            </a:r>
            <a:r>
              <a:rPr lang="en-US" altLang="ko-KR" sz="2000">
                <a:latin typeface="Tahoma" pitchFamily="34" charset="0"/>
                <a:ea typeface="굴림" charset="-127"/>
              </a:rPr>
              <a:t>)</a:t>
            </a:r>
          </a:p>
        </p:txBody>
      </p:sp>
      <p:graphicFrame>
        <p:nvGraphicFramePr>
          <p:cNvPr id="851974" name="Object 6"/>
          <p:cNvGraphicFramePr>
            <a:graphicFrameLocks noChangeAspect="1"/>
          </p:cNvGraphicFramePr>
          <p:nvPr/>
        </p:nvGraphicFramePr>
        <p:xfrm>
          <a:off x="5181600" y="3810000"/>
          <a:ext cx="35052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" name="Equation" r:id="rId3" imgW="1714320" imgH="431640" progId="Equation.3">
                  <p:embed/>
                </p:oleObj>
              </mc:Choice>
              <mc:Fallback>
                <p:oleObj name="Equation" r:id="rId3" imgW="1714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810000"/>
                        <a:ext cx="35052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5" name="Object 7"/>
          <p:cNvGraphicFramePr>
            <a:graphicFrameLocks noChangeAspect="1"/>
          </p:cNvGraphicFramePr>
          <p:nvPr/>
        </p:nvGraphicFramePr>
        <p:xfrm>
          <a:off x="5130800" y="4648200"/>
          <a:ext cx="292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" name="Equation" r:id="rId5" imgW="1460160" imgH="419040" progId="Equation.3">
                  <p:embed/>
                </p:oleObj>
              </mc:Choice>
              <mc:Fallback>
                <p:oleObj name="Equation" r:id="rId5" imgW="1460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4648200"/>
                        <a:ext cx="292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1981" name="Text Box 13"/>
          <p:cNvSpPr txBox="1">
            <a:spLocks noChangeArrowheads="1"/>
          </p:cNvSpPr>
          <p:nvPr/>
        </p:nvSpPr>
        <p:spPr bwMode="auto">
          <a:xfrm>
            <a:off x="4800600" y="56388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charset="-127"/>
              </a:rPr>
              <a:t>In general, </a:t>
            </a:r>
            <a:r>
              <a:rPr lang="en-US" altLang="ko-KR" i="1">
                <a:ea typeface="굴림" charset="-127"/>
              </a:rPr>
              <a:t>P(X|Y)</a:t>
            </a:r>
            <a:r>
              <a:rPr lang="en-US" altLang="ko-KR">
                <a:ea typeface="굴림" charset="-127"/>
              </a:rPr>
              <a:t>=</a:t>
            </a:r>
            <a:r>
              <a:rPr lang="en-US" altLang="ko-KR" i="1">
                <a:ea typeface="굴림" charset="-127"/>
              </a:rPr>
              <a:t>P(X,Y)</a:t>
            </a:r>
            <a:r>
              <a:rPr lang="en-US" altLang="ko-KR">
                <a:ea typeface="굴림" charset="-127"/>
              </a:rPr>
              <a:t>/</a:t>
            </a:r>
            <a:r>
              <a:rPr lang="en-US" altLang="ko-KR" i="1">
                <a:ea typeface="굴림" charset="-127"/>
              </a:rPr>
              <a:t>P(Y)</a:t>
            </a:r>
          </a:p>
        </p:txBody>
      </p:sp>
      <p:sp>
        <p:nvSpPr>
          <p:cNvPr id="851987" name="Text Box 19"/>
          <p:cNvSpPr txBox="1">
            <a:spLocks noChangeArrowheads="1"/>
          </p:cNvSpPr>
          <p:nvPr/>
        </p:nvSpPr>
        <p:spPr bwMode="auto">
          <a:xfrm>
            <a:off x="1828800" y="35814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i="1">
                <a:solidFill>
                  <a:srgbClr val="0000FF"/>
                </a:solidFill>
                <a:ea typeface="굴림" charset="-127"/>
              </a:rPr>
              <a:t>P(F = true)</a:t>
            </a:r>
          </a:p>
        </p:txBody>
      </p:sp>
      <p:sp>
        <p:nvSpPr>
          <p:cNvPr id="851988" name="Text Box 20"/>
          <p:cNvSpPr txBox="1">
            <a:spLocks noChangeArrowheads="1"/>
          </p:cNvSpPr>
          <p:nvPr/>
        </p:nvSpPr>
        <p:spPr bwMode="auto">
          <a:xfrm>
            <a:off x="2819400" y="54102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800" i="1">
                <a:solidFill>
                  <a:srgbClr val="FF0000"/>
                </a:solidFill>
                <a:ea typeface="굴림" charset="-127"/>
              </a:rPr>
              <a:t>P(H = true)</a:t>
            </a:r>
          </a:p>
        </p:txBody>
      </p:sp>
      <p:sp>
        <p:nvSpPr>
          <p:cNvPr id="851989" name="Rectangle 21"/>
          <p:cNvSpPr>
            <a:spLocks noChangeArrowheads="1"/>
          </p:cNvSpPr>
          <p:nvPr/>
        </p:nvSpPr>
        <p:spPr bwMode="auto">
          <a:xfrm>
            <a:off x="838200" y="3124200"/>
            <a:ext cx="3733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51990" name="Rectangle 22"/>
          <p:cNvSpPr>
            <a:spLocks noChangeArrowheads="1"/>
          </p:cNvSpPr>
          <p:nvPr/>
        </p:nvSpPr>
        <p:spPr bwMode="auto">
          <a:xfrm>
            <a:off x="1143000" y="4648200"/>
            <a:ext cx="2971800" cy="1143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51991" name="Rectangle 23"/>
          <p:cNvSpPr>
            <a:spLocks noChangeArrowheads="1"/>
          </p:cNvSpPr>
          <p:nvPr/>
        </p:nvSpPr>
        <p:spPr bwMode="auto">
          <a:xfrm>
            <a:off x="1828800" y="3581400"/>
            <a:ext cx="1524000" cy="16002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68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ea typeface="굴림" charset="-127"/>
              </a:rPr>
              <a:t>Computing with Probabilities: </a:t>
            </a:r>
            <a:r>
              <a:rPr lang="en-US" altLang="ko-KR" sz="3600" dirty="0" smtClean="0">
                <a:ea typeface="굴림" charset="-127"/>
              </a:rPr>
              <a:t/>
            </a:r>
            <a:br>
              <a:rPr lang="en-US" altLang="ko-KR" sz="3600" dirty="0" smtClean="0">
                <a:ea typeface="굴림" charset="-127"/>
              </a:rPr>
            </a:br>
            <a:r>
              <a:rPr lang="en-US" altLang="ko-KR" sz="3600" dirty="0" smtClean="0">
                <a:ea typeface="굴림" charset="-127"/>
              </a:rPr>
              <a:t>Law </a:t>
            </a:r>
            <a:r>
              <a:rPr lang="en-US" altLang="ko-KR" sz="3600" dirty="0">
                <a:ea typeface="굴림" charset="-127"/>
              </a:rPr>
              <a:t>of Total Probability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8375" y="1568835"/>
            <a:ext cx="8435280" cy="490792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2286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Law of Total Probability</a:t>
            </a:r>
          </a:p>
          <a:p>
            <a:pPr lvl="1"/>
            <a:r>
              <a:rPr lang="en-US" altLang="ko-KR" sz="2800" dirty="0" err="1"/>
              <a:t>a.k.a</a:t>
            </a:r>
            <a:r>
              <a:rPr lang="en-US" altLang="ko-KR" sz="2800" dirty="0"/>
              <a:t> “summing out” or marginalization</a:t>
            </a:r>
          </a:p>
          <a:p>
            <a:pPr lvl="1"/>
            <a:r>
              <a:rPr lang="en-US" altLang="ko-KR" sz="2800" dirty="0"/>
              <a:t>P(a</a:t>
            </a:r>
            <a:r>
              <a:rPr lang="en-US" altLang="ko-KR" sz="2800" dirty="0" smtClean="0"/>
              <a:t>) </a:t>
            </a:r>
            <a:r>
              <a:rPr lang="en-US" altLang="ko-KR" sz="2800" dirty="0"/>
              <a:t>= </a:t>
            </a:r>
            <a:r>
              <a:rPr lang="en-US" altLang="ko-KR" sz="2800" dirty="0" smtClean="0"/>
              <a:t>∑</a:t>
            </a:r>
            <a:r>
              <a:rPr lang="en-US" altLang="ko-KR" sz="2800" baseline="-25000" dirty="0" err="1" smtClean="0"/>
              <a:t>b</a:t>
            </a:r>
            <a:r>
              <a:rPr lang="en-US" altLang="ko-KR" sz="2800" dirty="0" err="1" smtClean="0"/>
              <a:t>P</a:t>
            </a:r>
            <a:r>
              <a:rPr lang="en-US" altLang="ko-KR" sz="2800" dirty="0" smtClean="0"/>
              <a:t>(a</a:t>
            </a:r>
            <a:r>
              <a:rPr lang="en-US" altLang="ko-KR" sz="2800" dirty="0"/>
              <a:t>, b) = </a:t>
            </a:r>
            <a:r>
              <a:rPr lang="en-US" altLang="ko-KR" sz="2800" dirty="0" smtClean="0"/>
              <a:t>∑</a:t>
            </a:r>
            <a:r>
              <a:rPr lang="en-US" altLang="ko-KR" sz="2800" baseline="-25000" dirty="0" err="1" smtClean="0"/>
              <a:t>b</a:t>
            </a:r>
            <a:r>
              <a:rPr lang="en-US" altLang="ko-KR" sz="2800" dirty="0" err="1" smtClean="0"/>
              <a:t>P</a:t>
            </a:r>
            <a:r>
              <a:rPr lang="en-US" altLang="ko-KR" sz="2800" dirty="0" smtClean="0"/>
              <a:t>(a </a:t>
            </a:r>
            <a:r>
              <a:rPr lang="en-US" altLang="ko-KR" sz="2800" dirty="0"/>
              <a:t>| b) P(b)</a:t>
            </a:r>
          </a:p>
          <a:p>
            <a:pPr lvl="1"/>
            <a:r>
              <a:rPr lang="en-US" altLang="ko-KR" sz="2800" dirty="0"/>
              <a:t>When B is any random variable</a:t>
            </a:r>
          </a:p>
          <a:p>
            <a:r>
              <a:rPr lang="en-US" altLang="ko-KR" sz="2800" dirty="0"/>
              <a:t>Consider this case</a:t>
            </a:r>
          </a:p>
          <a:p>
            <a:pPr lvl="1"/>
            <a:r>
              <a:rPr lang="en-US" altLang="ko-KR" sz="2800" dirty="0"/>
              <a:t>given a joint distribution (e.g., P(</a:t>
            </a:r>
            <a:r>
              <a:rPr lang="en-US" altLang="ko-KR" sz="2800" dirty="0" err="1"/>
              <a:t>a,b,c,d</a:t>
            </a:r>
            <a:r>
              <a:rPr lang="en-US" altLang="ko-KR" sz="2800" dirty="0"/>
              <a:t>)) </a:t>
            </a:r>
          </a:p>
          <a:p>
            <a:pPr lvl="1"/>
            <a:r>
              <a:rPr lang="en-US" altLang="ko-KR" sz="2800" dirty="0"/>
              <a:t>We can obtain any “marginal” probability (e.g., P(b)) by summing out the other variables</a:t>
            </a:r>
          </a:p>
          <a:p>
            <a:pPr lvl="1"/>
            <a:r>
              <a:rPr lang="en-US" altLang="ko-KR" sz="2800" dirty="0"/>
              <a:t>P(b</a:t>
            </a:r>
            <a:r>
              <a:rPr lang="en-US" altLang="ko-KR" sz="2800" dirty="0" smtClean="0"/>
              <a:t>) </a:t>
            </a:r>
            <a:r>
              <a:rPr lang="en-US" altLang="ko-KR" sz="2800" dirty="0"/>
              <a:t>= </a:t>
            </a:r>
            <a:r>
              <a:rPr lang="en-US" altLang="ko-KR" sz="2800" dirty="0" smtClean="0"/>
              <a:t>∑</a:t>
            </a:r>
            <a:r>
              <a:rPr lang="en-US" altLang="ko-KR" sz="2800" baseline="-25000" dirty="0" err="1" smtClean="0"/>
              <a:t>a</a:t>
            </a:r>
            <a:r>
              <a:rPr lang="en-US" altLang="ko-KR" sz="2800" dirty="0" err="1" smtClean="0"/>
              <a:t>∑</a:t>
            </a:r>
            <a:r>
              <a:rPr lang="en-US" altLang="ko-KR" sz="2800" baseline="-25000" dirty="0" err="1" smtClean="0"/>
              <a:t>c</a:t>
            </a:r>
            <a:r>
              <a:rPr lang="en-US" altLang="ko-KR" sz="2800" dirty="0" err="1" smtClean="0"/>
              <a:t>∑</a:t>
            </a:r>
            <a:r>
              <a:rPr lang="en-US" altLang="ko-KR" sz="2800" baseline="-25000" dirty="0" err="1" smtClean="0"/>
              <a:t>d</a:t>
            </a:r>
            <a:r>
              <a:rPr lang="en-US" altLang="ko-KR" sz="2800" dirty="0" err="1" smtClean="0"/>
              <a:t>P</a:t>
            </a:r>
            <a:r>
              <a:rPr lang="en-US" altLang="ko-KR" sz="2800" dirty="0" smtClean="0"/>
              <a:t>(a</a:t>
            </a:r>
            <a:r>
              <a:rPr lang="en-US" altLang="ko-KR" sz="2800" dirty="0"/>
              <a:t>, b, c, d) </a:t>
            </a:r>
          </a:p>
          <a:p>
            <a:r>
              <a:rPr lang="en-US" altLang="ko-KR" sz="2800" dirty="0"/>
              <a:t>Also, consider this case</a:t>
            </a:r>
          </a:p>
          <a:p>
            <a:pPr lvl="1"/>
            <a:r>
              <a:rPr lang="en-US" altLang="ko-KR" sz="2800" dirty="0"/>
              <a:t>given a joint distribution (e.g., P(</a:t>
            </a:r>
            <a:r>
              <a:rPr lang="en-US" altLang="ko-KR" sz="2800" dirty="0" err="1"/>
              <a:t>a,b,c,d</a:t>
            </a:r>
            <a:r>
              <a:rPr lang="en-US" altLang="ko-KR" sz="2800" dirty="0"/>
              <a:t>)) </a:t>
            </a:r>
          </a:p>
          <a:p>
            <a:pPr lvl="1"/>
            <a:r>
              <a:rPr lang="en-US" altLang="ko-KR" sz="2800" dirty="0"/>
              <a:t>We can obtain any conditional probability of interest</a:t>
            </a:r>
          </a:p>
          <a:p>
            <a:pPr lvl="1"/>
            <a:r>
              <a:rPr lang="en-US" altLang="ko-KR" sz="2800" dirty="0"/>
              <a:t>P(c | b) </a:t>
            </a:r>
            <a:r>
              <a:rPr lang="en-US" altLang="ko-KR" sz="2800" dirty="0" smtClean="0"/>
              <a:t>=</a:t>
            </a:r>
            <a:r>
              <a:rPr lang="en-US" altLang="ko-KR" sz="2800" dirty="0"/>
              <a:t> </a:t>
            </a:r>
            <a:r>
              <a:rPr lang="en-US" altLang="ko-KR" sz="2800" dirty="0" smtClean="0"/>
              <a:t>∑</a:t>
            </a:r>
            <a:r>
              <a:rPr lang="en-US" altLang="ko-KR" sz="2800" baseline="-25000" dirty="0" err="1" smtClean="0"/>
              <a:t>a</a:t>
            </a:r>
            <a:r>
              <a:rPr lang="en-US" altLang="ko-KR" sz="2800" dirty="0" err="1" smtClean="0"/>
              <a:t>∑</a:t>
            </a:r>
            <a:r>
              <a:rPr lang="en-US" altLang="ko-KR" sz="2800" baseline="-25000" dirty="0" err="1" smtClean="0"/>
              <a:t>d</a:t>
            </a:r>
            <a:r>
              <a:rPr lang="en-US" altLang="ko-KR" sz="2800" dirty="0" err="1" smtClean="0"/>
              <a:t>P</a:t>
            </a:r>
            <a:r>
              <a:rPr lang="en-US" altLang="ko-KR" sz="2800" dirty="0" smtClean="0"/>
              <a:t>(a</a:t>
            </a:r>
            <a:r>
              <a:rPr lang="en-US" altLang="ko-KR" sz="2800" dirty="0"/>
              <a:t>, c, d | b)=1/P(b</a:t>
            </a:r>
            <a:r>
              <a:rPr lang="en-US" altLang="ko-KR" sz="2800" dirty="0" smtClean="0"/>
              <a:t>)∑</a:t>
            </a:r>
            <a:r>
              <a:rPr lang="en-US" altLang="ko-KR" sz="2800" baseline="-25000" dirty="0" err="1" smtClean="0"/>
              <a:t>a</a:t>
            </a:r>
            <a:r>
              <a:rPr lang="en-US" altLang="ko-KR" sz="2800" dirty="0" err="1" smtClean="0"/>
              <a:t>∑</a:t>
            </a:r>
            <a:r>
              <a:rPr lang="en-US" altLang="ko-KR" sz="2800" baseline="-25000" dirty="0" err="1" smtClean="0"/>
              <a:t>d</a:t>
            </a:r>
            <a:r>
              <a:rPr lang="en-US" altLang="ko-KR" sz="2800" dirty="0" err="1" smtClean="0"/>
              <a:t>P</a:t>
            </a:r>
            <a:r>
              <a:rPr lang="en-US" altLang="ko-KR" sz="2800" dirty="0" smtClean="0"/>
              <a:t>(a</a:t>
            </a:r>
            <a:r>
              <a:rPr lang="en-US" altLang="ko-KR" sz="2800" dirty="0"/>
              <a:t>, c, d, b)</a:t>
            </a:r>
          </a:p>
          <a:p>
            <a:pPr lvl="1"/>
            <a:r>
              <a:rPr lang="en-US" altLang="ko-KR" sz="2800" dirty="0"/>
              <a:t>Where 1 / P(b) is just a normalization constant</a:t>
            </a:r>
          </a:p>
          <a:p>
            <a:r>
              <a:rPr lang="en-US" altLang="ko-KR" sz="2800" b="1" dirty="0"/>
              <a:t>Joint distribution contains the information we need to compute any probability of interest.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ko-KR" sz="1200" dirty="0"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1400" dirty="0">
              <a:ea typeface="굴림" charset="-127"/>
            </a:endParaRPr>
          </a:p>
          <a:p>
            <a:pPr>
              <a:lnSpc>
                <a:spcPct val="90000"/>
              </a:lnSpc>
            </a:pPr>
            <a:endParaRPr lang="en-US" altLang="ko-KR" sz="2800" dirty="0">
              <a:ea typeface="굴림" charset="-127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ko-KR" sz="2800" dirty="0">
              <a:ea typeface="굴림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9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ea typeface="굴림" charset="-127"/>
              </a:rPr>
              <a:t>Computing with </a:t>
            </a:r>
            <a:r>
              <a:rPr lang="en-US" altLang="ko-KR" sz="3600" dirty="0" smtClean="0">
                <a:ea typeface="굴림" charset="-127"/>
              </a:rPr>
              <a:t>Probabilities: </a:t>
            </a:r>
            <a:br>
              <a:rPr lang="en-US" altLang="ko-KR" sz="3600" dirty="0" smtClean="0">
                <a:ea typeface="굴림" charset="-127"/>
              </a:rPr>
            </a:br>
            <a:r>
              <a:rPr lang="en-US" altLang="ko-KR" sz="3600" dirty="0" smtClean="0">
                <a:ea typeface="굴림" charset="-127"/>
              </a:rPr>
              <a:t>Chain </a:t>
            </a:r>
            <a:r>
              <a:rPr lang="en-US" altLang="ko-KR" sz="3600" dirty="0">
                <a:ea typeface="굴림" charset="-127"/>
              </a:rPr>
              <a:t>Rule or </a:t>
            </a:r>
            <a:r>
              <a:rPr lang="en-US" altLang="ko-KR" sz="3600" dirty="0" smtClean="0">
                <a:ea typeface="굴림" charset="-127"/>
              </a:rPr>
              <a:t>Factorization</a:t>
            </a:r>
            <a:endParaRPr lang="en-US" altLang="ko-KR" sz="3600" dirty="0">
              <a:ea typeface="굴림" charset="-127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8375" y="1568835"/>
            <a:ext cx="8435280" cy="4907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ea typeface="굴림" charset="-127"/>
              </a:rPr>
              <a:t>We </a:t>
            </a:r>
            <a:r>
              <a:rPr lang="en-US" altLang="ko-KR" dirty="0">
                <a:ea typeface="굴림" charset="-127"/>
              </a:rPr>
              <a:t>can always </a:t>
            </a:r>
            <a:r>
              <a:rPr lang="en-US" altLang="ko-KR" dirty="0" smtClean="0">
                <a:ea typeface="굴림" charset="-127"/>
              </a:rPr>
              <a:t>write</a:t>
            </a:r>
          </a:p>
          <a:p>
            <a:pPr lvl="1"/>
            <a:r>
              <a:rPr lang="en-US" altLang="ko-KR" dirty="0" smtClean="0">
                <a:ea typeface="굴림" charset="-127"/>
              </a:rPr>
              <a:t>P(a</a:t>
            </a:r>
            <a:r>
              <a:rPr lang="en-US" altLang="ko-KR" dirty="0">
                <a:ea typeface="굴림" charset="-127"/>
              </a:rPr>
              <a:t>, b, c, … z</a:t>
            </a:r>
            <a:r>
              <a:rPr lang="en-US" altLang="ko-KR" dirty="0" smtClean="0">
                <a:ea typeface="굴림" charset="-127"/>
              </a:rPr>
              <a:t>) </a:t>
            </a:r>
            <a:r>
              <a:rPr lang="en-US" altLang="ko-KR" dirty="0">
                <a:ea typeface="굴림" charset="-127"/>
              </a:rPr>
              <a:t>= P(a | b, c, …. z) P(b, c, … z</a:t>
            </a:r>
            <a:r>
              <a:rPr lang="en-US" altLang="ko-KR" dirty="0" smtClean="0">
                <a:ea typeface="굴림" charset="-127"/>
              </a:rPr>
              <a:t>)</a:t>
            </a:r>
          </a:p>
          <a:p>
            <a:pPr lvl="1"/>
            <a:r>
              <a:rPr lang="en-US" altLang="ko-KR" dirty="0" smtClean="0">
                <a:ea typeface="굴림" charset="-127"/>
              </a:rPr>
              <a:t>by </a:t>
            </a:r>
            <a:r>
              <a:rPr lang="en-US" altLang="ko-KR" dirty="0">
                <a:ea typeface="굴림" charset="-127"/>
              </a:rPr>
              <a:t>definition of joint </a:t>
            </a:r>
            <a:r>
              <a:rPr lang="en-US" altLang="ko-KR" dirty="0" smtClean="0">
                <a:ea typeface="굴림" charset="-127"/>
              </a:rPr>
              <a:t>probability</a:t>
            </a:r>
          </a:p>
          <a:p>
            <a:r>
              <a:rPr lang="en-US" altLang="ko-KR" dirty="0" smtClean="0">
                <a:ea typeface="굴림" charset="-127"/>
              </a:rPr>
              <a:t>Repeatedly </a:t>
            </a:r>
            <a:r>
              <a:rPr lang="en-US" altLang="ko-KR" dirty="0">
                <a:ea typeface="굴림" charset="-127"/>
              </a:rPr>
              <a:t>applying this idea, we can </a:t>
            </a:r>
            <a:r>
              <a:rPr lang="en-US" altLang="ko-KR" dirty="0" smtClean="0">
                <a:ea typeface="굴림" charset="-127"/>
              </a:rPr>
              <a:t>write</a:t>
            </a:r>
          </a:p>
          <a:p>
            <a:pPr lvl="1"/>
            <a:r>
              <a:rPr lang="en-US" altLang="ko-KR" dirty="0" smtClean="0">
                <a:ea typeface="굴림" charset="-127"/>
              </a:rPr>
              <a:t>P(a</a:t>
            </a:r>
            <a:r>
              <a:rPr lang="en-US" altLang="ko-KR" dirty="0">
                <a:ea typeface="굴림" charset="-127"/>
              </a:rPr>
              <a:t>, b, c, … z)   = P(a | b, c, …. z) P(b | c,.. z) P(c| .. z)..</a:t>
            </a:r>
            <a:r>
              <a:rPr lang="en-US" altLang="ko-KR" dirty="0" smtClean="0">
                <a:ea typeface="굴림" charset="-127"/>
              </a:rPr>
              <a:t>P(z)</a:t>
            </a:r>
          </a:p>
          <a:p>
            <a:r>
              <a:rPr lang="en-US" altLang="ko-KR" dirty="0" smtClean="0">
                <a:ea typeface="굴림" charset="-127"/>
              </a:rPr>
              <a:t>This </a:t>
            </a:r>
            <a:r>
              <a:rPr lang="en-US" altLang="ko-KR" dirty="0">
                <a:ea typeface="굴림" charset="-127"/>
              </a:rPr>
              <a:t>factorization holds for any ordering of the </a:t>
            </a:r>
            <a:r>
              <a:rPr lang="en-US" altLang="ko-KR" dirty="0" smtClean="0">
                <a:ea typeface="굴림" charset="-127"/>
              </a:rPr>
              <a:t>variables</a:t>
            </a:r>
          </a:p>
          <a:p>
            <a:pPr lvl="1"/>
            <a:r>
              <a:rPr lang="en-US" altLang="ko-KR" dirty="0" smtClean="0">
                <a:ea typeface="굴림" charset="-127"/>
              </a:rPr>
              <a:t>Chain </a:t>
            </a:r>
            <a:r>
              <a:rPr lang="en-US" altLang="ko-KR" dirty="0">
                <a:ea typeface="굴림" charset="-127"/>
              </a:rPr>
              <a:t>rule for </a:t>
            </a:r>
            <a:r>
              <a:rPr lang="en-US" altLang="ko-KR" dirty="0" smtClean="0">
                <a:ea typeface="굴림" charset="-127"/>
              </a:rPr>
              <a:t>probabilities</a:t>
            </a:r>
          </a:p>
          <a:p>
            <a:pPr lvl="1"/>
            <a:r>
              <a:rPr lang="en-US" altLang="ko-KR" dirty="0" smtClean="0">
                <a:ea typeface="굴림" charset="-127"/>
              </a:rPr>
              <a:t>Any joint probability </a:t>
            </a:r>
            <a:r>
              <a:rPr lang="en-US" altLang="ko-KR" dirty="0" smtClean="0">
                <a:ea typeface="굴림" charset="-127"/>
                <a:sym typeface="Wingdings" panose="05000000000000000000" pitchFamily="2" charset="2"/>
              </a:rPr>
              <a:t> Can be factorized into a series of multiplication</a:t>
            </a:r>
            <a:endParaRPr lang="en-US" altLang="ko-KR" dirty="0">
              <a:ea typeface="굴림" charset="-127"/>
            </a:endParaRPr>
          </a:p>
          <a:p>
            <a:pPr>
              <a:buFontTx/>
              <a:buNone/>
            </a:pPr>
            <a:endParaRPr lang="en-US" altLang="ko-KR" dirty="0">
              <a:ea typeface="굴림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40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Joint </a:t>
            </a:r>
            <a:r>
              <a:rPr lang="en-US" altLang="ko-KR" dirty="0">
                <a:ea typeface="굴림" charset="-127"/>
              </a:rPr>
              <a:t>Probability Distribution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299877"/>
            <a:ext cx="4876800" cy="3276600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ea typeface="굴림" charset="-127"/>
              </a:rPr>
              <a:t>Joint probabilities can be between any number of </a:t>
            </a:r>
            <a:r>
              <a:rPr lang="en-US" altLang="ko-KR" sz="2400" dirty="0" smtClean="0">
                <a:ea typeface="굴림" charset="-127"/>
              </a:rPr>
              <a:t>variables</a:t>
            </a:r>
          </a:p>
          <a:p>
            <a:pPr lvl="1"/>
            <a:r>
              <a:rPr lang="en-US" altLang="ko-KR" i="1" dirty="0" smtClean="0">
                <a:ea typeface="굴림" charset="-127"/>
              </a:rPr>
              <a:t>P(</a:t>
            </a:r>
            <a:r>
              <a:rPr lang="en-US" altLang="ko-KR" i="1" dirty="0" err="1" smtClean="0">
                <a:ea typeface="굴림" charset="-127"/>
              </a:rPr>
              <a:t>Int</a:t>
            </a:r>
            <a:r>
              <a:rPr lang="en-US" altLang="ko-KR" i="1" dirty="0" smtClean="0">
                <a:ea typeface="굴림" charset="-127"/>
              </a:rPr>
              <a:t> </a:t>
            </a:r>
            <a:r>
              <a:rPr lang="en-US" altLang="ko-KR" i="1" dirty="0">
                <a:ea typeface="굴림" charset="-127"/>
              </a:rPr>
              <a:t>= true, </a:t>
            </a:r>
            <a:r>
              <a:rPr lang="en-US" altLang="ko-KR" i="1" dirty="0" smtClean="0">
                <a:ea typeface="굴림" charset="-127"/>
              </a:rPr>
              <a:t>Effort </a:t>
            </a:r>
            <a:r>
              <a:rPr lang="en-US" altLang="ko-KR" i="1" dirty="0">
                <a:ea typeface="굴림" charset="-127"/>
              </a:rPr>
              <a:t>= true, </a:t>
            </a:r>
            <a:r>
              <a:rPr lang="en-US" altLang="ko-KR" i="1" dirty="0" smtClean="0">
                <a:ea typeface="굴림" charset="-127"/>
              </a:rPr>
              <a:t>GPA </a:t>
            </a:r>
            <a:r>
              <a:rPr lang="en-US" altLang="ko-KR" i="1" dirty="0">
                <a:ea typeface="굴림" charset="-127"/>
              </a:rPr>
              <a:t>= true)</a:t>
            </a:r>
          </a:p>
          <a:p>
            <a:r>
              <a:rPr lang="en-US" altLang="ko-KR" sz="2400" dirty="0">
                <a:ea typeface="굴림" charset="-127"/>
              </a:rPr>
              <a:t>For each combination of variables, we need to say how probable that combination is</a:t>
            </a:r>
          </a:p>
          <a:p>
            <a:r>
              <a:rPr lang="en-US" altLang="ko-KR" sz="2400" dirty="0">
                <a:ea typeface="굴림" charset="-127"/>
              </a:rPr>
              <a:t>The probabilities of these combinations need to sum to 1</a:t>
            </a:r>
          </a:p>
        </p:txBody>
      </p:sp>
      <p:graphicFrame>
        <p:nvGraphicFramePr>
          <p:cNvPr id="854093" name="Group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52301"/>
              </p:ext>
            </p:extLst>
          </p:nvPr>
        </p:nvGraphicFramePr>
        <p:xfrm>
          <a:off x="5121152" y="1281489"/>
          <a:ext cx="3960439" cy="3291840"/>
        </p:xfrm>
        <a:graphic>
          <a:graphicData uri="http://schemas.openxmlformats.org/drawingml/2006/table">
            <a:tbl>
              <a:tblPr/>
              <a:tblGrid>
                <a:gridCol w="869365"/>
                <a:gridCol w="827104"/>
                <a:gridCol w="815029"/>
                <a:gridCol w="1448941"/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Int.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Effort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P(I,E,G)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4094" name="AutoShape 78"/>
          <p:cNvSpPr>
            <a:spLocks/>
          </p:cNvSpPr>
          <p:nvPr/>
        </p:nvSpPr>
        <p:spPr bwMode="auto">
          <a:xfrm rot="5400000">
            <a:off x="8166931" y="4042818"/>
            <a:ext cx="381000" cy="1448319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54095" name="Text Box 79"/>
          <p:cNvSpPr txBox="1">
            <a:spLocks noChangeArrowheads="1"/>
          </p:cNvSpPr>
          <p:nvPr/>
        </p:nvSpPr>
        <p:spPr bwMode="auto">
          <a:xfrm>
            <a:off x="7633791" y="4988024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dirty="0">
                <a:solidFill>
                  <a:srgbClr val="FF0000"/>
                </a:solidFill>
                <a:ea typeface="굴림" charset="-127"/>
              </a:rPr>
              <a:t>Sums to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>
              <a:xfrm>
                <a:off x="179512" y="4581128"/>
                <a:ext cx="7920880" cy="15181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228600" algn="l" defTabSz="914400" rtl="0" eaLnBrk="1" latinLnBrk="1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1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1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1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1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1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1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1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1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US" altLang="ko-KR" sz="2400" dirty="0" smtClean="0">
                    <a:ea typeface="굴림" charset="-127"/>
                  </a:rPr>
                  <a:t>P(I=true)=sum </a:t>
                </a:r>
                <a:r>
                  <a:rPr lang="en-US" altLang="ko-KR" sz="2400" dirty="0">
                    <a:ea typeface="굴림" charset="-127"/>
                  </a:rPr>
                  <a:t>of </a:t>
                </a:r>
                <a:r>
                  <a:rPr lang="en-US" altLang="ko-KR" sz="2400" dirty="0" smtClean="0">
                    <a:ea typeface="굴림" charset="-127"/>
                  </a:rPr>
                  <a:t>P(I,E,G) </a:t>
                </a:r>
                <a:r>
                  <a:rPr lang="en-US" altLang="ko-KR" sz="2400" dirty="0">
                    <a:ea typeface="굴림" charset="-127"/>
                  </a:rPr>
                  <a:t>in rows with </a:t>
                </a:r>
                <a:r>
                  <a:rPr lang="en-US" altLang="ko-KR" sz="2400" dirty="0" smtClean="0">
                    <a:ea typeface="굴림" charset="-127"/>
                  </a:rPr>
                  <a:t>Int.=true</a:t>
                </a:r>
                <a:endParaRPr lang="en-US" altLang="ko-KR" sz="2400" dirty="0">
                  <a:ea typeface="굴림" charset="-127"/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US" altLang="ko-KR" sz="2400" dirty="0" smtClean="0">
                    <a:ea typeface="굴림" charset="-127"/>
                  </a:rPr>
                  <a:t>P(I=true</a:t>
                </a:r>
                <a:r>
                  <a:rPr lang="en-US" altLang="ko-KR" sz="2400" dirty="0">
                    <a:ea typeface="굴림" charset="-127"/>
                  </a:rPr>
                  <a:t>, </a:t>
                </a:r>
                <a:r>
                  <a:rPr lang="en-US" altLang="ko-KR" sz="2400" dirty="0" smtClean="0">
                    <a:ea typeface="굴림" charset="-127"/>
                  </a:rPr>
                  <a:t>E </a:t>
                </a:r>
                <a:r>
                  <a:rPr lang="en-US" altLang="ko-KR" sz="2400" dirty="0">
                    <a:ea typeface="굴림" charset="-127"/>
                  </a:rPr>
                  <a:t>= true | </a:t>
                </a:r>
                <a:r>
                  <a:rPr lang="en-US" altLang="ko-KR" sz="2400" dirty="0" smtClean="0">
                    <a:ea typeface="굴림" charset="-127"/>
                  </a:rPr>
                  <a:t>G=true)=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  <a:ea typeface="굴림" charset="-127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G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 = 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true</m:t>
                        </m:r>
                        <m:r>
                          <m:rPr>
                            <m:nor/>
                          </m:rPr>
                          <a:rPr lang="en-US" altLang="ko-KR" sz="2400" dirty="0">
                            <a:ea typeface="굴림" charset="-127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2400" dirty="0">
                  <a:ea typeface="굴림" charset="-127"/>
                </a:endParaRP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581128"/>
                <a:ext cx="7920880" cy="1518189"/>
              </a:xfrm>
              <a:prstGeom prst="rect">
                <a:avLst/>
              </a:prstGeom>
              <a:blipFill rotWithShape="0">
                <a:blip r:embed="rId2"/>
                <a:stretch>
                  <a:fillRect t="-3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79512" y="6084245"/>
            <a:ext cx="7048400" cy="536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smtClean="0">
                <a:ea typeface="굴림" charset="-127"/>
              </a:rPr>
              <a:t>Any problem in this statistical model?</a:t>
            </a:r>
            <a:endParaRPr lang="en-US" altLang="ko-KR" sz="2400" b="1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220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Independence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 smtClean="0">
                    <a:ea typeface="굴림" charset="-127"/>
                  </a:rPr>
                  <a:t>Recall the naïve Bayes classifier</a:t>
                </a:r>
              </a:p>
              <a:p>
                <a:pPr lvl="1"/>
                <a:r>
                  <a:rPr lang="en-US" altLang="ko-KR" dirty="0" smtClean="0">
                    <a:ea typeface="굴림" charset="-127"/>
                  </a:rPr>
                  <a:t>Why introduce naïve assumption?</a:t>
                </a:r>
              </a:p>
              <a:p>
                <a:r>
                  <a:rPr lang="en-US" altLang="ko-KR" dirty="0" smtClean="0">
                    <a:ea typeface="굴림" charset="-127"/>
                  </a:rPr>
                  <a:t>Variables </a:t>
                </a:r>
                <a:r>
                  <a:rPr lang="en-US" altLang="ko-KR" i="1" dirty="0">
                    <a:ea typeface="굴림" charset="-127"/>
                  </a:rPr>
                  <a:t>A</a:t>
                </a:r>
                <a:r>
                  <a:rPr lang="en-US" altLang="ko-KR" dirty="0">
                    <a:ea typeface="굴림" charset="-127"/>
                  </a:rPr>
                  <a:t> and </a:t>
                </a:r>
                <a:r>
                  <a:rPr lang="en-US" altLang="ko-KR" i="1" dirty="0">
                    <a:ea typeface="굴림" charset="-127"/>
                  </a:rPr>
                  <a:t>B</a:t>
                </a:r>
                <a:r>
                  <a:rPr lang="en-US" altLang="ko-KR" dirty="0">
                    <a:ea typeface="굴림" charset="-127"/>
                  </a:rPr>
                  <a:t> are independent if any of the following hold</a:t>
                </a:r>
                <a:r>
                  <a:rPr lang="en-US" altLang="ko-KR" dirty="0" smtClean="0">
                    <a:ea typeface="굴림" charset="-127"/>
                  </a:rPr>
                  <a:t>:</a:t>
                </a:r>
              </a:p>
              <a:p>
                <a:pPr lvl="1"/>
                <a:r>
                  <a:rPr lang="en-US" altLang="ko-KR" dirty="0" smtClean="0"/>
                  <a:t>P(A </a:t>
                </a:r>
                <a:r>
                  <a:rPr lang="en-US" altLang="ko-KR" dirty="0"/>
                  <a:t>| B) = P(A</a:t>
                </a:r>
                <a:r>
                  <a:rPr lang="en-US" altLang="ko-KR" dirty="0" smtClean="0"/>
                  <a:t>)</a:t>
                </a:r>
              </a:p>
              <a:p>
                <a:pPr lvl="2"/>
                <a:r>
                  <a:rPr lang="en-US" altLang="ko-KR" dirty="0"/>
                  <a:t>P(A,B) = </a:t>
                </a:r>
                <a:r>
                  <a:rPr lang="en-US" altLang="ko-KR" dirty="0" smtClean="0"/>
                  <a:t>P(A)P(B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 smtClean="0"/>
                  <a:t>P(B|A</a:t>
                </a:r>
                <a:r>
                  <a:rPr lang="en-US" altLang="ko-KR" dirty="0"/>
                  <a:t>) = P(B</a:t>
                </a:r>
                <a:r>
                  <a:rPr lang="en-US" altLang="ko-KR" dirty="0" smtClean="0"/>
                  <a:t>)</a:t>
                </a:r>
              </a:p>
              <a:p>
                <a:pPr lvl="1"/>
                <a:r>
                  <a:rPr lang="en-US" altLang="ko-KR" dirty="0"/>
                  <a:t>This says that knowing the outcome of A does not tell me anything new about the outcome of B</a:t>
                </a:r>
                <a:r>
                  <a:rPr lang="en-US" altLang="ko-KR" dirty="0" smtClean="0"/>
                  <a:t>.</a:t>
                </a:r>
              </a:p>
              <a:p>
                <a:r>
                  <a:rPr lang="en-US" altLang="ko-KR" dirty="0" smtClean="0"/>
                  <a:t>Example</a:t>
                </a:r>
              </a:p>
              <a:p>
                <a:pPr lvl="1"/>
                <a:r>
                  <a:rPr lang="en-US" altLang="ko-KR" dirty="0" smtClean="0"/>
                  <a:t>Suppose </a:t>
                </a:r>
                <a:r>
                  <a:rPr lang="en-US" altLang="ko-KR" dirty="0"/>
                  <a:t>you have n coin flips and you want to calculate the joint distribution P(C</a:t>
                </a:r>
                <a:r>
                  <a:rPr lang="en-US" altLang="ko-KR" baseline="-25000" dirty="0"/>
                  <a:t>1</a:t>
                </a:r>
                <a:r>
                  <a:rPr lang="en-US" altLang="ko-KR" dirty="0"/>
                  <a:t>, …, </a:t>
                </a:r>
                <a:r>
                  <a:rPr lang="en-US" altLang="ko-KR" dirty="0" err="1"/>
                  <a:t>C</a:t>
                </a:r>
                <a:r>
                  <a:rPr lang="en-US" altLang="ko-KR" baseline="-25000" dirty="0" err="1"/>
                  <a:t>n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If the coin flips are not independent, you need </a:t>
                </a:r>
                <a:r>
                  <a:rPr lang="en-US" altLang="ko-KR" dirty="0" smtClean="0"/>
                  <a:t>2</a:t>
                </a:r>
                <a:r>
                  <a:rPr lang="en-US" altLang="ko-KR" baseline="30000" dirty="0" smtClean="0"/>
                  <a:t>n</a:t>
                </a:r>
                <a:r>
                  <a:rPr lang="en-US" altLang="ko-KR" dirty="0" smtClean="0"/>
                  <a:t>-1 values </a:t>
                </a:r>
                <a:r>
                  <a:rPr lang="en-US" altLang="ko-KR" dirty="0"/>
                  <a:t>in the table</a:t>
                </a:r>
              </a:p>
              <a:p>
                <a:pPr lvl="1"/>
                <a:r>
                  <a:rPr lang="en-US" altLang="ko-KR" dirty="0"/>
                  <a:t>If the coin flips are independent, </a:t>
                </a:r>
                <a:r>
                  <a:rPr lang="en-US" altLang="ko-KR" dirty="0" smtClean="0"/>
                  <a:t>then you need only one value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,..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611" b="-7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9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 smtClean="0"/>
              <a:t>Conditional vs. Marginal Independence</a:t>
            </a:r>
            <a:endParaRPr lang="ko-KR" altLang="en-US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7" y="1378497"/>
            <a:ext cx="1042392" cy="104239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3898776"/>
            <a:ext cx="8435280" cy="2626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22860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1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Marginal independence</a:t>
            </a:r>
          </a:p>
          <a:p>
            <a:pPr lvl="1"/>
            <a:r>
              <a:rPr lang="en-US" altLang="ko-KR" dirty="0" smtClean="0"/>
              <a:t>P(</a:t>
            </a:r>
            <a:r>
              <a:rPr lang="en-US" altLang="ko-KR" dirty="0" err="1" smtClean="0"/>
              <a:t>OfficerA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Go|OfficerB</a:t>
            </a:r>
            <a:r>
              <a:rPr lang="en-US" altLang="ko-KR" dirty="0" smtClean="0"/>
              <a:t>=Go) &gt; P(</a:t>
            </a:r>
            <a:r>
              <a:rPr lang="en-US" altLang="ko-KR" dirty="0" err="1" smtClean="0"/>
              <a:t>OfficerA</a:t>
            </a:r>
            <a:r>
              <a:rPr lang="en-US" altLang="ko-KR" dirty="0" smtClean="0"/>
              <a:t>=Go)</a:t>
            </a:r>
          </a:p>
          <a:p>
            <a:pPr lvl="1"/>
            <a:r>
              <a:rPr lang="en-US" altLang="ko-KR" b="1" dirty="0" smtClean="0">
                <a:solidFill>
                  <a:srgbClr val="C00000"/>
                </a:solidFill>
              </a:rPr>
              <a:t>This is not marginally independent!</a:t>
            </a:r>
          </a:p>
          <a:p>
            <a:pPr lvl="2"/>
            <a:r>
              <a:rPr lang="en-US" altLang="ko-KR" dirty="0" smtClean="0"/>
              <a:t>X and Y are independent if and only if P(X)=P(X|Y)</a:t>
            </a:r>
          </a:p>
          <a:p>
            <a:pPr lvl="2"/>
            <a:r>
              <a:rPr lang="en-US" altLang="ko-KR" dirty="0" smtClean="0"/>
              <a:t>Consequently, P(X,Y)=P(X)P(Y)</a:t>
            </a:r>
          </a:p>
          <a:p>
            <a:r>
              <a:rPr lang="en-US" altLang="ko-KR" dirty="0" smtClean="0"/>
              <a:t>Conditional independence</a:t>
            </a:r>
          </a:p>
          <a:p>
            <a:pPr lvl="1"/>
            <a:r>
              <a:rPr lang="en-US" altLang="ko-KR" dirty="0" smtClean="0"/>
              <a:t>P(</a:t>
            </a:r>
            <a:r>
              <a:rPr lang="en-US" altLang="ko-KR" dirty="0" err="1" smtClean="0"/>
              <a:t>OfficerA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Go|OfficerB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Go,Commander</a:t>
            </a:r>
            <a:r>
              <a:rPr lang="en-US" altLang="ko-KR" dirty="0" smtClean="0"/>
              <a:t>=Go)</a:t>
            </a:r>
            <a:br>
              <a:rPr lang="en-US" altLang="ko-KR" dirty="0" smtClean="0"/>
            </a:br>
            <a:r>
              <a:rPr lang="en-US" altLang="ko-KR" dirty="0" smtClean="0"/>
              <a:t>=P(</a:t>
            </a:r>
            <a:r>
              <a:rPr lang="en-US" altLang="ko-KR" dirty="0" err="1" smtClean="0"/>
              <a:t>OfficerA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Go|Commander</a:t>
            </a:r>
            <a:r>
              <a:rPr lang="en-US" altLang="ko-KR" dirty="0" smtClean="0"/>
              <a:t>=Go)</a:t>
            </a:r>
          </a:p>
          <a:p>
            <a:pPr lvl="1"/>
            <a:r>
              <a:rPr lang="en-US" altLang="ko-KR" b="1" dirty="0" smtClean="0">
                <a:solidFill>
                  <a:srgbClr val="002060"/>
                </a:solidFill>
              </a:rPr>
              <a:t>This is conditionally independent!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655776"/>
            <a:ext cx="1042392" cy="1042392"/>
          </a:xfrm>
          <a:prstGeom prst="rect">
            <a:avLst/>
          </a:prstGeom>
        </p:spPr>
      </p:pic>
      <p:pic>
        <p:nvPicPr>
          <p:cNvPr id="8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655776"/>
            <a:ext cx="1042392" cy="1042392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5" idx="1"/>
            <a:endCxn id="7" idx="0"/>
          </p:cNvCxnSpPr>
          <p:nvPr/>
        </p:nvCxnSpPr>
        <p:spPr>
          <a:xfrm flipH="1">
            <a:off x="3004964" y="1899693"/>
            <a:ext cx="990973" cy="756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8" idx="0"/>
          </p:cNvCxnSpPr>
          <p:nvPr/>
        </p:nvCxnSpPr>
        <p:spPr>
          <a:xfrm>
            <a:off x="5038329" y="1899693"/>
            <a:ext cx="918963" cy="756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ular Callout 13"/>
          <p:cNvSpPr/>
          <p:nvPr/>
        </p:nvSpPr>
        <p:spPr>
          <a:xfrm>
            <a:off x="5436096" y="1378497"/>
            <a:ext cx="1368152" cy="521196"/>
          </a:xfrm>
          <a:prstGeom prst="wedgeRectCallout">
            <a:avLst>
              <a:gd name="adj1" fmla="val -92238"/>
              <a:gd name="adj2" fmla="val 1301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 smtClean="0"/>
              <a:t>Go!</a:t>
            </a:r>
            <a:endParaRPr lang="ko-KR" altLang="en-US" dirty="0" smtClean="0"/>
          </a:p>
        </p:txBody>
      </p:sp>
      <p:sp>
        <p:nvSpPr>
          <p:cNvPr id="15" name="Rectangular Callout 14"/>
          <p:cNvSpPr/>
          <p:nvPr/>
        </p:nvSpPr>
        <p:spPr>
          <a:xfrm>
            <a:off x="816399" y="2470199"/>
            <a:ext cx="1368152" cy="521196"/>
          </a:xfrm>
          <a:prstGeom prst="wedgeRectCallout">
            <a:avLst>
              <a:gd name="adj1" fmla="val 77419"/>
              <a:gd name="adj2" fmla="val 5050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 smtClean="0"/>
              <a:t>Go?</a:t>
            </a:r>
            <a:endParaRPr lang="ko-KR" altLang="en-US" dirty="0" smtClean="0"/>
          </a:p>
        </p:txBody>
      </p:sp>
      <p:sp>
        <p:nvSpPr>
          <p:cNvPr id="16" name="Rectangular Callout 15"/>
          <p:cNvSpPr/>
          <p:nvPr/>
        </p:nvSpPr>
        <p:spPr>
          <a:xfrm>
            <a:off x="6999684" y="2470199"/>
            <a:ext cx="1368152" cy="521196"/>
          </a:xfrm>
          <a:prstGeom prst="wedgeRectCallout">
            <a:avLst>
              <a:gd name="adj1" fmla="val -101378"/>
              <a:gd name="adj2" fmla="val 475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 smtClean="0"/>
              <a:t>Go?</a:t>
            </a:r>
            <a:endParaRPr lang="ko-KR" alt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3131840" y="3042527"/>
            <a:ext cx="105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OfficerA</a:t>
            </a:r>
            <a:endParaRPr lang="ko-KR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551717" y="3042527"/>
            <a:ext cx="105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OfficerB</a:t>
            </a:r>
            <a:endParaRPr lang="ko-KR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689194" y="2345236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Commander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2683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발표 템플릿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accent1"/>
        </a:solidFill>
        <a:ln w="38100">
          <a:tailEnd type="none"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7254</TotalTime>
  <Words>900</Words>
  <Application>Microsoft Office PowerPoint</Application>
  <PresentationFormat>On-screen Show (4:3)</PresentationFormat>
  <Paragraphs>168</Paragraphs>
  <Slides>11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HY헤드라인M</vt:lpstr>
      <vt:lpstr>굴림</vt:lpstr>
      <vt:lpstr>맑은 고딕</vt:lpstr>
      <vt:lpstr>Arial</vt:lpstr>
      <vt:lpstr>Cambria</vt:lpstr>
      <vt:lpstr>Cambria Math</vt:lpstr>
      <vt:lpstr>Tahoma</vt:lpstr>
      <vt:lpstr>Times New Roman</vt:lpstr>
      <vt:lpstr>Wingdings</vt:lpstr>
      <vt:lpstr>발표 템플릿</vt:lpstr>
      <vt:lpstr>Equation</vt:lpstr>
      <vt:lpstr>Bayesian Network</vt:lpstr>
      <vt:lpstr>Weekly Objectives</vt:lpstr>
      <vt:lpstr>Recap on Probability </vt:lpstr>
      <vt:lpstr>Probabilities</vt:lpstr>
      <vt:lpstr>Conditional Probability</vt:lpstr>
      <vt:lpstr>Joint Probability</vt:lpstr>
      <vt:lpstr>Computing with Probabilities:  Law of Total Probability</vt:lpstr>
      <vt:lpstr>Computing with Probabilities:  Chain Rule or Factorization</vt:lpstr>
      <vt:lpstr>Joint Probability Distribution</vt:lpstr>
      <vt:lpstr>Independence</vt:lpstr>
      <vt:lpstr>Conditional vs. Marginal Independence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Il-Chul Moon</dc:creator>
  <cp:lastModifiedBy>?? ?</cp:lastModifiedBy>
  <cp:revision>223</cp:revision>
  <dcterms:created xsi:type="dcterms:W3CDTF">2012-12-05T07:53:35Z</dcterms:created>
  <dcterms:modified xsi:type="dcterms:W3CDTF">2015-08-06T05:18:45Z</dcterms:modified>
</cp:coreProperties>
</file>
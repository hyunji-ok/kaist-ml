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93" r:id="rId2"/>
    <p:sldId id="294" r:id="rId3"/>
    <p:sldId id="323" r:id="rId4"/>
    <p:sldId id="317" r:id="rId5"/>
    <p:sldId id="318" r:id="rId6"/>
    <p:sldId id="319" r:id="rId7"/>
    <p:sldId id="321" r:id="rId8"/>
    <p:sldId id="320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085F3-A77E-408E-9F90-D3B01E2760CC}" type="datetimeFigureOut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91C5F-1D0F-4256-BD1C-618DF4C9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96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78E696B-9374-4FC8-A4A4-DDB21E4308C9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89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601A0AE-82B0-4EE0-BB01-FCB58416881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86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EF5DD2A-9A58-465F-9A0F-1C8629BE06FE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85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57CAFD41-B754-45DC-A522-98D3F864B24A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03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D1E221B1-7A1E-426C-AF01-35749B7BF4E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4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F4C3A041-F064-4634-BCB4-E288DF9234D4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0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637DB916-A8CC-4508-BDB7-A7C41CF51D78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10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6380F88-DEEA-4445-973D-596FFE796746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968E8D3-738E-482E-B8E9-37E700B6269C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43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0FDD-37C3-44C6-926E-30504FBD2D12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19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0876C0D-36C2-4B2B-9620-3F481773C3BD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39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i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8093" y="6590376"/>
            <a:ext cx="577502" cy="27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85CD3E9B-A789-4DCF-960C-49E4EDB7DF3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174896E-ED42-4D61-895F-99B0D2E268F3}" type="datetime1">
              <a:rPr lang="ko-KR" altLang="en-US" smtClean="0"/>
              <a:t>2015-08-27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94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2012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12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Hidden Markov Model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64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Learn hidden Markov model</a:t>
            </a:r>
          </a:p>
          <a:p>
            <a:pPr lvl="1"/>
            <a:r>
              <a:rPr lang="en-US" altLang="ko-KR" dirty="0" smtClean="0"/>
              <a:t>Transition from the static clustering to the dynamic clustering</a:t>
            </a:r>
          </a:p>
          <a:p>
            <a:pPr lvl="1"/>
            <a:r>
              <a:rPr lang="en-US" altLang="ko-KR" dirty="0" smtClean="0"/>
              <a:t>Understand the difference of the graphical model</a:t>
            </a:r>
          </a:p>
          <a:p>
            <a:r>
              <a:rPr lang="en-US" altLang="ko-KR" dirty="0" smtClean="0"/>
              <a:t>Know and able to answer the three major questions of HMM</a:t>
            </a:r>
          </a:p>
          <a:p>
            <a:pPr lvl="1"/>
            <a:r>
              <a:rPr lang="en-US" altLang="ko-KR" dirty="0" smtClean="0"/>
              <a:t>Know how to solve the evaluation question</a:t>
            </a:r>
          </a:p>
          <a:p>
            <a:pPr lvl="1"/>
            <a:r>
              <a:rPr lang="en-US" altLang="ko-KR" dirty="0" smtClean="0"/>
              <a:t>Know how to solve the decoding question</a:t>
            </a:r>
          </a:p>
          <a:p>
            <a:pPr lvl="1"/>
            <a:r>
              <a:rPr lang="en-US" altLang="ko-KR" dirty="0" smtClean="0"/>
              <a:t>Know how to solve the learning question</a:t>
            </a:r>
          </a:p>
          <a:p>
            <a:r>
              <a:rPr lang="en-US" altLang="ko-KR" dirty="0" smtClean="0"/>
              <a:t>Link to the previous lectures</a:t>
            </a:r>
          </a:p>
          <a:p>
            <a:pPr lvl="1"/>
            <a:r>
              <a:rPr lang="en-US" altLang="ko-KR" dirty="0" smtClean="0"/>
              <a:t>Link the forward-backward algorithm to the message passing</a:t>
            </a:r>
          </a:p>
          <a:p>
            <a:pPr lvl="1"/>
            <a:r>
              <a:rPr lang="en-US" altLang="ko-KR" dirty="0" smtClean="0"/>
              <a:t>Link the </a:t>
            </a:r>
            <a:r>
              <a:rPr lang="en-US" altLang="ko-KR" dirty="0" err="1" smtClean="0"/>
              <a:t>baum</a:t>
            </a:r>
            <a:r>
              <a:rPr lang="en-US" altLang="ko-KR" dirty="0" smtClean="0"/>
              <a:t>-welch algorithm to the </a:t>
            </a:r>
            <a:r>
              <a:rPr lang="en-US" altLang="ko-KR" smtClean="0"/>
              <a:t>EM algorithm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74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Baum-welch algorithm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941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Learning Parameters with Only X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ko-KR" dirty="0" smtClean="0"/>
                  <a:t>Importance of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HMM parameters</a:t>
                </a:r>
              </a:p>
              <a:p>
                <a:pPr lvl="1"/>
                <a:r>
                  <a:rPr lang="en-US" altLang="ko-KR" dirty="0" smtClean="0"/>
                  <a:t>Forward algorithm (evaluation) and Viterbi algorithm (decoding) depends on knowing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However, knowing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assumes that we have observed X and Z</a:t>
                </a:r>
              </a:p>
              <a:p>
                <a:pPr lvl="1"/>
                <a:r>
                  <a:rPr lang="en-US" altLang="ko-KR" dirty="0" smtClean="0"/>
                  <a:t>But, often Z is hard to observe. Need tagging, annotation, </a:t>
                </a:r>
                <a:r>
                  <a:rPr lang="en-US" altLang="ko-KR" dirty="0" err="1" smtClean="0"/>
                  <a:t>etc</a:t>
                </a:r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Often the latent space is what we want to know, so we can’t assume that we know Z</a:t>
                </a:r>
              </a:p>
              <a:p>
                <a:r>
                  <a:rPr lang="en-US" altLang="ko-KR" dirty="0" smtClean="0"/>
                  <a:t>If we don’t know Z, we can assign the most probable Z to X</a:t>
                </a:r>
              </a:p>
              <a:p>
                <a:pPr lvl="1"/>
                <a:r>
                  <a:rPr lang="en-US" altLang="ko-KR" dirty="0" smtClean="0"/>
                  <a:t>However, this is decoding problem, and this requires knowing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Most likely scenario in the real world</a:t>
                </a:r>
              </a:p>
              <a:p>
                <a:pPr lvl="1"/>
                <a:r>
                  <a:rPr lang="en-US" altLang="ko-KR" dirty="0" smtClean="0"/>
                  <a:t>You have only X</a:t>
                </a:r>
              </a:p>
              <a:p>
                <a:pPr lvl="1"/>
                <a:r>
                  <a:rPr lang="en-US" altLang="ko-KR" dirty="0" smtClean="0"/>
                  <a:t>You don’t have Z,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r>
                  <a:rPr lang="en-US" altLang="ko-KR" dirty="0" smtClean="0"/>
                  <a:t>, and you need to find out </a:t>
                </a:r>
                <a:r>
                  <a:rPr lang="en-US" altLang="ko-KR" dirty="0"/>
                  <a:t>Z,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Strategy</a:t>
                </a:r>
              </a:p>
              <a:p>
                <a:pPr lvl="1"/>
                <a:r>
                  <a:rPr lang="en-US" altLang="ko-KR" dirty="0" smtClean="0"/>
                  <a:t>Finding the optimized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e>
                    </m:acc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acc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with X</a:t>
                </a:r>
              </a:p>
              <a:p>
                <a:pPr lvl="1"/>
                <a:r>
                  <a:rPr lang="en-US" altLang="ko-KR" dirty="0" smtClean="0"/>
                  <a:t>Finding the most probable Z with X,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e>
                    </m:acc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acc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How to find the unknown parameter of the latent distribution without supervision?</a:t>
                </a:r>
              </a:p>
              <a:p>
                <a:r>
                  <a:rPr lang="en-US" altLang="ko-KR" b="1" u="sng" dirty="0" smtClean="0"/>
                  <a:t>EM algorithm!</a:t>
                </a:r>
              </a:p>
              <a:p>
                <a:pPr lvl="1"/>
                <a:r>
                  <a:rPr lang="en-US" altLang="ko-KR" b="1" dirty="0" smtClean="0"/>
                  <a:t>Iteratively optimizing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𝝅</m:t>
                        </m:r>
                      </m:e>
                    </m:acc>
                  </m:oMath>
                </a14:m>
                <a:r>
                  <a:rPr lang="en-US" altLang="ko-KR" b="1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ko-KR" b="1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𝒃</m:t>
                        </m:r>
                      </m:e>
                    </m:acc>
                  </m:oMath>
                </a14:m>
                <a:r>
                  <a:rPr lang="ko-KR" altLang="en-US" b="1" dirty="0" smtClean="0"/>
                  <a:t> </a:t>
                </a:r>
                <a:r>
                  <a:rPr lang="en-US" altLang="ko-KR" b="1" dirty="0" smtClean="0"/>
                  <a:t>and Z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859" r="-795" b="-1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59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6282"/>
            <a:ext cx="8435280" cy="1138138"/>
          </a:xfrm>
        </p:spPr>
        <p:txBody>
          <a:bodyPr/>
          <a:lstStyle/>
          <a:p>
            <a:r>
              <a:rPr lang="en-US" altLang="ko-KR" i="1" dirty="0" smtClean="0"/>
              <a:t>Detour: </a:t>
            </a:r>
            <a:r>
              <a:rPr lang="en-US" altLang="ko-KR" dirty="0" smtClean="0"/>
              <a:t>EM 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 smtClean="0"/>
                  <a:t>EM algorithm</a:t>
                </a:r>
              </a:p>
              <a:p>
                <a:pPr lvl="1"/>
                <a:r>
                  <a:rPr lang="en-US" altLang="ko-KR" dirty="0" smtClean="0"/>
                  <a:t>Finds the maximum likelihood solutions for models with latent variables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 smtClean="0"/>
                  <a:t>EM algorithm</a:t>
                </a:r>
              </a:p>
              <a:p>
                <a:pPr lvl="1"/>
                <a:r>
                  <a:rPr lang="en-US" altLang="ko-KR" dirty="0" smtClean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to an arbitrary point</a:t>
                </a:r>
              </a:p>
              <a:p>
                <a:pPr lvl="1"/>
                <a:r>
                  <a:rPr lang="en-US" altLang="ko-KR" dirty="0" smtClean="0"/>
                  <a:t>Loop until the likelihood converges</a:t>
                </a:r>
              </a:p>
              <a:p>
                <a:pPr lvl="2"/>
                <a:r>
                  <a:rPr lang="en-US" altLang="ko-KR" dirty="0" smtClean="0"/>
                  <a:t>Expectation step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pPr lvl="3"/>
                <a:r>
                  <a:rPr lang="en-US" altLang="ko-KR" dirty="0" smtClean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ko-KR" dirty="0" smtClean="0">
                    <a:sym typeface="Wingdings" panose="05000000000000000000" pitchFamily="2" charset="2"/>
                  </a:rPr>
                  <a:t>Assign Z by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Maximization step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dirty="0"/>
              </a:p>
              <a:p>
                <a:pPr lvl="3"/>
                <a:r>
                  <a:rPr lang="en-US" altLang="ko-KR" dirty="0" smtClean="0">
                    <a:sym typeface="Wingdings" panose="05000000000000000000" pitchFamily="2" charset="2"/>
                  </a:rPr>
                  <a:t> fixed Z means that there is no unobserved variables </a:t>
                </a:r>
              </a:p>
              <a:p>
                <a:pPr lvl="3"/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Same optimization of ordinary MLE</a:t>
                </a:r>
              </a:p>
              <a:p>
                <a:pPr lvl="1"/>
                <a:endParaRPr lang="ko-KR" altLang="en-US" dirty="0"/>
              </a:p>
              <a:p>
                <a:pPr lvl="2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941088" y="0"/>
                <a:ext cx="5202912" cy="1137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1"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1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/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  <m:f>
                                <m:f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e>
                                      <m:r>
                                        <a:rPr lang="ko-KR" altLang="en-US" sz="11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/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e>
                                  <m:r>
                                    <a:rPr lang="ko-KR" altLang="en-US" sz="11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ko-KR" sz="11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sub>
                      </m:sSub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altLang="ko-KR" sz="11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1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ko-KR" altLang="en-US" sz="11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/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Cambria Math" panose="020405030504060302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1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e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ko-KR" altLang="en-US" sz="11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088" y="0"/>
                <a:ext cx="5202912" cy="1137619"/>
              </a:xfrm>
              <a:prstGeom prst="rect">
                <a:avLst/>
              </a:prstGeom>
              <a:blipFill rotWithShape="0">
                <a:blip r:embed="rId3"/>
                <a:stretch>
                  <a:fillRect t="-47059" b="-70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493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EM for HMM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EM algorithm for HMM</a:t>
                </a:r>
                <a:endParaRPr lang="en-US" altLang="ko-KR" dirty="0"/>
              </a:p>
              <a:p>
                <a:pPr lvl="1"/>
                <a:r>
                  <a:rPr lang="en-US" altLang="ko-KR" dirty="0" smtClean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to an arbitrary point</a:t>
                </a:r>
              </a:p>
              <a:p>
                <a:pPr lvl="1"/>
                <a:r>
                  <a:rPr lang="en-US" altLang="ko-KR" dirty="0"/>
                  <a:t>Loop until the likelihood converges</a:t>
                </a:r>
              </a:p>
              <a:p>
                <a:pPr lvl="2"/>
                <a:r>
                  <a:rPr lang="en-US" altLang="ko-KR" dirty="0"/>
                  <a:t>Expectation step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Assign Z by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Maximization step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m:rPr>
                        <m:nor/>
                      </m:rPr>
                      <a:rPr lang="en-US" altLang="ko-KR" dirty="0"/>
                      <m:t>,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m:rPr>
                        <m:nor/>
                      </m:rPr>
                      <a:rPr lang="en-US" altLang="ko-KR" dirty="0"/>
                      <m:t>,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𝑙𝑛𝑃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marL="342900" lvl="1">
                  <a:buClr>
                    <a:schemeClr val="accent1"/>
                  </a:buClr>
                </a:pPr>
                <a:r>
                  <a:rPr lang="en-US" altLang="ko-KR" dirty="0" smtClean="0"/>
                  <a:t>Assign Z and optimize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r>
                  <a:rPr lang="en-US" altLang="ko-KR" dirty="0" smtClean="0"/>
                  <a:t> alternatively</a:t>
                </a:r>
              </a:p>
              <a:p>
                <a:pPr marL="708660" lvl="2">
                  <a:buClr>
                    <a:schemeClr val="accent1"/>
                  </a:buClr>
                </a:pPr>
                <a:r>
                  <a:rPr lang="en-US" altLang="ko-KR" dirty="0" smtClean="0"/>
                  <a:t>Coordinated optimization</a:t>
                </a:r>
              </a:p>
              <a:p>
                <a:pPr marL="708660" lvl="2">
                  <a:buClr>
                    <a:schemeClr val="accent1"/>
                  </a:buClr>
                </a:pPr>
                <a:r>
                  <a:rPr lang="en-US" altLang="ko-KR" dirty="0" smtClean="0"/>
                  <a:t>How to optimize? Derivation of EM update formula from HMM?</a:t>
                </a:r>
              </a:p>
              <a:p>
                <a:pPr marL="708660" lvl="2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nary>
                    <m:nary>
                      <m:naryPr>
                        <m:chr m:val="∏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endParaRPr lang="en-US" altLang="ko-KR" dirty="0" smtClean="0"/>
              </a:p>
              <a:p>
                <a:pPr marL="708660" lvl="2"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endParaRPr lang="en-US" altLang="ko-KR" dirty="0" smtClean="0"/>
              </a:p>
              <a:p>
                <a:pPr marL="708660" lvl="2">
                  <a:buClr>
                    <a:schemeClr val="accent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𝑙𝑛𝑃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ko-KR" i="1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/>
                </a:r>
                <a:br>
                  <a:rPr lang="en-US" altLang="ko-KR" i="1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dirty="0"/>
              </a:p>
              <a:p>
                <a:pPr marL="708660" lvl="2">
                  <a:buClr>
                    <a:schemeClr val="accent1"/>
                  </a:buClr>
                </a:pP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9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514262" y="0"/>
                <a:ext cx="2629738" cy="1515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000" b="1" dirty="0" smtClean="0">
                    <a:sym typeface="Wingdings" panose="05000000000000000000" pitchFamily="2" charset="2"/>
                  </a:rPr>
                  <a:t>Initial State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𝝅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000" b="1" dirty="0">
                    <a:sym typeface="Wingdings" panose="05000000000000000000" pitchFamily="2" charset="2"/>
                  </a:rPr>
                  <a:t>Transition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Sup>
                        <m:sSubSup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𝒛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  <m:sup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</m:sup>
                      </m:sSubSup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𝟏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𝒂</m:t>
                          </m:r>
                        </m:e>
                        <m: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𝒌</m:t>
                          </m:r>
                        </m:sub>
                      </m:sSub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sz="10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𝒂</m:t>
                        </m:r>
                      </m:e>
                      <m:sub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en-US" altLang="ko-KR" sz="1000" b="1" dirty="0">
                  <a:sym typeface="Wingdings" panose="05000000000000000000" pitchFamily="2" charset="2"/>
                </a:endParaRPr>
              </a:p>
              <a:p>
                <a:r>
                  <a:rPr lang="en-US" altLang="ko-KR" sz="1000" b="1" dirty="0">
                    <a:sym typeface="Wingdings" panose="05000000000000000000" pitchFamily="2" charset="2"/>
                  </a:rPr>
                  <a:t>Emission probabilities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0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𝑷</m:t>
                      </m:r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Sup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</m:sup>
                          </m:sSubSup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</m:t>
                          </m:r>
                          <m:r>
                            <a:rPr lang="en-US" altLang="ko-KR" sz="1000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e>
                      </m:d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∼</m:t>
                      </m:r>
                      <m:r>
                        <a:rPr lang="en-US" altLang="ko-KR" sz="1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𝑴𝒖𝒍𝒕</m:t>
                      </m:r>
                      <m:d>
                        <m:d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𝒊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r>
                                <a:rPr lang="en-US" altLang="ko-KR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000" b="1" i="1" dirty="0" smtClean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ko-KR" sz="1000" b="1" dirty="0">
                    <a:sym typeface="Wingdings" panose="05000000000000000000" pitchFamily="2" charset="2"/>
                  </a:rPr>
                  <a:t>Or, </a:t>
                </a:r>
                <a14:m>
                  <m:oMath xmlns:m="http://schemas.openxmlformats.org/officeDocument/2006/math"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𝑷</m:t>
                    </m:r>
                    <m:d>
                      <m:dPr>
                        <m:ctrlP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𝒋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  <m:e>
                        <m:sSubSup>
                          <m:sSubSupPr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1000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p>
                        </m:sSubSup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e>
                    </m:d>
                    <m:r>
                      <a:rPr lang="en-US" altLang="ko-KR" sz="1000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𝒃</m:t>
                        </m:r>
                      </m:e>
                      <m:sub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ko-KR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𝒋</m:t>
                        </m:r>
                      </m:sub>
                    </m:sSub>
                  </m:oMath>
                </a14:m>
                <a:endParaRPr lang="ko-KR" altLang="en-US" sz="10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262" y="0"/>
                <a:ext cx="2629738" cy="151509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524865" y="0"/>
                <a:ext cx="2989397" cy="12872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1"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  <m:d>
                        <m:dPr>
                          <m:ctrlPr>
                            <a:rPr lang="en-US" altLang="ko-KR" sz="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9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ko-KR" sz="9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9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𝐥𝐧</m:t>
                      </m:r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ko-KR" sz="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e>
                          <m:r>
                            <a:rPr lang="ko-KR" altLang="en-US" sz="9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9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𝐥𝐧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sz="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sub>
                            <m:sup/>
                            <m:e>
                              <m: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d>
                                <m:dPr>
                                  <m:ctrlP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</m:d>
                              <m:f>
                                <m:fPr>
                                  <m:ctrlP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ctrlPr>
                                        <a:rPr lang="en-US" altLang="ko-KR" sz="9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900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  <m:r>
                                        <a:rPr lang="en-US" altLang="ko-KR" sz="900" b="1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sz="900" b="1" i="1"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</m:e>
                                    <m:e>
                                      <m:r>
                                        <a:rPr lang="ko-KR" altLang="en-US" sz="900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  <m:d>
                                    <m:dPr>
                                      <m:ctrlPr>
                                        <a:rPr lang="en-US" altLang="ko-KR" sz="9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900" b="1" i="1">
                                          <a:latin typeface="Cambria Math" panose="02040503050406030204" pitchFamily="18" charset="0"/>
                                        </a:rPr>
                                        <m:t>𝒁</m:t>
                                      </m:r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ko-KR" sz="9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9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𝒁</m:t>
                          </m:r>
                        </m:sub>
                        <m:sup/>
                        <m:e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𝒁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𝐥𝐧</m:t>
                          </m:r>
                          <m:f>
                            <m:fPr>
                              <m:ctrlP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e>
                                  <m:r>
                                    <a:rPr lang="ko-KR" altLang="en-US" sz="9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  <m: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US" altLang="ko-KR" sz="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900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en-US" altLang="ko-KR" sz="9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US" altLang="ko-KR" sz="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900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9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  <m:d>
                            <m:dPr>
                              <m:ctrlP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</m:sub>
                      </m:sSub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𝒍𝒏𝑷</m:t>
                      </m:r>
                      <m:d>
                        <m:dPr>
                          <m:ctrlPr>
                            <a:rPr lang="en-US" altLang="ko-KR" sz="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e>
                          <m:r>
                            <a:rPr lang="ko-KR" altLang="en-US" sz="9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ko-KR" sz="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en-US" altLang="ko-KR" sz="900" b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900" b="1" i="1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𝒍𝒏𝑷</m:t>
                      </m:r>
                      <m:d>
                        <m:dPr>
                          <m:ctrlPr>
                            <a:rPr lang="en-US" altLang="ko-KR" sz="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e>
                          <m:r>
                            <a:rPr lang="ko-KR" altLang="en-US" sz="9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ko-KR" sz="900" b="1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9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𝒁</m:t>
                          </m:r>
                        </m:sub>
                        <m:sup/>
                        <m:e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𝒒</m:t>
                          </m:r>
                          <m:d>
                            <m:dPr>
                              <m:ctrlP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</m:d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𝐥𝐧</m:t>
                          </m:r>
                          <m:f>
                            <m:fPr>
                              <m:ctrlP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  <m:d>
                                <m:dPr>
                                  <m:ctrlP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9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  <m:t>𝒁</m:t>
                                  </m:r>
                                </m:e>
                                <m:e>
                                  <m: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altLang="ko-KR" sz="9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ko-KR" altLang="en-US" sz="900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ko-KR" sz="900" b="1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ko-KR" altLang="en-US" sz="9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865" y="0"/>
                <a:ext cx="2989397" cy="1287212"/>
              </a:xfrm>
              <a:prstGeom prst="rect">
                <a:avLst/>
              </a:prstGeom>
              <a:blipFill rotWithShape="0">
                <a:blip r:embed="rId4"/>
                <a:stretch>
                  <a:fillRect t="-34597" b="-521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785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26" y="0"/>
            <a:ext cx="4490884" cy="1231490"/>
          </a:xfrm>
        </p:spPr>
        <p:txBody>
          <a:bodyPr/>
          <a:lstStyle/>
          <a:p>
            <a:r>
              <a:rPr lang="en-US" altLang="ko-KR" dirty="0" smtClean="0"/>
              <a:t>Derivation of EM Update Formula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299155" y="626806"/>
                <a:ext cx="4782437" cy="19984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 smtClean="0"/>
                  <a:t>Similarly, we can compute the update formula for </a:t>
                </a:r>
                <a:r>
                  <a:rPr lang="en-US" altLang="ko-KR" sz="1600" i="1" dirty="0" smtClean="0"/>
                  <a:t>a</a:t>
                </a:r>
                <a:r>
                  <a:rPr lang="en-US" altLang="ko-KR" sz="1600" dirty="0" smtClean="0"/>
                  <a:t> and </a:t>
                </a:r>
                <a:r>
                  <a:rPr lang="en-US" altLang="ko-KR" sz="1600" i="1" dirty="0" smtClean="0"/>
                  <a:t>b </a:t>
                </a:r>
                <a:r>
                  <a:rPr lang="en-US" altLang="ko-KR" sz="1600" dirty="0" smtClean="0"/>
                  <a:t>with the partial derivatives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n-US" altLang="ko-KR" sz="1600" dirty="0"/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n-US" altLang="ko-KR" sz="1600" dirty="0"/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n-US" altLang="ko-KR" sz="1600" dirty="0"/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n-US" altLang="ko-KR" sz="1600" dirty="0"/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1600" i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n-US" altLang="ko-KR" sz="1600" dirty="0"/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n-US" altLang="ko-KR" sz="1600" dirty="0"/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ko-KR" altLang="en-US" sz="16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𝑖𝑑𝑥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n-US" altLang="ko-KR" sz="1600" dirty="0"/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n-US" altLang="ko-KR" sz="1600" dirty="0"/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sz="1600" i="1" dirty="0"/>
              </a:p>
              <a:p>
                <a:pPr algn="ctr"/>
                <a:endParaRPr lang="ko-KR" altLang="en-US" sz="1600" i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155" y="626806"/>
                <a:ext cx="4782437" cy="1998407"/>
              </a:xfrm>
              <a:prstGeom prst="rect">
                <a:avLst/>
              </a:prstGeom>
              <a:blipFill rotWithShape="0">
                <a:blip r:embed="rId2"/>
                <a:stretch>
                  <a:fillRect t="-18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5466" y="1364226"/>
                <a:ext cx="9144000" cy="5817021"/>
              </a:xfrm>
            </p:spPr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𝑙𝑛𝑃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i="1" dirty="0" smtClean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i="1" dirty="0" smtClean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i="1" dirty="0" smtClean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ln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ln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ln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Need to optimize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 smtClean="0"/>
                  <a:t> by using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m:rPr>
                        <m:nor/>
                      </m:rPr>
                      <a:rPr lang="en-US" altLang="ko-KR" dirty="0"/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m:rPr>
                        <m:nor/>
                      </m:rPr>
                      <a:rPr lang="en-US" altLang="ko-KR" dirty="0"/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Remember that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m:rPr>
                        <m:nor/>
                      </m:rPr>
                      <a:rPr lang="en-US" altLang="ko-KR" dirty="0"/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m:rPr>
                        <m:nor/>
                      </m:rPr>
                      <a:rPr lang="en-US" altLang="ko-KR" dirty="0"/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r>
                  <a:rPr lang="en-US" altLang="ko-KR" dirty="0" smtClean="0"/>
                  <a:t> is actually probabilities.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Since there are constraints on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m:rPr>
                        <m:nor/>
                      </m:rPr>
                      <a:rPr lang="en-US" altLang="ko-KR" dirty="0"/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m:rPr>
                        <m:nor/>
                      </m:rPr>
                      <a:rPr lang="en-US" altLang="ko-KR" dirty="0"/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r>
                  <a:rPr lang="en-US" altLang="ko-KR" dirty="0" smtClean="0"/>
                  <a:t> and Q is smooth </a:t>
                </a:r>
                <a:r>
                  <a:rPr lang="en-US" altLang="ko-KR" dirty="0" smtClean="0">
                    <a:sym typeface="Wingdings" panose="05000000000000000000" pitchFamily="2" charset="2"/>
                  </a:rPr>
                  <a:t> Lagrange method!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Now, a typical optimization with partial derivative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ln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Only the terms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dirty="0" smtClean="0"/>
                  <a:t>  survives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ln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0</m:t>
                    </m:r>
                  </m:oMath>
                </a14:m>
                <a:r>
                  <a:rPr lang="en-US" altLang="ko-KR" dirty="0" smtClean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sub>
                        </m:sSub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r>
                  <a:rPr lang="en-US" altLang="ko-KR" dirty="0" smtClean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Together,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This is an update function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 smtClean="0"/>
                  <a:t> at the M Step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466" y="1364226"/>
                <a:ext cx="9144000" cy="5817021"/>
              </a:xfrm>
              <a:blipFill rotWithShape="0">
                <a:blip r:embed="rId3"/>
                <a:stretch>
                  <a:fillRect t="-3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8458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Baum Welch 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29352"/>
                <a:ext cx="8435280" cy="492514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ko-KR" dirty="0" smtClean="0"/>
                  <a:t>Answer to the learning question of HMM</a:t>
                </a:r>
              </a:p>
              <a:p>
                <a:r>
                  <a:rPr lang="en-US" altLang="ko-KR" dirty="0" smtClean="0"/>
                  <a:t>Again, EM for HMM with more details</a:t>
                </a:r>
              </a:p>
              <a:p>
                <a:r>
                  <a:rPr lang="en-US" altLang="ko-KR" dirty="0" smtClean="0"/>
                  <a:t>EM </a:t>
                </a:r>
                <a:r>
                  <a:rPr lang="en-US" altLang="ko-KR" dirty="0"/>
                  <a:t>algorithm for </a:t>
                </a:r>
                <a:r>
                  <a:rPr lang="en-US" altLang="ko-KR" dirty="0" smtClean="0"/>
                  <a:t>HMM, a.k.a. Baum-Welch, Forward-Backward…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Initialize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𝜋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to an arbitrary point</a:t>
                </a:r>
              </a:p>
              <a:p>
                <a:pPr lvl="1"/>
                <a:r>
                  <a:rPr lang="en-US" altLang="ko-KR" dirty="0"/>
                  <a:t>Loop until the likelihood converges</a:t>
                </a:r>
              </a:p>
              <a:p>
                <a:pPr lvl="2"/>
                <a:r>
                  <a:rPr lang="en-US" altLang="ko-KR" dirty="0"/>
                  <a:t>Expectation step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Assign Z by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ko-KR" dirty="0"/>
                          <m:t>, 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Maximization step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ko-KR" dirty="0"/>
                              <m:t>, 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bSup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sub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=1,</m:t>
                                </m:r>
                                <m:sSubSup>
                                  <m:sSub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bSup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sz="1600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sz="1600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sub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sz="1600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sz="1600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altLang="ko-KR" sz="1600" i="1" dirty="0" smtClean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sz="1600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sz="1600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𝑖𝑑𝑥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1"/>
                              </m:r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sz="1600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altLang="ko-KR" sz="1600" dirty="0"/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ko-KR" altLang="en-US" sz="1600" i="1" dirty="0"/>
              </a:p>
              <a:p>
                <a:pPr lvl="3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29352"/>
                <a:ext cx="8435280" cy="4925144"/>
              </a:xfrm>
              <a:blipFill rotWithShape="0">
                <a:blip r:embed="rId2"/>
                <a:stretch>
                  <a:fillRect t="-14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D3E9B-A789-4DCF-960C-49E4EDB7DF3D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696241" y="3891924"/>
                <a:ext cx="2110001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ko-KR" dirty="0"/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41" y="3891924"/>
                <a:ext cx="2110001" cy="404983"/>
              </a:xfrm>
              <a:prstGeom prst="rect">
                <a:avLst/>
              </a:prstGeom>
              <a:blipFill rotWithShape="0">
                <a:blip r:embed="rId3"/>
                <a:stretch>
                  <a:fillRect t="-4478" b="-164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661826" y="4281840"/>
                <a:ext cx="2419765" cy="764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826" y="4281840"/>
                <a:ext cx="2419765" cy="76456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661826" y="4905013"/>
                <a:ext cx="2322880" cy="764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altLang="ko-KR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826" y="4905013"/>
                <a:ext cx="2322880" cy="76456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661826" y="5528186"/>
                <a:ext cx="1451230" cy="764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i="1" dirty="0"/>
                        <m:t>P</m:t>
                      </m:r>
                      <m:r>
                        <m:rPr>
                          <m:nor/>
                        </m:rPr>
                        <a:rPr lang="en-US" altLang="ko-KR" dirty="0"/>
                        <m:t>(</m:t>
                      </m:r>
                      <m:r>
                        <m:rPr>
                          <m:nor/>
                        </m:rPr>
                        <a:rPr lang="en-US" altLang="ko-KR" i="1" dirty="0"/>
                        <m:t>X</m:t>
                      </m:r>
                      <m:r>
                        <m:rPr>
                          <m:nor/>
                        </m:rPr>
                        <a:rPr lang="en-US" altLang="ko-KR" dirty="0"/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826" y="5528186"/>
                <a:ext cx="1451230" cy="76456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/>
          <p:cNvSpPr/>
          <p:nvPr/>
        </p:nvSpPr>
        <p:spPr>
          <a:xfrm>
            <a:off x="6477681" y="3891924"/>
            <a:ext cx="243349" cy="2400830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4674840" y="4358148"/>
            <a:ext cx="1802841" cy="73419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9" idx="1"/>
          </p:cNvCxnSpPr>
          <p:nvPr/>
        </p:nvCxnSpPr>
        <p:spPr>
          <a:xfrm flipH="1">
            <a:off x="5943600" y="5092339"/>
            <a:ext cx="534081" cy="9909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1"/>
          </p:cNvCxnSpPr>
          <p:nvPr/>
        </p:nvCxnSpPr>
        <p:spPr>
          <a:xfrm flipH="1">
            <a:off x="5754489" y="5092339"/>
            <a:ext cx="723192" cy="89550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3229897" y="3086366"/>
            <a:ext cx="4748554" cy="696595"/>
          </a:xfrm>
          <a:custGeom>
            <a:avLst/>
            <a:gdLst>
              <a:gd name="connsiteX0" fmla="*/ 0 w 4748554"/>
              <a:gd name="connsiteY0" fmla="*/ 254144 h 696595"/>
              <a:gd name="connsiteX1" fmla="*/ 3377380 w 4748554"/>
              <a:gd name="connsiteY1" fmla="*/ 150905 h 696595"/>
              <a:gd name="connsiteX2" fmla="*/ 4572000 w 4748554"/>
              <a:gd name="connsiteY2" fmla="*/ 25544 h 696595"/>
              <a:gd name="connsiteX3" fmla="*/ 4719484 w 4748554"/>
              <a:gd name="connsiteY3" fmla="*/ 696595 h 69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554" h="696595">
                <a:moveTo>
                  <a:pt x="0" y="254144"/>
                </a:moveTo>
                <a:lnTo>
                  <a:pt x="3377380" y="150905"/>
                </a:lnTo>
                <a:cubicBezTo>
                  <a:pt x="4139380" y="112805"/>
                  <a:pt x="4348316" y="-65404"/>
                  <a:pt x="4572000" y="25544"/>
                </a:cubicBezTo>
                <a:cubicBezTo>
                  <a:pt x="4795684" y="116492"/>
                  <a:pt x="4757584" y="406543"/>
                  <a:pt x="4719484" y="696595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6769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Template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Template.potx</Template>
  <TotalTime>5205</TotalTime>
  <Words>334</Words>
  <Application>Microsoft Office PowerPoint</Application>
  <PresentationFormat>On-screen Show (4:3)</PresentationFormat>
  <Paragraphs>121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HY헤드라인M</vt:lpstr>
      <vt:lpstr>굴림</vt:lpstr>
      <vt:lpstr>맑은 고딕</vt:lpstr>
      <vt:lpstr>Arial</vt:lpstr>
      <vt:lpstr>Cambria</vt:lpstr>
      <vt:lpstr>Cambria Math</vt:lpstr>
      <vt:lpstr>Times New Roman</vt:lpstr>
      <vt:lpstr>Wingdings</vt:lpstr>
      <vt:lpstr>Presentation Template</vt:lpstr>
      <vt:lpstr>Hidden Markov Model</vt:lpstr>
      <vt:lpstr>Weekly Objectives</vt:lpstr>
      <vt:lpstr>Baum-welch algorithm</vt:lpstr>
      <vt:lpstr>Learning Parameters with Only X</vt:lpstr>
      <vt:lpstr>Detour: EM Algorithm</vt:lpstr>
      <vt:lpstr>EM for HMM</vt:lpstr>
      <vt:lpstr>Derivation of EM Update Formula</vt:lpstr>
      <vt:lpstr>Baum Welch Algorithm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Variational Inference on Probabilistic Graphical Models</dc:title>
  <dc:creator>Il-Chul Moon</dc:creator>
  <cp:lastModifiedBy>Il-Chul Moon</cp:lastModifiedBy>
  <cp:revision>385</cp:revision>
  <dcterms:created xsi:type="dcterms:W3CDTF">2013-08-14T02:12:56Z</dcterms:created>
  <dcterms:modified xsi:type="dcterms:W3CDTF">2015-08-27T01:29:06Z</dcterms:modified>
</cp:coreProperties>
</file>
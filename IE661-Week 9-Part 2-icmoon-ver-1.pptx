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93" r:id="rId2"/>
    <p:sldId id="294" r:id="rId3"/>
    <p:sldId id="322" r:id="rId4"/>
    <p:sldId id="300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3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Learn hidden Markov model</a:t>
            </a:r>
          </a:p>
          <a:p>
            <a:pPr lvl="1"/>
            <a:r>
              <a:rPr lang="en-US" altLang="ko-KR" dirty="0" smtClean="0"/>
              <a:t>Transition from the static clustering to the dynamic clustering</a:t>
            </a:r>
          </a:p>
          <a:p>
            <a:pPr lvl="1"/>
            <a:r>
              <a:rPr lang="en-US" altLang="ko-KR" dirty="0" smtClean="0"/>
              <a:t>Understand the difference of the graphical model</a:t>
            </a:r>
          </a:p>
          <a:p>
            <a:r>
              <a:rPr lang="en-US" altLang="ko-KR" dirty="0" smtClean="0"/>
              <a:t>Know and able to answer the three major questions of HMM</a:t>
            </a:r>
          </a:p>
          <a:p>
            <a:pPr lvl="1"/>
            <a:r>
              <a:rPr lang="en-US" altLang="ko-KR" dirty="0" smtClean="0"/>
              <a:t>Know how to solve the evaluation question</a:t>
            </a:r>
          </a:p>
          <a:p>
            <a:pPr lvl="1"/>
            <a:r>
              <a:rPr lang="en-US" altLang="ko-KR" dirty="0" smtClean="0"/>
              <a:t>Know how to solve the decoding question</a:t>
            </a:r>
          </a:p>
          <a:p>
            <a:pPr lvl="1"/>
            <a:r>
              <a:rPr lang="en-US" altLang="ko-KR" dirty="0" smtClean="0"/>
              <a:t>Know how to solve the learning question</a:t>
            </a:r>
          </a:p>
          <a:p>
            <a:r>
              <a:rPr lang="en-US" altLang="ko-KR" dirty="0" smtClean="0"/>
              <a:t>Link to the previous lectures</a:t>
            </a:r>
          </a:p>
          <a:p>
            <a:pPr lvl="1"/>
            <a:r>
              <a:rPr lang="en-US" altLang="ko-KR" dirty="0" smtClean="0"/>
              <a:t>Link the forward-backward algorithm to the message passing</a:t>
            </a:r>
          </a:p>
          <a:p>
            <a:pPr lvl="1"/>
            <a:r>
              <a:rPr lang="en-US" altLang="ko-KR" dirty="0" smtClean="0"/>
              <a:t>Link the </a:t>
            </a:r>
            <a:r>
              <a:rPr lang="en-US" altLang="ko-KR" dirty="0" err="1" smtClean="0"/>
              <a:t>baum</a:t>
            </a:r>
            <a:r>
              <a:rPr lang="en-US" altLang="ko-KR" dirty="0" smtClean="0"/>
              <a:t>-welch algorithm to the </a:t>
            </a:r>
            <a:r>
              <a:rPr lang="en-US" altLang="ko-KR" smtClean="0"/>
              <a:t>EM algorithm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Forward-backward probability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1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 Questions </a:t>
            </a:r>
            <a:br>
              <a:rPr lang="en-US" altLang="ko-KR" dirty="0" smtClean="0"/>
            </a:br>
            <a:r>
              <a:rPr lang="en-US" altLang="ko-KR" dirty="0" smtClean="0"/>
              <a:t>on HMM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ko-KR" dirty="0" smtClean="0"/>
                  <a:t>Given the topology of the Bayesian network, HMM, or M</a:t>
                </a:r>
              </a:p>
              <a:p>
                <a:r>
                  <a:rPr lang="en-US" altLang="ko-KR" dirty="0" smtClean="0"/>
                  <a:t>Evaluation question</a:t>
                </a:r>
              </a:p>
              <a:p>
                <a:pPr lvl="1"/>
                <a:r>
                  <a:rPr lang="en-US" altLang="ko-KR" dirty="0" smtClean="0"/>
                  <a:t>Given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en-US" altLang="ko-KR" dirty="0" smtClean="0"/>
                  <a:t>, X</a:t>
                </a:r>
              </a:p>
              <a:p>
                <a:pPr lvl="1"/>
                <a:r>
                  <a:rPr lang="en-US" altLang="ko-KR" dirty="0" smtClean="0"/>
                  <a:t>Find P(X|M,</a:t>
                </a:r>
                <a:r>
                  <a:rPr lang="ko-KR" altLang="en-US" b="1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en-US" altLang="ko-KR" dirty="0" smtClean="0"/>
                  <a:t>)</a:t>
                </a:r>
              </a:p>
              <a:p>
                <a:pPr lvl="1"/>
                <a:r>
                  <a:rPr lang="en-US" altLang="ko-KR" dirty="0" smtClean="0"/>
                  <a:t>How much is X likely to be observed in the trained model?</a:t>
                </a:r>
              </a:p>
              <a:p>
                <a:r>
                  <a:rPr lang="en-US" altLang="ko-KR" dirty="0" smtClean="0"/>
                  <a:t>Decoding question</a:t>
                </a:r>
              </a:p>
              <a:p>
                <a:pPr lvl="1"/>
                <a:r>
                  <a:rPr lang="en-US" altLang="ko-KR" dirty="0"/>
                  <a:t>Given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en-US" altLang="ko-KR" dirty="0" smtClean="0"/>
                  <a:t>X</a:t>
                </a:r>
                <a:endParaRPr lang="en-US" altLang="ko-KR" dirty="0"/>
              </a:p>
              <a:p>
                <a:pPr lvl="1"/>
                <a:r>
                  <a:rPr lang="en-US" altLang="ko-KR" dirty="0" smtClean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What would be the most probable sequences of latent states?</a:t>
                </a:r>
              </a:p>
              <a:p>
                <a:r>
                  <a:rPr lang="en-US" altLang="ko-KR" dirty="0" smtClean="0"/>
                  <a:t>Learning question</a:t>
                </a:r>
              </a:p>
              <a:p>
                <a:pPr lvl="1"/>
                <a:r>
                  <a:rPr lang="en-US" altLang="ko-KR" dirty="0" smtClean="0"/>
                  <a:t>Given X</a:t>
                </a:r>
              </a:p>
              <a:p>
                <a:pPr lvl="1"/>
                <a:r>
                  <a:rPr lang="en-US" altLang="ko-KR" dirty="0" smtClean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  <m:r>
                      <m:rPr>
                        <m:nor/>
                      </m:rPr>
                      <a:rPr lang="en-US" altLang="ko-KR" b="1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  <m:r>
                      <m:rPr>
                        <m:nor/>
                      </m:rPr>
                      <a:rPr lang="en-US" altLang="ko-KR" b="1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What would be the underlying parameters of the HMM given the observations?</a:t>
                </a:r>
              </a:p>
              <a:p>
                <a:r>
                  <a:rPr lang="en-US" altLang="ko-KR" dirty="0" smtClean="0"/>
                  <a:t>Decoding questions and learning questions are very similar to</a:t>
                </a:r>
              </a:p>
              <a:p>
                <a:pPr lvl="1"/>
                <a:r>
                  <a:rPr lang="en-US" altLang="ko-KR" dirty="0" smtClean="0"/>
                  <a:t>Supervised and unsupervised learning</a:t>
                </a:r>
              </a:p>
              <a:p>
                <a:r>
                  <a:rPr lang="en-US" altLang="ko-KR" dirty="0" smtClean="0"/>
                  <a:t>Anyhow, we often need to find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  <m:r>
                      <m:rPr>
                        <m:nor/>
                      </m:rPr>
                      <a:rPr lang="en-US" altLang="ko-KR" b="1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  <m:r>
                      <m:rPr>
                        <m:nor/>
                      </m:rPr>
                      <a:rPr lang="en-US" altLang="ko-KR" b="1" dirty="0"/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prior to the supervised learning with X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71652" y="0"/>
                <a:ext cx="3723967" cy="16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1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𝒃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𝒃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𝒎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𝒇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1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1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652" y="0"/>
                <a:ext cx="3723967" cy="1652953"/>
              </a:xfrm>
              <a:prstGeom prst="rect">
                <a:avLst/>
              </a:prstGeom>
              <a:blipFill rotWithShape="0">
                <a:blip r:embed="rId3"/>
                <a:stretch>
                  <a:fillRect t="-3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00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142672"/>
                <a:ext cx="8435280" cy="1138138"/>
              </a:xfrm>
            </p:spPr>
            <p:txBody>
              <a:bodyPr/>
              <a:lstStyle/>
              <a:p>
                <a:r>
                  <a:rPr lang="en-US" altLang="ko-KR" dirty="0" smtClean="0"/>
                  <a:t>Obtaining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given X and 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42672"/>
                <a:ext cx="8435280" cy="1138138"/>
              </a:xfrm>
              <a:blipFill rotWithShape="0">
                <a:blip r:embed="rId2"/>
                <a:stretch>
                  <a:fillRect l="-3107" t="-26203" b="-43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26531"/>
                <a:ext cx="8435280" cy="269881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altLang="ko-KR" dirty="0" smtClean="0"/>
                  <a:t>Finding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𝒂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 smtClean="0"/>
                  <a:t>from the data in the supervised learning approach requires X as well as Z</a:t>
                </a:r>
              </a:p>
              <a:p>
                <a:r>
                  <a:rPr lang="en-US" altLang="ko-KR" dirty="0" smtClean="0"/>
                  <a:t>Example scenario</a:t>
                </a:r>
              </a:p>
              <a:p>
                <a:pPr lvl="1"/>
                <a:r>
                  <a:rPr lang="en-US" altLang="ko-KR" dirty="0" smtClean="0"/>
                  <a:t>Loaded dice and fair dice</a:t>
                </a:r>
              </a:p>
              <a:p>
                <a:pPr lvl="1"/>
                <a:r>
                  <a:rPr lang="en-US" altLang="ko-KR" dirty="0" smtClean="0"/>
                  <a:t>Two dices yield different probability distributions from one to six</a:t>
                </a:r>
              </a:p>
              <a:p>
                <a:pPr lvl="1"/>
                <a:r>
                  <a:rPr lang="en-US" altLang="ko-KR" dirty="0"/>
                  <a:t>Dealer changes the dice as he wishes</a:t>
                </a:r>
                <a:endParaRPr lang="ko-KR" altLang="en-US" dirty="0"/>
              </a:p>
              <a:p>
                <a:r>
                  <a:rPr lang="en-US" altLang="ko-KR" dirty="0" smtClean="0"/>
                  <a:t>Probability estimation</a:t>
                </a:r>
              </a:p>
              <a:p>
                <a:pPr lvl="1"/>
                <a:r>
                  <a:rPr lang="en-US" altLang="ko-KR" dirty="0" smtClean="0"/>
                  <a:t>Use MLE, MAP and counting…</a:t>
                </a:r>
              </a:p>
              <a:p>
                <a:pPr lvl="1"/>
                <a:r>
                  <a:rPr lang="en-US" altLang="ko-KR" dirty="0" smtClean="0"/>
                  <a:t>Find out</a:t>
                </a:r>
              </a:p>
              <a:p>
                <a:pPr lvl="2"/>
                <a:r>
                  <a:rPr lang="en-US" altLang="ko-KR" dirty="0" smtClean="0"/>
                  <a:t>Dealer starts with a certain dice type: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ko-KR" dirty="0"/>
                      <m:t>=1/</m:t>
                    </m:r>
                    <m:r>
                      <m:rPr>
                        <m:nor/>
                      </m:rPr>
                      <a:rPr lang="en-US" altLang="ko-KR" b="0" i="0" dirty="0" smtClean="0"/>
                      <m:t>2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Dealer switches the dice: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=0.7,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Loaded dice: P(X=1)=P(X=2)=P(X=3)=P(X=4)=P(X=5)=1/10, P(X=6)=1/2</a:t>
                </a:r>
              </a:p>
              <a:p>
                <a:pPr lvl="2"/>
                <a:r>
                  <a:rPr lang="en-US" altLang="ko-KR" dirty="0" smtClean="0"/>
                  <a:t>Fair dice: P(X=1)=P(X=2)=P(X=3)=P(X=4)=P(X=5)=P(X=6)=1/6</a:t>
                </a:r>
              </a:p>
              <a:p>
                <a:r>
                  <a:rPr lang="en-US" altLang="ko-KR" dirty="0" smtClean="0"/>
                  <a:t>What if the X is continuous? Use a known distribution, and estimate its parameters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26531"/>
                <a:ext cx="8435280" cy="2698813"/>
              </a:xfrm>
              <a:blipFill rotWithShape="0">
                <a:blip r:embed="rId3"/>
                <a:stretch>
                  <a:fillRect t="-2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5350073" y="1824552"/>
            <a:ext cx="3310325" cy="1290533"/>
            <a:chOff x="4493280" y="4195867"/>
            <a:chExt cx="4251826" cy="1806278"/>
          </a:xfrm>
        </p:grpSpPr>
        <p:sp>
          <p:nvSpPr>
            <p:cNvPr id="6" name="Oval 5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8" name="Straight Arrow Connector 7"/>
            <p:cNvCxnSpPr>
              <a:stCxn id="10" idx="6"/>
              <a:endCxn id="6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4"/>
              <a:endCxn id="7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2" name="Straight Arrow Connector 11"/>
            <p:cNvCxnSpPr>
              <a:stCxn id="10" idx="4"/>
              <a:endCxn id="11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8" idx="6"/>
              <a:endCxn id="10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6" name="Straight Arrow Connector 15"/>
            <p:cNvCxnSpPr>
              <a:stCxn id="14" idx="4"/>
              <a:endCxn id="15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6"/>
              <a:endCxn id="14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71652" y="0"/>
                <a:ext cx="3723967" cy="16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1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1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𝒃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𝒃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𝒎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𝒇</m:t>
                      </m:r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>
                        <m:sSubPr>
                          <m:ctrlP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sz="1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US" altLang="ko-KR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1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1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1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100" b="1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652" y="0"/>
                <a:ext cx="3723967" cy="1652953"/>
              </a:xfrm>
              <a:prstGeom prst="rect">
                <a:avLst/>
              </a:prstGeom>
              <a:blipFill rotWithShape="0">
                <a:blip r:embed="rId5"/>
                <a:stretch>
                  <a:fillRect t="-3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052736" y="1669752"/>
            <a:ext cx="26532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LLLLLLLFFFFFFFF</a:t>
            </a:r>
          </a:p>
          <a:p>
            <a:r>
              <a:rPr lang="en-US" altLang="ko-KR" dirty="0" smtClean="0"/>
              <a:t>12342531643242</a:t>
            </a:r>
          </a:p>
          <a:p>
            <a:r>
              <a:rPr lang="en-US" altLang="ko-KR" dirty="0" smtClean="0"/>
              <a:t>……………</a:t>
            </a:r>
          </a:p>
          <a:p>
            <a:r>
              <a:rPr lang="en-US" altLang="ko-KR" dirty="0" smtClean="0"/>
              <a:t>FFFLLFLFLFLLLLFLLLFL</a:t>
            </a:r>
          </a:p>
          <a:p>
            <a:r>
              <a:rPr lang="en-US" altLang="ko-KR" dirty="0" smtClean="0"/>
              <a:t>3526152436152436152</a:t>
            </a:r>
            <a:endParaRPr lang="ko-KR" altLang="en-US" dirty="0"/>
          </a:p>
        </p:txBody>
      </p:sp>
      <p:sp>
        <p:nvSpPr>
          <p:cNvPr id="21" name="Left Brace 20"/>
          <p:cNvSpPr/>
          <p:nvPr/>
        </p:nvSpPr>
        <p:spPr>
          <a:xfrm>
            <a:off x="828176" y="1728493"/>
            <a:ext cx="265471" cy="1386592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60028" y="2081393"/>
            <a:ext cx="601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N </a:t>
            </a:r>
          </a:p>
          <a:p>
            <a:r>
              <a:rPr lang="en-US" altLang="ko-KR" b="1" dirty="0" smtClean="0"/>
              <a:t>seq.</a:t>
            </a:r>
            <a:endParaRPr lang="ko-KR" altLang="en-US" b="1" dirty="0"/>
          </a:p>
        </p:txBody>
      </p:sp>
      <p:sp>
        <p:nvSpPr>
          <p:cNvPr id="23" name="Right Arrow 22"/>
          <p:cNvSpPr/>
          <p:nvPr/>
        </p:nvSpPr>
        <p:spPr>
          <a:xfrm>
            <a:off x="3827746" y="1565832"/>
            <a:ext cx="1435356" cy="1581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Counting, MLE, MAP…</a:t>
            </a:r>
            <a:endParaRPr lang="ko-KR" altLang="en-US" dirty="0"/>
          </a:p>
        </p:txBody>
      </p:sp>
      <p:sp>
        <p:nvSpPr>
          <p:cNvPr id="24" name="Left Brace 23"/>
          <p:cNvSpPr/>
          <p:nvPr/>
        </p:nvSpPr>
        <p:spPr>
          <a:xfrm rot="16200000">
            <a:off x="2227285" y="2028583"/>
            <a:ext cx="265471" cy="24624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751" y="3387256"/>
            <a:ext cx="3669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M</a:t>
            </a:r>
            <a:r>
              <a:rPr lang="en-US" altLang="ko-KR" b="1" baseline="-25000" dirty="0" err="1" smtClean="0"/>
              <a:t>i</a:t>
            </a:r>
            <a:r>
              <a:rPr lang="en-US" altLang="ko-KR" b="1" baseline="-25000" dirty="0" smtClean="0"/>
              <a:t> </a:t>
            </a:r>
            <a:r>
              <a:rPr lang="en-US" altLang="ko-KR" b="1" dirty="0" smtClean="0"/>
              <a:t>observations for </a:t>
            </a:r>
            <a:r>
              <a:rPr lang="en-US" altLang="ko-KR" b="1" dirty="0" err="1" smtClean="0"/>
              <a:t>i-th</a:t>
            </a:r>
            <a:r>
              <a:rPr lang="en-US" altLang="ko-KR" b="1" dirty="0" smtClean="0"/>
              <a:t> sequence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1586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678" y="219523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Joint Probability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6484" y="1600200"/>
                <a:ext cx="8435280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Let’s assume that we have a training dataset with X and Z</a:t>
                </a:r>
              </a:p>
              <a:p>
                <a:r>
                  <a:rPr lang="en-US" altLang="ko-KR" dirty="0" smtClean="0"/>
                  <a:t>Can we compute the joint probability, P(X,Z)</a:t>
                </a:r>
              </a:p>
              <a:p>
                <a:pPr lvl="1"/>
                <a:r>
                  <a:rPr lang="en-US" altLang="ko-KR" dirty="0" smtClean="0"/>
                  <a:t>Yes. Easily by the virtue of the network structure</a:t>
                </a:r>
              </a:p>
              <a:p>
                <a:r>
                  <a:rPr lang="en-US" altLang="ko-KR" dirty="0" smtClean="0"/>
                  <a:t>Anyway, a Bayesian network, so…</a:t>
                </a:r>
              </a:p>
              <a:p>
                <a:pPr lvl="1"/>
                <a:r>
                  <a:rPr lang="en-US" altLang="ko-KR" dirty="0" smtClean="0"/>
                  <a:t>Factorize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 smtClean="0"/>
                  <a:t>)P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 smtClean="0"/>
                  <a:t>)P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Nothing but a combination of initial,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transition, and emission probabilities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=1)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=1)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=1)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=1)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Assume that we have 166 as X</a:t>
                </a:r>
              </a:p>
              <a:p>
                <a:pPr lvl="1"/>
                <a:r>
                  <a:rPr lang="en-US" altLang="ko-KR" dirty="0" smtClean="0"/>
                  <a:t>Let’s check Z=LLL and FFF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166,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𝐿𝐿𝐿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=0.0061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166,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𝐹𝐹𝐹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=5.7870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−04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What about FLL, FFL, FLF……? Exponential combination to check</a:t>
                </a:r>
                <a:endParaRPr lang="en-US" altLang="ko-KR" dirty="0"/>
              </a:p>
              <a:p>
                <a:pPr lvl="1"/>
                <a:endParaRPr lang="en-US" altLang="ko-KR" dirty="0" smtClean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484" y="1600200"/>
                <a:ext cx="8435280" cy="4925144"/>
              </a:xfrm>
              <a:blipFill rotWithShape="0">
                <a:blip r:embed="rId2"/>
                <a:stretch>
                  <a:fillRect t="-1983" b="-1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6689222" y="120849"/>
            <a:ext cx="2353158" cy="1383887"/>
            <a:chOff x="260028" y="1669752"/>
            <a:chExt cx="3506091" cy="2101958"/>
          </a:xfrm>
        </p:grpSpPr>
        <p:sp>
          <p:nvSpPr>
            <p:cNvPr id="6" name="TextBox 5"/>
            <p:cNvSpPr txBox="1"/>
            <p:nvPr/>
          </p:nvSpPr>
          <p:spPr>
            <a:xfrm>
              <a:off x="1052736" y="1669752"/>
              <a:ext cx="2337137" cy="13795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LLLLLLLFFFFFFFF</a:t>
              </a:r>
            </a:p>
            <a:p>
              <a:r>
                <a:rPr lang="en-US" altLang="ko-KR" sz="1100" dirty="0" smtClean="0"/>
                <a:t>12342531643242</a:t>
              </a:r>
            </a:p>
            <a:p>
              <a:r>
                <a:rPr lang="en-US" altLang="ko-KR" sz="1100" dirty="0" smtClean="0"/>
                <a:t>……………</a:t>
              </a:r>
            </a:p>
            <a:p>
              <a:r>
                <a:rPr lang="en-US" altLang="ko-KR" sz="1100" dirty="0" smtClean="0"/>
                <a:t>FFFLLFLFLFLLLLFLLLFL</a:t>
              </a:r>
            </a:p>
            <a:p>
              <a:r>
                <a:rPr lang="en-US" altLang="ko-KR" sz="1100" dirty="0" smtClean="0"/>
                <a:t>3526152436152436152</a:t>
              </a:r>
              <a:endParaRPr lang="ko-KR" altLang="en-US" sz="1100" dirty="0"/>
            </a:p>
          </p:txBody>
        </p:sp>
        <p:sp>
          <p:nvSpPr>
            <p:cNvPr id="7" name="Left Brace 6"/>
            <p:cNvSpPr/>
            <p:nvPr/>
          </p:nvSpPr>
          <p:spPr>
            <a:xfrm>
              <a:off x="828176" y="1728493"/>
              <a:ext cx="265471" cy="1386592"/>
            </a:xfrm>
            <a:prstGeom prst="leftBrac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0028" y="2081392"/>
              <a:ext cx="607320" cy="633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 smtClean="0"/>
                <a:t>N </a:t>
              </a:r>
            </a:p>
            <a:p>
              <a:r>
                <a:rPr lang="en-US" altLang="ko-KR" sz="1100" b="1" dirty="0" smtClean="0"/>
                <a:t>seq.</a:t>
              </a:r>
              <a:endParaRPr lang="ko-KR" altLang="en-US" sz="1100" b="1" dirty="0"/>
            </a:p>
          </p:txBody>
        </p:sp>
        <p:sp>
          <p:nvSpPr>
            <p:cNvPr id="9" name="Left Brace 8"/>
            <p:cNvSpPr/>
            <p:nvPr/>
          </p:nvSpPr>
          <p:spPr>
            <a:xfrm rot="16200000">
              <a:off x="2227285" y="2028583"/>
              <a:ext cx="265471" cy="2462427"/>
            </a:xfrm>
            <a:prstGeom prst="leftBrac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0752" y="3387257"/>
              <a:ext cx="3205367" cy="384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 err="1" smtClean="0"/>
                <a:t>M</a:t>
              </a:r>
              <a:r>
                <a:rPr lang="en-US" altLang="ko-KR" sz="1100" b="1" baseline="-25000" dirty="0" err="1" smtClean="0"/>
                <a:t>i</a:t>
              </a:r>
              <a:r>
                <a:rPr lang="en-US" altLang="ko-KR" sz="1100" b="1" baseline="-25000" dirty="0" smtClean="0"/>
                <a:t> </a:t>
              </a:r>
              <a:r>
                <a:rPr lang="en-US" altLang="ko-KR" sz="1100" b="1" dirty="0" smtClean="0"/>
                <a:t>observations for </a:t>
              </a:r>
              <a:r>
                <a:rPr lang="en-US" altLang="ko-KR" sz="1100" b="1" dirty="0" err="1" smtClean="0"/>
                <a:t>i-th</a:t>
              </a:r>
              <a:r>
                <a:rPr lang="en-US" altLang="ko-KR" sz="1100" b="1" dirty="0" smtClean="0"/>
                <a:t> sequence</a:t>
              </a:r>
              <a:endParaRPr lang="ko-KR" altLang="en-US" sz="1100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582155" y="2625163"/>
            <a:ext cx="3310325" cy="1290533"/>
            <a:chOff x="4493280" y="4195867"/>
            <a:chExt cx="4251826" cy="1806278"/>
          </a:xfrm>
        </p:grpSpPr>
        <p:sp>
          <p:nvSpPr>
            <p:cNvPr id="13" name="Oval 12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15" name="Straight Arrow Connector 14"/>
            <p:cNvCxnSpPr>
              <a:stCxn id="17" idx="6"/>
              <a:endCxn id="13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3" idx="4"/>
              <a:endCxn id="14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9" name="Straight Arrow Connector 18"/>
            <p:cNvCxnSpPr>
              <a:stCxn id="17" idx="4"/>
              <a:endCxn id="18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25" idx="6"/>
              <a:endCxn id="17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23" name="Straight Arrow Connector 22"/>
            <p:cNvCxnSpPr>
              <a:stCxn id="21" idx="4"/>
              <a:endCxn id="22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" idx="6"/>
              <a:endCxn id="21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Oval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122602" y="49402"/>
                <a:ext cx="2908028" cy="1515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 smtClean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000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602" y="49402"/>
                <a:ext cx="2908028" cy="15150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9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Marginal </a:t>
            </a:r>
            <a:br>
              <a:rPr lang="en-US" altLang="ko-KR" dirty="0" smtClean="0"/>
            </a:br>
            <a:r>
              <a:rPr lang="en-US" altLang="ko-KR" dirty="0" smtClean="0"/>
              <a:t>Probability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 smtClean="0"/>
                  <a:t>Eventually, we only want to use X and marginalize Z</a:t>
                </a:r>
              </a:p>
              <a:p>
                <a:pPr lvl="1"/>
                <a:r>
                  <a:rPr lang="en-US" altLang="ko-KR" dirty="0" smtClean="0"/>
                  <a:t>Just like GMM,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In HMM,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ko-KR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…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nary>
                              <m:naryPr>
                                <m:chr m:val="∏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nary>
                            <m:nary>
                              <m:naryPr>
                                <m:chr m:val="∏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Many summations yield an exponential number of combinations</a:t>
                </a:r>
              </a:p>
              <a:p>
                <a:r>
                  <a:rPr lang="en-US" altLang="ko-KR" dirty="0" smtClean="0"/>
                  <a:t>Need to avoid a repetitive computing</a:t>
                </a:r>
              </a:p>
              <a:p>
                <a:pPr lvl="1"/>
                <a:r>
                  <a:rPr lang="en-US" altLang="ko-KR" dirty="0" smtClean="0"/>
                  <a:t>Compute only necessary terms for a single time</a:t>
                </a:r>
              </a:p>
              <a:p>
                <a:pPr lvl="1"/>
                <a:r>
                  <a:rPr lang="en-US" altLang="ko-KR" dirty="0" smtClean="0"/>
                  <a:t>Let’s work on the formula</a:t>
                </a:r>
              </a:p>
              <a:p>
                <a:pPr lvl="2"/>
                <a:r>
                  <a:rPr lang="en-US" altLang="ko-KR" dirty="0" smtClean="0"/>
                  <a:t>P(A,B,C)=P(A)P(B|A)P(C|A,B)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nary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ko-KR" dirty="0" smtClean="0">
                    <a:latin typeface="Cambria Math" panose="02040503050406030204" pitchFamily="18" charset="0"/>
                  </a:rPr>
                  <a:t>By the virtue of the structure</a:t>
                </a: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=1|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 </m:t>
                            </m:r>
                          </m:e>
                        </m:d>
                      </m:e>
                    </m:nary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=1|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sub>
                        </m:sSub>
                      </m:e>
                    </m:nary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ko-KR" dirty="0" smtClean="0"/>
                  <a:t>Now, we see a repeating structure of terms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602" b="-2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689222" y="120849"/>
            <a:ext cx="2353158" cy="1383887"/>
            <a:chOff x="260028" y="1669752"/>
            <a:chExt cx="3506091" cy="2101958"/>
          </a:xfrm>
        </p:grpSpPr>
        <p:sp>
          <p:nvSpPr>
            <p:cNvPr id="6" name="TextBox 5"/>
            <p:cNvSpPr txBox="1"/>
            <p:nvPr/>
          </p:nvSpPr>
          <p:spPr>
            <a:xfrm>
              <a:off x="1052736" y="1669752"/>
              <a:ext cx="2337137" cy="13795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LLLLLLLFFFFFFFF</a:t>
              </a:r>
            </a:p>
            <a:p>
              <a:r>
                <a:rPr lang="en-US" altLang="ko-KR" sz="1100" dirty="0" smtClean="0"/>
                <a:t>12342531643242</a:t>
              </a:r>
            </a:p>
            <a:p>
              <a:r>
                <a:rPr lang="en-US" altLang="ko-KR" sz="1100" dirty="0" smtClean="0"/>
                <a:t>……………</a:t>
              </a:r>
            </a:p>
            <a:p>
              <a:r>
                <a:rPr lang="en-US" altLang="ko-KR" sz="1100" dirty="0" smtClean="0"/>
                <a:t>FFFLLFLFLFLLLLFLLLFL</a:t>
              </a:r>
            </a:p>
            <a:p>
              <a:r>
                <a:rPr lang="en-US" altLang="ko-KR" sz="1100" dirty="0" smtClean="0"/>
                <a:t>3526152436152436152</a:t>
              </a:r>
              <a:endParaRPr lang="ko-KR" altLang="en-US" sz="1100" dirty="0"/>
            </a:p>
          </p:txBody>
        </p:sp>
        <p:sp>
          <p:nvSpPr>
            <p:cNvPr id="7" name="Left Brace 6"/>
            <p:cNvSpPr/>
            <p:nvPr/>
          </p:nvSpPr>
          <p:spPr>
            <a:xfrm>
              <a:off x="828176" y="1728493"/>
              <a:ext cx="265471" cy="1386592"/>
            </a:xfrm>
            <a:prstGeom prst="leftBrac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0028" y="2081392"/>
              <a:ext cx="607320" cy="633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 smtClean="0"/>
                <a:t>N </a:t>
              </a:r>
            </a:p>
            <a:p>
              <a:r>
                <a:rPr lang="en-US" altLang="ko-KR" sz="1100" b="1" dirty="0" smtClean="0"/>
                <a:t>seq.</a:t>
              </a:r>
              <a:endParaRPr lang="ko-KR" altLang="en-US" sz="1100" b="1" dirty="0"/>
            </a:p>
          </p:txBody>
        </p:sp>
        <p:sp>
          <p:nvSpPr>
            <p:cNvPr id="9" name="Left Brace 8"/>
            <p:cNvSpPr/>
            <p:nvPr/>
          </p:nvSpPr>
          <p:spPr>
            <a:xfrm rot="16200000">
              <a:off x="2227285" y="2028583"/>
              <a:ext cx="265471" cy="2462427"/>
            </a:xfrm>
            <a:prstGeom prst="leftBrac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0752" y="3387257"/>
              <a:ext cx="3205367" cy="384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 err="1" smtClean="0"/>
                <a:t>M</a:t>
              </a:r>
              <a:r>
                <a:rPr lang="en-US" altLang="ko-KR" sz="1100" b="1" baseline="-25000" dirty="0" err="1" smtClean="0"/>
                <a:t>i</a:t>
              </a:r>
              <a:r>
                <a:rPr lang="en-US" altLang="ko-KR" sz="1100" b="1" baseline="-25000" dirty="0" smtClean="0"/>
                <a:t> </a:t>
              </a:r>
              <a:r>
                <a:rPr lang="en-US" altLang="ko-KR" sz="1100" b="1" dirty="0" smtClean="0"/>
                <a:t>observations for </a:t>
              </a:r>
              <a:r>
                <a:rPr lang="en-US" altLang="ko-KR" sz="1100" b="1" dirty="0" err="1" smtClean="0"/>
                <a:t>i-th</a:t>
              </a:r>
              <a:r>
                <a:rPr lang="en-US" altLang="ko-KR" sz="1100" b="1" dirty="0" smtClean="0"/>
                <a:t> sequence</a:t>
              </a:r>
              <a:endParaRPr lang="ko-KR" altLang="en-US" sz="11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122602" y="49402"/>
                <a:ext cx="2908028" cy="1515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 smtClean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000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602" y="49402"/>
                <a:ext cx="2908028" cy="15150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5582155" y="2370171"/>
            <a:ext cx="3310325" cy="1290533"/>
            <a:chOff x="4493280" y="4195867"/>
            <a:chExt cx="4251826" cy="1806278"/>
          </a:xfrm>
        </p:grpSpPr>
        <p:sp>
          <p:nvSpPr>
            <p:cNvPr id="13" name="Oval 12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15" name="Straight Arrow Connector 14"/>
            <p:cNvCxnSpPr>
              <a:stCxn id="17" idx="6"/>
              <a:endCxn id="13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3" idx="4"/>
              <a:endCxn id="14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9" name="Straight Arrow Connector 18"/>
            <p:cNvCxnSpPr>
              <a:stCxn id="17" idx="4"/>
              <a:endCxn id="18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25" idx="6"/>
              <a:endCxn id="17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23" name="Straight Arrow Connector 22"/>
            <p:cNvCxnSpPr>
              <a:stCxn id="21" idx="4"/>
              <a:endCxn id="22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" idx="6"/>
              <a:endCxn id="21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Oval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2806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 smtClean="0"/>
              <a:t>Detour:</a:t>
            </a:r>
            <a:r>
              <a:rPr lang="en-US" altLang="ko-KR" dirty="0" smtClean="0"/>
              <a:t> Dynamic Programming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2952" cy="4925144"/>
          </a:xfrm>
        </p:spPr>
        <p:txBody>
          <a:bodyPr/>
          <a:lstStyle/>
          <a:p>
            <a:r>
              <a:rPr lang="en-US" altLang="ko-KR" dirty="0" smtClean="0"/>
              <a:t>Dynamic programming:</a:t>
            </a:r>
          </a:p>
          <a:p>
            <a:pPr lvl="1"/>
            <a:r>
              <a:rPr lang="en-US" altLang="ko-KR" dirty="0" smtClean="0"/>
              <a:t>A general algorithm design technique for solving problems defined by or formulated as </a:t>
            </a:r>
            <a:r>
              <a:rPr lang="en-US" altLang="ko-KR" b="1" i="1" dirty="0" smtClean="0"/>
              <a:t>recurrences with overlapping sub-instances</a:t>
            </a:r>
          </a:p>
          <a:p>
            <a:pPr lvl="1"/>
            <a:r>
              <a:rPr lang="en-US" altLang="ko-KR" dirty="0" smtClean="0"/>
              <a:t>In this context, Programming == Planning</a:t>
            </a:r>
          </a:p>
          <a:p>
            <a:r>
              <a:rPr lang="en-US" altLang="ko-KR" dirty="0" smtClean="0"/>
              <a:t>Main storyline</a:t>
            </a:r>
          </a:p>
          <a:p>
            <a:pPr lvl="1"/>
            <a:r>
              <a:rPr lang="en-US" altLang="ko-KR" dirty="0" smtClean="0"/>
              <a:t>Setting up a recurrence</a:t>
            </a:r>
          </a:p>
          <a:p>
            <a:pPr lvl="2"/>
            <a:r>
              <a:rPr lang="en-US" altLang="ko-KR" dirty="0" smtClean="0"/>
              <a:t>Relating a solution of a larger instance to solutions of some smaller instances</a:t>
            </a:r>
          </a:p>
          <a:p>
            <a:pPr lvl="2"/>
            <a:r>
              <a:rPr lang="en-US" altLang="ko-KR" dirty="0" smtClean="0"/>
              <a:t>Solve small instances once</a:t>
            </a:r>
          </a:p>
          <a:p>
            <a:pPr lvl="2"/>
            <a:r>
              <a:rPr lang="en-US" altLang="ko-KR" dirty="0" smtClean="0"/>
              <a:t>Record solutions in a table</a:t>
            </a:r>
          </a:p>
          <a:p>
            <a:pPr lvl="2"/>
            <a:r>
              <a:rPr lang="en-US" altLang="ko-KR" dirty="0" smtClean="0"/>
              <a:t>Extract a solution of a larger instance from the table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C22C-EC2B-4071-B4C5-3756ABCA11CF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22" name="Group 21"/>
          <p:cNvGrpSpPr/>
          <p:nvPr/>
        </p:nvGrpSpPr>
        <p:grpSpPr>
          <a:xfrm>
            <a:off x="5531312" y="1412776"/>
            <a:ext cx="3479873" cy="2166256"/>
            <a:chOff x="4499992" y="3933057"/>
            <a:chExt cx="4288713" cy="2507252"/>
          </a:xfrm>
        </p:grpSpPr>
        <p:sp>
          <p:nvSpPr>
            <p:cNvPr id="5" name="Oval 4"/>
            <p:cNvSpPr/>
            <p:nvPr/>
          </p:nvSpPr>
          <p:spPr>
            <a:xfrm>
              <a:off x="6637640" y="3933057"/>
              <a:ext cx="924388" cy="340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F(4)</a:t>
              </a:r>
              <a:endParaRPr lang="ko-KR" alt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5835527" y="4496880"/>
              <a:ext cx="924388" cy="34099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F(3)</a:t>
              </a:r>
              <a:endParaRPr lang="ko-KR" alt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7446480" y="4520159"/>
              <a:ext cx="924388" cy="34099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F(2)</a:t>
              </a:r>
              <a:endParaRPr lang="ko-KR" alt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5373333" y="5104756"/>
              <a:ext cx="924388" cy="34099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F(2)</a:t>
              </a:r>
              <a:endParaRPr lang="ko-KR" alt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6297721" y="5566034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4499992" y="5638035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308832" y="6099313"/>
              <a:ext cx="924388" cy="34099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F(0)</a:t>
              </a:r>
              <a:endParaRPr lang="ko-KR" altLang="en-US" dirty="0"/>
            </a:p>
          </p:txBody>
        </p:sp>
        <p:cxnSp>
          <p:nvCxnSpPr>
            <p:cNvPr id="12" name="Straight Arrow Connector 11"/>
            <p:cNvCxnSpPr>
              <a:stCxn id="5" idx="3"/>
              <a:endCxn id="6" idx="0"/>
            </p:cNvCxnSpPr>
            <p:nvPr/>
          </p:nvCxnSpPr>
          <p:spPr>
            <a:xfrm flipH="1">
              <a:off x="6297721" y="4224115"/>
              <a:ext cx="475292" cy="2727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6" idx="3"/>
              <a:endCxn id="8" idx="0"/>
            </p:cNvCxnSpPr>
            <p:nvPr/>
          </p:nvCxnSpPr>
          <p:spPr>
            <a:xfrm flipH="1">
              <a:off x="5835527" y="4787938"/>
              <a:ext cx="135373" cy="3168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5"/>
              <a:endCxn id="9" idx="0"/>
            </p:cNvCxnSpPr>
            <p:nvPr/>
          </p:nvCxnSpPr>
          <p:spPr>
            <a:xfrm>
              <a:off x="6624542" y="4787938"/>
              <a:ext cx="135373" cy="7780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10" idx="7"/>
            </p:cNvCxnSpPr>
            <p:nvPr/>
          </p:nvCxnSpPr>
          <p:spPr>
            <a:xfrm flipH="1">
              <a:off x="5289007" y="5395814"/>
              <a:ext cx="219699" cy="2921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4"/>
              <a:endCxn id="11" idx="0"/>
            </p:cNvCxnSpPr>
            <p:nvPr/>
          </p:nvCxnSpPr>
          <p:spPr>
            <a:xfrm flipH="1">
              <a:off x="5771026" y="5445752"/>
              <a:ext cx="64501" cy="653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5" idx="5"/>
              <a:endCxn id="7" idx="1"/>
            </p:cNvCxnSpPr>
            <p:nvPr/>
          </p:nvCxnSpPr>
          <p:spPr>
            <a:xfrm>
              <a:off x="7426655" y="4224115"/>
              <a:ext cx="155198" cy="3459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7055477" y="5225038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864317" y="5686316"/>
              <a:ext cx="924388" cy="34099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F(0)</a:t>
              </a:r>
              <a:endParaRPr lang="ko-KR" altLang="en-US" dirty="0"/>
            </a:p>
          </p:txBody>
        </p:sp>
        <p:cxnSp>
          <p:nvCxnSpPr>
            <p:cNvPr id="20" name="Straight Arrow Connector 19"/>
            <p:cNvCxnSpPr>
              <a:stCxn id="7" idx="3"/>
              <a:endCxn id="18" idx="0"/>
            </p:cNvCxnSpPr>
            <p:nvPr/>
          </p:nvCxnSpPr>
          <p:spPr>
            <a:xfrm flipH="1">
              <a:off x="7517671" y="4811217"/>
              <a:ext cx="64182" cy="4138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5"/>
              <a:endCxn id="19" idx="0"/>
            </p:cNvCxnSpPr>
            <p:nvPr/>
          </p:nvCxnSpPr>
          <p:spPr>
            <a:xfrm>
              <a:off x="8235494" y="4811217"/>
              <a:ext cx="91016" cy="8751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5906336" y="3933056"/>
          <a:ext cx="2961464" cy="231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732"/>
                <a:gridCol w="1480732"/>
              </a:tblGrid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Instance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Solution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F(0)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F(1)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F(2)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F(3)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F(4)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?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7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/>
              <a:t>Detour: </a:t>
            </a:r>
            <a:r>
              <a:rPr lang="en-US" altLang="ko-KR" dirty="0" err="1" smtClean="0"/>
              <a:t>Memoization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218884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 smtClean="0"/>
              <a:t>Key technique of dynamic programming</a:t>
            </a:r>
          </a:p>
          <a:p>
            <a:pPr lvl="1"/>
            <a:r>
              <a:rPr lang="en-US" altLang="ko-KR" dirty="0" smtClean="0"/>
              <a:t>Simply put</a:t>
            </a:r>
          </a:p>
          <a:p>
            <a:pPr lvl="2"/>
            <a:r>
              <a:rPr lang="en-US" altLang="ko-KR" dirty="0" smtClean="0"/>
              <a:t>Storing the results of previous function calls to reuse the results again in the future</a:t>
            </a:r>
          </a:p>
          <a:p>
            <a:pPr lvl="1"/>
            <a:r>
              <a:rPr lang="en-US" altLang="ko-KR" dirty="0" smtClean="0"/>
              <a:t>More philosophical sense</a:t>
            </a:r>
          </a:p>
          <a:p>
            <a:pPr lvl="2"/>
            <a:r>
              <a:rPr lang="en-US" altLang="ko-KR" dirty="0" smtClean="0"/>
              <a:t>Bottom-up approach for problem-solving</a:t>
            </a:r>
          </a:p>
          <a:p>
            <a:pPr lvl="3"/>
            <a:r>
              <a:rPr lang="en-US" altLang="ko-KR" dirty="0" smtClean="0"/>
              <a:t>Recursion: Top-down of divide and conquer</a:t>
            </a:r>
          </a:p>
          <a:p>
            <a:pPr lvl="3"/>
            <a:r>
              <a:rPr lang="en-US" altLang="ko-KR" dirty="0" smtClean="0"/>
              <a:t>Dynamic programming: Bottom-up of storing and building</a:t>
            </a:r>
          </a:p>
          <a:p>
            <a:pPr lvl="2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C22C-EC2B-4071-B4C5-3756ABCA11CF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717898" y="3933056"/>
            <a:ext cx="3479873" cy="2166256"/>
            <a:chOff x="4499992" y="3933057"/>
            <a:chExt cx="4288713" cy="2507252"/>
          </a:xfrm>
        </p:grpSpPr>
        <p:sp>
          <p:nvSpPr>
            <p:cNvPr id="6" name="Oval 5"/>
            <p:cNvSpPr/>
            <p:nvPr/>
          </p:nvSpPr>
          <p:spPr>
            <a:xfrm>
              <a:off x="6637640" y="3933057"/>
              <a:ext cx="924388" cy="340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F(4)</a:t>
              </a:r>
              <a:endParaRPr lang="ko-KR" alt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5835527" y="4496880"/>
              <a:ext cx="924388" cy="34099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F(3)</a:t>
              </a:r>
              <a:endParaRPr lang="ko-KR" alt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7446480" y="4520159"/>
              <a:ext cx="924388" cy="34099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F(2)</a:t>
              </a:r>
              <a:endParaRPr lang="ko-KR" alt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5373333" y="5104756"/>
              <a:ext cx="924388" cy="34099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F(2)</a:t>
              </a:r>
              <a:endParaRPr lang="ko-KR" alt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6297721" y="5566034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4499992" y="5638035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5308832" y="6099313"/>
              <a:ext cx="924388" cy="34099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F(0)</a:t>
              </a:r>
              <a:endParaRPr lang="ko-KR" altLang="en-US" dirty="0"/>
            </a:p>
          </p:txBody>
        </p:sp>
        <p:cxnSp>
          <p:nvCxnSpPr>
            <p:cNvPr id="13" name="Straight Arrow Connector 12"/>
            <p:cNvCxnSpPr>
              <a:stCxn id="6" idx="3"/>
              <a:endCxn id="7" idx="0"/>
            </p:cNvCxnSpPr>
            <p:nvPr/>
          </p:nvCxnSpPr>
          <p:spPr>
            <a:xfrm flipH="1">
              <a:off x="6297721" y="4224115"/>
              <a:ext cx="475292" cy="2727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7" idx="3"/>
              <a:endCxn id="9" idx="0"/>
            </p:cNvCxnSpPr>
            <p:nvPr/>
          </p:nvCxnSpPr>
          <p:spPr>
            <a:xfrm flipH="1">
              <a:off x="5835527" y="4787938"/>
              <a:ext cx="135373" cy="3168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5"/>
              <a:endCxn id="10" idx="0"/>
            </p:cNvCxnSpPr>
            <p:nvPr/>
          </p:nvCxnSpPr>
          <p:spPr>
            <a:xfrm>
              <a:off x="6624542" y="4787938"/>
              <a:ext cx="135373" cy="7780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3"/>
              <a:endCxn id="11" idx="7"/>
            </p:cNvCxnSpPr>
            <p:nvPr/>
          </p:nvCxnSpPr>
          <p:spPr>
            <a:xfrm flipH="1">
              <a:off x="5289007" y="5395814"/>
              <a:ext cx="219699" cy="2921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4"/>
              <a:endCxn id="12" idx="0"/>
            </p:cNvCxnSpPr>
            <p:nvPr/>
          </p:nvCxnSpPr>
          <p:spPr>
            <a:xfrm flipH="1">
              <a:off x="5771026" y="5445752"/>
              <a:ext cx="64501" cy="6535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  <a:endCxn id="8" idx="1"/>
            </p:cNvCxnSpPr>
            <p:nvPr/>
          </p:nvCxnSpPr>
          <p:spPr>
            <a:xfrm>
              <a:off x="7426655" y="4224115"/>
              <a:ext cx="155198" cy="3459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7055477" y="5225038"/>
              <a:ext cx="924388" cy="34099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F(1)</a:t>
              </a:r>
              <a:endParaRPr lang="ko-KR" alt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7864317" y="5686316"/>
              <a:ext cx="924388" cy="34099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F(0)</a:t>
              </a:r>
              <a:endParaRPr lang="ko-KR" altLang="en-US" dirty="0"/>
            </a:p>
          </p:txBody>
        </p:sp>
        <p:cxnSp>
          <p:nvCxnSpPr>
            <p:cNvPr id="21" name="Straight Arrow Connector 20"/>
            <p:cNvCxnSpPr>
              <a:stCxn id="8" idx="3"/>
              <a:endCxn id="19" idx="0"/>
            </p:cNvCxnSpPr>
            <p:nvPr/>
          </p:nvCxnSpPr>
          <p:spPr>
            <a:xfrm flipH="1">
              <a:off x="7517671" y="4811217"/>
              <a:ext cx="64182" cy="4138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8" idx="5"/>
              <a:endCxn id="20" idx="0"/>
            </p:cNvCxnSpPr>
            <p:nvPr/>
          </p:nvCxnSpPr>
          <p:spPr>
            <a:xfrm>
              <a:off x="8235494" y="4811217"/>
              <a:ext cx="91016" cy="8751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Down Arrow 22"/>
          <p:cNvSpPr/>
          <p:nvPr/>
        </p:nvSpPr>
        <p:spPr>
          <a:xfrm>
            <a:off x="1907704" y="3933056"/>
            <a:ext cx="962208" cy="237626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Up Arrow 23"/>
          <p:cNvSpPr/>
          <p:nvPr/>
        </p:nvSpPr>
        <p:spPr>
          <a:xfrm>
            <a:off x="6084168" y="3861048"/>
            <a:ext cx="936104" cy="2448272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540296" y="3861048"/>
            <a:ext cx="1295400" cy="2619624"/>
            <a:chOff x="912" y="1344"/>
            <a:chExt cx="816" cy="1920"/>
          </a:xfrm>
        </p:grpSpPr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912" y="1344"/>
              <a:ext cx="0" cy="192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1728" y="1344"/>
              <a:ext cx="0" cy="192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912" y="3264"/>
              <a:ext cx="816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16496" y="5940425"/>
            <a:ext cx="1143000" cy="463550"/>
            <a:chOff x="615752" y="5937250"/>
            <a:chExt cx="1143000" cy="46355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615752" y="5937250"/>
              <a:ext cx="381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n</a:t>
              </a:r>
              <a:endParaRPr lang="en-US" altLang="ko-KR" dirty="0">
                <a:latin typeface="Times New Roman" pitchFamily="18" charset="0"/>
              </a:endParaRPr>
            </a:p>
          </p:txBody>
        </p:sp>
        <p:sp>
          <p:nvSpPr>
            <p:cNvPr id="31" name="Rectangle 11"/>
            <p:cNvSpPr>
              <a:spLocks noChangeArrowheads="1"/>
            </p:cNvSpPr>
            <p:nvPr/>
          </p:nvSpPr>
          <p:spPr bwMode="auto">
            <a:xfrm>
              <a:off x="615752" y="6172200"/>
              <a:ext cx="1143000" cy="2286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>
                  <a:latin typeface="Times New Roman" pitchFamily="18" charset="0"/>
                </a:rPr>
                <a:t>R.A</a:t>
              </a:r>
            </a:p>
          </p:txBody>
        </p: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996752" y="5937250"/>
              <a:ext cx="762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4</a:t>
              </a:r>
              <a:endParaRPr lang="en-US" altLang="ko-KR" dirty="0">
                <a:latin typeface="Times New Roman" pitchFamily="18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16496" y="5373216"/>
            <a:ext cx="1143000" cy="463550"/>
            <a:chOff x="615752" y="5937250"/>
            <a:chExt cx="1143000" cy="463550"/>
          </a:xfrm>
        </p:grpSpPr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615752" y="5937250"/>
              <a:ext cx="381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n</a:t>
              </a:r>
              <a:endParaRPr lang="en-US" altLang="ko-KR" dirty="0">
                <a:latin typeface="Times New Roman" pitchFamily="18" charset="0"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615752" y="6172200"/>
              <a:ext cx="1143000" cy="2286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>
                  <a:latin typeface="Times New Roman" pitchFamily="18" charset="0"/>
                </a:rPr>
                <a:t>R.A</a:t>
              </a:r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996752" y="5937250"/>
              <a:ext cx="762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3</a:t>
              </a:r>
              <a:endParaRPr lang="en-US" altLang="ko-KR" dirty="0">
                <a:latin typeface="Times New Roman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31245" y="4797152"/>
            <a:ext cx="1143000" cy="463550"/>
            <a:chOff x="615752" y="5937250"/>
            <a:chExt cx="1143000" cy="463550"/>
          </a:xfrm>
        </p:grpSpPr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615752" y="5937250"/>
              <a:ext cx="381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n</a:t>
              </a:r>
              <a:endParaRPr lang="en-US" altLang="ko-KR" dirty="0">
                <a:latin typeface="Times New Roman" pitchFamily="18" charset="0"/>
              </a:endParaRPr>
            </a:p>
          </p:txBody>
        </p:sp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615752" y="6172200"/>
              <a:ext cx="1143000" cy="2286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>
                  <a:latin typeface="Times New Roman" pitchFamily="18" charset="0"/>
                </a:rPr>
                <a:t>R.A</a:t>
              </a:r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auto">
            <a:xfrm>
              <a:off x="996752" y="5937250"/>
              <a:ext cx="762000" cy="22860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dirty="0" smtClean="0">
                  <a:latin typeface="Times New Roman" pitchFamily="18" charset="0"/>
                </a:rPr>
                <a:t>2</a:t>
              </a:r>
              <a:endParaRPr lang="en-US" altLang="ko-KR" dirty="0">
                <a:latin typeface="Times New Roman" pitchFamily="18" charset="0"/>
              </a:endParaRPr>
            </a:p>
          </p:txBody>
        </p:sp>
      </p:grp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7092280" y="4111377"/>
          <a:ext cx="1955540" cy="231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770"/>
                <a:gridCol w="977770"/>
              </a:tblGrid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Instance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Solution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F(0)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F(1)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F(2)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F(3)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385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F(4)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365861" y="3724358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Memoization</a:t>
            </a:r>
            <a:endParaRPr lang="ko-KR" alt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05052" y="3676382"/>
            <a:ext cx="138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Stackframe</a:t>
            </a:r>
            <a:endParaRPr lang="ko-KR" alt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1759496" y="4235531"/>
            <a:ext cx="125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Recursion</a:t>
            </a:r>
            <a:endParaRPr lang="ko-KR" alt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5763882" y="4604863"/>
            <a:ext cx="1647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Dynamic</a:t>
            </a:r>
            <a:br>
              <a:rPr lang="en-US" altLang="ko-KR" b="1" dirty="0" smtClean="0"/>
            </a:br>
            <a:r>
              <a:rPr lang="en-US" altLang="ko-KR" b="1" dirty="0" smtClean="0"/>
              <a:t>Programming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1074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42" grpId="0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Forward Probability Calculation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435280" cy="511256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ko-KR" dirty="0" smtClean="0"/>
                  <a:t>Need to know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Time X States</a:t>
                </a:r>
              </a:p>
              <a:p>
                <a:pPr lvl="1"/>
                <a:r>
                  <a:rPr lang="en-US" altLang="ko-KR" dirty="0" smtClean="0"/>
                  <a:t>When we know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 smtClean="0"/>
                  <a:t> with X, then we know the value of P(X)</a:t>
                </a:r>
              </a:p>
              <a:p>
                <a:pPr lvl="2"/>
                <a:r>
                  <a:rPr lang="en-US" altLang="ko-KR" dirty="0" smtClean="0"/>
                  <a:t>Answering the evaluation question without Z</a:t>
                </a:r>
              </a:p>
              <a:p>
                <a:r>
                  <a:rPr lang="en-US" altLang="ko-KR" dirty="0" err="1" smtClean="0"/>
                  <a:t>ForwardAlgorithm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Initialize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Iterate until time T</a:t>
                </a:r>
                <a:endParaRPr lang="en-US" altLang="ko-KR" i="1" dirty="0" smtClean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Return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Proof of correctness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Where to use the </a:t>
                </a:r>
                <a:r>
                  <a:rPr lang="en-US" altLang="ko-KR" dirty="0" err="1" smtClean="0"/>
                  <a:t>memoization</a:t>
                </a:r>
                <a:r>
                  <a:rPr lang="en-US" altLang="ko-KR" dirty="0" smtClean="0"/>
                  <a:t> table?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Limitation of the forward probability</a:t>
                </a:r>
              </a:p>
              <a:p>
                <a:pPr lvl="1"/>
                <a:r>
                  <a:rPr lang="en-US" altLang="ko-KR" dirty="0" smtClean="0"/>
                  <a:t>Only takes the input sequence of X before time </a:t>
                </a:r>
                <a:r>
                  <a:rPr lang="en-US" altLang="ko-KR" i="1" dirty="0" smtClean="0"/>
                  <a:t>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ko-KR" altLang="en-US" i="1" dirty="0" smtClean="0"/>
                  <a:t> </a:t>
                </a:r>
                <a:r>
                  <a:rPr lang="en-US" altLang="ko-KR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Need to see a probability distribution of a latent variable at time </a:t>
                </a:r>
                <a:r>
                  <a:rPr lang="en-US" altLang="ko-KR" i="1" dirty="0" smtClean="0"/>
                  <a:t>t</a:t>
                </a:r>
                <a:r>
                  <a:rPr lang="en-US" altLang="ko-KR" dirty="0" smtClean="0"/>
                  <a:t> given the whole </a:t>
                </a:r>
                <a:r>
                  <a:rPr lang="en-US" altLang="ko-KR" i="1" dirty="0" smtClean="0"/>
                  <a:t>X</a:t>
                </a:r>
              </a:p>
              <a:p>
                <a:pPr lvl="1"/>
                <a:r>
                  <a:rPr lang="en-US" altLang="ko-KR" dirty="0" smtClean="0"/>
                  <a:t>Recall the </a:t>
                </a:r>
                <a:r>
                  <a:rPr lang="en-US" altLang="ko-KR" dirty="0"/>
                  <a:t>B</a:t>
                </a:r>
                <a:r>
                  <a:rPr lang="en-US" altLang="ko-KR" dirty="0" smtClean="0"/>
                  <a:t>ayes ball algorithm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435280" cy="5112568"/>
              </a:xfrm>
              <a:blipFill rotWithShape="0">
                <a:blip r:embed="rId2"/>
                <a:stretch>
                  <a:fillRect t="-13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4847765" y="3468926"/>
            <a:ext cx="3310325" cy="1290533"/>
            <a:chOff x="4493280" y="4195867"/>
            <a:chExt cx="4251826" cy="1806278"/>
          </a:xfrm>
        </p:grpSpPr>
        <p:sp>
          <p:nvSpPr>
            <p:cNvPr id="6" name="Oval 5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8" name="Straight Arrow Connector 7"/>
            <p:cNvCxnSpPr>
              <a:stCxn id="10" idx="6"/>
              <a:endCxn id="6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4"/>
              <a:endCxn id="7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2" name="Straight Arrow Connector 11"/>
            <p:cNvCxnSpPr>
              <a:stCxn id="10" idx="4"/>
              <a:endCxn id="11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8" idx="6"/>
              <a:endCxn id="10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6" name="Straight Arrow Connector 15"/>
            <p:cNvCxnSpPr>
              <a:stCxn id="14" idx="4"/>
              <a:endCxn id="15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6"/>
              <a:endCxn id="14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Arrow Connector 19"/>
          <p:cNvCxnSpPr/>
          <p:nvPr/>
        </p:nvCxnSpPr>
        <p:spPr>
          <a:xfrm flipV="1">
            <a:off x="4948084" y="3244646"/>
            <a:ext cx="3274142" cy="73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7462" y="2764690"/>
            <a:ext cx="3277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Iteration Direction == Forward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6776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Backward Probability Calculation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" y="1412776"/>
                <a:ext cx="8945298" cy="509022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ko-KR" dirty="0" smtClean="0"/>
                  <a:t>We need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instead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Let’s derive from the joint probability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ko-KR" altLang="en-US" dirty="0"/>
              </a:p>
              <a:p>
                <a:pPr lvl="2"/>
                <a:r>
                  <a:rPr lang="en-US" altLang="ko-KR" dirty="0" smtClean="0"/>
                  <a:t>By the virtue of the structure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We already handled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So, we need to compute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m:rPr>
                        <m:nor/>
                      </m:rPr>
                      <a:rPr lang="en-US" altLang="ko-KR" dirty="0"/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</m:oMath>
                </a14:m>
                <a:endParaRPr lang="ko-KR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Again, recursive structure. How to calculate this efficiently?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endParaRPr lang="en-US" altLang="ko-KR" dirty="0"/>
              </a:p>
              <a:p>
                <a:endParaRPr lang="en-US" altLang="ko-KR" dirty="0" smtClean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" y="1412776"/>
                <a:ext cx="8945298" cy="5090221"/>
              </a:xfrm>
              <a:blipFill rotWithShape="0">
                <a:blip r:embed="rId2"/>
                <a:stretch>
                  <a:fillRect t="-1078" b="-95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5505552" y="2955653"/>
            <a:ext cx="3310325" cy="1290533"/>
            <a:chOff x="4493280" y="4195867"/>
            <a:chExt cx="4251826" cy="1806278"/>
          </a:xfrm>
        </p:grpSpPr>
        <p:sp>
          <p:nvSpPr>
            <p:cNvPr id="6" name="Oval 5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8" name="Straight Arrow Connector 7"/>
            <p:cNvCxnSpPr>
              <a:stCxn id="10" idx="6"/>
              <a:endCxn id="6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4"/>
              <a:endCxn id="7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2" name="Straight Arrow Connector 11"/>
            <p:cNvCxnSpPr>
              <a:stCxn id="10" idx="4"/>
              <a:endCxn id="11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8" idx="6"/>
              <a:endCxn id="10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6" name="Straight Arrow Connector 15"/>
            <p:cNvCxnSpPr>
              <a:stCxn id="14" idx="4"/>
              <a:endCxn id="15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6"/>
              <a:endCxn id="14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/>
          <p:cNvCxnSpPr/>
          <p:nvPr/>
        </p:nvCxnSpPr>
        <p:spPr>
          <a:xfrm flipH="1">
            <a:off x="6499219" y="2786740"/>
            <a:ext cx="231665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14531" y="2255870"/>
            <a:ext cx="33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Iteration Direction == Backward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44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023" y="38755"/>
            <a:ext cx="8435280" cy="1138138"/>
          </a:xfrm>
        </p:spPr>
        <p:txBody>
          <a:bodyPr/>
          <a:lstStyle/>
          <a:p>
            <a:r>
              <a:rPr lang="en-US" altLang="ko-KR" i="1" dirty="0" smtClean="0"/>
              <a:t>Detour: </a:t>
            </a:r>
            <a:r>
              <a:rPr lang="en-US" altLang="ko-KR" dirty="0" smtClean="0"/>
              <a:t>Potential Functions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196752"/>
                <a:ext cx="8435281" cy="5328592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Let’s define a potential function</a:t>
                </a:r>
              </a:p>
              <a:p>
                <a:pPr lvl="1"/>
                <a:r>
                  <a:rPr lang="en-US" altLang="ko-KR" dirty="0" smtClean="0"/>
                  <a:t>Potential function: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a function which is not a probability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function yet, but once normalized it can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be a probability distribution function</a:t>
                </a:r>
              </a:p>
              <a:p>
                <a:pPr lvl="1"/>
                <a:r>
                  <a:rPr lang="en-US" altLang="ko-KR" dirty="0" smtClean="0"/>
                  <a:t>Potential function on nodes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Potential function on links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How to setup the function?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 smtClean="0"/>
                  <a:t>P(C)</a:t>
                </a:r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196752"/>
                <a:ext cx="8435281" cy="532859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4932040" y="1333872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6012160" y="1333872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7092280" y="1342613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172400" y="1342613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>
            <a:stCxn id="6" idx="2"/>
            <a:endCxn id="5" idx="6"/>
          </p:cNvCxnSpPr>
          <p:nvPr/>
        </p:nvCxnSpPr>
        <p:spPr>
          <a:xfrm flipH="1">
            <a:off x="5508104" y="1600200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6" idx="6"/>
          </p:cNvCxnSpPr>
          <p:nvPr/>
        </p:nvCxnSpPr>
        <p:spPr>
          <a:xfrm flipH="1" flipV="1">
            <a:off x="6588224" y="1600200"/>
            <a:ext cx="504056" cy="874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2"/>
            <a:endCxn id="7" idx="6"/>
          </p:cNvCxnSpPr>
          <p:nvPr/>
        </p:nvCxnSpPr>
        <p:spPr>
          <a:xfrm flipH="1">
            <a:off x="7668344" y="1608941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32039" y="2206709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A,B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12168" y="2206709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B,C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892297" y="2206709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C,D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56171" y="2329021"/>
            <a:ext cx="288032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36300" y="2329021"/>
            <a:ext cx="288032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/>
          <p:cNvCxnSpPr>
            <a:stCxn id="17" idx="6"/>
            <a:endCxn id="20" idx="1"/>
          </p:cNvCxnSpPr>
          <p:nvPr/>
        </p:nvCxnSpPr>
        <p:spPr>
          <a:xfrm>
            <a:off x="5788206" y="2473037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0" idx="3"/>
            <a:endCxn id="18" idx="2"/>
          </p:cNvCxnSpPr>
          <p:nvPr/>
        </p:nvCxnSpPr>
        <p:spPr>
          <a:xfrm>
            <a:off x="6244203" y="2473037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8" idx="6"/>
            <a:endCxn id="21" idx="1"/>
          </p:cNvCxnSpPr>
          <p:nvPr/>
        </p:nvCxnSpPr>
        <p:spPr>
          <a:xfrm>
            <a:off x="7268335" y="2473037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1" idx="3"/>
            <a:endCxn id="19" idx="2"/>
          </p:cNvCxnSpPr>
          <p:nvPr/>
        </p:nvCxnSpPr>
        <p:spPr>
          <a:xfrm>
            <a:off x="7724332" y="2473037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ular Callout 8"/>
          <p:cNvSpPr/>
          <p:nvPr/>
        </p:nvSpPr>
        <p:spPr>
          <a:xfrm>
            <a:off x="4860032" y="3068960"/>
            <a:ext cx="1728192" cy="432048"/>
          </a:xfrm>
          <a:prstGeom prst="wedgeRectCallout">
            <a:avLst>
              <a:gd name="adj1" fmla="val -20833"/>
              <a:gd name="adj2" fmla="val -112965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Clique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Rectangular Callout 21"/>
          <p:cNvSpPr/>
          <p:nvPr/>
        </p:nvSpPr>
        <p:spPr>
          <a:xfrm>
            <a:off x="6944218" y="3069208"/>
            <a:ext cx="1728192" cy="432048"/>
          </a:xfrm>
          <a:prstGeom prst="wedgeRectCallout">
            <a:avLst>
              <a:gd name="adj1" fmla="val -13597"/>
              <a:gd name="adj2" fmla="val -143716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Separator</a:t>
            </a:r>
            <a:endParaRPr lang="ko-KR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300192" y="4005064"/>
                <a:ext cx="2648277" cy="2160240"/>
              </a:xfrm>
              <a:prstGeom prst="rect">
                <a:avLst/>
              </a:prstGeom>
              <a:solidFill>
                <a:schemeClr val="accent1"/>
              </a:solidFill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</a:rPr>
                  <a:t>Marginalization is also applicable: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/>
                        <m:e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dirty="0" smtClean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</a:rPr>
                  <a:t>Constructing a potential of a subset (w) of all variables (v)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4005064"/>
                <a:ext cx="2648277" cy="2160240"/>
              </a:xfrm>
              <a:prstGeom prst="rect">
                <a:avLst/>
              </a:prstGeom>
              <a:blipFill rotWithShape="0">
                <a:blip r:embed="rId3"/>
                <a:stretch>
                  <a:fillRect t="-278" r="-454" b="-3056"/>
                </a:stretch>
              </a:blipFill>
              <a:ln w="38100"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19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/>
              <a:t>Detour: </a:t>
            </a:r>
            <a:r>
              <a:rPr lang="en-US" altLang="ko-KR" dirty="0" smtClean="0"/>
              <a:t>Absorption in Clique Graph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ko-KR" dirty="0" smtClean="0"/>
                  <a:t>Only applicable to the tree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structure of clique graph</a:t>
                </a:r>
              </a:p>
              <a:p>
                <a:r>
                  <a:rPr lang="en-US" altLang="ko-KR" dirty="0" smtClean="0"/>
                  <a:t>Let’s assume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How to find out the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dirty="0" smtClean="0"/>
                  <a:t>s and the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ko-KR" dirty="0" smtClean="0"/>
                  <a:t>s?</a:t>
                </a:r>
              </a:p>
              <a:p>
                <a:pPr lvl="2"/>
                <a:r>
                  <a:rPr lang="en-US" altLang="ko-KR" dirty="0" smtClean="0"/>
                  <a:t>When the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dirty="0" smtClean="0"/>
                  <a:t>s change by the observations: P(A,B)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P(A=1,B)</a:t>
                </a:r>
              </a:p>
              <a:p>
                <a:pPr lvl="2"/>
                <a:r>
                  <a:rPr lang="en-US" altLang="ko-KR" dirty="0" smtClean="0">
                    <a:sym typeface="Wingdings" panose="05000000000000000000" pitchFamily="2" charset="2"/>
                  </a:rPr>
                  <a:t>A single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change can result in the change of multiple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ko-KR" dirty="0" smtClean="0"/>
                  <a:t>s</a:t>
                </a:r>
              </a:p>
              <a:p>
                <a:pPr lvl="2"/>
                <a:r>
                  <a:rPr lang="en-US" altLang="ko-KR" dirty="0" smtClean="0"/>
                  <a:t>The effect of the observation propagates through the clique graph</a:t>
                </a:r>
              </a:p>
              <a:p>
                <a:pPr lvl="2"/>
                <a:r>
                  <a:rPr lang="en-US" altLang="ko-KR" dirty="0" smtClean="0"/>
                  <a:t>Belief propagation!</a:t>
                </a:r>
              </a:p>
              <a:p>
                <a:r>
                  <a:rPr lang="en-US" altLang="ko-KR" dirty="0" smtClean="0"/>
                  <a:t>How to propagate the belief?</a:t>
                </a:r>
              </a:p>
              <a:p>
                <a:pPr lvl="1"/>
                <a:r>
                  <a:rPr lang="en-US" altLang="ko-KR" dirty="0" smtClean="0"/>
                  <a:t>Absorption (update) rule</a:t>
                </a:r>
              </a:p>
              <a:p>
                <a:pPr lvl="1"/>
                <a:r>
                  <a:rPr lang="en-US" altLang="ko-KR" dirty="0" smtClean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,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, 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smtClean="0"/>
                  <a:t>Define the update rule for separators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smtClean="0"/>
                  <a:t>Define the update rule for cliques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:endParaRPr lang="ko-KR" altLang="en-US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59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044722" y="1425388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6124842" y="1425388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7204962" y="1434129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285082" y="1434129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>
          <a:xfrm flipH="1">
            <a:off x="5620786" y="1691716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>
          <a:xfrm flipH="1" flipV="1">
            <a:off x="6700906" y="1691716"/>
            <a:ext cx="504056" cy="874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8" idx="2"/>
            <a:endCxn id="7" idx="6"/>
          </p:cNvCxnSpPr>
          <p:nvPr/>
        </p:nvCxnSpPr>
        <p:spPr>
          <a:xfrm flipH="1">
            <a:off x="7781026" y="1700457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44721" y="2298225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A,B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24850" y="2298225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B,C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04979" y="2298225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C,D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68853" y="2420537"/>
            <a:ext cx="288032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48982" y="2420537"/>
            <a:ext cx="288032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>
            <a:stCxn id="12" idx="6"/>
            <a:endCxn id="15" idx="1"/>
          </p:cNvCxnSpPr>
          <p:nvPr/>
        </p:nvCxnSpPr>
        <p:spPr>
          <a:xfrm>
            <a:off x="5900888" y="2564553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3"/>
            <a:endCxn id="13" idx="2"/>
          </p:cNvCxnSpPr>
          <p:nvPr/>
        </p:nvCxnSpPr>
        <p:spPr>
          <a:xfrm>
            <a:off x="6356885" y="2564553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6" idx="1"/>
          </p:cNvCxnSpPr>
          <p:nvPr/>
        </p:nvCxnSpPr>
        <p:spPr>
          <a:xfrm>
            <a:off x="7381017" y="2564553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6" idx="3"/>
            <a:endCxn id="14" idx="2"/>
          </p:cNvCxnSpPr>
          <p:nvPr/>
        </p:nvCxnSpPr>
        <p:spPr>
          <a:xfrm>
            <a:off x="7837014" y="2564553"/>
            <a:ext cx="16796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788025" y="4437112"/>
                <a:ext cx="4073122" cy="2016224"/>
              </a:xfrm>
              <a:prstGeom prst="rect">
                <a:avLst/>
              </a:prstGeom>
              <a:solidFill>
                <a:schemeClr val="accent1"/>
              </a:solidFill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 smtClean="0">
                    <a:solidFill>
                      <a:schemeClr val="bg1"/>
                    </a:solidFill>
                  </a:rPr>
                  <a:t>Why does this work?</a:t>
                </a:r>
                <a:endParaRPr lang="en-US" altLang="ko-KR" sz="1400" b="1" dirty="0">
                  <a:solidFill>
                    <a:schemeClr val="bg1"/>
                  </a:solidFill>
                </a:endParaRPr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num>
                            <m:den>
                              <m:r>
                                <a:rPr lang="ko-KR" alt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ko-KR" alt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ko-KR" alt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ko-KR" altLang="en-US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ko-K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400" dirty="0" smtClean="0">
                  <a:solidFill>
                    <a:schemeClr val="bg1"/>
                  </a:solidFill>
                </a:endParaRPr>
              </a:p>
              <a:p>
                <a:pPr marL="0" lvl="1" algn="ctr"/>
                <a:r>
                  <a:rPr lang="en-US" altLang="ko-KR" sz="1400" dirty="0" smtClean="0">
                    <a:solidFill>
                      <a:schemeClr val="bg1"/>
                    </a:solidFill>
                  </a:rPr>
                  <a:t>Guarantees the local consistency </a:t>
                </a:r>
                <a:br>
                  <a:rPr lang="en-US" altLang="ko-KR" sz="1400" dirty="0" smtClean="0">
                    <a:solidFill>
                      <a:schemeClr val="bg1"/>
                    </a:solidFill>
                  </a:rPr>
                </a:br>
                <a:r>
                  <a:rPr lang="en-US" altLang="ko-KR" sz="1400" dirty="0" smtClean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 Global consistency after iterations</a:t>
                </a:r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5" y="4437112"/>
                <a:ext cx="4073122" cy="2016224"/>
              </a:xfrm>
              <a:prstGeom prst="rect">
                <a:avLst/>
              </a:prstGeom>
              <a:blipFill rotWithShape="0">
                <a:blip r:embed="rId3"/>
                <a:stretch>
                  <a:fillRect l="-13037" t="-17507" r="-12000" b="-22552"/>
                </a:stretch>
              </a:blipFill>
              <a:ln w="38100"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23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i="1" dirty="0"/>
              <a:t>Detour: </a:t>
            </a:r>
            <a:r>
              <a:rPr lang="en-US" altLang="ko-KR" sz="4400" dirty="0" smtClean="0"/>
              <a:t>Simple Example of Belief Propagation</a:t>
            </a:r>
            <a:endParaRPr lang="ko-KR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 smtClean="0"/>
                  <a:t>Initialized the potential 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Example 1. P(b)=?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Example 2. P(</a:t>
                </a:r>
                <a:r>
                  <a:rPr lang="en-US" altLang="ko-KR" dirty="0" err="1" smtClean="0"/>
                  <a:t>b|a</a:t>
                </a:r>
                <a:r>
                  <a:rPr lang="en-US" altLang="ko-KR" dirty="0" smtClean="0"/>
                  <a:t>=1,c=1)=?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ko-KR" dirty="0"/>
                          <m:t> 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∗∗∗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39" b="-2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868144" y="1628800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6948264" y="1628800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028384" y="1628800"/>
            <a:ext cx="576064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5" idx="6"/>
          </p:cNvCxnSpPr>
          <p:nvPr/>
        </p:nvCxnSpPr>
        <p:spPr>
          <a:xfrm flipH="1">
            <a:off x="6444208" y="1895128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2"/>
            <a:endCxn id="6" idx="6"/>
          </p:cNvCxnSpPr>
          <p:nvPr/>
        </p:nvCxnSpPr>
        <p:spPr>
          <a:xfrm flipH="1">
            <a:off x="7524328" y="1895128"/>
            <a:ext cx="50405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36096" y="4120480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A,B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08321" y="4120480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B,C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04252" y="4242792"/>
            <a:ext cx="288032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/>
          <p:cNvCxnSpPr>
            <a:stCxn id="10" idx="6"/>
            <a:endCxn id="12" idx="1"/>
          </p:cNvCxnSpPr>
          <p:nvPr/>
        </p:nvCxnSpPr>
        <p:spPr>
          <a:xfrm>
            <a:off x="6292263" y="4386808"/>
            <a:ext cx="711989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2" idx="3"/>
            <a:endCxn id="11" idx="2"/>
          </p:cNvCxnSpPr>
          <p:nvPr/>
        </p:nvCxnSpPr>
        <p:spPr>
          <a:xfrm>
            <a:off x="7292284" y="4386808"/>
            <a:ext cx="816037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5981913" y="2792181"/>
            <a:ext cx="1152767" cy="369332"/>
            <a:chOff x="6004231" y="2462141"/>
            <a:chExt cx="1152767" cy="369332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6004231" y="2668172"/>
              <a:ext cx="1152767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6104511" y="2462141"/>
                  <a:ext cx="10318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 smtClean="0"/>
                    <a:t>1)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4511" y="2462141"/>
                  <a:ext cx="1031886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5325" t="-9836" b="-229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7336151" y="2780928"/>
            <a:ext cx="1268297" cy="369332"/>
            <a:chOff x="7268107" y="2512070"/>
            <a:chExt cx="1268297" cy="369332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7292284" y="2708920"/>
              <a:ext cx="124412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7268107" y="2512070"/>
                  <a:ext cx="12359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 smtClean="0"/>
                    <a:t>2)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107" y="2512070"/>
                  <a:ext cx="1235979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941" t="-9836" b="-229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/>
          <p:cNvGrpSpPr/>
          <p:nvPr/>
        </p:nvGrpSpPr>
        <p:grpSpPr>
          <a:xfrm>
            <a:off x="7340116" y="3198801"/>
            <a:ext cx="1163970" cy="369332"/>
            <a:chOff x="7292285" y="2795227"/>
            <a:chExt cx="1163970" cy="369332"/>
          </a:xfrm>
        </p:grpSpPr>
        <p:cxnSp>
          <p:nvCxnSpPr>
            <p:cNvPr id="21" name="Straight Arrow Connector 20"/>
            <p:cNvCxnSpPr/>
            <p:nvPr/>
          </p:nvCxnSpPr>
          <p:spPr>
            <a:xfrm flipH="1">
              <a:off x="7292285" y="2996952"/>
              <a:ext cx="116397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7342617" y="2795227"/>
                  <a:ext cx="111363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 smtClean="0"/>
                    <a:t>3)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∗∗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617" y="2795227"/>
                  <a:ext cx="1113638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4372" t="-11667"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5972823" y="3176407"/>
            <a:ext cx="1266684" cy="369332"/>
            <a:chOff x="6036101" y="2789892"/>
            <a:chExt cx="1266684" cy="369332"/>
          </a:xfrm>
        </p:grpSpPr>
        <p:cxnSp>
          <p:nvCxnSpPr>
            <p:cNvPr id="25" name="Straight Arrow Connector 24"/>
            <p:cNvCxnSpPr/>
            <p:nvPr/>
          </p:nvCxnSpPr>
          <p:spPr>
            <a:xfrm flipH="1">
              <a:off x="6036101" y="2996952"/>
              <a:ext cx="1184175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6046031" y="2789892"/>
                  <a:ext cx="125675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 smtClean="0"/>
                    <a:t>4)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6031" y="2789892"/>
                  <a:ext cx="125675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865" t="-9836" b="-229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5981913" y="3575527"/>
            <a:ext cx="1199356" cy="369332"/>
            <a:chOff x="5824880" y="3203684"/>
            <a:chExt cx="1199356" cy="369332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6008195" y="3400145"/>
              <a:ext cx="101604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5824880" y="3203684"/>
                  <a:ext cx="11953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 smtClean="0"/>
                    <a:t>5)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∗∗∗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880" y="3203684"/>
                  <a:ext cx="1195392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4082" t="-11667"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Left Brace 41"/>
          <p:cNvSpPr/>
          <p:nvPr/>
        </p:nvSpPr>
        <p:spPr>
          <a:xfrm flipH="1">
            <a:off x="4748041" y="2618414"/>
            <a:ext cx="339439" cy="1564224"/>
          </a:xfrm>
          <a:prstGeom prst="leftBrac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Left Brace 42"/>
          <p:cNvSpPr/>
          <p:nvPr/>
        </p:nvSpPr>
        <p:spPr>
          <a:xfrm>
            <a:off x="5600617" y="2618414"/>
            <a:ext cx="320127" cy="1314642"/>
          </a:xfrm>
          <a:prstGeom prst="leftBrac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Straight Arrow Connector 44"/>
          <p:cNvCxnSpPr>
            <a:stCxn id="42" idx="1"/>
          </p:cNvCxnSpPr>
          <p:nvPr/>
        </p:nvCxnSpPr>
        <p:spPr>
          <a:xfrm flipV="1">
            <a:off x="5087480" y="3284984"/>
            <a:ext cx="513137" cy="11554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20778" y="2130901"/>
            <a:ext cx="209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Bayesian Network</a:t>
            </a:r>
            <a:endParaRPr lang="ko-KR" alt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14142" y="4616562"/>
            <a:ext cx="155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Clique Graph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653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910"/>
            <a:ext cx="8435280" cy="831755"/>
          </a:xfrm>
        </p:spPr>
        <p:txBody>
          <a:bodyPr/>
          <a:lstStyle/>
          <a:p>
            <a:r>
              <a:rPr lang="en-US" altLang="ko-KR" sz="4000" dirty="0" smtClean="0"/>
              <a:t>Message Passing and Forward-Backward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2825" y="2839227"/>
                <a:ext cx="8759745" cy="3882154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ko-KR" dirty="0" smtClean="0"/>
              </a:p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 smtClean="0"/>
                  <a:t>Initialized </a:t>
                </a:r>
                <a:r>
                  <a:rPr lang="en-US" altLang="ko-KR" dirty="0"/>
                  <a:t>the </a:t>
                </a:r>
                <a:r>
                  <a:rPr lang="en-US" altLang="ko-KR" dirty="0" smtClean="0"/>
                  <a:t>potential </a:t>
                </a:r>
                <a:r>
                  <a:rPr lang="en-US" altLang="ko-KR" dirty="0"/>
                  <a:t>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Start absorbing and updating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 smtClean="0"/>
                  <a:t> is already observed, so the summation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 smtClean="0"/>
                  <a:t> does not happen, use just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Same as the forward probability calculation</a:t>
                </a:r>
              </a:p>
              <a:p>
                <a:pPr lvl="1"/>
                <a:r>
                  <a:rPr lang="en-US" altLang="ko-KR" dirty="0" smtClean="0"/>
                  <a:t>This is the upward process, then the downward process is same as the backward probability calculation</a:t>
                </a:r>
                <a:endParaRPr lang="en-US" altLang="ko-KR" dirty="0"/>
              </a:p>
              <a:p>
                <a:pPr lvl="1"/>
                <a:endParaRPr lang="en-US" altLang="ko-KR" dirty="0" smtClean="0"/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825" y="2839227"/>
                <a:ext cx="8759745" cy="3882154"/>
              </a:xfrm>
              <a:blipFill rotWithShape="0">
                <a:blip r:embed="rId2"/>
                <a:stretch>
                  <a:fillRect t="-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585481" y="1094436"/>
            <a:ext cx="3310325" cy="1290533"/>
            <a:chOff x="4493280" y="4195867"/>
            <a:chExt cx="4251826" cy="1806278"/>
          </a:xfrm>
        </p:grpSpPr>
        <p:sp>
          <p:nvSpPr>
            <p:cNvPr id="6" name="Oval 5"/>
            <p:cNvSpPr/>
            <p:nvPr/>
          </p:nvSpPr>
          <p:spPr>
            <a:xfrm>
              <a:off x="6957648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z2</a:t>
              </a:r>
              <a:endParaRPr lang="ko-KR" altLang="en-US" sz="1200" b="1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6957648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x2</a:t>
              </a:r>
              <a:endParaRPr lang="ko-KR" altLang="en-US" sz="1200" b="1" dirty="0"/>
            </a:p>
          </p:txBody>
        </p:sp>
        <p:cxnSp>
          <p:nvCxnSpPr>
            <p:cNvPr id="8" name="Straight Arrow Connector 7"/>
            <p:cNvCxnSpPr>
              <a:stCxn id="10" idx="6"/>
              <a:endCxn id="6" idx="2"/>
            </p:cNvCxnSpPr>
            <p:nvPr/>
          </p:nvCxnSpPr>
          <p:spPr>
            <a:xfrm>
              <a:off x="6471594" y="4489977"/>
              <a:ext cx="48605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4"/>
              <a:endCxn id="7" idx="0"/>
            </p:cNvCxnSpPr>
            <p:nvPr/>
          </p:nvCxnSpPr>
          <p:spPr>
            <a:xfrm>
              <a:off x="7281684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823522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z1</a:t>
              </a:r>
              <a:endParaRPr lang="ko-KR" altLang="en-US" sz="1200" b="1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823522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x1</a:t>
              </a:r>
              <a:endParaRPr lang="ko-KR" altLang="en-US" sz="1200" b="1" dirty="0"/>
            </a:p>
          </p:txBody>
        </p:sp>
        <p:cxnSp>
          <p:nvCxnSpPr>
            <p:cNvPr id="12" name="Straight Arrow Connector 11"/>
            <p:cNvCxnSpPr>
              <a:stCxn id="10" idx="4"/>
              <a:endCxn id="11" idx="0"/>
            </p:cNvCxnSpPr>
            <p:nvPr/>
          </p:nvCxnSpPr>
          <p:spPr>
            <a:xfrm>
              <a:off x="6147558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8" idx="6"/>
              <a:endCxn id="10" idx="2"/>
            </p:cNvCxnSpPr>
            <p:nvPr/>
          </p:nvCxnSpPr>
          <p:spPr>
            <a:xfrm>
              <a:off x="5141352" y="4483899"/>
              <a:ext cx="682170" cy="60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8097034" y="4201945"/>
              <a:ext cx="648072" cy="5760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z3</a:t>
              </a:r>
              <a:endParaRPr lang="ko-KR" altLang="en-US" sz="1200" b="1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8097034" y="5426081"/>
              <a:ext cx="648072" cy="576064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x3</a:t>
              </a:r>
              <a:endParaRPr lang="ko-KR" altLang="en-US" sz="1200" b="1" dirty="0"/>
            </a:p>
          </p:txBody>
        </p:sp>
        <p:cxnSp>
          <p:nvCxnSpPr>
            <p:cNvPr id="16" name="Straight Arrow Connector 15"/>
            <p:cNvCxnSpPr>
              <a:stCxn id="14" idx="4"/>
              <a:endCxn id="15" idx="0"/>
            </p:cNvCxnSpPr>
            <p:nvPr/>
          </p:nvCxnSpPr>
          <p:spPr>
            <a:xfrm>
              <a:off x="8421070" y="4778009"/>
              <a:ext cx="0" cy="64807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6"/>
              <a:endCxn id="14" idx="2"/>
            </p:cNvCxnSpPr>
            <p:nvPr/>
          </p:nvCxnSpPr>
          <p:spPr>
            <a:xfrm>
              <a:off x="7605720" y="4489977"/>
              <a:ext cx="4913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/>
                <p:cNvSpPr/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ko-KR" altLang="en-US" sz="1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280" y="4195867"/>
                  <a:ext cx="648072" cy="576064"/>
                </a:xfrm>
                <a:prstGeom prst="ellipse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tailEnd type="none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Right Arrow 18"/>
          <p:cNvSpPr/>
          <p:nvPr/>
        </p:nvSpPr>
        <p:spPr>
          <a:xfrm>
            <a:off x="4040143" y="1185048"/>
            <a:ext cx="663279" cy="94152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4721616" y="1033898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z1</a:t>
            </a:r>
            <a:r>
              <a:rPr lang="en-US" altLang="ko-KR" sz="1200" dirty="0" smtClean="0">
                <a:solidFill>
                  <a:schemeClr val="bg1"/>
                </a:solidFill>
              </a:rPr>
              <a:t>,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x1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228723" y="1033898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z1</a:t>
            </a:r>
            <a:r>
              <a:rPr lang="en-US" altLang="ko-KR" sz="1200" dirty="0" smtClean="0">
                <a:solidFill>
                  <a:schemeClr val="bg1"/>
                </a:solidFill>
              </a:rPr>
              <a:t>,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z2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14587" y="1156210"/>
            <a:ext cx="386684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z1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/>
          <p:cNvCxnSpPr>
            <a:stCxn id="20" idx="6"/>
            <a:endCxn id="22" idx="1"/>
          </p:cNvCxnSpPr>
          <p:nvPr/>
        </p:nvCxnSpPr>
        <p:spPr>
          <a:xfrm>
            <a:off x="5577783" y="1300226"/>
            <a:ext cx="136804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2" idx="3"/>
            <a:endCxn id="21" idx="2"/>
          </p:cNvCxnSpPr>
          <p:nvPr/>
        </p:nvCxnSpPr>
        <p:spPr>
          <a:xfrm>
            <a:off x="6101271" y="1300226"/>
            <a:ext cx="127452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228723" y="2092492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z2</a:t>
            </a:r>
            <a:r>
              <a:rPr lang="en-US" altLang="ko-KR" sz="1200" dirty="0" smtClean="0">
                <a:solidFill>
                  <a:schemeClr val="bg1"/>
                </a:solidFill>
              </a:rPr>
              <a:t>,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x2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61171" y="1685356"/>
            <a:ext cx="386684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z2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/>
          <p:cNvCxnSpPr>
            <a:stCxn id="21" idx="4"/>
            <a:endCxn id="26" idx="0"/>
          </p:cNvCxnSpPr>
          <p:nvPr/>
        </p:nvCxnSpPr>
        <p:spPr>
          <a:xfrm flipH="1">
            <a:off x="6654513" y="1566554"/>
            <a:ext cx="2294" cy="118802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6" idx="2"/>
            <a:endCxn id="25" idx="0"/>
          </p:cNvCxnSpPr>
          <p:nvPr/>
        </p:nvCxnSpPr>
        <p:spPr>
          <a:xfrm>
            <a:off x="6654513" y="1973388"/>
            <a:ext cx="2294" cy="119104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735828" y="1033898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z2</a:t>
            </a:r>
            <a:r>
              <a:rPr lang="en-US" altLang="ko-KR" sz="1200" dirty="0" smtClean="0">
                <a:solidFill>
                  <a:schemeClr val="bg1"/>
                </a:solidFill>
              </a:rPr>
              <a:t>,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z3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735828" y="2092492"/>
            <a:ext cx="856167" cy="532656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z3</a:t>
            </a:r>
            <a:r>
              <a:rPr lang="en-US" altLang="ko-KR" sz="1200" dirty="0" smtClean="0">
                <a:solidFill>
                  <a:schemeClr val="bg1"/>
                </a:solidFill>
              </a:rPr>
              <a:t>,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x3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968276" y="1685356"/>
            <a:ext cx="386684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z3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36" name="Straight Connector 35"/>
          <p:cNvCxnSpPr>
            <a:stCxn id="33" idx="4"/>
            <a:endCxn id="35" idx="0"/>
          </p:cNvCxnSpPr>
          <p:nvPr/>
        </p:nvCxnSpPr>
        <p:spPr>
          <a:xfrm flipH="1">
            <a:off x="8161618" y="1566554"/>
            <a:ext cx="2294" cy="118802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5" idx="2"/>
            <a:endCxn id="34" idx="0"/>
          </p:cNvCxnSpPr>
          <p:nvPr/>
        </p:nvCxnSpPr>
        <p:spPr>
          <a:xfrm>
            <a:off x="8161618" y="1973388"/>
            <a:ext cx="2294" cy="119104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240534" y="1156210"/>
            <a:ext cx="386684" cy="288032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z2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39" name="Straight Connector 38"/>
          <p:cNvCxnSpPr>
            <a:stCxn id="21" idx="6"/>
            <a:endCxn id="38" idx="1"/>
          </p:cNvCxnSpPr>
          <p:nvPr/>
        </p:nvCxnSpPr>
        <p:spPr>
          <a:xfrm>
            <a:off x="7084890" y="1300226"/>
            <a:ext cx="155644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8" idx="3"/>
            <a:endCxn id="33" idx="2"/>
          </p:cNvCxnSpPr>
          <p:nvPr/>
        </p:nvCxnSpPr>
        <p:spPr>
          <a:xfrm>
            <a:off x="7627218" y="1300226"/>
            <a:ext cx="108610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225066" y="900595"/>
            <a:ext cx="805980" cy="1682556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Oval 43"/>
          <p:cNvSpPr/>
          <p:nvPr/>
        </p:nvSpPr>
        <p:spPr>
          <a:xfrm>
            <a:off x="2330705" y="897588"/>
            <a:ext cx="805980" cy="1682556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Oval 44"/>
          <p:cNvSpPr/>
          <p:nvPr/>
        </p:nvSpPr>
        <p:spPr>
          <a:xfrm>
            <a:off x="1473211" y="897588"/>
            <a:ext cx="805980" cy="1682556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Oval 45"/>
          <p:cNvSpPr/>
          <p:nvPr/>
        </p:nvSpPr>
        <p:spPr>
          <a:xfrm rot="16200000">
            <a:off x="1854512" y="481861"/>
            <a:ext cx="805980" cy="1682556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val 46"/>
          <p:cNvSpPr/>
          <p:nvPr/>
        </p:nvSpPr>
        <p:spPr>
          <a:xfrm rot="16200000">
            <a:off x="2752418" y="470899"/>
            <a:ext cx="805980" cy="1682556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501927" y="2862622"/>
                <a:ext cx="2629738" cy="1515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 smtClean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000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927" y="2862622"/>
                <a:ext cx="2629738" cy="151509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>
            <a:off x="6654513" y="897588"/>
            <a:ext cx="156009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7018694" y="1327027"/>
                <a:ext cx="9058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694" y="1327027"/>
                <a:ext cx="90588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5622504" y="1625181"/>
                <a:ext cx="90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504" y="1625181"/>
                <a:ext cx="90056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V="1">
            <a:off x="7018694" y="1444242"/>
            <a:ext cx="0" cy="85280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4941830" y="902367"/>
            <a:ext cx="156009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8591995" y="1444242"/>
            <a:ext cx="0" cy="85280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4770346" y="2697167"/>
                <a:ext cx="2076137" cy="1633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ko-KR" sz="1000" b="1" dirty="0"/>
                  <a:t>Define the update rule for separators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000" b="1" i="1"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000" b="1" dirty="0"/>
              </a:p>
              <a:p>
                <a:pPr lvl="1"/>
                <a:r>
                  <a:rPr lang="en-US" altLang="ko-KR" sz="1000" b="1" dirty="0"/>
                  <a:t>Define the update rule for cliques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000" b="1" i="1"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  <m:sup>
                        <m:r>
                          <a:rPr lang="en-US" altLang="ko-KR" sz="1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 b="1" dirty="0"/>
                  <a:t>=</a:t>
                </a:r>
                <a14:m>
                  <m:oMath xmlns:m="http://schemas.openxmlformats.org/officeDocument/2006/math">
                    <m:r>
                      <a:rPr lang="ko-KR" altLang="en-US" sz="1000" b="1" i="1">
                        <a:latin typeface="Cambria Math" panose="02040503050406030204" pitchFamily="18" charset="0"/>
                      </a:rPr>
                      <m:t>𝝍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1000" b="1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ko-KR" sz="1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000" b="1" i="1"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num>
                      <m:den>
                        <m:r>
                          <a:rPr lang="ko-KR" altLang="en-US" sz="1000" b="1" i="1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346" y="2697167"/>
                <a:ext cx="2076137" cy="1633268"/>
              </a:xfrm>
              <a:prstGeom prst="rect">
                <a:avLst/>
              </a:prstGeom>
              <a:blipFill rotWithShape="0">
                <a:blip r:embed="rId7"/>
                <a:stretch>
                  <a:fillRect t="-4104" r="-8824" b="-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152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5205</TotalTime>
  <Words>740</Words>
  <Application>Microsoft Office PowerPoint</Application>
  <PresentationFormat>On-screen Show (4:3)</PresentationFormat>
  <Paragraphs>436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Hidden Markov Model</vt:lpstr>
      <vt:lpstr>Weekly Objectives</vt:lpstr>
      <vt:lpstr>Forward-backward probability</vt:lpstr>
      <vt:lpstr>Main Questions  on HMM</vt:lpstr>
      <vt:lpstr>Obtaining π, a, b  given X and M</vt:lpstr>
      <vt:lpstr>Joint Probability</vt:lpstr>
      <vt:lpstr>Marginal  Probability</vt:lpstr>
      <vt:lpstr>Detour: Dynamic Programming</vt:lpstr>
      <vt:lpstr>Detour: Memoization</vt:lpstr>
      <vt:lpstr>Forward Probability Calculation</vt:lpstr>
      <vt:lpstr>Backward Probability Calculation</vt:lpstr>
      <vt:lpstr>Detour: Potential Functions</vt:lpstr>
      <vt:lpstr>Detour: Absorption in Clique Graph</vt:lpstr>
      <vt:lpstr>Detour: Simple Example of Belief Propagation</vt:lpstr>
      <vt:lpstr>Message Passing and Forward-Backward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Il-Chul Moon</cp:lastModifiedBy>
  <cp:revision>385</cp:revision>
  <dcterms:created xsi:type="dcterms:W3CDTF">2013-08-14T02:12:56Z</dcterms:created>
  <dcterms:modified xsi:type="dcterms:W3CDTF">2015-08-27T01:28:25Z</dcterms:modified>
</cp:coreProperties>
</file>
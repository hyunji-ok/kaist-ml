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17" r:id="rId2"/>
    <p:sldId id="318" r:id="rId3"/>
    <p:sldId id="319" r:id="rId4"/>
    <p:sldId id="360" r:id="rId5"/>
    <p:sldId id="361" r:id="rId6"/>
    <p:sldId id="362" r:id="rId7"/>
    <p:sldId id="344" r:id="rId8"/>
    <p:sldId id="366" r:id="rId9"/>
    <p:sldId id="346" r:id="rId10"/>
    <p:sldId id="347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>
      <p:cViewPr varScale="1">
        <p:scale>
          <a:sx n="132" d="100"/>
          <a:sy n="132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DD40F-6D86-4AAB-B084-B6837CFA557A}" type="datetimeFigureOut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EE363-3225-4A55-87F5-506D5992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02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543800" cy="1668016"/>
          </a:xfrm>
        </p:spPr>
        <p:txBody>
          <a:bodyPr anchor="b"/>
          <a:lstStyle>
            <a:lvl1pPr>
              <a:defRPr sz="4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58608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03693598-37C8-49CF-8A15-A46445026EA3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982A517A-290A-4238-AB2F-3319C3C1EEC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206553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573016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C86CAE6B-AEE5-43E0-B953-53AA4C35BA3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656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B8D3057-63C8-43D4-9572-5CC0D90B770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248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248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20C42DC5-7698-4FA9-A2BC-C96F65B2FA04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A46FB218-9B93-4105-B777-DA361C04621C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D3B59D4-BDC1-4C58-9D99-3809D68DE86E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1208"/>
            <a:ext cx="8443663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5901664"/>
            <a:ext cx="8443665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A3119303-09BF-436C-8602-A0679EF986D9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8443664" cy="477619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5278"/>
            <a:ext cx="91440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6096000"/>
            <a:ext cx="9144000" cy="50135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EF07741F-3D9C-4A64-9F63-4DA11E7EC935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C6B16-B7E8-4F7D-A7CF-C26340AE3A5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0272" y="274638"/>
            <a:ext cx="1752600" cy="6178698"/>
          </a:xfrm>
        </p:spPr>
        <p:txBody>
          <a:bodyPr vert="eaVert" anchor="b" anchorCtr="0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19056" cy="617869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9A36E3C6-6DD7-413E-BAD6-C2509285FF8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bg2">
                <a:alpha val="87000"/>
              </a:schemeClr>
            </a:gs>
            <a:gs pos="100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439133" y="2151868"/>
            <a:ext cx="268982" cy="91599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i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8093" y="6590376"/>
            <a:ext cx="577502" cy="2772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38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 smtClean="0"/>
              <a:t>Click to edit Master text styles 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8424" y="6597351"/>
            <a:ext cx="765175" cy="266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620808"/>
            <a:ext cx="621159" cy="216024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177" y="6597351"/>
            <a:ext cx="1070247" cy="275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A588B01-A67B-47BC-B714-F41ADBB1241E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6608385"/>
            <a:ext cx="5859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Copyright © 2010 by Il-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Chul</a:t>
            </a:r>
            <a:r>
              <a:rPr lang="en-US" altLang="ko-KR" sz="1200" dirty="0" smtClean="0">
                <a:solidFill>
                  <a:schemeClr val="bg1"/>
                </a:solidFill>
              </a:rPr>
              <a:t> Moon, Dept. of Industrial and Systems Engineering, KAIST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moon@kaist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K-Means Clustering and Gaussian Mixture Model</a:t>
            </a:r>
            <a:endParaRPr lang="ko-KR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Il-Chul Moon</a:t>
            </a:r>
            <a:br>
              <a:rPr lang="en-US" altLang="ko-KR" dirty="0" smtClean="0"/>
            </a:br>
            <a:r>
              <a:rPr lang="en-US" altLang="ko-KR" dirty="0" smtClean="0"/>
              <a:t>Dept. of Industrial and Systems Engineering</a:t>
            </a:r>
            <a:br>
              <a:rPr lang="en-US" altLang="ko-KR" dirty="0" smtClean="0"/>
            </a:br>
            <a:r>
              <a:rPr lang="en-US" altLang="ko-KR" dirty="0" smtClean="0"/>
              <a:t>KAIST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icmoon@kaist.ac.kr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Weekly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Understand the clustering task and the K-means algorithm</a:t>
            </a:r>
          </a:p>
          <a:p>
            <a:pPr lvl="1"/>
            <a:r>
              <a:rPr lang="en-US" altLang="ko-KR" dirty="0" smtClean="0"/>
              <a:t>Know what the unsupervised learning is</a:t>
            </a:r>
          </a:p>
          <a:p>
            <a:pPr lvl="1"/>
            <a:r>
              <a:rPr lang="en-US" altLang="ko-KR" dirty="0" smtClean="0"/>
              <a:t>Understand the K-means iterative process</a:t>
            </a:r>
          </a:p>
          <a:p>
            <a:pPr lvl="1"/>
            <a:r>
              <a:rPr lang="en-US" altLang="ko-KR" dirty="0" smtClean="0"/>
              <a:t>Know the limitation of the K-means algorithm</a:t>
            </a:r>
          </a:p>
          <a:p>
            <a:r>
              <a:rPr lang="en-US" altLang="ko-KR" dirty="0" smtClean="0"/>
              <a:t>Understand the Gaussian mixture model</a:t>
            </a:r>
          </a:p>
          <a:p>
            <a:pPr lvl="1"/>
            <a:r>
              <a:rPr lang="en-US" altLang="ko-KR" dirty="0" smtClean="0"/>
              <a:t>Know the multinomial distribution and the multivariate Gaussian distribution</a:t>
            </a:r>
          </a:p>
          <a:p>
            <a:pPr lvl="1"/>
            <a:r>
              <a:rPr lang="en-US" altLang="ko-KR" dirty="0" smtClean="0"/>
              <a:t>Know why mixture models are useful</a:t>
            </a:r>
          </a:p>
          <a:p>
            <a:pPr lvl="1"/>
            <a:r>
              <a:rPr lang="en-US" altLang="ko-KR" dirty="0" smtClean="0"/>
              <a:t>Understand how the parameter updates are derived from the Gaussian mixture model</a:t>
            </a:r>
          </a:p>
          <a:p>
            <a:r>
              <a:rPr lang="en-US" altLang="ko-KR" dirty="0" smtClean="0"/>
              <a:t>Understand the EM algorithm</a:t>
            </a:r>
          </a:p>
          <a:p>
            <a:pPr lvl="1"/>
            <a:r>
              <a:rPr lang="en-US" altLang="ko-KR" dirty="0" smtClean="0"/>
              <a:t>Know the fundamentals of the EM algorithm</a:t>
            </a:r>
          </a:p>
          <a:p>
            <a:pPr lvl="1"/>
            <a:r>
              <a:rPr lang="en-US" altLang="ko-KR" dirty="0" smtClean="0"/>
              <a:t>Know how to derive the EM updates of a model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61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K-Means algorithm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52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298"/>
            <a:ext cx="8435280" cy="1138138"/>
          </a:xfrm>
        </p:spPr>
        <p:txBody>
          <a:bodyPr/>
          <a:lstStyle/>
          <a:p>
            <a:r>
              <a:rPr lang="en-US" altLang="ko-KR" dirty="0" smtClean="0"/>
              <a:t>Types of Machine Learning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85184"/>
            <a:ext cx="8435280" cy="1440160"/>
          </a:xfrm>
        </p:spPr>
        <p:txBody>
          <a:bodyPr numCol="2">
            <a:normAutofit fontScale="85000" lnSpcReduction="20000"/>
          </a:bodyPr>
          <a:lstStyle/>
          <a:p>
            <a:r>
              <a:rPr lang="en-US" altLang="ko-KR" b="1" i="1" dirty="0" smtClean="0"/>
              <a:t>You</a:t>
            </a:r>
            <a:r>
              <a:rPr lang="en-US" altLang="ko-KR" dirty="0" smtClean="0"/>
              <a:t> can </a:t>
            </a:r>
          </a:p>
          <a:p>
            <a:pPr lvl="1"/>
            <a:r>
              <a:rPr lang="en-US" altLang="ko-KR" dirty="0" smtClean="0"/>
              <a:t>Machine learning</a:t>
            </a:r>
          </a:p>
          <a:p>
            <a:pPr lvl="1"/>
            <a:r>
              <a:rPr lang="en-US" altLang="ko-KR" dirty="0" smtClean="0"/>
              <a:t>Dataset provider</a:t>
            </a:r>
          </a:p>
          <a:p>
            <a:pPr lvl="1"/>
            <a:r>
              <a:rPr lang="en-US" altLang="ko-KR" dirty="0" smtClean="0"/>
              <a:t>Machine learning users</a:t>
            </a:r>
          </a:p>
          <a:p>
            <a:pPr lvl="1"/>
            <a:r>
              <a:rPr lang="en-US" altLang="ko-KR" dirty="0" err="1" smtClean="0"/>
              <a:t>etc</a:t>
            </a:r>
            <a:endParaRPr lang="en-US" altLang="ko-KR" dirty="0" smtClean="0"/>
          </a:p>
          <a:p>
            <a:r>
              <a:rPr lang="en-US" altLang="ko-KR" dirty="0" smtClean="0"/>
              <a:t>Various classifications by different professors</a:t>
            </a:r>
          </a:p>
          <a:p>
            <a:pPr lvl="1"/>
            <a:r>
              <a:rPr lang="en-US" altLang="ko-KR" dirty="0" smtClean="0"/>
              <a:t>Purpose, data types, </a:t>
            </a:r>
            <a:r>
              <a:rPr lang="en-US" altLang="ko-KR" dirty="0" err="1" smtClean="0"/>
              <a:t>etc</a:t>
            </a:r>
            <a:endParaRPr lang="en-US" altLang="ko-KR" dirty="0" smtClean="0"/>
          </a:p>
          <a:p>
            <a:r>
              <a:rPr lang="en-US" altLang="ko-KR" dirty="0" smtClean="0"/>
              <a:t>Other learning classifications also exist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2627784" y="1196752"/>
            <a:ext cx="3744416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Machine Learning</a:t>
            </a:r>
            <a:endParaRPr lang="ko-KR" alt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395536" y="2217026"/>
            <a:ext cx="2592288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/>
              <a:t>Supervised Learning</a:t>
            </a:r>
            <a:endParaRPr lang="ko-KR" alt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3207343" y="2217026"/>
            <a:ext cx="2592288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/>
              <a:t>Unsupervised Learning</a:t>
            </a:r>
            <a:endParaRPr lang="ko-KR" alt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6019150" y="2217026"/>
            <a:ext cx="2592288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/>
              <a:t>Reinforcement Learning</a:t>
            </a:r>
            <a:endParaRPr lang="ko-KR" altLang="en-US" sz="2000" dirty="0"/>
          </a:p>
        </p:txBody>
      </p:sp>
      <p:cxnSp>
        <p:nvCxnSpPr>
          <p:cNvPr id="10" name="Straight Arrow Connector 9"/>
          <p:cNvCxnSpPr>
            <a:stCxn id="5" idx="2"/>
            <a:endCxn id="6" idx="0"/>
          </p:cNvCxnSpPr>
          <p:nvPr/>
        </p:nvCxnSpPr>
        <p:spPr>
          <a:xfrm flipH="1">
            <a:off x="1691680" y="1772816"/>
            <a:ext cx="2808312" cy="4442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  <a:endCxn id="7" idx="0"/>
          </p:cNvCxnSpPr>
          <p:nvPr/>
        </p:nvCxnSpPr>
        <p:spPr>
          <a:xfrm>
            <a:off x="4499992" y="1772816"/>
            <a:ext cx="3495" cy="4442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8" idx="0"/>
          </p:cNvCxnSpPr>
          <p:nvPr/>
        </p:nvCxnSpPr>
        <p:spPr>
          <a:xfrm>
            <a:off x="4499992" y="1772816"/>
            <a:ext cx="2815302" cy="4442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95536" y="2852936"/>
            <a:ext cx="25922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 smtClean="0"/>
              <a:t>You</a:t>
            </a:r>
            <a:r>
              <a:rPr lang="en-US" altLang="ko-KR" dirty="0" smtClean="0"/>
              <a:t> know the true answers of some of instances</a:t>
            </a:r>
            <a:endParaRPr lang="ko-KR" altLang="en-US" dirty="0"/>
          </a:p>
        </p:txBody>
      </p:sp>
      <p:sp>
        <p:nvSpPr>
          <p:cNvPr id="26" name="Rectangle 25"/>
          <p:cNvSpPr/>
          <p:nvPr/>
        </p:nvSpPr>
        <p:spPr>
          <a:xfrm>
            <a:off x="3213182" y="2857121"/>
            <a:ext cx="25922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 smtClean="0"/>
              <a:t>You</a:t>
            </a:r>
            <a:r>
              <a:rPr lang="en-US" altLang="ko-KR" dirty="0" smtClean="0"/>
              <a:t> do not know the true answers of instances</a:t>
            </a:r>
            <a:endParaRPr lang="ko-KR" altLang="en-US" dirty="0"/>
          </a:p>
        </p:txBody>
      </p:sp>
      <p:sp>
        <p:nvSpPr>
          <p:cNvPr id="27" name="Rectangle 26"/>
          <p:cNvSpPr/>
          <p:nvPr/>
        </p:nvSpPr>
        <p:spPr>
          <a:xfrm>
            <a:off x="6019150" y="2852936"/>
            <a:ext cx="2592288" cy="792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i="1" dirty="0" smtClean="0"/>
              <a:t>You</a:t>
            </a:r>
            <a:r>
              <a:rPr lang="en-US" altLang="ko-KR" dirty="0" smtClean="0"/>
              <a:t> do know the objective, but you do not know how to achieve</a:t>
            </a:r>
            <a:endParaRPr lang="ko-KR" altLang="en-US" dirty="0"/>
          </a:p>
        </p:txBody>
      </p:sp>
      <p:cxnSp>
        <p:nvCxnSpPr>
          <p:cNvPr id="15" name="Straight Arrow Connector 14"/>
          <p:cNvCxnSpPr>
            <a:stCxn id="5" idx="3"/>
            <a:endCxn id="19" idx="1"/>
          </p:cNvCxnSpPr>
          <p:nvPr/>
        </p:nvCxnSpPr>
        <p:spPr>
          <a:xfrm>
            <a:off x="6372200" y="1484784"/>
            <a:ext cx="1575142" cy="3222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947342" y="1518963"/>
            <a:ext cx="792088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smtClean="0"/>
              <a:t>…..</a:t>
            </a:r>
            <a:endParaRPr lang="ko-KR" altLang="en-US" sz="3200" dirty="0"/>
          </a:p>
        </p:txBody>
      </p:sp>
      <p:pic>
        <p:nvPicPr>
          <p:cNvPr id="1026" name="Picture 2" descr="http://bayesgroup.ru/wp-content/uploads/2012/01/intro_fi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3699097"/>
            <a:ext cx="2592288" cy="129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icep.wikispaces.com/file/view/clusters.gif/99833629/clusters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343" y="3699096"/>
            <a:ext cx="2592288" cy="129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artint.info/figures/ch09/pomdp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149" y="3694912"/>
            <a:ext cx="2592289" cy="129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179512" y="2095027"/>
            <a:ext cx="5688632" cy="29901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02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Unsupervised Learning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/>
              <a:t>You </a:t>
            </a:r>
            <a:r>
              <a:rPr lang="en-US" altLang="ko-KR" b="1" dirty="0" smtClean="0"/>
              <a:t>don’t know </a:t>
            </a:r>
            <a:r>
              <a:rPr lang="en-US" altLang="ko-KR" b="1" dirty="0"/>
              <a:t>the true value, and you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cannot provide examples </a:t>
            </a:r>
            <a:r>
              <a:rPr lang="en-US" altLang="ko-KR" b="1" dirty="0"/>
              <a:t>of the true value.</a:t>
            </a:r>
          </a:p>
          <a:p>
            <a:r>
              <a:rPr lang="en-US" altLang="ko-KR" dirty="0"/>
              <a:t>Cases, such as</a:t>
            </a:r>
          </a:p>
          <a:p>
            <a:pPr lvl="1"/>
            <a:r>
              <a:rPr lang="en-US" altLang="ko-KR" dirty="0" smtClean="0"/>
              <a:t>Discovering clusters</a:t>
            </a:r>
            <a:endParaRPr lang="en-US" altLang="ko-KR" dirty="0"/>
          </a:p>
          <a:p>
            <a:pPr lvl="1"/>
            <a:r>
              <a:rPr lang="en-US" altLang="ko-KR" dirty="0" smtClean="0"/>
              <a:t>Discovering latent factors</a:t>
            </a:r>
            <a:endParaRPr lang="en-US" altLang="ko-KR" dirty="0"/>
          </a:p>
          <a:p>
            <a:pPr lvl="1"/>
            <a:r>
              <a:rPr lang="en-US" altLang="ko-KR" dirty="0" smtClean="0"/>
              <a:t>Discovering graph structures</a:t>
            </a:r>
            <a:endParaRPr lang="en-US" altLang="ko-KR" dirty="0"/>
          </a:p>
          <a:p>
            <a:r>
              <a:rPr lang="en-US" altLang="ko-KR" dirty="0" smtClean="0"/>
              <a:t>Clustering or filtering or completing of</a:t>
            </a:r>
            <a:endParaRPr lang="en-US" altLang="ko-KR" dirty="0"/>
          </a:p>
          <a:p>
            <a:pPr lvl="1"/>
            <a:r>
              <a:rPr lang="en-US" altLang="ko-KR" dirty="0" smtClean="0"/>
              <a:t>Finding </a:t>
            </a:r>
            <a:r>
              <a:rPr lang="en-US" altLang="ko-KR" b="1" dirty="0" smtClean="0"/>
              <a:t>the representative topic words from text data</a:t>
            </a:r>
            <a:endParaRPr lang="en-US" altLang="ko-KR" b="1" dirty="0"/>
          </a:p>
          <a:p>
            <a:pPr lvl="1"/>
            <a:r>
              <a:rPr lang="en-US" altLang="ko-KR" dirty="0" smtClean="0"/>
              <a:t>Finding </a:t>
            </a:r>
            <a:r>
              <a:rPr lang="en-US" altLang="ko-KR" b="1" dirty="0" smtClean="0"/>
              <a:t>the latent image from facial data</a:t>
            </a:r>
            <a:endParaRPr lang="en-US" altLang="ko-KR" b="1" dirty="0"/>
          </a:p>
          <a:p>
            <a:pPr lvl="1"/>
            <a:r>
              <a:rPr lang="en-US" altLang="ko-KR" dirty="0" smtClean="0"/>
              <a:t>Completing the incomplete </a:t>
            </a:r>
            <a:r>
              <a:rPr lang="en-US" altLang="ko-KR" b="1" dirty="0" smtClean="0"/>
              <a:t>matrix of product-review scores</a:t>
            </a:r>
          </a:p>
          <a:p>
            <a:pPr lvl="1"/>
            <a:r>
              <a:rPr lang="en-US" altLang="ko-KR" dirty="0" smtClean="0"/>
              <a:t>Filtering the </a:t>
            </a:r>
            <a:r>
              <a:rPr lang="en-US" altLang="ko-KR" b="1" dirty="0" smtClean="0"/>
              <a:t>noise from the trajectory data</a:t>
            </a:r>
            <a:endParaRPr lang="en-US" altLang="ko-KR" b="1" dirty="0"/>
          </a:p>
          <a:p>
            <a:r>
              <a:rPr lang="en-US" altLang="ko-KR" dirty="0" smtClean="0"/>
              <a:t>Methodologies</a:t>
            </a:r>
            <a:endParaRPr lang="en-US" altLang="ko-KR" dirty="0"/>
          </a:p>
          <a:p>
            <a:pPr lvl="1"/>
            <a:r>
              <a:rPr lang="en-US" altLang="ko-KR" dirty="0" smtClean="0"/>
              <a:t>Clustering: </a:t>
            </a:r>
            <a:r>
              <a:rPr lang="en-US" altLang="ko-KR" dirty="0"/>
              <a:t>estimating </a:t>
            </a:r>
            <a:r>
              <a:rPr lang="en-US" altLang="ko-KR" dirty="0" smtClean="0"/>
              <a:t>sets and affiliations of instances to the sets</a:t>
            </a:r>
          </a:p>
          <a:p>
            <a:pPr lvl="1"/>
            <a:r>
              <a:rPr lang="en-US" altLang="ko-KR" dirty="0" smtClean="0"/>
              <a:t>Filtering: estimating underlying and fundamental signals from the mixture of signals and noises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5</a:t>
            </a:fld>
            <a:endParaRPr lang="ko-KR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6294353" y="120142"/>
            <a:ext cx="2598127" cy="2772693"/>
            <a:chOff x="3207343" y="2217026"/>
            <a:chExt cx="2598127" cy="2772693"/>
          </a:xfrm>
        </p:grpSpPr>
        <p:sp>
          <p:nvSpPr>
            <p:cNvPr id="5" name="Rectangle 4"/>
            <p:cNvSpPr/>
            <p:nvPr/>
          </p:nvSpPr>
          <p:spPr>
            <a:xfrm>
              <a:off x="3207343" y="2217026"/>
              <a:ext cx="2592288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 smtClean="0"/>
                <a:t>Unsupervised Learning</a:t>
              </a:r>
              <a:endParaRPr lang="ko-KR" altLang="en-US" sz="20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213182" y="2857121"/>
              <a:ext cx="2592288" cy="7920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i="1" dirty="0" smtClean="0"/>
                <a:t>You</a:t>
              </a:r>
              <a:r>
                <a:rPr lang="en-US" altLang="ko-KR" dirty="0" smtClean="0"/>
                <a:t> do not know the true answers of instances</a:t>
              </a:r>
              <a:endParaRPr lang="ko-KR" altLang="en-US" dirty="0"/>
            </a:p>
          </p:txBody>
        </p:sp>
        <p:pic>
          <p:nvPicPr>
            <p:cNvPr id="7" name="Picture 6" descr="http://icep.wikispaces.com/file/view/clusters.gif/99833629/clusters.gi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7343" y="3699096"/>
              <a:ext cx="2592288" cy="1290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https://encrypted-tbn1.gstatic.com/images?q=tbn:ANd9GcThXROcHYjtDEbXyxJ_5rP8L98gfZblEZAgNs0Pt1Y261TgaahN8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628" y="2940710"/>
            <a:ext cx="989013" cy="109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16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Clustering Problem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1396752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How to cluster the unlabeled data points?</a:t>
            </a:r>
          </a:p>
          <a:p>
            <a:pPr lvl="1"/>
            <a:r>
              <a:rPr lang="en-US" altLang="ko-KR" dirty="0" smtClean="0"/>
              <a:t>No concrete knowledge of their classes</a:t>
            </a:r>
          </a:p>
          <a:p>
            <a:pPr lvl="1"/>
            <a:r>
              <a:rPr lang="en-US" altLang="ko-KR" dirty="0" smtClean="0"/>
              <a:t>Latent (hidden) variable of classes</a:t>
            </a:r>
          </a:p>
          <a:p>
            <a:pPr lvl="1"/>
            <a:r>
              <a:rPr lang="en-US" altLang="ko-KR" dirty="0" smtClean="0"/>
              <a:t>Optimal assignment to the latent classes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924944"/>
            <a:ext cx="4616399" cy="34633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2924944"/>
            <a:ext cx="4616399" cy="3463333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483768" y="5085184"/>
            <a:ext cx="1008112" cy="864096"/>
          </a:xfrm>
          <a:prstGeom prst="ellipse">
            <a:avLst/>
          </a:prstGeom>
          <a:noFill/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Rectangular Callout 7"/>
          <p:cNvSpPr/>
          <p:nvPr/>
        </p:nvSpPr>
        <p:spPr>
          <a:xfrm>
            <a:off x="3563888" y="6165304"/>
            <a:ext cx="3024336" cy="455504"/>
          </a:xfrm>
          <a:prstGeom prst="wedgeRectCallout">
            <a:avLst>
              <a:gd name="adj1" fmla="val -55481"/>
              <a:gd name="adj2" fmla="val -141676"/>
            </a:avLst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Uncertain area of clustering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 rot="2596622">
            <a:off x="6988554" y="3165030"/>
            <a:ext cx="1907704" cy="978866"/>
          </a:xfrm>
          <a:prstGeom prst="ellipse">
            <a:avLst/>
          </a:prstGeom>
          <a:noFill/>
          <a:ln w="381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 rot="2002608">
            <a:off x="6087532" y="3933056"/>
            <a:ext cx="1907704" cy="1656184"/>
          </a:xfrm>
          <a:prstGeom prst="ellipse">
            <a:avLst/>
          </a:prstGeom>
          <a:noFill/>
          <a:ln w="381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76056" y="5123430"/>
            <a:ext cx="2126847" cy="947932"/>
          </a:xfrm>
          <a:prstGeom prst="ellipse">
            <a:avLst/>
          </a:prstGeom>
          <a:noFill/>
          <a:ln w="38100">
            <a:solidFill>
              <a:srgbClr val="0020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Rectangular Callout 11"/>
          <p:cNvSpPr/>
          <p:nvPr/>
        </p:nvSpPr>
        <p:spPr>
          <a:xfrm>
            <a:off x="5789281" y="1189342"/>
            <a:ext cx="2959183" cy="1454899"/>
          </a:xfrm>
          <a:prstGeom prst="wedgeRectCallout">
            <a:avLst>
              <a:gd name="adj1" fmla="val 9636"/>
              <a:gd name="adj2" fmla="val 67176"/>
            </a:avLst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How to assign data points to classes?</a:t>
            </a:r>
          </a:p>
          <a:p>
            <a:pPr algn="ctr"/>
            <a:r>
              <a:rPr lang="en-US" altLang="ko-KR" dirty="0" smtClean="0">
                <a:solidFill>
                  <a:schemeClr val="bg1"/>
                </a:solidFill>
                <a:sym typeface="Wingdings" panose="05000000000000000000" pitchFamily="2" charset="2"/>
              </a:rPr>
              <a:t> Clustering </a:t>
            </a:r>
            <a:br>
              <a:rPr lang="en-US" altLang="ko-KR" dirty="0" smtClean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en-US" altLang="ko-KR" dirty="0" smtClean="0">
                <a:solidFill>
                  <a:schemeClr val="bg1"/>
                </a:solidFill>
                <a:sym typeface="Wingdings" panose="05000000000000000000" pitchFamily="2" charset="2"/>
              </a:rPr>
              <a:t>(here classes == clusters)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261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K-Means 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258816" cy="492514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ko-KR" dirty="0" smtClean="0"/>
                  <a:t>K-Means algorithm</a:t>
                </a:r>
              </a:p>
              <a:p>
                <a:pPr lvl="1"/>
                <a:r>
                  <a:rPr lang="en-US" altLang="ko-KR" dirty="0" smtClean="0"/>
                  <a:t>Setup K number of centroids (or prototypes) and cluster data points by the distance from the points to the nearest centroid</a:t>
                </a:r>
              </a:p>
              <a:p>
                <a:r>
                  <a:rPr lang="en-US" altLang="ko-KR" dirty="0" smtClean="0"/>
                  <a:t>Formally,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Minimize J by optimizing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𝑛𝑘</m:t>
                        </m:r>
                      </m:sub>
                    </m:sSub>
                  </m:oMath>
                </a14:m>
                <a:r>
                  <a:rPr lang="en-US" altLang="ko-KR" dirty="0" smtClean="0"/>
                  <a:t>: the assignment of data points to clusters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 smtClean="0"/>
                  <a:t>: the location of centroids</a:t>
                </a:r>
              </a:p>
              <a:p>
                <a:pPr lvl="1"/>
                <a:r>
                  <a:rPr lang="en-US" altLang="ko-KR" dirty="0" smtClean="0"/>
                  <a:t>Iterative optimization </a:t>
                </a:r>
              </a:p>
              <a:p>
                <a:pPr lvl="2"/>
                <a:r>
                  <a:rPr lang="en-US" altLang="ko-KR" dirty="0" smtClean="0"/>
                  <a:t>Why?</a:t>
                </a:r>
              </a:p>
              <a:p>
                <a:pPr lvl="2"/>
                <a:r>
                  <a:rPr lang="en-US" altLang="ko-KR" dirty="0" smtClean="0"/>
                  <a:t>Two variables are interacting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258816" cy="4925144"/>
              </a:xfrm>
              <a:blipFill rotWithShape="0">
                <a:blip r:embed="rId2"/>
                <a:stretch>
                  <a:fillRect t="-16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2780928"/>
            <a:ext cx="4799100" cy="36004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164288" y="4473116"/>
            <a:ext cx="216024" cy="216024"/>
          </a:xfrm>
          <a:prstGeom prst="ellipse">
            <a:avLst/>
          </a:prstGeom>
          <a:solidFill>
            <a:srgbClr val="C00000"/>
          </a:solidFill>
          <a:ln w="381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156176" y="5373216"/>
            <a:ext cx="216024" cy="216024"/>
          </a:xfrm>
          <a:prstGeom prst="ellipse">
            <a:avLst/>
          </a:prstGeom>
          <a:solidFill>
            <a:srgbClr val="0070C0"/>
          </a:solidFill>
          <a:ln w="381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8100392" y="3356992"/>
            <a:ext cx="216024" cy="216024"/>
          </a:xfrm>
          <a:prstGeom prst="ellipse">
            <a:avLst/>
          </a:prstGeom>
          <a:solidFill>
            <a:srgbClr val="00B050"/>
          </a:solidFill>
          <a:ln w="381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/>
          <p:cNvCxnSpPr>
            <a:stCxn id="7" idx="4"/>
          </p:cNvCxnSpPr>
          <p:nvPr/>
        </p:nvCxnSpPr>
        <p:spPr>
          <a:xfrm flipH="1">
            <a:off x="7020272" y="4689140"/>
            <a:ext cx="252028" cy="532656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372200" y="5305400"/>
            <a:ext cx="576064" cy="17582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092280" y="3585564"/>
            <a:ext cx="1116124" cy="1636232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90655" y="77424"/>
            <a:ext cx="352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K-Means! = K-</a:t>
            </a:r>
            <a:r>
              <a:rPr lang="en-US" altLang="ko-KR" b="1" dirty="0" err="1" smtClean="0"/>
              <a:t>Neareat</a:t>
            </a:r>
            <a:r>
              <a:rPr lang="en-US" altLang="ko-KR" b="1" dirty="0" smtClean="0"/>
              <a:t> Neighbor</a:t>
            </a:r>
            <a:endParaRPr lang="ko-KR" altLang="en-US" b="1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766" y="295539"/>
            <a:ext cx="3312368" cy="2485018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7245784" y="1739882"/>
            <a:ext cx="519686" cy="477529"/>
          </a:xfrm>
          <a:prstGeom prst="ellipse">
            <a:avLst/>
          </a:prstGeom>
          <a:noFill/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5" name="Rectangular Callout 24"/>
          <p:cNvSpPr/>
          <p:nvPr/>
        </p:nvSpPr>
        <p:spPr>
          <a:xfrm>
            <a:off x="5220073" y="1334308"/>
            <a:ext cx="1728192" cy="582524"/>
          </a:xfrm>
          <a:prstGeom prst="wedgeRectCallout">
            <a:avLst>
              <a:gd name="adj1" fmla="val 66495"/>
              <a:gd name="adj2" fmla="val 53109"/>
            </a:avLst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4 reds and 2 blues </a:t>
            </a:r>
            <a:r>
              <a:rPr lang="en-US" altLang="ko-KR" dirty="0" smtClean="0">
                <a:solidFill>
                  <a:schemeClr val="bg1"/>
                </a:solidFill>
                <a:sym typeface="Wingdings" panose="05000000000000000000" pitchFamily="2" charset="2"/>
              </a:rPr>
              <a:t> Red!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7485253" y="1955907"/>
            <a:ext cx="45719" cy="45719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677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Expectation and Maximization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Expectation</a:t>
                </a:r>
              </a:p>
              <a:p>
                <a:pPr lvl="2"/>
                <a:r>
                  <a:rPr lang="en-US" altLang="ko-KR" dirty="0" smtClean="0"/>
                  <a:t>Expectation of the log-likelihood given the parameters</a:t>
                </a:r>
              </a:p>
              <a:p>
                <a:pPr lvl="2"/>
                <a:r>
                  <a:rPr lang="en-US" altLang="ko-KR" dirty="0" smtClean="0"/>
                  <a:t>Assign the data points to the nearest centroid</a:t>
                </a:r>
              </a:p>
              <a:p>
                <a:pPr lvl="1"/>
                <a:r>
                  <a:rPr lang="en-US" altLang="ko-KR" dirty="0" smtClean="0"/>
                  <a:t>Maximization</a:t>
                </a:r>
              </a:p>
              <a:p>
                <a:pPr lvl="2"/>
                <a:r>
                  <a:rPr lang="en-US" altLang="ko-KR" dirty="0" smtClean="0"/>
                  <a:t>Maximization of the parameters with respect to the log-likelihood</a:t>
                </a:r>
              </a:p>
              <a:p>
                <a:pPr lvl="2"/>
                <a:r>
                  <a:rPr lang="en-US" altLang="ko-KR" dirty="0" smtClean="0"/>
                  <a:t>Update the centroid positions given the assignments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𝑛𝑘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𝑛𝑘</m:t>
                        </m:r>
                      </m:sub>
                    </m:sSub>
                  </m:oMath>
                </a14:m>
                <a:r>
                  <a:rPr lang="en-US" altLang="ko-KR" dirty="0" smtClean="0"/>
                  <a:t>={0,1}</a:t>
                </a:r>
              </a:p>
              <a:p>
                <a:pPr lvl="1"/>
                <a:r>
                  <a:rPr lang="en-US" altLang="ko-KR" dirty="0" smtClean="0"/>
                  <a:t>Discrete variable</a:t>
                </a:r>
              </a:p>
              <a:p>
                <a:pPr lvl="1"/>
                <a:r>
                  <a:rPr lang="en-US" altLang="ko-KR" dirty="0" smtClean="0"/>
                  <a:t>Logical choice: the nearest centroid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 smtClean="0"/>
                  <a:t> for a data 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𝑛𝑘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89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45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0622"/>
            <a:ext cx="5050904" cy="1138138"/>
          </a:xfrm>
        </p:spPr>
        <p:txBody>
          <a:bodyPr/>
          <a:lstStyle/>
          <a:p>
            <a:r>
              <a:rPr lang="en-US" altLang="ko-KR" sz="3600" dirty="0" smtClean="0"/>
              <a:t>Progress of </a:t>
            </a:r>
            <a:br>
              <a:rPr lang="en-US" altLang="ko-KR" sz="3600" dirty="0" smtClean="0"/>
            </a:br>
            <a:r>
              <a:rPr lang="en-US" altLang="ko-KR" sz="3600" dirty="0" smtClean="0"/>
              <a:t>K-Means Algorithm</a:t>
            </a:r>
            <a:endParaRPr lang="ko-KR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483" y="1317264"/>
            <a:ext cx="4906888" cy="1152128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dirty="0" smtClean="0"/>
              <a:t>EM iterations to </a:t>
            </a:r>
          </a:p>
          <a:p>
            <a:pPr lvl="1"/>
            <a:r>
              <a:rPr lang="en-US" altLang="ko-KR" dirty="0" smtClean="0"/>
              <a:t>Optimize the assignments with respect to the sum of distances</a:t>
            </a:r>
          </a:p>
          <a:p>
            <a:pPr lvl="1"/>
            <a:r>
              <a:rPr lang="en-US" altLang="ko-KR" dirty="0" smtClean="0"/>
              <a:t>Optimize the parameters</a:t>
            </a:r>
            <a:r>
              <a:rPr lang="en-US" altLang="ko-KR" dirty="0"/>
              <a:t> with respect to the sum of distances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116" y="-52678"/>
            <a:ext cx="3052201" cy="2289834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539552" y="2298955"/>
            <a:ext cx="8308972" cy="4504057"/>
            <a:chOff x="1064119" y="2478734"/>
            <a:chExt cx="8308972" cy="450405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3140" y="4664636"/>
              <a:ext cx="3089951" cy="231815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4119" y="2484566"/>
              <a:ext cx="3089951" cy="231815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3140" y="2478734"/>
              <a:ext cx="3089951" cy="231815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87500" y="4658886"/>
              <a:ext cx="3089951" cy="231815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4119" y="4653136"/>
              <a:ext cx="3090277" cy="23184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66109" y="2484444"/>
              <a:ext cx="3090277" cy="2318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9179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546848" cy="1138138"/>
          </a:xfrm>
        </p:spPr>
        <p:txBody>
          <a:bodyPr/>
          <a:lstStyle/>
          <a:p>
            <a:r>
              <a:rPr lang="en-US" altLang="ko-KR" sz="4000" dirty="0" smtClean="0"/>
              <a:t>Properties of </a:t>
            </a:r>
            <a:br>
              <a:rPr lang="en-US" altLang="ko-KR" sz="4000" dirty="0" smtClean="0"/>
            </a:br>
            <a:r>
              <a:rPr lang="en-US" altLang="ko-KR" sz="4000" dirty="0" smtClean="0"/>
              <a:t>K-Means Algorithm</a:t>
            </a:r>
            <a:endParaRPr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402832" cy="4925144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altLang="ko-KR" dirty="0" smtClean="0"/>
                  <a:t># of clusters is uncertain</a:t>
                </a:r>
              </a:p>
              <a:p>
                <a:r>
                  <a:rPr lang="en-US" altLang="ko-KR" dirty="0" smtClean="0"/>
                  <a:t>Initial location of centroids</a:t>
                </a:r>
              </a:p>
              <a:p>
                <a:pPr lvl="1"/>
                <a:r>
                  <a:rPr lang="en-US" altLang="ko-KR" dirty="0" smtClean="0"/>
                  <a:t>Some initial locations might not result in the reasonable results</a:t>
                </a:r>
              </a:p>
              <a:p>
                <a:r>
                  <a:rPr lang="en-US" altLang="ko-KR" dirty="0" smtClean="0"/>
                  <a:t>Limitation of distance metrics</a:t>
                </a:r>
              </a:p>
              <a:p>
                <a:pPr lvl="1"/>
                <a:r>
                  <a:rPr lang="en-US" altLang="ko-KR" dirty="0" smtClean="0"/>
                  <a:t>Euclidean distance is very limited knowledge of information</a:t>
                </a:r>
              </a:p>
              <a:p>
                <a:r>
                  <a:rPr lang="en-US" altLang="ko-KR" dirty="0" smtClean="0"/>
                  <a:t>Hard clustering</a:t>
                </a:r>
              </a:p>
              <a:p>
                <a:pPr lvl="1"/>
                <a:r>
                  <a:rPr lang="en-US" altLang="ko-KR" dirty="0" smtClean="0"/>
                  <a:t>Hard assignment of data points to clusters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𝑛𝑘</m:t>
                        </m:r>
                      </m:sub>
                    </m:sSub>
                  </m:oMath>
                </a14:m>
                <a:r>
                  <a:rPr lang="en-US" altLang="ko-KR" dirty="0" smtClean="0"/>
                  <a:t>={0,1}</a:t>
                </a:r>
              </a:p>
              <a:p>
                <a:pPr lvl="3"/>
                <a:r>
                  <a:rPr lang="en-US" altLang="ko-KR" dirty="0" smtClean="0"/>
                  <a:t>This can be the smoothly distributed probability</a:t>
                </a:r>
              </a:p>
              <a:p>
                <a:pPr lvl="2"/>
                <a:r>
                  <a:rPr lang="en-US" altLang="ko-KR" dirty="0" smtClean="0"/>
                  <a:t>Any alternatives?</a:t>
                </a:r>
              </a:p>
              <a:p>
                <a:pPr lvl="2"/>
                <a:r>
                  <a:rPr lang="en-US" altLang="ko-KR" dirty="0" smtClean="0"/>
                  <a:t>Soft clustering</a:t>
                </a:r>
              </a:p>
              <a:p>
                <a:endParaRPr lang="en-US" altLang="ko-KR" dirty="0" smtClean="0"/>
              </a:p>
              <a:p>
                <a:pPr lvl="2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402832" cy="4925144"/>
              </a:xfrm>
              <a:blipFill rotWithShape="0">
                <a:blip r:embed="rId2"/>
                <a:stretch>
                  <a:fillRect t="-7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3190899"/>
            <a:ext cx="4636564" cy="34784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40" y="-76326"/>
            <a:ext cx="4605732" cy="345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163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발표 템플릿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ustom 2">
      <a:majorFont>
        <a:latin typeface="Times New Roman"/>
        <a:ea typeface="HY헤드라인M"/>
        <a:cs typeface=""/>
      </a:majorFont>
      <a:minorFont>
        <a:latin typeface="Cambria"/>
        <a:ea typeface="굴림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solidFill>
          <a:schemeClr val="accent1"/>
        </a:solidFill>
        <a:ln w="38100">
          <a:tailEnd type="none"/>
        </a:ln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</Template>
  <TotalTime>9479</TotalTime>
  <Words>361</Words>
  <Application>Microsoft Office PowerPoint</Application>
  <PresentationFormat>On-screen Show (4:3)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HY헤드라인M</vt:lpstr>
      <vt:lpstr>굴림</vt:lpstr>
      <vt:lpstr>맑은 고딕</vt:lpstr>
      <vt:lpstr>Arial</vt:lpstr>
      <vt:lpstr>Cambria</vt:lpstr>
      <vt:lpstr>Cambria Math</vt:lpstr>
      <vt:lpstr>Times New Roman</vt:lpstr>
      <vt:lpstr>Wingdings</vt:lpstr>
      <vt:lpstr>발표 템플릿</vt:lpstr>
      <vt:lpstr>K-Means Clustering and Gaussian Mixture Model</vt:lpstr>
      <vt:lpstr>Weekly Objectives</vt:lpstr>
      <vt:lpstr>K-Means algorithm</vt:lpstr>
      <vt:lpstr>Types of Machine Learning</vt:lpstr>
      <vt:lpstr>Unsupervised Learning</vt:lpstr>
      <vt:lpstr>Clustering Problem</vt:lpstr>
      <vt:lpstr>K-Means Algorithm</vt:lpstr>
      <vt:lpstr>Expectation and Maximization</vt:lpstr>
      <vt:lpstr>Progress of  K-Means Algorithm</vt:lpstr>
      <vt:lpstr>Properties of  K-Means Algorithm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Il-Chul Moon</dc:creator>
  <cp:lastModifiedBy>Il-Chul Moon</cp:lastModifiedBy>
  <cp:revision>415</cp:revision>
  <dcterms:created xsi:type="dcterms:W3CDTF">2012-12-05T07:53:35Z</dcterms:created>
  <dcterms:modified xsi:type="dcterms:W3CDTF">2015-08-27T01:23:23Z</dcterms:modified>
</cp:coreProperties>
</file>
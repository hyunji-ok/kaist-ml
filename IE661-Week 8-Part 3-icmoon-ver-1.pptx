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17" r:id="rId2"/>
    <p:sldId id="318" r:id="rId3"/>
    <p:sldId id="357" r:id="rId4"/>
    <p:sldId id="371" r:id="rId5"/>
    <p:sldId id="374" r:id="rId6"/>
    <p:sldId id="375" r:id="rId7"/>
    <p:sldId id="372" r:id="rId8"/>
    <p:sldId id="376" r:id="rId9"/>
    <p:sldId id="377" r:id="rId10"/>
    <p:sldId id="358" r:id="rId11"/>
    <p:sldId id="378" r:id="rId12"/>
    <p:sldId id="343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>
      <p:cViewPr varScale="1">
        <p:scale>
          <a:sx n="132" d="100"/>
          <a:sy n="132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DD40F-6D86-4AAB-B084-B6837CFA557A}" type="datetimeFigureOut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EE363-3225-4A55-87F5-506D5992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2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03693598-37C8-49CF-8A15-A46445026EA3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82A517A-290A-4238-AB2F-3319C3C1EEC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C86CAE6B-AEE5-43E0-B953-53AA4C35BA3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B8D3057-63C8-43D4-9572-5CC0D90B770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20C42DC5-7698-4FA9-A2BC-C96F65B2FA04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46FB218-9B93-4105-B777-DA361C04621C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D3B59D4-BDC1-4C58-9D99-3809D68DE86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3119303-09BF-436C-8602-A0679EF986D9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F07741F-3D9C-4A64-9F63-4DA11E7EC935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6B16-B7E8-4F7D-A7CF-C26340AE3A5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A36E3C6-6DD7-413E-BAD6-C2509285FF8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A588B01-A67B-47BC-B714-F41ADBB1241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859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2010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7.jpe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4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3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K-Means Clustering and Gaussian Mixture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Understand the clustering task and the K-means algorithm</a:t>
            </a:r>
          </a:p>
          <a:p>
            <a:pPr lvl="1"/>
            <a:r>
              <a:rPr lang="en-US" altLang="ko-KR" dirty="0" smtClean="0"/>
              <a:t>Know what the unsupervised learning is</a:t>
            </a:r>
          </a:p>
          <a:p>
            <a:pPr lvl="1"/>
            <a:r>
              <a:rPr lang="en-US" altLang="ko-KR" dirty="0" smtClean="0"/>
              <a:t>Understand the K-means iterative process</a:t>
            </a:r>
          </a:p>
          <a:p>
            <a:pPr lvl="1"/>
            <a:r>
              <a:rPr lang="en-US" altLang="ko-KR" dirty="0" smtClean="0"/>
              <a:t>Know the limitation of the K-means algorithm</a:t>
            </a:r>
          </a:p>
          <a:p>
            <a:r>
              <a:rPr lang="en-US" altLang="ko-KR" dirty="0" smtClean="0"/>
              <a:t>Understand the Gaussian mixture model</a:t>
            </a:r>
          </a:p>
          <a:p>
            <a:pPr lvl="1"/>
            <a:r>
              <a:rPr lang="en-US" altLang="ko-KR" dirty="0" smtClean="0"/>
              <a:t>Know the multinomial distribution and the multivariate Gaussian distribution</a:t>
            </a:r>
          </a:p>
          <a:p>
            <a:pPr lvl="1"/>
            <a:r>
              <a:rPr lang="en-US" altLang="ko-KR" dirty="0" smtClean="0"/>
              <a:t>Know why mixture models are useful</a:t>
            </a:r>
          </a:p>
          <a:p>
            <a:pPr lvl="1"/>
            <a:r>
              <a:rPr lang="en-US" altLang="ko-KR" dirty="0" smtClean="0"/>
              <a:t>Understand how the parameter updates are derived from the Gaussian mixture model</a:t>
            </a:r>
          </a:p>
          <a:p>
            <a:r>
              <a:rPr lang="en-US" altLang="ko-KR" dirty="0" smtClean="0"/>
              <a:t>Understand the EM algorithm</a:t>
            </a:r>
          </a:p>
          <a:p>
            <a:pPr lvl="1"/>
            <a:r>
              <a:rPr lang="en-US" altLang="ko-KR" dirty="0" smtClean="0"/>
              <a:t>Know the fundamentals of the EM algorithm</a:t>
            </a:r>
          </a:p>
          <a:p>
            <a:pPr lvl="1"/>
            <a:r>
              <a:rPr lang="en-US" altLang="ko-KR" dirty="0" smtClean="0"/>
              <a:t>Know how to derive the EM updates of a model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1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EM algorithm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09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Inference with Latent Variables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dirty="0" smtClean="0"/>
                  <a:t>Difference between classification and clustering</a:t>
                </a:r>
              </a:p>
              <a:p>
                <a:r>
                  <a:rPr lang="en-US" altLang="ko-KR" dirty="0" smtClean="0"/>
                  <a:t>Let’s say</a:t>
                </a:r>
              </a:p>
              <a:p>
                <a:pPr lvl="1"/>
                <a:r>
                  <a:rPr lang="en-US" altLang="ko-KR" dirty="0" smtClean="0"/>
                  <a:t>{X,Z}: complete set of variables</a:t>
                </a:r>
              </a:p>
              <a:p>
                <a:pPr lvl="1"/>
                <a:r>
                  <a:rPr lang="en-US" altLang="ko-KR" dirty="0" smtClean="0"/>
                  <a:t>X: observed variables</a:t>
                </a:r>
              </a:p>
              <a:p>
                <a:pPr lvl="1"/>
                <a:r>
                  <a:rPr lang="en-US" altLang="ko-KR" dirty="0" smtClean="0"/>
                  <a:t>Z: hidden (latent) variables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 smtClean="0"/>
                  <a:t>: parameters for distributions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Any problem here?</a:t>
                </a:r>
              </a:p>
              <a:p>
                <a:pPr lvl="2"/>
                <a:r>
                  <a:rPr lang="en-US" altLang="ko-KR" dirty="0" smtClean="0"/>
                  <a:t>The locations of summation and log make this complicated</a:t>
                </a:r>
              </a:p>
              <a:p>
                <a:pPr lvl="2"/>
                <a:r>
                  <a:rPr lang="en-US" altLang="ko-KR" dirty="0" smtClean="0"/>
                  <a:t>Eventually, we want to exchange the locations of the two operators</a:t>
                </a:r>
              </a:p>
              <a:p>
                <a:r>
                  <a:rPr lang="en-US" altLang="ko-KR" dirty="0" smtClean="0"/>
                  <a:t>What we want to know is</a:t>
                </a:r>
              </a:p>
              <a:p>
                <a:pPr lvl="1"/>
                <a:r>
                  <a:rPr lang="en-US" altLang="ko-KR" dirty="0" smtClean="0"/>
                  <a:t>The values of Z and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Optimizing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The interacting terms for the optimization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611" b="-30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12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Probability Decomposition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00200"/>
                <a:ext cx="5184576" cy="4925144"/>
              </a:xfrm>
            </p:spPr>
            <p:txBody>
              <a:bodyPr/>
              <a:lstStyle/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}=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:r>
                  <a:rPr lang="en-US" altLang="ko-KR" dirty="0" smtClean="0"/>
                  <a:t>Use the Jensen’s inequality</a:t>
                </a:r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dirty="0"/>
              </a:p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:r>
                  <a:rPr lang="en-US" altLang="ko-KR" dirty="0" smtClean="0"/>
                  <a:t>Recall the second term?</a:t>
                </a:r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:r>
                  <a:rPr lang="en-US" altLang="ko-KR" dirty="0" smtClean="0"/>
                  <a:t>This hold for any distribution of q</a:t>
                </a:r>
              </a:p>
              <a:p>
                <a:pPr marL="708660" lvl="2">
                  <a:buClr>
                    <a:schemeClr val="accent1"/>
                  </a:buClr>
                </a:pPr>
                <a:r>
                  <a:rPr lang="en-US" altLang="ko-KR" dirty="0" smtClean="0"/>
                  <a:t>This is only the lower bound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marL="982980" lvl="3">
                  <a:buClr>
                    <a:schemeClr val="accent1"/>
                  </a:buClr>
                </a:pPr>
                <a:r>
                  <a:rPr lang="en-US" altLang="ko-KR" dirty="0" smtClean="0"/>
                  <a:t>Need to make it tight!</a:t>
                </a:r>
              </a:p>
              <a:p>
                <a:pPr marL="982980" lvl="3">
                  <a:buClr>
                    <a:schemeClr val="accent1"/>
                  </a:buClr>
                </a:pPr>
                <a:r>
                  <a:rPr lang="en-US" altLang="ko-KR" dirty="0" smtClean="0"/>
                  <a:t>How to?</a:t>
                </a:r>
              </a:p>
              <a:p>
                <a:pPr marL="708660" lvl="2">
                  <a:buClr>
                    <a:schemeClr val="accent1"/>
                  </a:buClr>
                </a:pPr>
                <a:endParaRPr lang="en-US" altLang="ko-KR" dirty="0"/>
              </a:p>
              <a:p>
                <a:pPr marL="708660" lvl="2">
                  <a:buClr>
                    <a:schemeClr val="accent1"/>
                  </a:buClr>
                </a:pPr>
                <a:endParaRPr lang="en-US" altLang="ko-KR" dirty="0"/>
              </a:p>
              <a:p>
                <a:pPr marL="342900" lvl="1">
                  <a:buClr>
                    <a:schemeClr val="accent1"/>
                  </a:buClr>
                </a:pPr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00200"/>
                <a:ext cx="5184576" cy="4925144"/>
              </a:xfrm>
              <a:blipFill rotWithShape="0">
                <a:blip r:embed="rId2"/>
                <a:stretch>
                  <a:fillRect t="-99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Picture 2" descr="File:ConvexFunction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233160"/>
            <a:ext cx="3218875" cy="167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68802" y="3905467"/>
                <a:ext cx="2484719" cy="982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When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ko-KR" dirty="0" smtClean="0"/>
                  <a:t>x) is concave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02" y="3905467"/>
                <a:ext cx="2484719" cy="982961"/>
              </a:xfrm>
              <a:prstGeom prst="rect">
                <a:avLst/>
              </a:prstGeom>
              <a:blipFill rotWithShape="0">
                <a:blip r:embed="rId4"/>
                <a:stretch>
                  <a:fillRect l="-2206" t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68801" y="4888428"/>
                <a:ext cx="2488695" cy="982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 smtClean="0"/>
                  <a:t>When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ko-KR" dirty="0" smtClean="0"/>
                  <a:t>x) is convex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801" y="4888428"/>
                <a:ext cx="2488695" cy="982961"/>
              </a:xfrm>
              <a:prstGeom prst="rect">
                <a:avLst/>
              </a:prstGeom>
              <a:blipFill rotWithShape="0">
                <a:blip r:embed="rId5"/>
                <a:stretch>
                  <a:fillRect l="-2206" t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96136" y="1648090"/>
            <a:ext cx="2857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Jensen’s Inequality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67278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Maximizing the Lower Bound (1)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The other storyline is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Here, the second term is a very special term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err="1" smtClean="0"/>
                  <a:t>Kullback-Leiber</a:t>
                </a:r>
                <a:r>
                  <a:rPr lang="en-US" altLang="ko-KR" dirty="0" smtClean="0"/>
                  <a:t> divergence, or KL divergence: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Non-symmetric measure of the difference between two probability distributions, or KL(P||Q)</a:t>
                </a:r>
              </a:p>
              <a:p>
                <a:pPr lvl="1"/>
                <a:r>
                  <a:rPr lang="en-US" altLang="ko-KR" dirty="0" smtClean="0"/>
                  <a:t>Measures the difference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)≥0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When there is no difference between P and Q, KL(P||Q)=0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452" b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25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KL Divergence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9803" y="1392455"/>
                <a:ext cx="4114800" cy="161277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ko-KR" dirty="0"/>
                  <a:t>Kullback-Leiber divergence, or KL divergence: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Measures the matching performance of P and Q</a:t>
                </a:r>
              </a:p>
              <a:p>
                <a:pPr lvl="1"/>
                <a:r>
                  <a:rPr lang="en-US" altLang="ko-KR" dirty="0" smtClean="0"/>
                  <a:t>Consider Gaussian distribution and Gaussian mixture distribution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803" y="1392455"/>
                <a:ext cx="4114800" cy="1612776"/>
              </a:xfrm>
              <a:blipFill rotWithShape="0">
                <a:blip r:embed="rId2"/>
                <a:stretch>
                  <a:fillRect t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45" y="3572696"/>
            <a:ext cx="3838855" cy="288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158" y="692696"/>
            <a:ext cx="3838853" cy="288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158" y="3575765"/>
            <a:ext cx="3838855" cy="28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9632" y="3792065"/>
            <a:ext cx="1681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Distribution P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436096" y="866667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Distribution Q2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436096" y="3792065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Distribution Q1</a:t>
            </a:r>
            <a:endParaRPr lang="ko-KR" altLang="en-US" b="1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204923" y="2161343"/>
            <a:ext cx="2278451" cy="17710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34975" y="4511145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KL(P||Q1)=0.5440</a:t>
            </a:r>
            <a:endParaRPr lang="ko-KR" altLang="en-US" b="1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634975" y="4929962"/>
            <a:ext cx="2355557" cy="215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423010" y="2532079"/>
            <a:ext cx="2229110" cy="176101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634976" y="5296683"/>
            <a:ext cx="2355556" cy="45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4975" y="5366353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KL(Q1||P)=0.9835</a:t>
            </a:r>
            <a:endParaRPr lang="ko-KR" alt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064505" y="3122777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KL(P||Q2)=0.0104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261462" y="3119316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KL(Q2||P)=0.0101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4674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Maximizing the Lower Bound 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342900" lvl="1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Why do we compute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?</a:t>
                </a:r>
              </a:p>
              <a:p>
                <a:pPr lvl="1"/>
                <a:r>
                  <a:rPr lang="en-US" altLang="ko-KR" dirty="0" smtClean="0"/>
                  <a:t>We do not know how to optimize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ko-KR" dirty="0" smtClean="0"/>
                  <a:t> without further knowledge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The second term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 tells how to set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The first term is fixed when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dirty="0" smtClean="0"/>
                  <a:t> is fixed </a:t>
                </a:r>
                <a:r>
                  <a:rPr lang="en-US" altLang="ko-KR" b="1" i="1" dirty="0" smtClean="0"/>
                  <a:t>at time t</a:t>
                </a:r>
              </a:p>
              <a:p>
                <a:pPr lvl="2"/>
                <a:r>
                  <a:rPr lang="en-US" altLang="ko-KR" dirty="0" smtClean="0"/>
                  <a:t>The second term can be minimized to maximize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Now, the lower bound with optimized </a:t>
                </a:r>
                <a:r>
                  <a:rPr lang="en-US" altLang="ko-KR" i="1" dirty="0" smtClean="0"/>
                  <a:t>q</a:t>
                </a:r>
                <a:r>
                  <a:rPr lang="en-US" altLang="ko-KR" dirty="0" smtClean="0"/>
                  <a:t>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Then, optimizing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smtClean="0"/>
                  <a:t> to retrieve the tight lower bound is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</m:sub>
                    </m:sSub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altLang="ko-KR" dirty="0" smtClean="0"/>
                  <a:t>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Distribution parameters for latent variable is at time t</a:t>
                </a:r>
                <a:endParaRPr lang="en-US" altLang="ko-KR" dirty="0" smtClean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ko-KR" dirty="0" smtClean="0"/>
                  <a:t>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optimized log likelihood parameters is at time t+1</a:t>
                </a:r>
                <a:endParaRPr lang="en-US" altLang="ko-KR" dirty="0" smtClean="0"/>
              </a:p>
              <a:p>
                <a:pPr lvl="2"/>
                <a:endParaRPr lang="en-US" altLang="ko-KR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Freeform 4"/>
          <p:cNvSpPr/>
          <p:nvPr/>
        </p:nvSpPr>
        <p:spPr>
          <a:xfrm>
            <a:off x="6017342" y="3775587"/>
            <a:ext cx="1533418" cy="2035278"/>
          </a:xfrm>
          <a:custGeom>
            <a:avLst/>
            <a:gdLst>
              <a:gd name="connsiteX0" fmla="*/ 0 w 1533418"/>
              <a:gd name="connsiteY0" fmla="*/ 0 h 2035278"/>
              <a:gd name="connsiteX1" fmla="*/ 1504335 w 1533418"/>
              <a:gd name="connsiteY1" fmla="*/ 796413 h 2035278"/>
              <a:gd name="connsiteX2" fmla="*/ 848032 w 1533418"/>
              <a:gd name="connsiteY2" fmla="*/ 2035278 h 203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3418" h="2035278">
                <a:moveTo>
                  <a:pt x="0" y="0"/>
                </a:moveTo>
                <a:cubicBezTo>
                  <a:pt x="681498" y="228600"/>
                  <a:pt x="1362996" y="457200"/>
                  <a:pt x="1504335" y="796413"/>
                </a:cubicBezTo>
                <a:cubicBezTo>
                  <a:pt x="1645674" y="1135626"/>
                  <a:pt x="1246853" y="1585452"/>
                  <a:pt x="848032" y="2035278"/>
                </a:cubicBezTo>
              </a:path>
            </a:pathLst>
          </a:custGeom>
          <a:noFill/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Freeform 6"/>
          <p:cNvSpPr/>
          <p:nvPr/>
        </p:nvSpPr>
        <p:spPr>
          <a:xfrm>
            <a:off x="7189839" y="3672348"/>
            <a:ext cx="1062066" cy="2234381"/>
          </a:xfrm>
          <a:custGeom>
            <a:avLst/>
            <a:gdLst>
              <a:gd name="connsiteX0" fmla="*/ 737419 w 1062066"/>
              <a:gd name="connsiteY0" fmla="*/ 2234381 h 2234381"/>
              <a:gd name="connsiteX1" fmla="*/ 1025013 w 1062066"/>
              <a:gd name="connsiteY1" fmla="*/ 1216742 h 2234381"/>
              <a:gd name="connsiteX2" fmla="*/ 0 w 1062066"/>
              <a:gd name="connsiteY2" fmla="*/ 0 h 2234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2066" h="2234381">
                <a:moveTo>
                  <a:pt x="737419" y="2234381"/>
                </a:moveTo>
                <a:cubicBezTo>
                  <a:pt x="942667" y="1911760"/>
                  <a:pt x="1147916" y="1589139"/>
                  <a:pt x="1025013" y="1216742"/>
                </a:cubicBezTo>
                <a:cubicBezTo>
                  <a:pt x="902110" y="844345"/>
                  <a:pt x="451055" y="422172"/>
                  <a:pt x="0" y="0"/>
                </a:cubicBezTo>
              </a:path>
            </a:pathLst>
          </a:custGeom>
          <a:noFill/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08590" y="4668329"/>
                <a:ext cx="2427203" cy="528030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 smtClean="0">
                    <a:solidFill>
                      <a:srgbClr val="0070C0"/>
                    </a:solidFill>
                  </a:rPr>
                  <a:t>Relax the KL divergence by </a:t>
                </a:r>
                <a:br>
                  <a:rPr lang="en-US" altLang="ko-KR" sz="1400" b="1" dirty="0" smtClean="0">
                    <a:solidFill>
                      <a:srgbClr val="0070C0"/>
                    </a:solidFill>
                  </a:rPr>
                </a:br>
                <a:r>
                  <a:rPr lang="en-US" altLang="ko-KR" sz="1400" b="1" dirty="0" smtClean="0">
                    <a:solidFill>
                      <a:srgbClr val="0070C0"/>
                    </a:solidFill>
                  </a:rPr>
                  <a:t>updating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ko-KR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altLang="ko-KR" sz="1400" b="1" dirty="0" smtClean="0">
                    <a:solidFill>
                      <a:srgbClr val="0070C0"/>
                    </a:solidFill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ko-KR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altLang="ko-KR" sz="1400" b="1" dirty="0" smtClean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590" y="4668329"/>
                <a:ext cx="2427203" cy="528030"/>
              </a:xfrm>
              <a:prstGeom prst="rect">
                <a:avLst/>
              </a:prstGeom>
              <a:blipFill rotWithShape="0">
                <a:blip r:embed="rId3"/>
                <a:stretch>
                  <a:fillRect l="-752" t="-3488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56176" y="3789787"/>
                <a:ext cx="2504468" cy="523220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 smtClean="0">
                    <a:solidFill>
                      <a:srgbClr val="FF0000"/>
                    </a:solidFill>
                  </a:rPr>
                  <a:t>Tells how to setup Z</a:t>
                </a:r>
              </a:p>
              <a:p>
                <a:r>
                  <a:rPr lang="en-US" altLang="ko-KR" sz="1400" b="1" dirty="0" smtClean="0">
                    <a:solidFill>
                      <a:srgbClr val="FF0000"/>
                    </a:solidFill>
                  </a:rPr>
                  <a:t>by setting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p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  <m:d>
                      <m:dPr>
                        <m:ctrlP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ko-KR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e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ko-KR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e>
                    </m:d>
                  </m:oMath>
                </a14:m>
                <a:endParaRPr lang="ko-KR" alt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789787"/>
                <a:ext cx="2504468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730" t="-34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74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upload.wikimedia.org/wikipedia/commons/thumb/2/21/Saddle_pt.jpg/150px-Saddle_p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735" y="1256227"/>
            <a:ext cx="858674" cy="85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Oval 57"/>
          <p:cNvSpPr/>
          <p:nvPr/>
        </p:nvSpPr>
        <p:spPr>
          <a:xfrm rot="19879086">
            <a:off x="6182097" y="970391"/>
            <a:ext cx="1768302" cy="763019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3553544" y="3501007"/>
            <a:ext cx="2314600" cy="0"/>
          </a:xfrm>
          <a:prstGeom prst="line">
            <a:avLst/>
          </a:prstGeom>
          <a:ln w="25400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14" y="-6157"/>
            <a:ext cx="6194885" cy="850106"/>
          </a:xfrm>
        </p:spPr>
        <p:txBody>
          <a:bodyPr/>
          <a:lstStyle/>
          <a:p>
            <a:r>
              <a:rPr lang="en-US" altLang="ko-KR" sz="2800" dirty="0" smtClean="0"/>
              <a:t>Graphical Interpretation of Lower Bound Maximization</a:t>
            </a:r>
            <a:endParaRPr lang="ko-KR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20" y="1088870"/>
                <a:ext cx="4786545" cy="1468926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ko-KR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r>
                  <a:rPr lang="en-US" altLang="ko-KR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ko-KR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20" y="1088870"/>
                <a:ext cx="4786545" cy="1468926"/>
              </a:xfrm>
              <a:blipFill rotWithShape="0">
                <a:blip r:embed="rId3"/>
                <a:stretch>
                  <a:fillRect t="-33195" b="-269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9</a:t>
            </a:fld>
            <a:endParaRPr lang="ko-KR" alt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3643" y="5661248"/>
            <a:ext cx="2962672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307" y="4365104"/>
            <a:ext cx="1306488" cy="0"/>
          </a:xfrm>
          <a:prstGeom prst="line">
            <a:avLst/>
          </a:prstGeom>
          <a:ln w="25400"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5307" y="3501008"/>
            <a:ext cx="2962672" cy="0"/>
          </a:xfrm>
          <a:prstGeom prst="line">
            <a:avLst/>
          </a:prstGeom>
          <a:ln w="25400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91715" y="4365104"/>
            <a:ext cx="0" cy="1296144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732856" y="3501008"/>
            <a:ext cx="0" cy="216024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907739" y="3501008"/>
            <a:ext cx="0" cy="864096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-36512" y="3707740"/>
                <a:ext cx="16257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𝑲𝑳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3707740"/>
                <a:ext cx="162576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10024" y="4806699"/>
                <a:ext cx="927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24" y="4806699"/>
                <a:ext cx="92769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259632" y="4396462"/>
                <a:ext cx="11802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𝐥𝐧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r>
                            <a:rPr lang="ko-KR" alt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396462"/>
                <a:ext cx="118025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Arrow 20"/>
          <p:cNvSpPr/>
          <p:nvPr/>
        </p:nvSpPr>
        <p:spPr>
          <a:xfrm>
            <a:off x="2408596" y="3768715"/>
            <a:ext cx="1186480" cy="1624826"/>
          </a:xfrm>
          <a:prstGeom prst="rightArrow">
            <a:avLst>
              <a:gd name="adj1" fmla="val 50000"/>
              <a:gd name="adj2" fmla="val 16438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Optimize q</a:t>
            </a:r>
            <a:endParaRPr lang="ko-KR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ular Callout 21"/>
              <p:cNvSpPr/>
              <p:nvPr/>
            </p:nvSpPr>
            <p:spPr>
              <a:xfrm>
                <a:off x="1691680" y="5626087"/>
                <a:ext cx="2403375" cy="843771"/>
              </a:xfrm>
              <a:prstGeom prst="wedgeRectCallout">
                <a:avLst>
                  <a:gd name="adj1" fmla="val -3037"/>
                  <a:gd name="adj2" fmla="val -113165"/>
                </a:avLst>
              </a:prstGeom>
              <a:solidFill>
                <a:schemeClr val="accent1">
                  <a:alpha val="70000"/>
                </a:schemeClr>
              </a:solidFill>
              <a:ln w="381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bg1"/>
                    </a:solidFill>
                  </a:rPr>
                  <a:t>Setting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d>
                        <m:d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ko-KR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ular Callou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626087"/>
                <a:ext cx="2403375" cy="843771"/>
              </a:xfrm>
              <a:prstGeom prst="wedgeRectCallout">
                <a:avLst>
                  <a:gd name="adj1" fmla="val -3037"/>
                  <a:gd name="adj2" fmla="val -113165"/>
                </a:avLst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noFill/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3454439" y="5661247"/>
            <a:ext cx="241370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102511" y="3501007"/>
            <a:ext cx="22197" cy="216024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5156699" y="3501007"/>
            <a:ext cx="0" cy="216024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835601" y="3075792"/>
                <a:ext cx="206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𝑲𝑳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601" y="3075792"/>
                <a:ext cx="2063898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620820" y="4806698"/>
                <a:ext cx="10077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820" y="4806698"/>
                <a:ext cx="1007776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4683475" y="4396461"/>
                <a:ext cx="12603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𝐥𝐧</m:t>
                      </m:r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475" y="4396461"/>
                <a:ext cx="1260345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3553544" y="3501007"/>
            <a:ext cx="1306488" cy="0"/>
          </a:xfrm>
          <a:prstGeom prst="line">
            <a:avLst/>
          </a:prstGeom>
          <a:ln w="25400"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ight Arrow 36"/>
              <p:cNvSpPr/>
              <p:nvPr/>
            </p:nvSpPr>
            <p:spPr>
              <a:xfrm>
                <a:off x="5878683" y="3765705"/>
                <a:ext cx="1186480" cy="1624826"/>
              </a:xfrm>
              <a:prstGeom prst="rightArrow">
                <a:avLst>
                  <a:gd name="adj1" fmla="val 50000"/>
                  <a:gd name="adj2" fmla="val 16438"/>
                </a:avLst>
              </a:prstGeom>
              <a:solidFill>
                <a:schemeClr val="accent1"/>
              </a:solidFill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bg1"/>
                    </a:solidFill>
                  </a:rPr>
                  <a:t>Optimize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Right Arrow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683" y="3765705"/>
                <a:ext cx="1186480" cy="1624826"/>
              </a:xfrm>
              <a:prstGeom prst="rightArrow">
                <a:avLst>
                  <a:gd name="adj1" fmla="val 50000"/>
                  <a:gd name="adj2" fmla="val 16438"/>
                </a:avLst>
              </a:prstGeom>
              <a:blipFill rotWithShape="0">
                <a:blip r:embed="rId11"/>
                <a:stretch>
                  <a:fillRect l="-2475"/>
                </a:stretch>
              </a:blipFill>
              <a:ln w="38100"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/>
          <p:cNvCxnSpPr/>
          <p:nvPr/>
        </p:nvCxnSpPr>
        <p:spPr>
          <a:xfrm>
            <a:off x="6631540" y="3501007"/>
            <a:ext cx="2314600" cy="0"/>
          </a:xfrm>
          <a:prstGeom prst="line">
            <a:avLst/>
          </a:prstGeom>
          <a:ln w="25400">
            <a:solidFill>
              <a:schemeClr val="accent5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532435" y="5661247"/>
            <a:ext cx="241370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7180507" y="3278851"/>
            <a:ext cx="30477" cy="2382396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8234695" y="2852936"/>
            <a:ext cx="9713" cy="2808311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5534605" y="2884293"/>
                <a:ext cx="16246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𝑲𝑳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605" y="2884293"/>
                <a:ext cx="1624676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698816" y="4806698"/>
                <a:ext cx="1246367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816" y="4806698"/>
                <a:ext cx="1246367" cy="404983"/>
              </a:xfrm>
              <a:prstGeom prst="rect">
                <a:avLst/>
              </a:prstGeom>
              <a:blipFill rotWithShape="0">
                <a:blip r:embed="rId1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761471" y="4396461"/>
                <a:ext cx="1498936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𝐥𝐧</m:t>
                      </m:r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471" y="4396461"/>
                <a:ext cx="1498936" cy="40498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6631540" y="3501007"/>
            <a:ext cx="1306488" cy="0"/>
          </a:xfrm>
          <a:prstGeom prst="line">
            <a:avLst/>
          </a:prstGeom>
          <a:ln w="25400">
            <a:solidFill>
              <a:schemeClr val="accent4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604171" y="2852936"/>
            <a:ext cx="2314600" cy="0"/>
          </a:xfrm>
          <a:prstGeom prst="line">
            <a:avLst/>
          </a:prstGeom>
          <a:ln w="25400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631540" y="3284984"/>
            <a:ext cx="1306488" cy="0"/>
          </a:xfrm>
          <a:prstGeom prst="line">
            <a:avLst/>
          </a:prstGeom>
          <a:ln w="25400"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7210984" y="2868614"/>
            <a:ext cx="2818" cy="410237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ular Callout 51"/>
              <p:cNvSpPr/>
              <p:nvPr/>
            </p:nvSpPr>
            <p:spPr>
              <a:xfrm>
                <a:off x="4568279" y="5599401"/>
                <a:ext cx="3748137" cy="843771"/>
              </a:xfrm>
              <a:prstGeom prst="wedgeRectCallout">
                <a:avLst>
                  <a:gd name="adj1" fmla="val -3037"/>
                  <a:gd name="adj2" fmla="val -113165"/>
                </a:avLst>
              </a:prstGeom>
              <a:solidFill>
                <a:schemeClr val="accent1">
                  <a:alpha val="70000"/>
                </a:schemeClr>
              </a:solidFill>
              <a:ln w="381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bg1"/>
                    </a:solidFill>
                  </a:rPr>
                  <a:t>Setting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ko-KR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𝒂𝒓𝒈𝒎𝒂𝒙</m:t>
                          </m:r>
                        </m:e>
                        <m:sub>
                          <m:r>
                            <a:rPr lang="ko-KR" alt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sSub>
                        <m:sSub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sub>
                      </m:sSub>
                      <m:r>
                        <a:rPr lang="en-US" altLang="ko-KR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𝒍𝒏𝑷</m:t>
                      </m:r>
                      <m:d>
                        <m:d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ko-KR" alt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ko-KR" alt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Rectangular Callout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279" y="5599401"/>
                <a:ext cx="3748137" cy="843771"/>
              </a:xfrm>
              <a:prstGeom prst="wedgeRectCallout">
                <a:avLst>
                  <a:gd name="adj1" fmla="val -3037"/>
                  <a:gd name="adj2" fmla="val -113165"/>
                </a:avLst>
              </a:prstGeom>
              <a:blipFill rotWithShape="0">
                <a:blip r:embed="rId15"/>
                <a:stretch>
                  <a:fillRect/>
                </a:stretch>
              </a:blipFill>
              <a:ln w="38100">
                <a:noFill/>
                <a:tailEnd type="none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H="1" flipV="1">
            <a:off x="6045598" y="44624"/>
            <a:ext cx="20627" cy="23459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994217" y="2246540"/>
            <a:ext cx="2924554" cy="1604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 rot="19879086">
            <a:off x="6556939" y="1143037"/>
            <a:ext cx="1023711" cy="434639"/>
          </a:xfrm>
          <a:prstGeom prst="ellipse">
            <a:avLst/>
          </a:prstGeom>
          <a:solidFill>
            <a:schemeClr val="tx2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644589" y="2221993"/>
                <a:ext cx="380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589" y="2221993"/>
                <a:ext cx="380232" cy="36933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5683485" y="-71984"/>
                <a:ext cx="37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485" y="-71984"/>
                <a:ext cx="375424" cy="369332"/>
              </a:xfrm>
              <a:prstGeom prst="rect">
                <a:avLst/>
              </a:prstGeom>
              <a:blipFill rotWithShape="0">
                <a:blip r:embed="rId1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/>
          <p:cNvCxnSpPr/>
          <p:nvPr/>
        </p:nvCxnSpPr>
        <p:spPr>
          <a:xfrm flipV="1">
            <a:off x="6252351" y="662364"/>
            <a:ext cx="0" cy="180477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5880494" y="1603038"/>
            <a:ext cx="21418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224587" y="2035086"/>
            <a:ext cx="72008" cy="75858"/>
          </a:xfrm>
          <a:prstGeom prst="ellipse">
            <a:avLst/>
          </a:prstGeom>
          <a:solidFill>
            <a:srgbClr val="C0000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6224587" y="1567043"/>
            <a:ext cx="72008" cy="75858"/>
          </a:xfrm>
          <a:prstGeom prst="ellipse">
            <a:avLst/>
          </a:prstGeom>
          <a:solidFill>
            <a:srgbClr val="C0000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7" name="Straight Connector 66"/>
          <p:cNvCxnSpPr/>
          <p:nvPr/>
        </p:nvCxnSpPr>
        <p:spPr>
          <a:xfrm flipV="1">
            <a:off x="6793508" y="662103"/>
            <a:ext cx="0" cy="180477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5880494" y="1459022"/>
            <a:ext cx="2141892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760587" y="1564488"/>
            <a:ext cx="72008" cy="75858"/>
          </a:xfrm>
          <a:prstGeom prst="ellipse">
            <a:avLst/>
          </a:prstGeom>
          <a:solidFill>
            <a:srgbClr val="C0000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6965786" y="1419824"/>
            <a:ext cx="72008" cy="75858"/>
          </a:xfrm>
          <a:prstGeom prst="ellipse">
            <a:avLst/>
          </a:prstGeom>
          <a:solidFill>
            <a:srgbClr val="C0000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6759250" y="1420213"/>
            <a:ext cx="72008" cy="75858"/>
          </a:xfrm>
          <a:prstGeom prst="ellipse">
            <a:avLst/>
          </a:prstGeom>
          <a:solidFill>
            <a:srgbClr val="C0000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 rot="19879086">
            <a:off x="7855937" y="186800"/>
            <a:ext cx="889311" cy="763019"/>
          </a:xfrm>
          <a:prstGeom prst="ellipse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 rot="19879086">
            <a:off x="8066096" y="341911"/>
            <a:ext cx="546762" cy="434639"/>
          </a:xfrm>
          <a:prstGeom prst="ellipse">
            <a:avLst/>
          </a:prstGeom>
          <a:solidFill>
            <a:schemeClr val="tx2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 rot="19879086">
            <a:off x="8177440" y="474327"/>
            <a:ext cx="375499" cy="197237"/>
          </a:xfrm>
          <a:prstGeom prst="ellipse">
            <a:avLst/>
          </a:prstGeom>
          <a:solidFill>
            <a:schemeClr val="tx1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77" name="Straight Arrow Connector 76"/>
          <p:cNvCxnSpPr>
            <a:stCxn id="64" idx="0"/>
            <a:endCxn id="65" idx="4"/>
          </p:cNvCxnSpPr>
          <p:nvPr/>
        </p:nvCxnSpPr>
        <p:spPr>
          <a:xfrm flipV="1">
            <a:off x="6260591" y="1642901"/>
            <a:ext cx="0" cy="39218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5" idx="6"/>
            <a:endCxn id="66" idx="2"/>
          </p:cNvCxnSpPr>
          <p:nvPr/>
        </p:nvCxnSpPr>
        <p:spPr>
          <a:xfrm flipV="1">
            <a:off x="6296595" y="1602417"/>
            <a:ext cx="463992" cy="25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66" idx="0"/>
            <a:endCxn id="70" idx="4"/>
          </p:cNvCxnSpPr>
          <p:nvPr/>
        </p:nvCxnSpPr>
        <p:spPr>
          <a:xfrm flipH="1" flipV="1">
            <a:off x="6795254" y="1496071"/>
            <a:ext cx="1337" cy="6841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70" idx="6"/>
            <a:endCxn id="69" idx="2"/>
          </p:cNvCxnSpPr>
          <p:nvPr/>
        </p:nvCxnSpPr>
        <p:spPr>
          <a:xfrm flipV="1">
            <a:off x="6831258" y="1457753"/>
            <a:ext cx="134528" cy="38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ular Callout 89"/>
          <p:cNvSpPr/>
          <p:nvPr/>
        </p:nvSpPr>
        <p:spPr>
          <a:xfrm>
            <a:off x="3851920" y="662103"/>
            <a:ext cx="1800200" cy="606657"/>
          </a:xfrm>
          <a:prstGeom prst="wedgeRectCallout">
            <a:avLst>
              <a:gd name="adj1" fmla="val 68904"/>
              <a:gd name="adj2" fmla="val -6584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Fall into a local maxima or ???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1" name="Freeform 90"/>
          <p:cNvSpPr/>
          <p:nvPr/>
        </p:nvSpPr>
        <p:spPr>
          <a:xfrm>
            <a:off x="2821563" y="1848417"/>
            <a:ext cx="3403977" cy="2243523"/>
          </a:xfrm>
          <a:custGeom>
            <a:avLst/>
            <a:gdLst>
              <a:gd name="connsiteX0" fmla="*/ 119757 w 3403977"/>
              <a:gd name="connsiteY0" fmla="*/ 2243523 h 2243523"/>
              <a:gd name="connsiteX1" fmla="*/ 188337 w 3403977"/>
              <a:gd name="connsiteY1" fmla="*/ 1047183 h 2243523"/>
              <a:gd name="connsiteX2" fmla="*/ 1895217 w 3403977"/>
              <a:gd name="connsiteY2" fmla="*/ 148023 h 2243523"/>
              <a:gd name="connsiteX3" fmla="*/ 3403977 w 3403977"/>
              <a:gd name="connsiteY3" fmla="*/ 10863 h 224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3977" h="2243523">
                <a:moveTo>
                  <a:pt x="119757" y="2243523"/>
                </a:moveTo>
                <a:cubicBezTo>
                  <a:pt x="6092" y="1819978"/>
                  <a:pt x="-107573" y="1396433"/>
                  <a:pt x="188337" y="1047183"/>
                </a:cubicBezTo>
                <a:cubicBezTo>
                  <a:pt x="484247" y="697933"/>
                  <a:pt x="1359277" y="320743"/>
                  <a:pt x="1895217" y="148023"/>
                </a:cubicBezTo>
                <a:cubicBezTo>
                  <a:pt x="2431157" y="-24697"/>
                  <a:pt x="2917567" y="-6917"/>
                  <a:pt x="3403977" y="10863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Freeform 91"/>
          <p:cNvSpPr/>
          <p:nvPr/>
        </p:nvSpPr>
        <p:spPr>
          <a:xfrm>
            <a:off x="5818435" y="1615440"/>
            <a:ext cx="803936" cy="2506980"/>
          </a:xfrm>
          <a:custGeom>
            <a:avLst/>
            <a:gdLst>
              <a:gd name="connsiteX0" fmla="*/ 551885 w 803936"/>
              <a:gd name="connsiteY0" fmla="*/ 2506980 h 2506980"/>
              <a:gd name="connsiteX1" fmla="*/ 87065 w 803936"/>
              <a:gd name="connsiteY1" fmla="*/ 1760220 h 2506980"/>
              <a:gd name="connsiteX2" fmla="*/ 64205 w 803936"/>
              <a:gd name="connsiteY2" fmla="*/ 1089660 h 2506980"/>
              <a:gd name="connsiteX3" fmla="*/ 765245 w 803936"/>
              <a:gd name="connsiteY3" fmla="*/ 990600 h 2506980"/>
              <a:gd name="connsiteX4" fmla="*/ 711905 w 803936"/>
              <a:gd name="connsiteY4" fmla="*/ 502920 h 2506980"/>
              <a:gd name="connsiteX5" fmla="*/ 704285 w 803936"/>
              <a:gd name="connsiteY5" fmla="*/ 0 h 250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3936" h="2506980">
                <a:moveTo>
                  <a:pt x="551885" y="2506980"/>
                </a:moveTo>
                <a:cubicBezTo>
                  <a:pt x="360115" y="2251710"/>
                  <a:pt x="168345" y="1996440"/>
                  <a:pt x="87065" y="1760220"/>
                </a:cubicBezTo>
                <a:cubicBezTo>
                  <a:pt x="5785" y="1524000"/>
                  <a:pt x="-48825" y="1217930"/>
                  <a:pt x="64205" y="1089660"/>
                </a:cubicBezTo>
                <a:cubicBezTo>
                  <a:pt x="177235" y="961390"/>
                  <a:pt x="657295" y="1088390"/>
                  <a:pt x="765245" y="990600"/>
                </a:cubicBezTo>
                <a:cubicBezTo>
                  <a:pt x="873195" y="892810"/>
                  <a:pt x="722065" y="668020"/>
                  <a:pt x="711905" y="502920"/>
                </a:cubicBezTo>
                <a:cubicBezTo>
                  <a:pt x="701745" y="337820"/>
                  <a:pt x="703015" y="168910"/>
                  <a:pt x="704285" y="0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51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EM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 smtClean="0"/>
                  <a:t>EM algorithm</a:t>
                </a:r>
              </a:p>
              <a:p>
                <a:pPr lvl="1"/>
                <a:r>
                  <a:rPr lang="en-US" altLang="ko-KR" dirty="0" smtClean="0"/>
                  <a:t>Finds the maximum likelihood solutions for models with latent variables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EM algorithm</a:t>
                </a:r>
              </a:p>
              <a:p>
                <a:pPr lvl="1"/>
                <a:r>
                  <a:rPr lang="en-US" altLang="ko-KR" dirty="0" smtClean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to an arbitrary point</a:t>
                </a:r>
              </a:p>
              <a:p>
                <a:pPr lvl="1"/>
                <a:r>
                  <a:rPr lang="en-US" altLang="ko-KR" dirty="0" smtClean="0"/>
                  <a:t>Loop until the likelihood converges</a:t>
                </a:r>
              </a:p>
              <a:p>
                <a:pPr lvl="2"/>
                <a:r>
                  <a:rPr lang="en-US" altLang="ko-KR" dirty="0" smtClean="0"/>
                  <a:t>Expectation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ko-KR" dirty="0" smtClean="0">
                    <a:sym typeface="Wingdings" panose="05000000000000000000" pitchFamily="2" charset="2"/>
                  </a:rPr>
                  <a:t>Assign Z by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Maximization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dirty="0"/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 fixed Z means that there is no unobserved variables </a:t>
                </a:r>
              </a:p>
              <a:p>
                <a:pPr lvl="3"/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Same optimization of ordinary MLE</a:t>
                </a:r>
              </a:p>
              <a:p>
                <a:pPr lvl="1"/>
                <a:endParaRPr lang="ko-KR" altLang="en-US" dirty="0"/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41088" y="0"/>
                <a:ext cx="5202912" cy="1137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/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e>
                                      <m:r>
                                        <a:rPr lang="ko-KR" altLang="en-US" sz="11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e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1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1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088" y="0"/>
                <a:ext cx="5202912" cy="1137619"/>
              </a:xfrm>
              <a:prstGeom prst="rect">
                <a:avLst/>
              </a:prstGeom>
              <a:blipFill rotWithShape="0">
                <a:blip r:embed="rId3"/>
                <a:stretch>
                  <a:fillRect t="-47059" b="-70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88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Rethinking GMM Learning Process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 smtClean="0"/>
                  <a:t>GMM, K-Means </a:t>
                </a:r>
              </a:p>
              <a:p>
                <a:pPr lvl="1"/>
                <a:r>
                  <a:rPr lang="en-US" altLang="ko-KR" dirty="0" smtClean="0"/>
                  <a:t>We used EM algorithm to find the assignment of latent variables and the related distribution parameters</a:t>
                </a:r>
              </a:p>
              <a:p>
                <a:r>
                  <a:rPr lang="en-US" altLang="ko-KR" dirty="0"/>
                  <a:t>EM algorithm</a:t>
                </a:r>
              </a:p>
              <a:p>
                <a:pPr lvl="1"/>
                <a:r>
                  <a:rPr lang="en-US" altLang="ko-KR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an arbitrary point</a:t>
                </a:r>
              </a:p>
              <a:p>
                <a:pPr lvl="1"/>
                <a:r>
                  <a:rPr lang="en-US" altLang="ko-KR" dirty="0"/>
                  <a:t>Loop until the likelihood converges</a:t>
                </a:r>
              </a:p>
              <a:p>
                <a:pPr lvl="2"/>
                <a:r>
                  <a:rPr lang="en-US" altLang="ko-KR" dirty="0"/>
                  <a:t>Expectation step</a:t>
                </a:r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Assign </a:t>
                </a:r>
                <a:r>
                  <a:rPr lang="en-US" altLang="ko-KR" dirty="0">
                    <a:sym typeface="Wingdings" panose="05000000000000000000" pitchFamily="2" charset="2"/>
                  </a:rPr>
                  <a:t>Z by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3"/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Maximization step</a:t>
                </a:r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Same </a:t>
                </a:r>
                <a:r>
                  <a:rPr lang="en-US" altLang="ko-KR" dirty="0">
                    <a:sym typeface="Wingdings" panose="05000000000000000000" pitchFamily="2" charset="2"/>
                  </a:rPr>
                  <a:t>optimization of ordinary MLE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/>
                </a:r>
                <a:br>
                  <a:rPr lang="en-US" altLang="ko-KR" i="1" dirty="0">
                    <a:latin typeface="Cambria Math" panose="02040503050406030204" pitchFamily="18" charset="0"/>
                  </a:rPr>
                </a:b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3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66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Further Readings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Bishop Chapter 2 and 9</a:t>
            </a:r>
          </a:p>
          <a:p>
            <a:r>
              <a:rPr lang="en-US" altLang="ko-KR" dirty="0" smtClean="0"/>
              <a:t>Murphy Chapter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9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발표 템플릿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accent1"/>
        </a:solidFill>
        <a:ln w="38100">
          <a:tailEnd type="none"/>
        </a:ln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</Template>
  <TotalTime>9479</TotalTime>
  <Words>330</Words>
  <Application>Microsoft Office PowerPoint</Application>
  <PresentationFormat>On-screen Show (4:3)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발표 템플릿</vt:lpstr>
      <vt:lpstr>K-Means Clustering and Gaussian Mixture Model</vt:lpstr>
      <vt:lpstr>Weekly Objectives</vt:lpstr>
      <vt:lpstr>EM algorithm</vt:lpstr>
      <vt:lpstr>Inference with Latent Variables</vt:lpstr>
      <vt:lpstr>Probability Decomposition</vt:lpstr>
      <vt:lpstr>Maximizing the Lower Bound (1)</vt:lpstr>
      <vt:lpstr>KL Divergence</vt:lpstr>
      <vt:lpstr>Maximizing the Lower Bound (2)</vt:lpstr>
      <vt:lpstr>Graphical Interpretation of Lower Bound Maximization</vt:lpstr>
      <vt:lpstr>EM Algorithm</vt:lpstr>
      <vt:lpstr>Rethinking GMM Learning Process</vt:lpstr>
      <vt:lpstr>Further Readings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Il-Chul Moon</dc:creator>
  <cp:lastModifiedBy>Il-Chul Moon</cp:lastModifiedBy>
  <cp:revision>415</cp:revision>
  <dcterms:created xsi:type="dcterms:W3CDTF">2012-12-05T07:53:35Z</dcterms:created>
  <dcterms:modified xsi:type="dcterms:W3CDTF">2015-08-27T01:24:10Z</dcterms:modified>
</cp:coreProperties>
</file>
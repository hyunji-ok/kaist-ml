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9"/>
  </p:notesMasterIdLst>
  <p:sldIdLst>
    <p:sldId id="293" r:id="rId2"/>
    <p:sldId id="294" r:id="rId3"/>
    <p:sldId id="331" r:id="rId4"/>
    <p:sldId id="313" r:id="rId5"/>
    <p:sldId id="323" r:id="rId6"/>
    <p:sldId id="324" r:id="rId7"/>
    <p:sldId id="325" r:id="rId8"/>
    <p:sldId id="302" r:id="rId9"/>
    <p:sldId id="303" r:id="rId10"/>
    <p:sldId id="314" r:id="rId11"/>
    <p:sldId id="321" r:id="rId12"/>
    <p:sldId id="328" r:id="rId13"/>
    <p:sldId id="329" r:id="rId14"/>
    <p:sldId id="304" r:id="rId15"/>
    <p:sldId id="305" r:id="rId16"/>
    <p:sldId id="306" r:id="rId17"/>
    <p:sldId id="330" r:id="rId18"/>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8" autoAdjust="0"/>
    <p:restoredTop sz="94660"/>
  </p:normalViewPr>
  <p:slideViewPr>
    <p:cSldViewPr snapToGrid="0">
      <p:cViewPr varScale="1">
        <p:scale>
          <a:sx n="89" d="100"/>
          <a:sy n="89" d="100"/>
        </p:scale>
        <p:origin x="110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0085F3-A77E-408E-9F90-D3B01E2760CC}" type="datetimeFigureOut">
              <a:rPr lang="ko-KR" altLang="en-US" smtClean="0"/>
              <a:t>2015-09-15</a:t>
            </a:fld>
            <a:endParaRPr lang="ko-KR" alt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ko-KR"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591C5F-1D0F-4256-BD1C-618DF4C9178E}" type="slidenum">
              <a:rPr lang="ko-KR" altLang="en-US" smtClean="0"/>
              <a:t>‹#›</a:t>
            </a:fld>
            <a:endParaRPr lang="ko-KR" altLang="en-US"/>
          </a:p>
        </p:txBody>
      </p:sp>
    </p:spTree>
    <p:extLst>
      <p:ext uri="{BB962C8B-B14F-4D97-AF65-F5344CB8AC3E}">
        <p14:creationId xmlns:p14="http://schemas.microsoft.com/office/powerpoint/2010/main" val="181896595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Since convergence usually occurs regardless of our starting point, we can usually pick any feasible (for example, picking starting draws that are in the parameter space) starting point. However, the time it takes for the chain to converge varies depending on the starting point.</a:t>
            </a:r>
          </a:p>
          <a:p>
            <a:r>
              <a:rPr lang="en-US" altLang="ko-KR" dirty="0" smtClean="0"/>
              <a:t>As a matter of practice, most people throw out a certain number of the ﬁrst draws, known as the burn-in. This is to make our draws closer to the stationary distribution and less dependent on the starting point. However, it is unclear how much we should burn-in since our draws are all slightly dependent and we don’t know exactly when convergence occurs.</a:t>
            </a:r>
            <a:endParaRPr lang="ko-KR" altLang="en-US" dirty="0"/>
          </a:p>
        </p:txBody>
      </p:sp>
      <p:sp>
        <p:nvSpPr>
          <p:cNvPr id="4" name="슬라이드 번호 개체 틀 3"/>
          <p:cNvSpPr>
            <a:spLocks noGrp="1"/>
          </p:cNvSpPr>
          <p:nvPr>
            <p:ph type="sldNum" sz="quarter" idx="10"/>
          </p:nvPr>
        </p:nvSpPr>
        <p:spPr/>
        <p:txBody>
          <a:bodyPr/>
          <a:lstStyle/>
          <a:p>
            <a:fld id="{652E4A2F-89AF-428E-9EAB-2363F75F2D84}" type="slidenum">
              <a:rPr lang="ko-KR" altLang="en-US" smtClean="0"/>
              <a:t>9</a:t>
            </a:fld>
            <a:endParaRPr lang="ko-KR" altLang="en-US" dirty="0"/>
          </a:p>
        </p:txBody>
      </p:sp>
    </p:spTree>
    <p:extLst>
      <p:ext uri="{BB962C8B-B14F-4D97-AF65-F5344CB8AC3E}">
        <p14:creationId xmlns:p14="http://schemas.microsoft.com/office/powerpoint/2010/main" val="3437075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lvl="1" indent="0" algn="l" defTabSz="914400" rtl="0" eaLnBrk="1" fontAlgn="auto" latinLnBrk="1" hangingPunct="1">
              <a:lnSpc>
                <a:spcPct val="100000"/>
              </a:lnSpc>
              <a:spcBef>
                <a:spcPts val="0"/>
              </a:spcBef>
              <a:spcAft>
                <a:spcPts val="0"/>
              </a:spcAft>
              <a:buClrTx/>
              <a:buSzTx/>
              <a:buFontTx/>
              <a:buNone/>
              <a:tabLst/>
              <a:defRPr/>
            </a:pPr>
            <a:r>
              <a:rPr lang="en-US" altLang="ko-KR" dirty="0" smtClean="0"/>
              <a:t>Bayesian inference :</a:t>
            </a:r>
            <a:r>
              <a:rPr lang="en-US" altLang="ko-KR" baseline="0" dirty="0" smtClean="0"/>
              <a:t> prior posterior</a:t>
            </a:r>
            <a:endParaRPr lang="ko-KR" altLang="en-US" dirty="0"/>
          </a:p>
        </p:txBody>
      </p:sp>
      <p:sp>
        <p:nvSpPr>
          <p:cNvPr id="4" name="슬라이드 번호 개체 틀 3"/>
          <p:cNvSpPr>
            <a:spLocks noGrp="1"/>
          </p:cNvSpPr>
          <p:nvPr>
            <p:ph type="sldNum" sz="quarter" idx="10"/>
          </p:nvPr>
        </p:nvSpPr>
        <p:spPr/>
        <p:txBody>
          <a:bodyPr/>
          <a:lstStyle/>
          <a:p>
            <a:fld id="{652E4A2F-89AF-428E-9EAB-2363F75F2D84}" type="slidenum">
              <a:rPr lang="ko-KR" altLang="en-US" smtClean="0"/>
              <a:t>14</a:t>
            </a:fld>
            <a:endParaRPr lang="ko-KR" altLang="en-US" dirty="0"/>
          </a:p>
        </p:txBody>
      </p:sp>
    </p:spTree>
    <p:extLst>
      <p:ext uri="{BB962C8B-B14F-4D97-AF65-F5344CB8AC3E}">
        <p14:creationId xmlns:p14="http://schemas.microsoft.com/office/powerpoint/2010/main" val="2829314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1"/>
            <a:ext cx="7543800" cy="1668016"/>
          </a:xfrm>
        </p:spPr>
        <p:txBody>
          <a:bodyPr anchor="b"/>
          <a:lstStyle>
            <a:lvl1pPr>
              <a:defRPr sz="4800">
                <a:ln>
                  <a:noFill/>
                </a:ln>
                <a:solidFill>
                  <a:schemeClr val="tx2"/>
                </a:solidFill>
              </a:defRPr>
            </a:lvl1pPr>
          </a:lstStyle>
          <a:p>
            <a:r>
              <a:rPr lang="en-US" altLang="ko-KR" smtClean="0"/>
              <a:t>Click to edit Master title style</a:t>
            </a:r>
            <a:endParaRPr lang="en-US" dirty="0"/>
          </a:p>
        </p:txBody>
      </p:sp>
      <p:sp>
        <p:nvSpPr>
          <p:cNvPr id="3" name="Subtitle 2"/>
          <p:cNvSpPr>
            <a:spLocks noGrp="1"/>
          </p:cNvSpPr>
          <p:nvPr>
            <p:ph type="subTitle" idx="1"/>
          </p:nvPr>
        </p:nvSpPr>
        <p:spPr>
          <a:xfrm>
            <a:off x="685800" y="4572000"/>
            <a:ext cx="7558608"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ko-KR" smtClean="0"/>
              <a:t>Click to edit Master subtitle style</a:t>
            </a:r>
            <a:endParaRPr lang="en-US" dirty="0"/>
          </a:p>
        </p:txBody>
      </p:sp>
      <p:sp>
        <p:nvSpPr>
          <p:cNvPr id="4" name="Date Placeholder 3"/>
          <p:cNvSpPr>
            <a:spLocks noGrp="1"/>
          </p:cNvSpPr>
          <p:nvPr>
            <p:ph type="dt" sz="half" idx="10"/>
          </p:nvPr>
        </p:nvSpPr>
        <p:spPr/>
        <p:txBody>
          <a:bodyPr/>
          <a:lstStyle>
            <a:lvl1pPr algn="ctr">
              <a:defRPr/>
            </a:lvl1pPr>
          </a:lstStyle>
          <a:p>
            <a:fld id="{D78E696B-9374-4FC8-A4A4-DDB21E4308C9}" type="datetime1">
              <a:rPr lang="ko-KR" altLang="en-US" smtClean="0"/>
              <a:t>2015-09-15</a:t>
            </a:fld>
            <a:endParaRPr lang="ko-KR" altLang="en-US"/>
          </a:p>
        </p:txBody>
      </p:sp>
      <p:sp>
        <p:nvSpPr>
          <p:cNvPr id="6" name="Slide Number Placeholder 5"/>
          <p:cNvSpPr>
            <a:spLocks noGrp="1"/>
          </p:cNvSpPr>
          <p:nvPr>
            <p:ph type="sldNum" sz="quarter" idx="12"/>
          </p:nvPr>
        </p:nvSpPr>
        <p:spPr/>
        <p:txBody>
          <a:bodyPr/>
          <a:lstStyle/>
          <a:p>
            <a:fld id="{85CD3E9B-A789-4DCF-960C-49E4EDB7DF3D}" type="slidenum">
              <a:rPr lang="ko-KR" altLang="en-US" smtClean="0"/>
              <a:t>‹#›</a:t>
            </a:fld>
            <a:endParaRPr lang="ko-KR" altLang="en-US"/>
          </a:p>
        </p:txBody>
      </p:sp>
    </p:spTree>
    <p:extLst>
      <p:ext uri="{BB962C8B-B14F-4D97-AF65-F5344CB8AC3E}">
        <p14:creationId xmlns:p14="http://schemas.microsoft.com/office/powerpoint/2010/main" val="2327894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smtClean="0"/>
              <a:t>Click to edit Master title style</a:t>
            </a:r>
            <a:endParaRPr lang="en-US" dirty="0"/>
          </a:p>
        </p:txBody>
      </p:sp>
      <p:sp>
        <p:nvSpPr>
          <p:cNvPr id="3" name="Content Placeholder 2"/>
          <p:cNvSpPr>
            <a:spLocks noGrp="1"/>
          </p:cNvSpPr>
          <p:nvPr>
            <p:ph idx="1"/>
          </p:nvPr>
        </p:nvSpPr>
        <p:spPr/>
        <p:txBody>
          <a:body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dirty="0"/>
          </a:p>
        </p:txBody>
      </p:sp>
      <p:sp>
        <p:nvSpPr>
          <p:cNvPr id="4" name="Date Placeholder 3"/>
          <p:cNvSpPr>
            <a:spLocks noGrp="1"/>
          </p:cNvSpPr>
          <p:nvPr>
            <p:ph type="dt" sz="half" idx="10"/>
          </p:nvPr>
        </p:nvSpPr>
        <p:spPr/>
        <p:txBody>
          <a:bodyPr/>
          <a:lstStyle>
            <a:lvl1pPr algn="ctr">
              <a:defRPr/>
            </a:lvl1pPr>
          </a:lstStyle>
          <a:p>
            <a:fld id="{3601A0AE-82B0-4EE0-BB01-FCB58416881D}" type="datetime1">
              <a:rPr lang="ko-KR" altLang="en-US" smtClean="0"/>
              <a:t>2015-09-15</a:t>
            </a:fld>
            <a:endParaRPr lang="ko-KR" altLang="en-US"/>
          </a:p>
        </p:txBody>
      </p:sp>
      <p:sp>
        <p:nvSpPr>
          <p:cNvPr id="6" name="Slide Number Placeholder 5"/>
          <p:cNvSpPr>
            <a:spLocks noGrp="1"/>
          </p:cNvSpPr>
          <p:nvPr>
            <p:ph type="sldNum" sz="quarter" idx="12"/>
          </p:nvPr>
        </p:nvSpPr>
        <p:spPr/>
        <p:txBody>
          <a:bodyPr/>
          <a:lstStyle/>
          <a:p>
            <a:fld id="{85CD3E9B-A789-4DCF-960C-49E4EDB7DF3D}" type="slidenum">
              <a:rPr lang="ko-KR" altLang="en-US" smtClean="0"/>
              <a:t>‹#›</a:t>
            </a:fld>
            <a:endParaRPr lang="ko-KR" altLang="en-US"/>
          </a:p>
        </p:txBody>
      </p:sp>
    </p:spTree>
    <p:extLst>
      <p:ext uri="{BB962C8B-B14F-4D97-AF65-F5344CB8AC3E}">
        <p14:creationId xmlns:p14="http://schemas.microsoft.com/office/powerpoint/2010/main" val="4175868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206553"/>
            <a:ext cx="7659687" cy="1168400"/>
          </a:xfrm>
        </p:spPr>
        <p:txBody>
          <a:bodyPr anchor="t"/>
          <a:lstStyle>
            <a:lvl1pPr algn="l">
              <a:defRPr sz="3600" b="0" cap="all"/>
            </a:lvl1pPr>
          </a:lstStyle>
          <a:p>
            <a:r>
              <a:rPr lang="en-US" altLang="ko-KR" smtClean="0"/>
              <a:t>Click to edit Master title style</a:t>
            </a:r>
            <a:endParaRPr lang="en-US" dirty="0"/>
          </a:p>
        </p:txBody>
      </p:sp>
      <p:sp>
        <p:nvSpPr>
          <p:cNvPr id="3" name="Text Placeholder 2"/>
          <p:cNvSpPr>
            <a:spLocks noGrp="1"/>
          </p:cNvSpPr>
          <p:nvPr>
            <p:ph type="body" idx="1"/>
          </p:nvPr>
        </p:nvSpPr>
        <p:spPr>
          <a:xfrm>
            <a:off x="722313" y="3573016"/>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ko-KR" smtClean="0"/>
              <a:t>Click to edit Master text styles</a:t>
            </a:r>
          </a:p>
        </p:txBody>
      </p:sp>
      <p:sp>
        <p:nvSpPr>
          <p:cNvPr id="4" name="Date Placeholder 3"/>
          <p:cNvSpPr>
            <a:spLocks noGrp="1"/>
          </p:cNvSpPr>
          <p:nvPr>
            <p:ph type="dt" sz="half" idx="10"/>
          </p:nvPr>
        </p:nvSpPr>
        <p:spPr/>
        <p:txBody>
          <a:bodyPr/>
          <a:lstStyle>
            <a:lvl1pPr algn="ctr">
              <a:defRPr/>
            </a:lvl1pPr>
          </a:lstStyle>
          <a:p>
            <a:fld id="{6EF5DD2A-9A58-465F-9A0F-1C8629BE06FE}" type="datetime1">
              <a:rPr lang="ko-KR" altLang="en-US" smtClean="0"/>
              <a:t>2015-09-15</a:t>
            </a:fld>
            <a:endParaRPr lang="ko-KR" altLang="en-US"/>
          </a:p>
        </p:txBody>
      </p:sp>
      <p:sp>
        <p:nvSpPr>
          <p:cNvPr id="6" name="Slide Number Placeholder 5"/>
          <p:cNvSpPr>
            <a:spLocks noGrp="1"/>
          </p:cNvSpPr>
          <p:nvPr>
            <p:ph type="sldNum" sz="quarter" idx="12"/>
          </p:nvPr>
        </p:nvSpPr>
        <p:spPr/>
        <p:txBody>
          <a:bodyPr/>
          <a:lstStyle/>
          <a:p>
            <a:fld id="{85CD3E9B-A789-4DCF-960C-49E4EDB7DF3D}" type="slidenum">
              <a:rPr lang="ko-KR" altLang="en-US" smtClean="0"/>
              <a:t>‹#›</a:t>
            </a:fld>
            <a:endParaRPr lang="ko-KR" altLang="en-US"/>
          </a:p>
        </p:txBody>
      </p:sp>
    </p:spTree>
    <p:extLst>
      <p:ext uri="{BB962C8B-B14F-4D97-AF65-F5344CB8AC3E}">
        <p14:creationId xmlns:p14="http://schemas.microsoft.com/office/powerpoint/2010/main" val="1913855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smtClean="0"/>
              <a:t>Click to edit Master title style</a:t>
            </a:r>
            <a:endParaRPr lang="en-US"/>
          </a:p>
        </p:txBody>
      </p:sp>
      <p:sp>
        <p:nvSpPr>
          <p:cNvPr id="3" name="Content Placeholder 2"/>
          <p:cNvSpPr>
            <a:spLocks noGrp="1"/>
          </p:cNvSpPr>
          <p:nvPr>
            <p:ph sz="half" idx="1"/>
          </p:nvPr>
        </p:nvSpPr>
        <p:spPr>
          <a:xfrm>
            <a:off x="457200" y="1536192"/>
            <a:ext cx="41400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dirty="0"/>
          </a:p>
        </p:txBody>
      </p:sp>
      <p:sp>
        <p:nvSpPr>
          <p:cNvPr id="4" name="Content Placeholder 3"/>
          <p:cNvSpPr>
            <a:spLocks noGrp="1"/>
          </p:cNvSpPr>
          <p:nvPr>
            <p:ph sz="half" idx="2"/>
          </p:nvPr>
        </p:nvSpPr>
        <p:spPr>
          <a:xfrm>
            <a:off x="4755656" y="1536192"/>
            <a:ext cx="41400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dirty="0"/>
          </a:p>
        </p:txBody>
      </p:sp>
      <p:sp>
        <p:nvSpPr>
          <p:cNvPr id="5" name="Date Placeholder 4"/>
          <p:cNvSpPr>
            <a:spLocks noGrp="1"/>
          </p:cNvSpPr>
          <p:nvPr>
            <p:ph type="dt" sz="half" idx="10"/>
          </p:nvPr>
        </p:nvSpPr>
        <p:spPr/>
        <p:txBody>
          <a:bodyPr/>
          <a:lstStyle>
            <a:lvl1pPr algn="ctr">
              <a:defRPr/>
            </a:lvl1pPr>
          </a:lstStyle>
          <a:p>
            <a:fld id="{57CAFD41-B754-45DC-A522-98D3F864B24A}" type="datetime1">
              <a:rPr lang="ko-KR" altLang="en-US" smtClean="0"/>
              <a:t>2015-09-15</a:t>
            </a:fld>
            <a:endParaRPr lang="ko-KR" altLang="en-US"/>
          </a:p>
        </p:txBody>
      </p:sp>
      <p:sp>
        <p:nvSpPr>
          <p:cNvPr id="7" name="Slide Number Placeholder 6"/>
          <p:cNvSpPr>
            <a:spLocks noGrp="1"/>
          </p:cNvSpPr>
          <p:nvPr>
            <p:ph type="sldNum" sz="quarter" idx="12"/>
          </p:nvPr>
        </p:nvSpPr>
        <p:spPr/>
        <p:txBody>
          <a:bodyPr/>
          <a:lstStyle/>
          <a:p>
            <a:fld id="{85CD3E9B-A789-4DCF-960C-49E4EDB7DF3D}" type="slidenum">
              <a:rPr lang="ko-KR" altLang="en-US" smtClean="0"/>
              <a:t>‹#›</a:t>
            </a:fld>
            <a:endParaRPr lang="ko-KR" altLang="en-US"/>
          </a:p>
        </p:txBody>
      </p:sp>
    </p:spTree>
    <p:extLst>
      <p:ext uri="{BB962C8B-B14F-4D97-AF65-F5344CB8AC3E}">
        <p14:creationId xmlns:p14="http://schemas.microsoft.com/office/powerpoint/2010/main" val="1527032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ko-KR" smtClean="0"/>
              <a:t>Click to edit Master title style</a:t>
            </a:r>
            <a:endParaRPr lang="en-US"/>
          </a:p>
        </p:txBody>
      </p:sp>
      <p:sp>
        <p:nvSpPr>
          <p:cNvPr id="3" name="Text Placeholder 2"/>
          <p:cNvSpPr>
            <a:spLocks noGrp="1"/>
          </p:cNvSpPr>
          <p:nvPr>
            <p:ph type="body" idx="1"/>
          </p:nvPr>
        </p:nvSpPr>
        <p:spPr>
          <a:xfrm>
            <a:off x="457200" y="1535113"/>
            <a:ext cx="41400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smtClean="0"/>
              <a:t>Click to edit Master text styles</a:t>
            </a:r>
          </a:p>
        </p:txBody>
      </p:sp>
      <p:sp>
        <p:nvSpPr>
          <p:cNvPr id="4" name="Content Placeholder 3"/>
          <p:cNvSpPr>
            <a:spLocks noGrp="1"/>
          </p:cNvSpPr>
          <p:nvPr>
            <p:ph sz="half" idx="2"/>
          </p:nvPr>
        </p:nvSpPr>
        <p:spPr>
          <a:xfrm>
            <a:off x="457200" y="2174875"/>
            <a:ext cx="41400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dirty="0"/>
          </a:p>
        </p:txBody>
      </p:sp>
      <p:sp>
        <p:nvSpPr>
          <p:cNvPr id="5" name="Text Placeholder 4"/>
          <p:cNvSpPr>
            <a:spLocks noGrp="1"/>
          </p:cNvSpPr>
          <p:nvPr>
            <p:ph type="body" sz="quarter" idx="3"/>
          </p:nvPr>
        </p:nvSpPr>
        <p:spPr>
          <a:xfrm>
            <a:off x="4752480" y="1535113"/>
            <a:ext cx="41400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smtClean="0"/>
              <a:t>Click to edit Master text styles</a:t>
            </a:r>
          </a:p>
        </p:txBody>
      </p:sp>
      <p:sp>
        <p:nvSpPr>
          <p:cNvPr id="6" name="Content Placeholder 5"/>
          <p:cNvSpPr>
            <a:spLocks noGrp="1"/>
          </p:cNvSpPr>
          <p:nvPr>
            <p:ph sz="quarter" idx="4"/>
          </p:nvPr>
        </p:nvSpPr>
        <p:spPr>
          <a:xfrm>
            <a:off x="4752480" y="2174875"/>
            <a:ext cx="41400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a:p>
        </p:txBody>
      </p:sp>
      <p:sp>
        <p:nvSpPr>
          <p:cNvPr id="7" name="Date Placeholder 6"/>
          <p:cNvSpPr>
            <a:spLocks noGrp="1"/>
          </p:cNvSpPr>
          <p:nvPr>
            <p:ph type="dt" sz="half" idx="10"/>
          </p:nvPr>
        </p:nvSpPr>
        <p:spPr/>
        <p:txBody>
          <a:bodyPr/>
          <a:lstStyle>
            <a:lvl1pPr algn="ctr">
              <a:defRPr/>
            </a:lvl1pPr>
          </a:lstStyle>
          <a:p>
            <a:fld id="{D1E221B1-7A1E-426C-AF01-35749B7BF4ED}" type="datetime1">
              <a:rPr lang="ko-KR" altLang="en-US" smtClean="0"/>
              <a:t>2015-09-15</a:t>
            </a:fld>
            <a:endParaRPr lang="ko-KR" altLang="en-US"/>
          </a:p>
        </p:txBody>
      </p:sp>
      <p:sp>
        <p:nvSpPr>
          <p:cNvPr id="9" name="Slide Number Placeholder 8"/>
          <p:cNvSpPr>
            <a:spLocks noGrp="1"/>
          </p:cNvSpPr>
          <p:nvPr>
            <p:ph type="sldNum" sz="quarter" idx="12"/>
          </p:nvPr>
        </p:nvSpPr>
        <p:spPr/>
        <p:txBody>
          <a:bodyPr/>
          <a:lstStyle/>
          <a:p>
            <a:fld id="{85CD3E9B-A789-4DCF-960C-49E4EDB7DF3D}" type="slidenum">
              <a:rPr lang="ko-KR" altLang="en-US" smtClean="0"/>
              <a:t>‹#›</a:t>
            </a:fld>
            <a:endParaRPr lang="ko-KR" altLang="en-US"/>
          </a:p>
        </p:txBody>
      </p:sp>
    </p:spTree>
    <p:extLst>
      <p:ext uri="{BB962C8B-B14F-4D97-AF65-F5344CB8AC3E}">
        <p14:creationId xmlns:p14="http://schemas.microsoft.com/office/powerpoint/2010/main" val="4153145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smtClean="0"/>
              <a:t>Click to edit Master title style</a:t>
            </a:r>
            <a:endParaRPr lang="en-US"/>
          </a:p>
        </p:txBody>
      </p:sp>
      <p:sp>
        <p:nvSpPr>
          <p:cNvPr id="3" name="Date Placeholder 2"/>
          <p:cNvSpPr>
            <a:spLocks noGrp="1"/>
          </p:cNvSpPr>
          <p:nvPr>
            <p:ph type="dt" sz="half" idx="10"/>
          </p:nvPr>
        </p:nvSpPr>
        <p:spPr/>
        <p:txBody>
          <a:bodyPr/>
          <a:lstStyle>
            <a:lvl1pPr algn="ctr">
              <a:defRPr/>
            </a:lvl1pPr>
          </a:lstStyle>
          <a:p>
            <a:fld id="{F4C3A041-F064-4634-BCB4-E288DF9234D4}" type="datetime1">
              <a:rPr lang="ko-KR" altLang="en-US" smtClean="0"/>
              <a:t>2015-09-15</a:t>
            </a:fld>
            <a:endParaRPr lang="ko-KR" altLang="en-US"/>
          </a:p>
        </p:txBody>
      </p:sp>
      <p:sp>
        <p:nvSpPr>
          <p:cNvPr id="5" name="Slide Number Placeholder 4"/>
          <p:cNvSpPr>
            <a:spLocks noGrp="1"/>
          </p:cNvSpPr>
          <p:nvPr>
            <p:ph type="sldNum" sz="quarter" idx="12"/>
          </p:nvPr>
        </p:nvSpPr>
        <p:spPr/>
        <p:txBody>
          <a:bodyPr/>
          <a:lstStyle/>
          <a:p>
            <a:fld id="{85CD3E9B-A789-4DCF-960C-49E4EDB7DF3D}" type="slidenum">
              <a:rPr lang="ko-KR" altLang="en-US" smtClean="0"/>
              <a:t>‹#›</a:t>
            </a:fld>
            <a:endParaRPr lang="ko-KR" altLang="en-US"/>
          </a:p>
        </p:txBody>
      </p:sp>
    </p:spTree>
    <p:extLst>
      <p:ext uri="{BB962C8B-B14F-4D97-AF65-F5344CB8AC3E}">
        <p14:creationId xmlns:p14="http://schemas.microsoft.com/office/powerpoint/2010/main" val="979808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lgn="ctr">
              <a:defRPr/>
            </a:lvl1pPr>
          </a:lstStyle>
          <a:p>
            <a:fld id="{637DB916-A8CC-4508-BDB7-A7C41CF51D78}" type="datetime1">
              <a:rPr lang="ko-KR" altLang="en-US" smtClean="0"/>
              <a:t>2015-09-15</a:t>
            </a:fld>
            <a:endParaRPr lang="ko-KR" altLang="en-US"/>
          </a:p>
        </p:txBody>
      </p:sp>
      <p:sp>
        <p:nvSpPr>
          <p:cNvPr id="4" name="Slide Number Placeholder 3"/>
          <p:cNvSpPr>
            <a:spLocks noGrp="1"/>
          </p:cNvSpPr>
          <p:nvPr>
            <p:ph type="sldNum" sz="quarter" idx="12"/>
          </p:nvPr>
        </p:nvSpPr>
        <p:spPr/>
        <p:txBody>
          <a:bodyPr/>
          <a:lstStyle/>
          <a:p>
            <a:fld id="{85CD3E9B-A789-4DCF-960C-49E4EDB7DF3D}" type="slidenum">
              <a:rPr lang="ko-KR" altLang="en-US" smtClean="0"/>
              <a:t>‹#›</a:t>
            </a:fld>
            <a:endParaRPr lang="ko-KR" altLang="en-US"/>
          </a:p>
        </p:txBody>
      </p:sp>
    </p:spTree>
    <p:extLst>
      <p:ext uri="{BB962C8B-B14F-4D97-AF65-F5344CB8AC3E}">
        <p14:creationId xmlns:p14="http://schemas.microsoft.com/office/powerpoint/2010/main" val="1208103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5301208"/>
            <a:ext cx="8443663" cy="594360"/>
          </a:xfrm>
        </p:spPr>
        <p:txBody>
          <a:bodyPr anchor="b"/>
          <a:lstStyle>
            <a:lvl1pPr algn="ctr">
              <a:defRPr sz="2200" b="1"/>
            </a:lvl1pPr>
          </a:lstStyle>
          <a:p>
            <a:r>
              <a:rPr lang="en-US" altLang="ko-KR" smtClean="0"/>
              <a:t>Click to edit Master title style</a:t>
            </a:r>
            <a:endParaRPr lang="en-US" dirty="0"/>
          </a:p>
        </p:txBody>
      </p:sp>
      <p:sp>
        <p:nvSpPr>
          <p:cNvPr id="4" name="Text Placeholder 3"/>
          <p:cNvSpPr>
            <a:spLocks noGrp="1"/>
          </p:cNvSpPr>
          <p:nvPr>
            <p:ph type="body" sz="half" idx="2"/>
          </p:nvPr>
        </p:nvSpPr>
        <p:spPr>
          <a:xfrm>
            <a:off x="304799" y="5901664"/>
            <a:ext cx="8443665"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smtClean="0"/>
              <a:t>Click to edit Master text styles</a:t>
            </a:r>
          </a:p>
        </p:txBody>
      </p:sp>
      <p:sp>
        <p:nvSpPr>
          <p:cNvPr id="5" name="Date Placeholder 4"/>
          <p:cNvSpPr>
            <a:spLocks noGrp="1"/>
          </p:cNvSpPr>
          <p:nvPr>
            <p:ph type="dt" sz="half" idx="10"/>
          </p:nvPr>
        </p:nvSpPr>
        <p:spPr/>
        <p:txBody>
          <a:bodyPr/>
          <a:lstStyle>
            <a:lvl1pPr algn="ctr">
              <a:defRPr/>
            </a:lvl1pPr>
          </a:lstStyle>
          <a:p>
            <a:fld id="{E6380F88-DEEA-4445-973D-596FFE796746}" type="datetime1">
              <a:rPr lang="ko-KR" altLang="en-US" smtClean="0"/>
              <a:t>2015-09-15</a:t>
            </a:fld>
            <a:endParaRPr lang="ko-KR" altLang="en-US"/>
          </a:p>
        </p:txBody>
      </p:sp>
      <p:sp>
        <p:nvSpPr>
          <p:cNvPr id="7" name="Slide Number Placeholder 6"/>
          <p:cNvSpPr>
            <a:spLocks noGrp="1"/>
          </p:cNvSpPr>
          <p:nvPr>
            <p:ph type="sldNum" sz="quarter" idx="12"/>
          </p:nvPr>
        </p:nvSpPr>
        <p:spPr/>
        <p:txBody>
          <a:bodyPr/>
          <a:lstStyle/>
          <a:p>
            <a:fld id="{85CD3E9B-A789-4DCF-960C-49E4EDB7DF3D}" type="slidenum">
              <a:rPr lang="ko-KR" altLang="en-US" smtClean="0"/>
              <a:t>‹#›</a:t>
            </a:fld>
            <a:endParaRPr lang="ko-KR" altLang="en-US"/>
          </a:p>
        </p:txBody>
      </p:sp>
      <p:sp>
        <p:nvSpPr>
          <p:cNvPr id="9" name="Content Placeholder 8"/>
          <p:cNvSpPr>
            <a:spLocks noGrp="1"/>
          </p:cNvSpPr>
          <p:nvPr>
            <p:ph sz="quarter" idx="13"/>
          </p:nvPr>
        </p:nvSpPr>
        <p:spPr>
          <a:xfrm>
            <a:off x="304800" y="381000"/>
            <a:ext cx="8443664" cy="4776192"/>
          </a:xfrm>
        </p:spPr>
        <p:txBody>
          <a:body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a:p>
        </p:txBody>
      </p:sp>
    </p:spTree>
    <p:extLst>
      <p:ext uri="{BB962C8B-B14F-4D97-AF65-F5344CB8AC3E}">
        <p14:creationId xmlns:p14="http://schemas.microsoft.com/office/powerpoint/2010/main" val="75203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5495278"/>
            <a:ext cx="9144000" cy="594626"/>
          </a:xfrm>
        </p:spPr>
        <p:txBody>
          <a:bodyPr anchor="b"/>
          <a:lstStyle>
            <a:lvl1pPr algn="ctr">
              <a:defRPr sz="2200" b="1">
                <a:ln>
                  <a:noFill/>
                </a:ln>
                <a:solidFill>
                  <a:schemeClr val="tx2"/>
                </a:solidFill>
              </a:defRPr>
            </a:lvl1pPr>
          </a:lstStyle>
          <a:p>
            <a:r>
              <a:rPr lang="en-US" altLang="ko-KR" smtClean="0"/>
              <a:t>Click to edit Master title style</a:t>
            </a:r>
            <a:endParaRPr lang="en-US" dirty="0"/>
          </a:p>
        </p:txBody>
      </p:sp>
      <p:sp>
        <p:nvSpPr>
          <p:cNvPr id="3" name="Picture Placeholder 2"/>
          <p:cNvSpPr>
            <a:spLocks noGrp="1"/>
          </p:cNvSpPr>
          <p:nvPr>
            <p:ph type="pic" idx="1"/>
          </p:nvPr>
        </p:nvSpPr>
        <p:spPr>
          <a:xfrm>
            <a:off x="0" y="0"/>
            <a:ext cx="91440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smtClean="0"/>
              <a:t>Click icon to add picture</a:t>
            </a:r>
            <a:endParaRPr lang="en-US" dirty="0"/>
          </a:p>
        </p:txBody>
      </p:sp>
      <p:sp>
        <p:nvSpPr>
          <p:cNvPr id="4" name="Text Placeholder 3"/>
          <p:cNvSpPr>
            <a:spLocks noGrp="1"/>
          </p:cNvSpPr>
          <p:nvPr>
            <p:ph type="body" sz="half" idx="2"/>
          </p:nvPr>
        </p:nvSpPr>
        <p:spPr>
          <a:xfrm>
            <a:off x="0" y="6096000"/>
            <a:ext cx="9144000" cy="50135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smtClean="0"/>
              <a:t>Click to edit Master text styles</a:t>
            </a:r>
          </a:p>
        </p:txBody>
      </p:sp>
      <p:sp>
        <p:nvSpPr>
          <p:cNvPr id="8" name="Date Placeholder 7"/>
          <p:cNvSpPr>
            <a:spLocks noGrp="1"/>
          </p:cNvSpPr>
          <p:nvPr>
            <p:ph type="dt" sz="half" idx="10"/>
          </p:nvPr>
        </p:nvSpPr>
        <p:spPr/>
        <p:txBody>
          <a:bodyPr/>
          <a:lstStyle>
            <a:lvl1pPr algn="ctr">
              <a:defRPr/>
            </a:lvl1pPr>
          </a:lstStyle>
          <a:p>
            <a:fld id="{1968E8D3-738E-482E-B8E9-37E700B6269C}" type="datetime1">
              <a:rPr lang="ko-KR" altLang="en-US" smtClean="0"/>
              <a:t>2015-09-15</a:t>
            </a:fld>
            <a:endParaRPr lang="ko-KR" altLang="en-US"/>
          </a:p>
        </p:txBody>
      </p:sp>
      <p:sp>
        <p:nvSpPr>
          <p:cNvPr id="9" name="Slide Number Placeholder 8"/>
          <p:cNvSpPr>
            <a:spLocks noGrp="1"/>
          </p:cNvSpPr>
          <p:nvPr>
            <p:ph type="sldNum" sz="quarter" idx="11"/>
          </p:nvPr>
        </p:nvSpPr>
        <p:spPr/>
        <p:txBody>
          <a:bodyPr/>
          <a:lstStyle/>
          <a:p>
            <a:fld id="{85CD3E9B-A789-4DCF-960C-49E4EDB7DF3D}" type="slidenum">
              <a:rPr lang="ko-KR" altLang="en-US" smtClean="0"/>
              <a:t>‹#›</a:t>
            </a:fld>
            <a:endParaRPr lang="ko-KR" altLang="en-US"/>
          </a:p>
        </p:txBody>
      </p:sp>
    </p:spTree>
    <p:extLst>
      <p:ext uri="{BB962C8B-B14F-4D97-AF65-F5344CB8AC3E}">
        <p14:creationId xmlns:p14="http://schemas.microsoft.com/office/powerpoint/2010/main" val="742436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a:p>
        </p:txBody>
      </p:sp>
      <p:sp>
        <p:nvSpPr>
          <p:cNvPr id="4" name="Date Placeholder 3"/>
          <p:cNvSpPr>
            <a:spLocks noGrp="1"/>
          </p:cNvSpPr>
          <p:nvPr>
            <p:ph type="dt" sz="half" idx="10"/>
          </p:nvPr>
        </p:nvSpPr>
        <p:spPr/>
        <p:txBody>
          <a:bodyPr/>
          <a:lstStyle/>
          <a:p>
            <a:fld id="{B7A40FDD-37C3-44C6-926E-30504FBD2D12}" type="datetime1">
              <a:rPr lang="ko-KR" altLang="en-US" smtClean="0"/>
              <a:t>2015-09-15</a:t>
            </a:fld>
            <a:endParaRPr lang="ko-KR" altLang="en-US"/>
          </a:p>
        </p:txBody>
      </p:sp>
      <p:sp>
        <p:nvSpPr>
          <p:cNvPr id="6" name="Slide Number Placeholder 5"/>
          <p:cNvSpPr>
            <a:spLocks noGrp="1"/>
          </p:cNvSpPr>
          <p:nvPr>
            <p:ph type="sldNum" sz="quarter" idx="12"/>
          </p:nvPr>
        </p:nvSpPr>
        <p:spPr/>
        <p:txBody>
          <a:bodyPr/>
          <a:lstStyle/>
          <a:p>
            <a:fld id="{85CD3E9B-A789-4DCF-960C-49E4EDB7DF3D}" type="slidenum">
              <a:rPr lang="ko-KR" altLang="en-US" smtClean="0"/>
              <a:t>‹#›</a:t>
            </a:fld>
            <a:endParaRPr lang="ko-KR" altLang="en-US"/>
          </a:p>
        </p:txBody>
      </p:sp>
    </p:spTree>
    <p:extLst>
      <p:ext uri="{BB962C8B-B14F-4D97-AF65-F5344CB8AC3E}">
        <p14:creationId xmlns:p14="http://schemas.microsoft.com/office/powerpoint/2010/main" val="1471197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20272" y="274638"/>
            <a:ext cx="1752600" cy="6178698"/>
          </a:xfrm>
        </p:spPr>
        <p:txBody>
          <a:bodyPr vert="eaVert" anchor="b" anchorCtr="0"/>
          <a:lstStyle/>
          <a:p>
            <a:r>
              <a:rPr lang="en-US" altLang="ko-KR" smtClean="0"/>
              <a:t>Click to edit Master title style</a:t>
            </a:r>
            <a:endParaRPr lang="en-US" dirty="0"/>
          </a:p>
        </p:txBody>
      </p:sp>
      <p:sp>
        <p:nvSpPr>
          <p:cNvPr id="3" name="Vertical Text Placeholder 2"/>
          <p:cNvSpPr>
            <a:spLocks noGrp="1"/>
          </p:cNvSpPr>
          <p:nvPr>
            <p:ph type="body" orient="vert" idx="1"/>
          </p:nvPr>
        </p:nvSpPr>
        <p:spPr>
          <a:xfrm>
            <a:off x="457200" y="274638"/>
            <a:ext cx="6419056" cy="6178698"/>
          </a:xfrm>
        </p:spPr>
        <p:txBody>
          <a:bodyPr vert="eaVert"/>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endParaRPr lang="en-US"/>
          </a:p>
        </p:txBody>
      </p:sp>
      <p:sp>
        <p:nvSpPr>
          <p:cNvPr id="4" name="Date Placeholder 3"/>
          <p:cNvSpPr>
            <a:spLocks noGrp="1"/>
          </p:cNvSpPr>
          <p:nvPr>
            <p:ph type="dt" sz="half" idx="10"/>
          </p:nvPr>
        </p:nvSpPr>
        <p:spPr/>
        <p:txBody>
          <a:bodyPr/>
          <a:lstStyle>
            <a:lvl1pPr algn="ctr">
              <a:defRPr/>
            </a:lvl1pPr>
          </a:lstStyle>
          <a:p>
            <a:fld id="{10876C0D-36C2-4B2B-9620-3F481773C3BD}" type="datetime1">
              <a:rPr lang="ko-KR" altLang="en-US" smtClean="0"/>
              <a:t>2015-09-15</a:t>
            </a:fld>
            <a:endParaRPr lang="ko-KR" altLang="en-US"/>
          </a:p>
        </p:txBody>
      </p:sp>
      <p:sp>
        <p:nvSpPr>
          <p:cNvPr id="6" name="Slide Number Placeholder 5"/>
          <p:cNvSpPr>
            <a:spLocks noGrp="1"/>
          </p:cNvSpPr>
          <p:nvPr>
            <p:ph type="sldNum" sz="quarter" idx="12"/>
          </p:nvPr>
        </p:nvSpPr>
        <p:spPr/>
        <p:txBody>
          <a:bodyPr/>
          <a:lstStyle/>
          <a:p>
            <a:fld id="{85CD3E9B-A789-4DCF-960C-49E4EDB7DF3D}" type="slidenum">
              <a:rPr lang="ko-KR" altLang="en-US" smtClean="0"/>
              <a:t>‹#›</a:t>
            </a:fld>
            <a:endParaRPr lang="ko-KR" altLang="en-US"/>
          </a:p>
        </p:txBody>
      </p:sp>
    </p:spTree>
    <p:extLst>
      <p:ext uri="{BB962C8B-B14F-4D97-AF65-F5344CB8AC3E}">
        <p14:creationId xmlns:p14="http://schemas.microsoft.com/office/powerpoint/2010/main" val="1552393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31000">
              <a:schemeClr val="bg2">
                <a:alpha val="87000"/>
              </a:schemeClr>
            </a:gs>
            <a:gs pos="100000">
              <a:schemeClr val="bg1">
                <a:shade val="100000"/>
                <a:satMod val="115000"/>
              </a:schemeClr>
            </a:gs>
            <a:gs pos="100000">
              <a:schemeClr val="bg1">
                <a:shade val="70000"/>
                <a:satMod val="130000"/>
              </a:schemeClr>
            </a:gs>
          </a:gsLst>
          <a:lin ang="13500000" scaled="1"/>
          <a:tileRect/>
        </a:gradFill>
        <a:effectLst/>
      </p:bgPr>
    </p:bg>
    <p:spTree>
      <p:nvGrpSpPr>
        <p:cNvPr id="1" name=""/>
        <p:cNvGrpSpPr/>
        <p:nvPr/>
      </p:nvGrpSpPr>
      <p:grpSpPr>
        <a:xfrm>
          <a:off x="0" y="0"/>
          <a:ext cx="0" cy="0"/>
          <a:chOff x="0" y="0"/>
          <a:chExt cx="0" cy="0"/>
        </a:xfrm>
      </p:grpSpPr>
      <p:sp>
        <p:nvSpPr>
          <p:cNvPr id="7" name="Rectangle 6"/>
          <p:cNvSpPr/>
          <p:nvPr/>
        </p:nvSpPr>
        <p:spPr>
          <a:xfrm rot="5400000">
            <a:off x="4439133" y="2151868"/>
            <a:ext cx="268982" cy="915994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 descr="ci"/>
          <p:cNvPicPr>
            <a:picLocks noChangeAspect="1" noChangeArrowheads="1"/>
          </p:cNvPicPr>
          <p:nvPr/>
        </p:nvPicPr>
        <p:blipFill>
          <a:blip r:embed="rId13"/>
          <a:srcRect/>
          <a:stretch>
            <a:fillRect/>
          </a:stretch>
        </p:blipFill>
        <p:spPr bwMode="auto">
          <a:xfrm>
            <a:off x="-8093" y="6590376"/>
            <a:ext cx="577502" cy="277200"/>
          </a:xfrm>
          <a:prstGeom prst="rect">
            <a:avLst/>
          </a:prstGeom>
          <a:noFill/>
        </p:spPr>
      </p:pic>
      <p:sp>
        <p:nvSpPr>
          <p:cNvPr id="2" name="Title Placeholder 1"/>
          <p:cNvSpPr>
            <a:spLocks noGrp="1"/>
          </p:cNvSpPr>
          <p:nvPr>
            <p:ph type="title"/>
          </p:nvPr>
        </p:nvSpPr>
        <p:spPr>
          <a:xfrm>
            <a:off x="457200" y="274638"/>
            <a:ext cx="8435280" cy="1138138"/>
          </a:xfrm>
          <a:prstGeom prst="rect">
            <a:avLst/>
          </a:prstGeom>
        </p:spPr>
        <p:txBody>
          <a:bodyPr vert="horz" lIns="91440" tIns="45720" rIns="91440" bIns="45720" rtlCol="0" anchor="ctr">
            <a:noAutofit/>
          </a:bodyPr>
          <a:lstStyle/>
          <a:p>
            <a:r>
              <a:rPr lang="en-US" altLang="ko-KR" smtClean="0"/>
              <a:t>Click to edit Master title style</a:t>
            </a:r>
            <a:endParaRPr lang="en-US" dirty="0"/>
          </a:p>
        </p:txBody>
      </p:sp>
      <p:sp>
        <p:nvSpPr>
          <p:cNvPr id="3" name="Text Placeholder 2"/>
          <p:cNvSpPr>
            <a:spLocks noGrp="1"/>
          </p:cNvSpPr>
          <p:nvPr>
            <p:ph type="body" idx="1"/>
          </p:nvPr>
        </p:nvSpPr>
        <p:spPr>
          <a:xfrm>
            <a:off x="457200" y="1600200"/>
            <a:ext cx="8435280" cy="4925144"/>
          </a:xfrm>
          <a:prstGeom prst="rect">
            <a:avLst/>
          </a:prstGeom>
        </p:spPr>
        <p:txBody>
          <a:bodyPr vert="horz" lIns="91440" tIns="45720" rIns="91440" bIns="45720" rtlCol="0">
            <a:normAutofit/>
          </a:bodyPr>
          <a:lstStyle/>
          <a:p>
            <a:pPr lvl="0"/>
            <a:r>
              <a:rPr lang="en-US" altLang="ko-KR" dirty="0" smtClean="0"/>
              <a:t>Click to edit Master text styles </a:t>
            </a:r>
          </a:p>
          <a:p>
            <a:pPr lvl="1"/>
            <a:r>
              <a:rPr lang="en-US" altLang="ko-KR" dirty="0" smtClean="0"/>
              <a:t>Second level</a:t>
            </a:r>
          </a:p>
          <a:p>
            <a:pPr lvl="2"/>
            <a:r>
              <a:rPr lang="en-US" altLang="ko-KR" dirty="0" smtClean="0"/>
              <a:t>Third level</a:t>
            </a:r>
          </a:p>
          <a:p>
            <a:pPr lvl="3"/>
            <a:r>
              <a:rPr lang="en-US" altLang="ko-KR" dirty="0" smtClean="0"/>
              <a:t>Fourth level</a:t>
            </a:r>
          </a:p>
          <a:p>
            <a:pPr lvl="4"/>
            <a:r>
              <a:rPr lang="en-US" altLang="ko-KR" dirty="0" smtClean="0"/>
              <a:t>Fifth level</a:t>
            </a:r>
            <a:endParaRPr lang="en-US" dirty="0"/>
          </a:p>
        </p:txBody>
      </p:sp>
      <p:sp>
        <p:nvSpPr>
          <p:cNvPr id="8" name="Rectangle 7"/>
          <p:cNvSpPr/>
          <p:nvPr/>
        </p:nvSpPr>
        <p:spPr>
          <a:xfrm>
            <a:off x="8388424" y="6597351"/>
            <a:ext cx="765175" cy="2660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460432" y="6620808"/>
            <a:ext cx="621159" cy="216024"/>
          </a:xfrm>
          <a:prstGeom prst="bracketPair">
            <a:avLst>
              <a:gd name="adj" fmla="val 17949"/>
            </a:avLst>
          </a:prstGeom>
          <a:ln w="19050">
            <a:solidFill>
              <a:srgbClr val="FFFFFF"/>
            </a:solidFill>
          </a:ln>
        </p:spPr>
        <p:txBody>
          <a:bodyPr vert="horz" lIns="0" tIns="0" rIns="0" bIns="0" rtlCol="0" anchor="ctr"/>
          <a:lstStyle>
            <a:lvl1pPr algn="ctr">
              <a:defRPr sz="1200">
                <a:solidFill>
                  <a:srgbClr val="FFFFFF"/>
                </a:solidFill>
              </a:defRPr>
            </a:lvl1pPr>
          </a:lstStyle>
          <a:p>
            <a:fld id="{85CD3E9B-A789-4DCF-960C-49E4EDB7DF3D}" type="slidenum">
              <a:rPr lang="ko-KR" altLang="en-US" smtClean="0"/>
              <a:t>‹#›</a:t>
            </a:fld>
            <a:endParaRPr lang="ko-KR" altLang="en-US"/>
          </a:p>
        </p:txBody>
      </p:sp>
      <p:sp>
        <p:nvSpPr>
          <p:cNvPr id="4" name="Date Placeholder 3"/>
          <p:cNvSpPr>
            <a:spLocks noGrp="1"/>
          </p:cNvSpPr>
          <p:nvPr>
            <p:ph type="dt" sz="half" idx="2"/>
          </p:nvPr>
        </p:nvSpPr>
        <p:spPr>
          <a:xfrm>
            <a:off x="7318177" y="6597351"/>
            <a:ext cx="1070247" cy="275443"/>
          </a:xfrm>
          <a:prstGeom prst="rect">
            <a:avLst/>
          </a:prstGeom>
        </p:spPr>
        <p:txBody>
          <a:bodyPr vert="horz" lIns="91440" tIns="45720" rIns="91440" bIns="45720" rtlCol="0" anchor="ctr"/>
          <a:lstStyle>
            <a:lvl1pPr algn="l">
              <a:defRPr sz="1200">
                <a:solidFill>
                  <a:schemeClr val="bg2"/>
                </a:solidFill>
              </a:defRPr>
            </a:lvl1pPr>
          </a:lstStyle>
          <a:p>
            <a:fld id="{5174896E-ED42-4D61-895F-99B0D2E268F3}" type="datetime1">
              <a:rPr lang="ko-KR" altLang="en-US" smtClean="0"/>
              <a:t>2015-09-15</a:t>
            </a:fld>
            <a:endParaRPr lang="ko-KR" altLang="en-US"/>
          </a:p>
        </p:txBody>
      </p:sp>
      <p:sp>
        <p:nvSpPr>
          <p:cNvPr id="10" name="TextBox 9"/>
          <p:cNvSpPr txBox="1"/>
          <p:nvPr/>
        </p:nvSpPr>
        <p:spPr>
          <a:xfrm>
            <a:off x="1475656" y="6608385"/>
            <a:ext cx="5944320" cy="276999"/>
          </a:xfrm>
          <a:prstGeom prst="rect">
            <a:avLst/>
          </a:prstGeom>
          <a:noFill/>
        </p:spPr>
        <p:txBody>
          <a:bodyPr wrap="none" rtlCol="0">
            <a:spAutoFit/>
          </a:bodyPr>
          <a:lstStyle/>
          <a:p>
            <a:r>
              <a:rPr lang="en-US" altLang="ko-KR" sz="1200" dirty="0" smtClean="0">
                <a:solidFill>
                  <a:schemeClr val="bg1"/>
                </a:solidFill>
              </a:rPr>
              <a:t>Copyright © 2012 by Il-</a:t>
            </a:r>
            <a:r>
              <a:rPr lang="en-US" altLang="ko-KR" sz="1200" dirty="0" err="1" smtClean="0">
                <a:solidFill>
                  <a:schemeClr val="bg1"/>
                </a:solidFill>
              </a:rPr>
              <a:t>Chul</a:t>
            </a:r>
            <a:r>
              <a:rPr lang="en-US" altLang="ko-KR" sz="1200" dirty="0" smtClean="0">
                <a:solidFill>
                  <a:schemeClr val="bg1"/>
                </a:solidFill>
              </a:rPr>
              <a:t> Moon, Dept. of Industrial and Systems Engineering, KAIST</a:t>
            </a:r>
            <a:endParaRPr lang="ko-KR" altLang="en-US" sz="1200" dirty="0">
              <a:solidFill>
                <a:schemeClr val="bg1"/>
              </a:solidFill>
            </a:endParaRPr>
          </a:p>
        </p:txBody>
      </p:sp>
    </p:spTree>
    <p:extLst>
      <p:ext uri="{BB962C8B-B14F-4D97-AF65-F5344CB8AC3E}">
        <p14:creationId xmlns:p14="http://schemas.microsoft.com/office/powerpoint/2010/main" val="420612316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1"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1"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1"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1"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1"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1"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1"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1"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1"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1"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icmoon@kaist.ac.kr"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261.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0.png"/><Relationship Id="rId4" Type="http://schemas.openxmlformats.org/officeDocument/2006/relationships/image" Target="../media/image70.png"/></Relationships>
</file>

<file path=ppt/slides/_rels/slide9.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14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20.png"/><Relationship Id="rId4" Type="http://schemas.openxmlformats.org/officeDocument/2006/relationships/image" Target="../media/image1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4.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12.png"/><Relationship Id="rId5" Type="http://schemas.openxmlformats.org/officeDocument/2006/relationships/image" Target="../media/image8.png"/><Relationship Id="rId15" Type="http://schemas.openxmlformats.org/officeDocument/2006/relationships/image" Target="../media/image59.png"/><Relationship Id="rId10"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image" Target="../media/image53.png"/><Relationship Id="rId14" Type="http://schemas.openxmlformats.org/officeDocument/2006/relationships/image" Target="../media/image58.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0.png"/><Relationship Id="rId1" Type="http://schemas.openxmlformats.org/officeDocument/2006/relationships/slideLayout" Target="../slideLayouts/slideLayout2.xml"/><Relationship Id="rId6" Type="http://schemas.openxmlformats.org/officeDocument/2006/relationships/image" Target="../media/image220.png"/><Relationship Id="rId5" Type="http://schemas.openxmlformats.org/officeDocument/2006/relationships/image" Target="../media/image210.png"/><Relationship Id="rId4" Type="http://schemas.openxmlformats.org/officeDocument/2006/relationships/image" Target="../media/image200.png"/></Relationships>
</file>

<file path=ppt/slides/_rels/slide16.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ko-KR" dirty="0" smtClean="0"/>
              <a:t>Sampling Based Inference</a:t>
            </a:r>
            <a:endParaRPr lang="ko-KR" altLang="en-US" b="1" dirty="0"/>
          </a:p>
        </p:txBody>
      </p:sp>
      <p:sp>
        <p:nvSpPr>
          <p:cNvPr id="3" name="Subtitle 2"/>
          <p:cNvSpPr>
            <a:spLocks noGrp="1"/>
          </p:cNvSpPr>
          <p:nvPr>
            <p:ph type="subTitle" idx="1"/>
          </p:nvPr>
        </p:nvSpPr>
        <p:spPr/>
        <p:txBody>
          <a:bodyPr>
            <a:normAutofit fontScale="85000" lnSpcReduction="20000"/>
          </a:bodyPr>
          <a:lstStyle/>
          <a:p>
            <a:r>
              <a:rPr lang="en-US" altLang="ko-KR" dirty="0" smtClean="0"/>
              <a:t>Il-Chul Moon</a:t>
            </a:r>
            <a:br>
              <a:rPr lang="en-US" altLang="ko-KR" dirty="0" smtClean="0"/>
            </a:br>
            <a:r>
              <a:rPr lang="en-US" altLang="ko-KR" dirty="0" smtClean="0"/>
              <a:t>Dept. of Industrial and Systems Engineering</a:t>
            </a:r>
            <a:br>
              <a:rPr lang="en-US" altLang="ko-KR" dirty="0" smtClean="0"/>
            </a:br>
            <a:r>
              <a:rPr lang="en-US" altLang="ko-KR" dirty="0" smtClean="0"/>
              <a:t>KAIST</a:t>
            </a:r>
            <a:endParaRPr lang="en-US" altLang="ko-KR" dirty="0"/>
          </a:p>
          <a:p>
            <a:r>
              <a:rPr lang="en-US" altLang="ko-KR" dirty="0" smtClean="0">
                <a:hlinkClick r:id="rId2"/>
              </a:rPr>
              <a:t>icmoon@kaist.ac.kr</a:t>
            </a:r>
            <a:endParaRPr lang="en-US" altLang="ko-KR" dirty="0" smtClean="0"/>
          </a:p>
          <a:p>
            <a:endParaRPr lang="en-US" altLang="ko-KR" dirty="0" smtClean="0"/>
          </a:p>
        </p:txBody>
      </p:sp>
      <p:sp>
        <p:nvSpPr>
          <p:cNvPr id="4" name="Slide Number Placeholder 3"/>
          <p:cNvSpPr>
            <a:spLocks noGrp="1"/>
          </p:cNvSpPr>
          <p:nvPr>
            <p:ph type="sldNum" sz="quarter" idx="12"/>
          </p:nvPr>
        </p:nvSpPr>
        <p:spPr/>
        <p:txBody>
          <a:bodyPr/>
          <a:lstStyle/>
          <a:p>
            <a:fld id="{5201CCC1-3165-4E50-B981-0BF2C62E2716}" type="slidenum">
              <a:rPr lang="ko-KR" altLang="en-US" smtClean="0"/>
              <a:t>1</a:t>
            </a:fld>
            <a:endParaRPr lang="ko-KR" altLang="en-US"/>
          </a:p>
        </p:txBody>
      </p:sp>
    </p:spTree>
    <p:extLst>
      <p:ext uri="{BB962C8B-B14F-4D97-AF65-F5344CB8AC3E}">
        <p14:creationId xmlns:p14="http://schemas.microsoft.com/office/powerpoint/2010/main" val="13676451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smtClean="0"/>
              <a:t>Weekly Objectives</a:t>
            </a:r>
            <a:endParaRPr lang="ko-KR" altLang="en-US" dirty="0"/>
          </a:p>
        </p:txBody>
      </p:sp>
      <p:sp>
        <p:nvSpPr>
          <p:cNvPr id="3" name="Content Placeholder 2"/>
          <p:cNvSpPr>
            <a:spLocks noGrp="1"/>
          </p:cNvSpPr>
          <p:nvPr>
            <p:ph idx="1"/>
          </p:nvPr>
        </p:nvSpPr>
        <p:spPr/>
        <p:txBody>
          <a:bodyPr>
            <a:normAutofit/>
          </a:bodyPr>
          <a:lstStyle/>
          <a:p>
            <a:r>
              <a:rPr lang="en-US" altLang="ko-KR" dirty="0" smtClean="0"/>
              <a:t>Learn basic sampling methods</a:t>
            </a:r>
          </a:p>
          <a:p>
            <a:pPr lvl="1"/>
            <a:r>
              <a:rPr lang="en-US" altLang="ko-KR" dirty="0" smtClean="0"/>
              <a:t>Understand the concept of Markov chain Monte Carlo</a:t>
            </a:r>
          </a:p>
          <a:p>
            <a:pPr lvl="1"/>
            <a:r>
              <a:rPr lang="en-US" altLang="ko-KR" dirty="0" smtClean="0"/>
              <a:t>Able to apply MCMC to the parameter inference of Bayesian networks</a:t>
            </a:r>
          </a:p>
          <a:p>
            <a:pPr lvl="1"/>
            <a:r>
              <a:rPr lang="en-US" altLang="ko-KR" dirty="0" smtClean="0"/>
              <a:t>Know the mechanism of rejection sampling</a:t>
            </a:r>
          </a:p>
          <a:p>
            <a:pPr lvl="1"/>
            <a:r>
              <a:rPr lang="en-US" altLang="ko-KR" dirty="0"/>
              <a:t>Know the mechanism of </a:t>
            </a:r>
            <a:r>
              <a:rPr lang="en-US" altLang="ko-KR" dirty="0" smtClean="0"/>
              <a:t>importance </a:t>
            </a:r>
            <a:r>
              <a:rPr lang="en-US" altLang="ko-KR" dirty="0"/>
              <a:t>sampling</a:t>
            </a:r>
          </a:p>
          <a:p>
            <a:r>
              <a:rPr lang="en-US" altLang="ko-KR" dirty="0" smtClean="0"/>
              <a:t>Learn sampling based inference</a:t>
            </a:r>
          </a:p>
          <a:p>
            <a:pPr lvl="1"/>
            <a:r>
              <a:rPr lang="en-US" altLang="ko-KR" dirty="0" smtClean="0"/>
              <a:t>Understand the concept of </a:t>
            </a:r>
            <a:r>
              <a:rPr lang="en-US" altLang="ko-KR" dirty="0" smtClean="0"/>
              <a:t>Metropolis-Hastings Algorithm</a:t>
            </a:r>
            <a:endParaRPr lang="en-US" altLang="ko-KR" dirty="0" smtClean="0"/>
          </a:p>
          <a:p>
            <a:pPr lvl="1"/>
            <a:r>
              <a:rPr lang="en-US" altLang="ko-KR" dirty="0" smtClean="0"/>
              <a:t>Know the mechanism of Gibbs sampling</a:t>
            </a:r>
          </a:p>
          <a:p>
            <a:r>
              <a:rPr lang="en-US" altLang="ko-KR" dirty="0" smtClean="0"/>
              <a:t>Know a case study of sampling based inference</a:t>
            </a:r>
          </a:p>
          <a:p>
            <a:pPr lvl="1"/>
            <a:r>
              <a:rPr lang="en-US" altLang="ko-KR" dirty="0" smtClean="0"/>
              <a:t>Understand the latent Dirichlet allocation model</a:t>
            </a:r>
          </a:p>
          <a:p>
            <a:pPr lvl="1"/>
            <a:r>
              <a:rPr lang="en-US" altLang="ko-KR" dirty="0" smtClean="0"/>
              <a:t>Know the collapsed Gibbs sampling</a:t>
            </a:r>
          </a:p>
          <a:p>
            <a:pPr lvl="1"/>
            <a:r>
              <a:rPr lang="en-US" altLang="ko-KR" dirty="0" smtClean="0"/>
              <a:t>Know how to derive Gibbs sampling formula for LDA</a:t>
            </a:r>
          </a:p>
        </p:txBody>
      </p:sp>
      <p:sp>
        <p:nvSpPr>
          <p:cNvPr id="4" name="Slide Number Placeholder 3"/>
          <p:cNvSpPr>
            <a:spLocks noGrp="1"/>
          </p:cNvSpPr>
          <p:nvPr>
            <p:ph type="sldNum" sz="quarter" idx="12"/>
          </p:nvPr>
        </p:nvSpPr>
        <p:spPr/>
        <p:txBody>
          <a:bodyPr/>
          <a:lstStyle/>
          <a:p>
            <a:fld id="{85CD3E9B-A789-4DCF-960C-49E4EDB7DF3D}" type="slidenum">
              <a:rPr lang="ko-KR" altLang="en-US" smtClean="0"/>
              <a:t>2</a:t>
            </a:fld>
            <a:endParaRPr lang="ko-KR" altLang="en-US"/>
          </a:p>
        </p:txBody>
      </p:sp>
    </p:spTree>
    <p:extLst>
      <p:ext uri="{BB962C8B-B14F-4D97-AF65-F5344CB8AC3E}">
        <p14:creationId xmlns:p14="http://schemas.microsoft.com/office/powerpoint/2010/main" val="39717447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smtClean="0"/>
              <a:t>Sampling based inference</a:t>
            </a:r>
            <a:endParaRPr lang="ko-KR" altLang="en-US" dirty="0"/>
          </a:p>
        </p:txBody>
      </p:sp>
      <p:sp>
        <p:nvSpPr>
          <p:cNvPr id="3" name="Text Placeholder 2"/>
          <p:cNvSpPr>
            <a:spLocks noGrp="1"/>
          </p:cNvSpPr>
          <p:nvPr>
            <p:ph type="body" idx="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85CD3E9B-A789-4DCF-960C-49E4EDB7DF3D}" type="slidenum">
              <a:rPr lang="ko-KR" altLang="en-US" smtClean="0"/>
              <a:t>3</a:t>
            </a:fld>
            <a:endParaRPr lang="ko-KR" altLang="en-US"/>
          </a:p>
        </p:txBody>
      </p:sp>
    </p:spTree>
    <p:extLst>
      <p:ext uri="{BB962C8B-B14F-4D97-AF65-F5344CB8AC3E}">
        <p14:creationId xmlns:p14="http://schemas.microsoft.com/office/powerpoint/2010/main" val="27535838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i="1" dirty="0" smtClean="0"/>
              <a:t>Detour: </a:t>
            </a:r>
            <a:br>
              <a:rPr lang="en-US" altLang="ko-KR" i="1" dirty="0" smtClean="0"/>
            </a:br>
            <a:r>
              <a:rPr lang="en-US" altLang="ko-KR" dirty="0" smtClean="0"/>
              <a:t>EM Algorithm</a:t>
            </a:r>
            <a:endParaRPr lang="ko-KR" alt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altLang="ko-KR" dirty="0" smtClean="0"/>
                  <a:t>EM algorithm</a:t>
                </a:r>
              </a:p>
              <a:p>
                <a:pPr lvl="1"/>
                <a:r>
                  <a:rPr lang="en-US" altLang="ko-KR" dirty="0" smtClean="0"/>
                  <a:t>Finds the maximum likelihood solutions for models with latent variables</a:t>
                </a:r>
              </a:p>
              <a:p>
                <a:pPr lvl="1"/>
                <a14:m>
                  <m:oMath xmlns:m="http://schemas.openxmlformats.org/officeDocument/2006/math">
                    <m:r>
                      <a:rPr lang="en-US" altLang="ko-KR" i="1">
                        <a:latin typeface="Cambria Math" panose="02040503050406030204" pitchFamily="18" charset="0"/>
                      </a:rPr>
                      <m:t>𝑃</m:t>
                    </m:r>
                    <m:d>
                      <m:dPr>
                        <m:ctrlPr>
                          <a:rPr lang="en-US" altLang="ko-KR" i="1">
                            <a:latin typeface="Cambria Math" panose="02040503050406030204" pitchFamily="18" charset="0"/>
                          </a:rPr>
                        </m:ctrlPr>
                      </m:dPr>
                      <m:e>
                        <m:r>
                          <a:rPr lang="en-US" altLang="ko-KR" i="1">
                            <a:latin typeface="Cambria Math" panose="02040503050406030204" pitchFamily="18" charset="0"/>
                          </a:rPr>
                          <m:t>𝑋</m:t>
                        </m:r>
                      </m:e>
                      <m:e>
                        <m:r>
                          <a:rPr lang="ko-KR" altLang="en-US" i="1">
                            <a:latin typeface="Cambria Math" panose="02040503050406030204" pitchFamily="18" charset="0"/>
                          </a:rPr>
                          <m:t>𝜃</m:t>
                        </m:r>
                      </m:e>
                    </m:d>
                    <m:r>
                      <a:rPr lang="en-US" altLang="ko-KR" i="1">
                        <a:latin typeface="Cambria Math" panose="02040503050406030204" pitchFamily="18" charset="0"/>
                      </a:rPr>
                      <m:t>=</m:t>
                    </m:r>
                    <m:nary>
                      <m:naryPr>
                        <m:chr m:val="∑"/>
                        <m:supHide m:val="on"/>
                        <m:ctrlPr>
                          <a:rPr lang="en-US" altLang="ko-KR" i="1">
                            <a:latin typeface="Cambria Math" panose="02040503050406030204" pitchFamily="18" charset="0"/>
                          </a:rPr>
                        </m:ctrlPr>
                      </m:naryPr>
                      <m:sub>
                        <m:r>
                          <m:rPr>
                            <m:brk m:alnAt="7"/>
                          </m:rPr>
                          <a:rPr lang="en-US" altLang="ko-KR" i="1">
                            <a:latin typeface="Cambria Math" panose="02040503050406030204" pitchFamily="18" charset="0"/>
                          </a:rPr>
                          <m:t>𝑍</m:t>
                        </m:r>
                      </m:sub>
                      <m:sup/>
                      <m:e>
                        <m:r>
                          <a:rPr lang="en-US" altLang="ko-KR" i="1">
                            <a:latin typeface="Cambria Math" panose="02040503050406030204" pitchFamily="18" charset="0"/>
                          </a:rPr>
                          <m:t>𝑃</m:t>
                        </m:r>
                        <m:r>
                          <a:rPr lang="en-US" altLang="ko-KR" i="1">
                            <a:latin typeface="Cambria Math" panose="02040503050406030204" pitchFamily="18" charset="0"/>
                          </a:rPr>
                          <m:t>(</m:t>
                        </m:r>
                        <m:r>
                          <a:rPr lang="en-US" altLang="ko-KR" i="1">
                            <a:latin typeface="Cambria Math" panose="02040503050406030204" pitchFamily="18" charset="0"/>
                          </a:rPr>
                          <m:t>𝑋</m:t>
                        </m:r>
                        <m:r>
                          <a:rPr lang="en-US" altLang="ko-KR" i="1">
                            <a:latin typeface="Cambria Math" panose="02040503050406030204" pitchFamily="18" charset="0"/>
                          </a:rPr>
                          <m:t>,</m:t>
                        </m:r>
                        <m:r>
                          <a:rPr lang="en-US" altLang="ko-KR" i="1">
                            <a:latin typeface="Cambria Math" panose="02040503050406030204" pitchFamily="18" charset="0"/>
                          </a:rPr>
                          <m:t>𝑍</m:t>
                        </m:r>
                        <m:r>
                          <a:rPr lang="en-US" altLang="ko-KR" i="1">
                            <a:latin typeface="Cambria Math" panose="02040503050406030204" pitchFamily="18" charset="0"/>
                          </a:rPr>
                          <m:t>|</m:t>
                        </m:r>
                        <m:r>
                          <a:rPr lang="ko-KR" altLang="en-US" i="1">
                            <a:latin typeface="Cambria Math" panose="02040503050406030204" pitchFamily="18" charset="0"/>
                          </a:rPr>
                          <m:t>𝜃</m:t>
                        </m:r>
                        <m:r>
                          <a:rPr lang="en-US" altLang="ko-KR" i="1">
                            <a:latin typeface="Cambria Math" panose="02040503050406030204" pitchFamily="18" charset="0"/>
                          </a:rPr>
                          <m:t>)</m:t>
                        </m:r>
                      </m:e>
                    </m:nary>
                    <m:r>
                      <a:rPr lang="en-US" altLang="ko-KR" i="1">
                        <a:latin typeface="Cambria Math" panose="02040503050406030204" pitchFamily="18" charset="0"/>
                        <a:ea typeface="Cambria Math" panose="02040503050406030204" pitchFamily="18" charset="0"/>
                      </a:rPr>
                      <m:t>→</m:t>
                    </m:r>
                    <m:r>
                      <m:rPr>
                        <m:sty m:val="p"/>
                      </m:rPr>
                      <a:rPr lang="en-US" altLang="ko-KR">
                        <a:latin typeface="Cambria Math" panose="02040503050406030204" pitchFamily="18" charset="0"/>
                        <a:ea typeface="Cambria Math" panose="02040503050406030204" pitchFamily="18" charset="0"/>
                      </a:rPr>
                      <m:t>ln</m:t>
                    </m:r>
                    <m:r>
                      <a:rPr lang="en-US" altLang="ko-KR" i="1">
                        <a:latin typeface="Cambria Math" panose="02040503050406030204" pitchFamily="18" charset="0"/>
                      </a:rPr>
                      <m:t>𝑃</m:t>
                    </m:r>
                    <m:d>
                      <m:dPr>
                        <m:ctrlPr>
                          <a:rPr lang="en-US" altLang="ko-KR" i="1">
                            <a:latin typeface="Cambria Math" panose="02040503050406030204" pitchFamily="18" charset="0"/>
                          </a:rPr>
                        </m:ctrlPr>
                      </m:dPr>
                      <m:e>
                        <m:r>
                          <a:rPr lang="en-US" altLang="ko-KR" i="1">
                            <a:latin typeface="Cambria Math" panose="02040503050406030204" pitchFamily="18" charset="0"/>
                          </a:rPr>
                          <m:t>𝑋</m:t>
                        </m:r>
                      </m:e>
                      <m:e>
                        <m:r>
                          <a:rPr lang="ko-KR" altLang="en-US" i="1">
                            <a:latin typeface="Cambria Math" panose="02040503050406030204" pitchFamily="18" charset="0"/>
                          </a:rPr>
                          <m:t>𝜃</m:t>
                        </m:r>
                      </m:e>
                    </m:d>
                    <m:r>
                      <a:rPr lang="en-US" altLang="ko-KR" i="1">
                        <a:latin typeface="Cambria Math" panose="02040503050406030204" pitchFamily="18" charset="0"/>
                      </a:rPr>
                      <m:t>=</m:t>
                    </m:r>
                    <m:r>
                      <m:rPr>
                        <m:sty m:val="p"/>
                      </m:rPr>
                      <a:rPr lang="en-US" altLang="ko-KR">
                        <a:latin typeface="Cambria Math" panose="02040503050406030204" pitchFamily="18" charset="0"/>
                        <a:ea typeface="Cambria Math" panose="02040503050406030204" pitchFamily="18" charset="0"/>
                      </a:rPr>
                      <m:t>ln</m:t>
                    </m:r>
                    <m:r>
                      <a:rPr lang="en-US" altLang="ko-KR" i="1">
                        <a:latin typeface="Cambria Math" panose="02040503050406030204" pitchFamily="18" charset="0"/>
                        <a:ea typeface="Cambria Math" panose="02040503050406030204" pitchFamily="18" charset="0"/>
                      </a:rPr>
                      <m:t>{</m:t>
                    </m:r>
                    <m:nary>
                      <m:naryPr>
                        <m:chr m:val="∑"/>
                        <m:supHide m:val="on"/>
                        <m:ctrlPr>
                          <a:rPr lang="en-US" altLang="ko-KR" i="1">
                            <a:latin typeface="Cambria Math" panose="02040503050406030204" pitchFamily="18" charset="0"/>
                          </a:rPr>
                        </m:ctrlPr>
                      </m:naryPr>
                      <m:sub>
                        <m:r>
                          <m:rPr>
                            <m:brk m:alnAt="7"/>
                          </m:rPr>
                          <a:rPr lang="en-US" altLang="ko-KR" i="1">
                            <a:latin typeface="Cambria Math" panose="02040503050406030204" pitchFamily="18" charset="0"/>
                          </a:rPr>
                          <m:t>𝑍</m:t>
                        </m:r>
                      </m:sub>
                      <m:sup/>
                      <m:e>
                        <m:r>
                          <a:rPr lang="en-US" altLang="ko-KR" i="1">
                            <a:latin typeface="Cambria Math" panose="02040503050406030204" pitchFamily="18" charset="0"/>
                          </a:rPr>
                          <m:t>𝑃</m:t>
                        </m:r>
                        <m:d>
                          <m:dPr>
                            <m:ctrlPr>
                              <a:rPr lang="en-US" altLang="ko-KR" i="1">
                                <a:latin typeface="Cambria Math" panose="02040503050406030204" pitchFamily="18" charset="0"/>
                              </a:rPr>
                            </m:ctrlPr>
                          </m:dPr>
                          <m:e>
                            <m:r>
                              <a:rPr lang="en-US" altLang="ko-KR" i="1">
                                <a:latin typeface="Cambria Math" panose="02040503050406030204" pitchFamily="18" charset="0"/>
                              </a:rPr>
                              <m:t>𝑋</m:t>
                            </m:r>
                            <m:r>
                              <a:rPr lang="en-US" altLang="ko-KR" i="1">
                                <a:latin typeface="Cambria Math" panose="02040503050406030204" pitchFamily="18" charset="0"/>
                              </a:rPr>
                              <m:t>,</m:t>
                            </m:r>
                            <m:r>
                              <a:rPr lang="en-US" altLang="ko-KR" i="1">
                                <a:latin typeface="Cambria Math" panose="02040503050406030204" pitchFamily="18" charset="0"/>
                              </a:rPr>
                              <m:t>𝑍</m:t>
                            </m:r>
                          </m:e>
                          <m:e>
                            <m:r>
                              <a:rPr lang="ko-KR" altLang="en-US" i="1">
                                <a:latin typeface="Cambria Math" panose="02040503050406030204" pitchFamily="18" charset="0"/>
                              </a:rPr>
                              <m:t>𝜃</m:t>
                            </m:r>
                          </m:e>
                        </m:d>
                      </m:e>
                    </m:nary>
                    <m:r>
                      <a:rPr lang="en-US" altLang="ko-KR" i="1">
                        <a:latin typeface="Cambria Math" panose="02040503050406030204" pitchFamily="18" charset="0"/>
                      </a:rPr>
                      <m:t>}</m:t>
                    </m:r>
                  </m:oMath>
                </a14:m>
                <a:endParaRPr lang="en-US" altLang="ko-KR" dirty="0"/>
              </a:p>
              <a:p>
                <a:r>
                  <a:rPr lang="en-US" altLang="ko-KR" dirty="0" smtClean="0"/>
                  <a:t>EM algorithm</a:t>
                </a:r>
              </a:p>
              <a:p>
                <a:pPr lvl="1"/>
                <a:r>
                  <a:rPr lang="en-US" altLang="ko-KR" dirty="0" smtClean="0"/>
                  <a:t>Initialize </a:t>
                </a:r>
                <a14:m>
                  <m:oMath xmlns:m="http://schemas.openxmlformats.org/officeDocument/2006/math">
                    <m:sSup>
                      <m:sSupPr>
                        <m:ctrlPr>
                          <a:rPr lang="en-US" altLang="ko-KR" i="1" smtClean="0">
                            <a:latin typeface="Cambria Math" panose="02040503050406030204" pitchFamily="18" charset="0"/>
                          </a:rPr>
                        </m:ctrlPr>
                      </m:sSupPr>
                      <m:e>
                        <m:r>
                          <a:rPr lang="ko-KR" altLang="en-US" i="1">
                            <a:latin typeface="Cambria Math" panose="02040503050406030204" pitchFamily="18" charset="0"/>
                          </a:rPr>
                          <m:t>𝜃</m:t>
                        </m:r>
                      </m:e>
                      <m:sup>
                        <m:r>
                          <a:rPr lang="en-US" altLang="ko-KR" b="0" i="1" smtClean="0">
                            <a:latin typeface="Cambria Math" panose="02040503050406030204" pitchFamily="18" charset="0"/>
                          </a:rPr>
                          <m:t>0</m:t>
                        </m:r>
                      </m:sup>
                    </m:sSup>
                  </m:oMath>
                </a14:m>
                <a:r>
                  <a:rPr lang="ko-KR" altLang="en-US" dirty="0" smtClean="0"/>
                  <a:t> </a:t>
                </a:r>
                <a:r>
                  <a:rPr lang="en-US" altLang="ko-KR" dirty="0" smtClean="0"/>
                  <a:t>to an arbitrary point</a:t>
                </a:r>
              </a:p>
              <a:p>
                <a:pPr lvl="1"/>
                <a:r>
                  <a:rPr lang="en-US" altLang="ko-KR" dirty="0" smtClean="0"/>
                  <a:t>Loop until the likelihood converges</a:t>
                </a:r>
              </a:p>
              <a:p>
                <a:pPr lvl="2"/>
                <a:r>
                  <a:rPr lang="en-US" altLang="ko-KR" dirty="0" smtClean="0"/>
                  <a:t>Expectation step</a:t>
                </a:r>
              </a:p>
              <a:p>
                <a:pPr lvl="3"/>
                <a14:m>
                  <m:oMath xmlns:m="http://schemas.openxmlformats.org/officeDocument/2006/math">
                    <m:sSup>
                      <m:sSupPr>
                        <m:ctrlPr>
                          <a:rPr lang="en-US" altLang="ko-KR" b="0" i="1" smtClean="0">
                            <a:latin typeface="Cambria Math" panose="02040503050406030204" pitchFamily="18" charset="0"/>
                          </a:rPr>
                        </m:ctrlPr>
                      </m:sSupPr>
                      <m:e>
                        <m:r>
                          <a:rPr lang="en-US" altLang="ko-KR" b="0" i="1" smtClean="0">
                            <a:latin typeface="Cambria Math" panose="02040503050406030204" pitchFamily="18" charset="0"/>
                          </a:rPr>
                          <m:t>𝑞</m:t>
                        </m:r>
                      </m:e>
                      <m:sup>
                        <m:r>
                          <a:rPr lang="en-US" altLang="ko-KR" b="0" i="1" smtClean="0">
                            <a:latin typeface="Cambria Math" panose="02040503050406030204" pitchFamily="18" charset="0"/>
                          </a:rPr>
                          <m:t>𝑡</m:t>
                        </m:r>
                        <m:r>
                          <a:rPr lang="en-US" altLang="ko-KR" b="0" i="1" smtClean="0">
                            <a:latin typeface="Cambria Math" panose="02040503050406030204" pitchFamily="18" charset="0"/>
                          </a:rPr>
                          <m:t>+1</m:t>
                        </m:r>
                      </m:sup>
                    </m:sSup>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𝑧</m:t>
                        </m:r>
                      </m:e>
                    </m:d>
                    <m:r>
                      <a:rPr lang="en-US" altLang="ko-KR" b="0" i="1" smtClean="0">
                        <a:latin typeface="Cambria Math" panose="02040503050406030204" pitchFamily="18" charset="0"/>
                      </a:rPr>
                      <m:t>=</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𝑎𝑟𝑔𝑚𝑎𝑥</m:t>
                        </m:r>
                      </m:e>
                      <m:sub>
                        <m:r>
                          <a:rPr lang="en-US" altLang="ko-KR" b="0" i="1" smtClean="0">
                            <a:latin typeface="Cambria Math" panose="02040503050406030204" pitchFamily="18" charset="0"/>
                          </a:rPr>
                          <m:t>𝑞</m:t>
                        </m:r>
                      </m:sub>
                    </m:sSub>
                    <m:r>
                      <a:rPr lang="en-US" altLang="ko-KR" i="1">
                        <a:latin typeface="Cambria Math" panose="02040503050406030204" pitchFamily="18" charset="0"/>
                      </a:rPr>
                      <m:t>𝑄</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ko-KR" altLang="en-US" i="1">
                                <a:latin typeface="Cambria Math" panose="02040503050406030204" pitchFamily="18" charset="0"/>
                              </a:rPr>
                              <m:t>𝜃</m:t>
                            </m:r>
                          </m:e>
                          <m:sup>
                            <m:r>
                              <a:rPr lang="en-US" altLang="ko-KR" b="0" i="1" smtClean="0">
                                <a:latin typeface="Cambria Math" panose="02040503050406030204" pitchFamily="18" charset="0"/>
                              </a:rPr>
                              <m:t>𝑡</m:t>
                            </m:r>
                          </m:sup>
                        </m:sSup>
                        <m:r>
                          <a:rPr lang="en-US" altLang="ko-KR" i="1">
                            <a:latin typeface="Cambria Math" panose="02040503050406030204" pitchFamily="18" charset="0"/>
                          </a:rPr>
                          <m:t>,</m:t>
                        </m:r>
                        <m:r>
                          <a:rPr lang="en-US" altLang="ko-KR" i="1">
                            <a:latin typeface="Cambria Math" panose="02040503050406030204" pitchFamily="18" charset="0"/>
                          </a:rPr>
                          <m:t>𝑞</m:t>
                        </m:r>
                      </m:e>
                    </m:d>
                    <m:r>
                      <a:rPr lang="en-US" altLang="ko-KR" i="1">
                        <a:latin typeface="Cambria Math" panose="02040503050406030204" pitchFamily="18" charset="0"/>
                      </a:rPr>
                      <m:t>=</m:t>
                    </m:r>
                    <m:sSub>
                      <m:sSubPr>
                        <m:ctrlPr>
                          <a:rPr lang="en-US" altLang="ko-KR" i="1">
                            <a:latin typeface="Cambria Math" panose="02040503050406030204" pitchFamily="18" charset="0"/>
                          </a:rPr>
                        </m:ctrlPr>
                      </m:sSubPr>
                      <m:e>
                        <m:r>
                          <a:rPr lang="en-US" altLang="ko-KR" i="1">
                            <a:latin typeface="Cambria Math" panose="02040503050406030204" pitchFamily="18" charset="0"/>
                          </a:rPr>
                          <m:t>𝑎𝑟𝑔𝑚𝑎𝑥</m:t>
                        </m:r>
                      </m:e>
                      <m:sub>
                        <m:r>
                          <a:rPr lang="en-US" altLang="ko-KR" i="1">
                            <a:latin typeface="Cambria Math" panose="02040503050406030204" pitchFamily="18" charset="0"/>
                          </a:rPr>
                          <m:t>𝑞</m:t>
                        </m:r>
                      </m:sub>
                    </m:sSub>
                    <m:r>
                      <a:rPr lang="en-US" altLang="ko-KR" i="1">
                        <a:latin typeface="Cambria Math" panose="02040503050406030204" pitchFamily="18" charset="0"/>
                      </a:rPr>
                      <m:t>𝐿</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ko-KR" altLang="en-US" i="1">
                                <a:latin typeface="Cambria Math" panose="02040503050406030204" pitchFamily="18" charset="0"/>
                              </a:rPr>
                              <m:t>𝜃</m:t>
                            </m:r>
                          </m:e>
                          <m:sup>
                            <m:r>
                              <a:rPr lang="en-US" altLang="ko-KR" i="1">
                                <a:latin typeface="Cambria Math" panose="02040503050406030204" pitchFamily="18" charset="0"/>
                              </a:rPr>
                              <m:t>𝑡</m:t>
                            </m:r>
                          </m:sup>
                        </m:sSup>
                        <m:r>
                          <a:rPr lang="en-US" altLang="ko-KR" i="1">
                            <a:latin typeface="Cambria Math" panose="02040503050406030204" pitchFamily="18" charset="0"/>
                          </a:rPr>
                          <m:t>,</m:t>
                        </m:r>
                        <m:r>
                          <a:rPr lang="en-US" altLang="ko-KR" i="1">
                            <a:latin typeface="Cambria Math" panose="02040503050406030204" pitchFamily="18" charset="0"/>
                          </a:rPr>
                          <m:t>𝑞</m:t>
                        </m:r>
                      </m:e>
                    </m:d>
                    <m:r>
                      <a:rPr lang="en-US" altLang="ko-KR" i="1">
                        <a:latin typeface="Cambria Math" panose="02040503050406030204" pitchFamily="18" charset="0"/>
                      </a:rPr>
                      <m:t>=</m:t>
                    </m:r>
                    <m:sSub>
                      <m:sSubPr>
                        <m:ctrlPr>
                          <a:rPr lang="en-US" altLang="ko-KR" i="1">
                            <a:latin typeface="Cambria Math" panose="02040503050406030204" pitchFamily="18" charset="0"/>
                          </a:rPr>
                        </m:ctrlPr>
                      </m:sSubPr>
                      <m:e>
                        <m:r>
                          <a:rPr lang="en-US" altLang="ko-KR" i="1">
                            <a:latin typeface="Cambria Math" panose="02040503050406030204" pitchFamily="18" charset="0"/>
                          </a:rPr>
                          <m:t>𝑎𝑟𝑔</m:t>
                        </m:r>
                        <m:r>
                          <a:rPr lang="en-US" altLang="ko-KR" b="0" i="1" smtClean="0">
                            <a:latin typeface="Cambria Math" panose="02040503050406030204" pitchFamily="18" charset="0"/>
                          </a:rPr>
                          <m:t>𝑚𝑖𝑛</m:t>
                        </m:r>
                      </m:e>
                      <m:sub>
                        <m:r>
                          <a:rPr lang="en-US" altLang="ko-KR" i="1">
                            <a:latin typeface="Cambria Math" panose="02040503050406030204" pitchFamily="18" charset="0"/>
                          </a:rPr>
                          <m:t>𝑞</m:t>
                        </m:r>
                      </m:sub>
                    </m:sSub>
                    <m:r>
                      <a:rPr lang="en-US" altLang="ko-KR" b="0" i="1" smtClean="0">
                        <a:latin typeface="Cambria Math" panose="02040503050406030204" pitchFamily="18" charset="0"/>
                      </a:rPr>
                      <m:t>𝐾𝐿</m:t>
                    </m:r>
                    <m:r>
                      <a:rPr lang="en-US" altLang="ko-KR" b="0" i="1" smtClean="0">
                        <a:latin typeface="Cambria Math" panose="02040503050406030204" pitchFamily="18" charset="0"/>
                      </a:rPr>
                      <m:t>(</m:t>
                    </m:r>
                    <m:r>
                      <a:rPr lang="en-US" altLang="ko-KR" b="0" i="1" smtClean="0">
                        <a:latin typeface="Cambria Math" panose="02040503050406030204" pitchFamily="18" charset="0"/>
                      </a:rPr>
                      <m:t>𝑞</m:t>
                    </m:r>
                    <m:r>
                      <a:rPr lang="en-US" altLang="ko-KR" b="0" i="1" smtClean="0">
                        <a:latin typeface="Cambria Math" panose="02040503050406030204" pitchFamily="18" charset="0"/>
                      </a:rPr>
                      <m:t>||</m:t>
                    </m:r>
                    <m:r>
                      <a:rPr lang="en-US" altLang="ko-KR" i="1">
                        <a:latin typeface="Cambria Math" panose="02040503050406030204" pitchFamily="18" charset="0"/>
                      </a:rPr>
                      <m:t>𝑃</m:t>
                    </m:r>
                    <m:d>
                      <m:dPr>
                        <m:ctrlPr>
                          <a:rPr lang="en-US" altLang="ko-KR" i="1">
                            <a:latin typeface="Cambria Math" panose="02040503050406030204" pitchFamily="18" charset="0"/>
                          </a:rPr>
                        </m:ctrlPr>
                      </m:dPr>
                      <m:e>
                        <m:r>
                          <a:rPr lang="en-US" altLang="ko-KR" i="1">
                            <a:latin typeface="Cambria Math" panose="02040503050406030204" pitchFamily="18" charset="0"/>
                          </a:rPr>
                          <m:t>𝑍</m:t>
                        </m:r>
                      </m:e>
                      <m:e>
                        <m:r>
                          <a:rPr lang="en-US" altLang="ko-KR" i="1">
                            <a:latin typeface="Cambria Math" panose="02040503050406030204" pitchFamily="18" charset="0"/>
                          </a:rPr>
                          <m:t>𝑋</m:t>
                        </m:r>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ko-KR" altLang="en-US" i="1">
                                <a:latin typeface="Cambria Math" panose="02040503050406030204" pitchFamily="18" charset="0"/>
                              </a:rPr>
                              <m:t>𝜃</m:t>
                            </m:r>
                          </m:e>
                          <m:sup>
                            <m:r>
                              <a:rPr lang="en-US" altLang="ko-KR" i="1">
                                <a:latin typeface="Cambria Math" panose="02040503050406030204" pitchFamily="18" charset="0"/>
                              </a:rPr>
                              <m:t>𝑡</m:t>
                            </m:r>
                          </m:sup>
                        </m:sSup>
                      </m:e>
                    </m:d>
                    <m:r>
                      <a:rPr lang="en-US" altLang="ko-KR" b="0" i="1" smtClean="0">
                        <a:latin typeface="Cambria Math" panose="02040503050406030204" pitchFamily="18" charset="0"/>
                      </a:rPr>
                      <m:t>)</m:t>
                    </m:r>
                  </m:oMath>
                </a14:m>
                <a:endParaRPr lang="en-US" altLang="ko-KR" dirty="0" smtClean="0"/>
              </a:p>
              <a:p>
                <a:pPr lvl="3"/>
                <a:r>
                  <a:rPr lang="en-US" altLang="ko-KR" dirty="0" smtClean="0">
                    <a:sym typeface="Wingdings" panose="05000000000000000000" pitchFamily="2" charset="2"/>
                  </a:rPr>
                  <a:t> </a:t>
                </a:r>
                <a14:m>
                  <m:oMath xmlns:m="http://schemas.openxmlformats.org/officeDocument/2006/math">
                    <m:sSup>
                      <m:sSupPr>
                        <m:ctrlPr>
                          <a:rPr lang="en-US" altLang="ko-KR" i="1">
                            <a:latin typeface="Cambria Math" panose="02040503050406030204" pitchFamily="18" charset="0"/>
                          </a:rPr>
                        </m:ctrlPr>
                      </m:sSupPr>
                      <m:e>
                        <m:r>
                          <a:rPr lang="en-US" altLang="ko-KR" i="1">
                            <a:latin typeface="Cambria Math" panose="02040503050406030204" pitchFamily="18" charset="0"/>
                          </a:rPr>
                          <m:t>𝑞</m:t>
                        </m:r>
                      </m:e>
                      <m:sup>
                        <m:r>
                          <a:rPr lang="en-US" altLang="ko-KR" i="1">
                            <a:latin typeface="Cambria Math" panose="02040503050406030204" pitchFamily="18" charset="0"/>
                          </a:rPr>
                          <m:t>𝑡</m:t>
                        </m:r>
                      </m:sup>
                    </m:sSup>
                    <m:d>
                      <m:dPr>
                        <m:ctrlPr>
                          <a:rPr lang="en-US" altLang="ko-KR" i="1">
                            <a:latin typeface="Cambria Math" panose="02040503050406030204" pitchFamily="18" charset="0"/>
                          </a:rPr>
                        </m:ctrlPr>
                      </m:dPr>
                      <m:e>
                        <m:r>
                          <a:rPr lang="en-US" altLang="ko-KR" i="1">
                            <a:latin typeface="Cambria Math" panose="02040503050406030204" pitchFamily="18" charset="0"/>
                          </a:rPr>
                          <m:t>𝑧</m:t>
                        </m:r>
                      </m:e>
                    </m:d>
                    <m:r>
                      <a:rPr lang="en-US" altLang="ko-KR" i="1">
                        <a:latin typeface="Cambria Math" panose="02040503050406030204" pitchFamily="18" charset="0"/>
                      </a:rPr>
                      <m:t>=</m:t>
                    </m:r>
                    <m:r>
                      <a:rPr lang="en-US" altLang="ko-KR" i="1">
                        <a:latin typeface="Cambria Math" panose="02040503050406030204" pitchFamily="18" charset="0"/>
                      </a:rPr>
                      <m:t>𝑃</m:t>
                    </m:r>
                    <m:d>
                      <m:dPr>
                        <m:ctrlPr>
                          <a:rPr lang="en-US" altLang="ko-KR" i="1">
                            <a:latin typeface="Cambria Math" panose="02040503050406030204" pitchFamily="18" charset="0"/>
                          </a:rPr>
                        </m:ctrlPr>
                      </m:dPr>
                      <m:e>
                        <m:r>
                          <a:rPr lang="en-US" altLang="ko-KR" i="1">
                            <a:latin typeface="Cambria Math" panose="02040503050406030204" pitchFamily="18" charset="0"/>
                          </a:rPr>
                          <m:t>𝑍</m:t>
                        </m:r>
                      </m:e>
                      <m:e>
                        <m:r>
                          <a:rPr lang="en-US" altLang="ko-KR" i="1">
                            <a:latin typeface="Cambria Math" panose="02040503050406030204" pitchFamily="18" charset="0"/>
                          </a:rPr>
                          <m:t>𝑋</m:t>
                        </m:r>
                        <m:r>
                          <a:rPr lang="en-US" altLang="ko-KR" i="1">
                            <a:latin typeface="Cambria Math" panose="02040503050406030204" pitchFamily="18" charset="0"/>
                          </a:rPr>
                          <m:t>,</m:t>
                        </m:r>
                        <m:r>
                          <a:rPr lang="ko-KR" altLang="en-US" i="1">
                            <a:latin typeface="Cambria Math" panose="02040503050406030204" pitchFamily="18" charset="0"/>
                          </a:rPr>
                          <m:t>𝜃</m:t>
                        </m:r>
                      </m:e>
                    </m:d>
                  </m:oMath>
                </a14:m>
                <a:r>
                  <a:rPr lang="en-US" altLang="ko-KR" dirty="0" smtClean="0">
                    <a:sym typeface="Wingdings" panose="05000000000000000000" pitchFamily="2" charset="2"/>
                  </a:rPr>
                  <a:t></a:t>
                </a:r>
                <a:r>
                  <a:rPr lang="en-US" altLang="ko-KR" b="1" dirty="0" smtClean="0">
                    <a:solidFill>
                      <a:srgbClr val="FF0000"/>
                    </a:solidFill>
                    <a:sym typeface="Wingdings" panose="05000000000000000000" pitchFamily="2" charset="2"/>
                  </a:rPr>
                  <a:t>Assign Z by </a:t>
                </a:r>
                <a14:m>
                  <m:oMath xmlns:m="http://schemas.openxmlformats.org/officeDocument/2006/math">
                    <m:r>
                      <a:rPr lang="en-US" altLang="ko-KR" b="1" i="1">
                        <a:solidFill>
                          <a:srgbClr val="FF0000"/>
                        </a:solidFill>
                        <a:latin typeface="Cambria Math" panose="02040503050406030204" pitchFamily="18" charset="0"/>
                      </a:rPr>
                      <m:t>𝑷</m:t>
                    </m:r>
                    <m:d>
                      <m:dPr>
                        <m:ctrlPr>
                          <a:rPr lang="en-US" altLang="ko-KR" b="1" i="1">
                            <a:solidFill>
                              <a:srgbClr val="FF0000"/>
                            </a:solidFill>
                            <a:latin typeface="Cambria Math" panose="02040503050406030204" pitchFamily="18" charset="0"/>
                          </a:rPr>
                        </m:ctrlPr>
                      </m:dPr>
                      <m:e>
                        <m:r>
                          <a:rPr lang="en-US" altLang="ko-KR" b="1" i="1">
                            <a:solidFill>
                              <a:srgbClr val="FF0000"/>
                            </a:solidFill>
                            <a:latin typeface="Cambria Math" panose="02040503050406030204" pitchFamily="18" charset="0"/>
                          </a:rPr>
                          <m:t>𝒁</m:t>
                        </m:r>
                      </m:e>
                      <m:e>
                        <m:r>
                          <a:rPr lang="en-US" altLang="ko-KR" b="1" i="1">
                            <a:solidFill>
                              <a:srgbClr val="FF0000"/>
                            </a:solidFill>
                            <a:latin typeface="Cambria Math" panose="02040503050406030204" pitchFamily="18" charset="0"/>
                          </a:rPr>
                          <m:t>𝑿</m:t>
                        </m:r>
                        <m:r>
                          <a:rPr lang="en-US" altLang="ko-KR" b="1" i="1">
                            <a:solidFill>
                              <a:srgbClr val="FF0000"/>
                            </a:solidFill>
                            <a:latin typeface="Cambria Math" panose="02040503050406030204" pitchFamily="18" charset="0"/>
                          </a:rPr>
                          <m:t>,</m:t>
                        </m:r>
                        <m:r>
                          <a:rPr lang="ko-KR" altLang="en-US" b="1" i="1">
                            <a:solidFill>
                              <a:srgbClr val="FF0000"/>
                            </a:solidFill>
                            <a:latin typeface="Cambria Math" panose="02040503050406030204" pitchFamily="18" charset="0"/>
                          </a:rPr>
                          <m:t>𝜽</m:t>
                        </m:r>
                      </m:e>
                    </m:d>
                  </m:oMath>
                </a14:m>
                <a:endParaRPr lang="en-US" altLang="ko-KR" b="1" dirty="0" smtClean="0"/>
              </a:p>
              <a:p>
                <a:pPr lvl="2"/>
                <a:r>
                  <a:rPr lang="en-US" altLang="ko-KR" dirty="0" smtClean="0"/>
                  <a:t>Maximization step</a:t>
                </a:r>
              </a:p>
              <a:p>
                <a:pPr lvl="3"/>
                <a14:m>
                  <m:oMath xmlns:m="http://schemas.openxmlformats.org/officeDocument/2006/math">
                    <m:sSup>
                      <m:sSupPr>
                        <m:ctrlPr>
                          <a:rPr lang="en-US" altLang="ko-KR" i="1">
                            <a:latin typeface="Cambria Math" panose="02040503050406030204" pitchFamily="18" charset="0"/>
                          </a:rPr>
                        </m:ctrlPr>
                      </m:sSupPr>
                      <m:e>
                        <m:r>
                          <a:rPr lang="ko-KR" altLang="en-US" i="1">
                            <a:latin typeface="Cambria Math" panose="02040503050406030204" pitchFamily="18" charset="0"/>
                          </a:rPr>
                          <m:t>𝜃</m:t>
                        </m:r>
                      </m:e>
                      <m:sup>
                        <m:r>
                          <a:rPr lang="en-US" altLang="ko-KR" i="1">
                            <a:latin typeface="Cambria Math" panose="02040503050406030204" pitchFamily="18" charset="0"/>
                          </a:rPr>
                          <m:t>𝑡</m:t>
                        </m:r>
                        <m:r>
                          <a:rPr lang="en-US" altLang="ko-KR" b="0" i="1" smtClean="0">
                            <a:latin typeface="Cambria Math" panose="02040503050406030204" pitchFamily="18" charset="0"/>
                          </a:rPr>
                          <m:t>+1</m:t>
                        </m:r>
                      </m:sup>
                    </m:sSup>
                    <m:r>
                      <a:rPr lang="en-US" altLang="ko-KR" i="1">
                        <a:latin typeface="Cambria Math" panose="02040503050406030204" pitchFamily="18" charset="0"/>
                      </a:rPr>
                      <m:t>=</m:t>
                    </m:r>
                    <m:sSub>
                      <m:sSubPr>
                        <m:ctrlPr>
                          <a:rPr lang="en-US" altLang="ko-KR" i="1">
                            <a:latin typeface="Cambria Math" panose="02040503050406030204" pitchFamily="18" charset="0"/>
                          </a:rPr>
                        </m:ctrlPr>
                      </m:sSubPr>
                      <m:e>
                        <m:r>
                          <a:rPr lang="en-US" altLang="ko-KR" i="1">
                            <a:latin typeface="Cambria Math" panose="02040503050406030204" pitchFamily="18" charset="0"/>
                          </a:rPr>
                          <m:t>𝑎𝑟𝑔𝑚𝑎𝑥</m:t>
                        </m:r>
                      </m:e>
                      <m:sub>
                        <m:r>
                          <a:rPr lang="ko-KR" altLang="en-US" i="1">
                            <a:latin typeface="Cambria Math" panose="02040503050406030204" pitchFamily="18" charset="0"/>
                          </a:rPr>
                          <m:t>𝜃</m:t>
                        </m:r>
                      </m:sub>
                    </m:sSub>
                    <m:r>
                      <a:rPr lang="en-US" altLang="ko-KR" i="1">
                        <a:latin typeface="Cambria Math" panose="02040503050406030204" pitchFamily="18" charset="0"/>
                      </a:rPr>
                      <m:t>𝑄</m:t>
                    </m:r>
                    <m:d>
                      <m:dPr>
                        <m:ctrlPr>
                          <a:rPr lang="en-US" altLang="ko-KR" i="1">
                            <a:latin typeface="Cambria Math" panose="02040503050406030204" pitchFamily="18" charset="0"/>
                          </a:rPr>
                        </m:ctrlPr>
                      </m:dPr>
                      <m:e>
                        <m:r>
                          <a:rPr lang="ko-KR" altLang="en-US" i="1">
                            <a:latin typeface="Cambria Math" panose="02040503050406030204" pitchFamily="18" charset="0"/>
                          </a:rPr>
                          <m:t>𝜃</m:t>
                        </m:r>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𝑞</m:t>
                            </m:r>
                          </m:e>
                          <m:sup>
                            <m:r>
                              <a:rPr lang="en-US" altLang="ko-KR" i="1">
                                <a:latin typeface="Cambria Math" panose="02040503050406030204" pitchFamily="18" charset="0"/>
                              </a:rPr>
                              <m:t>𝑡</m:t>
                            </m:r>
                            <m:r>
                              <a:rPr lang="en-US" altLang="ko-KR" i="1">
                                <a:latin typeface="Cambria Math" panose="02040503050406030204" pitchFamily="18" charset="0"/>
                              </a:rPr>
                              <m:t>+1</m:t>
                            </m:r>
                          </m:sup>
                        </m:sSup>
                      </m:e>
                    </m:d>
                    <m:r>
                      <a:rPr lang="en-US" altLang="ko-KR" i="1">
                        <a:latin typeface="Cambria Math" panose="02040503050406030204" pitchFamily="18" charset="0"/>
                      </a:rPr>
                      <m:t>=</m:t>
                    </m:r>
                    <m:sSub>
                      <m:sSubPr>
                        <m:ctrlPr>
                          <a:rPr lang="en-US" altLang="ko-KR" i="1">
                            <a:latin typeface="Cambria Math" panose="02040503050406030204" pitchFamily="18" charset="0"/>
                          </a:rPr>
                        </m:ctrlPr>
                      </m:sSubPr>
                      <m:e>
                        <m:r>
                          <a:rPr lang="en-US" altLang="ko-KR" i="1">
                            <a:latin typeface="Cambria Math" panose="02040503050406030204" pitchFamily="18" charset="0"/>
                          </a:rPr>
                          <m:t>𝑎𝑟𝑔𝑚𝑎𝑥</m:t>
                        </m:r>
                      </m:e>
                      <m:sub>
                        <m:r>
                          <a:rPr lang="ko-KR" altLang="en-US" i="1">
                            <a:latin typeface="Cambria Math" panose="02040503050406030204" pitchFamily="18" charset="0"/>
                          </a:rPr>
                          <m:t>𝜃</m:t>
                        </m:r>
                      </m:sub>
                    </m:sSub>
                    <m:r>
                      <a:rPr lang="en-US" altLang="ko-KR" i="1">
                        <a:latin typeface="Cambria Math" panose="02040503050406030204" pitchFamily="18" charset="0"/>
                      </a:rPr>
                      <m:t>𝐿</m:t>
                    </m:r>
                    <m:d>
                      <m:dPr>
                        <m:ctrlPr>
                          <a:rPr lang="en-US" altLang="ko-KR" i="1">
                            <a:latin typeface="Cambria Math" panose="02040503050406030204" pitchFamily="18" charset="0"/>
                          </a:rPr>
                        </m:ctrlPr>
                      </m:dPr>
                      <m:e>
                        <m:r>
                          <a:rPr lang="ko-KR" altLang="en-US" i="1">
                            <a:latin typeface="Cambria Math" panose="02040503050406030204" pitchFamily="18" charset="0"/>
                          </a:rPr>
                          <m:t>𝜃</m:t>
                        </m:r>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𝑞</m:t>
                            </m:r>
                          </m:e>
                          <m:sup>
                            <m:r>
                              <a:rPr lang="en-US" altLang="ko-KR" i="1">
                                <a:latin typeface="Cambria Math" panose="02040503050406030204" pitchFamily="18" charset="0"/>
                              </a:rPr>
                              <m:t>𝑡</m:t>
                            </m:r>
                            <m:r>
                              <a:rPr lang="en-US" altLang="ko-KR" i="1">
                                <a:latin typeface="Cambria Math" panose="02040503050406030204" pitchFamily="18" charset="0"/>
                              </a:rPr>
                              <m:t>+1</m:t>
                            </m:r>
                          </m:sup>
                        </m:sSup>
                      </m:e>
                    </m:d>
                  </m:oMath>
                </a14:m>
                <a:endParaRPr lang="en-US" altLang="ko-KR" dirty="0"/>
              </a:p>
              <a:p>
                <a:pPr lvl="3"/>
                <a:r>
                  <a:rPr lang="en-US" altLang="ko-KR" dirty="0" smtClean="0">
                    <a:sym typeface="Wingdings" panose="05000000000000000000" pitchFamily="2" charset="2"/>
                  </a:rPr>
                  <a:t> fixed Z means that there is no unobserved variables </a:t>
                </a:r>
              </a:p>
              <a:p>
                <a:pPr lvl="3"/>
                <a:r>
                  <a:rPr lang="en-US" altLang="ko-KR" dirty="0">
                    <a:sym typeface="Wingdings" panose="05000000000000000000" pitchFamily="2" charset="2"/>
                  </a:rPr>
                  <a:t> </a:t>
                </a:r>
                <a:r>
                  <a:rPr lang="en-US" altLang="ko-KR" dirty="0" smtClean="0">
                    <a:sym typeface="Wingdings" panose="05000000000000000000" pitchFamily="2" charset="2"/>
                  </a:rPr>
                  <a:t>Same optimization of ordinary MLE</a:t>
                </a:r>
              </a:p>
              <a:p>
                <a:pPr lvl="1"/>
                <a:endParaRPr lang="ko-KR" altLang="en-US" dirty="0"/>
              </a:p>
              <a:p>
                <a:pPr lvl="2"/>
                <a:endParaRPr lang="ko-KR" alt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t="-867"/>
                </a:stretch>
              </a:blipFill>
            </p:spPr>
            <p:txBody>
              <a:bodyPr/>
              <a:lstStyle/>
              <a:p>
                <a:r>
                  <a:rPr lang="ko-KR" altLang="en-US">
                    <a:noFill/>
                  </a:rPr>
                  <a:t> </a:t>
                </a:r>
              </a:p>
            </p:txBody>
          </p:sp>
        </mc:Fallback>
      </mc:AlternateContent>
      <p:sp>
        <p:nvSpPr>
          <p:cNvPr id="4" name="Slide Number Placeholder 3"/>
          <p:cNvSpPr>
            <a:spLocks noGrp="1"/>
          </p:cNvSpPr>
          <p:nvPr>
            <p:ph type="sldNum" sz="quarter" idx="12"/>
          </p:nvPr>
        </p:nvSpPr>
        <p:spPr/>
        <p:txBody>
          <a:bodyPr/>
          <a:lstStyle/>
          <a:p>
            <a:fld id="{BE724988-F29F-40C4-BC4D-1B33ED99622A}" type="slidenum">
              <a:rPr lang="ko-KR" altLang="en-US" smtClean="0"/>
              <a:t>4</a:t>
            </a:fld>
            <a:endParaRPr lang="ko-KR" altLang="en-US"/>
          </a:p>
        </p:txBody>
      </p:sp>
      <mc:AlternateContent xmlns:mc="http://schemas.openxmlformats.org/markup-compatibility/2006" xmlns:a14="http://schemas.microsoft.com/office/drawing/2010/main">
        <mc:Choice Requires="a14">
          <p:sp>
            <p:nvSpPr>
              <p:cNvPr id="5" name="Rectangle 4"/>
              <p:cNvSpPr/>
              <p:nvPr/>
            </p:nvSpPr>
            <p:spPr>
              <a:xfrm>
                <a:off x="3941088" y="0"/>
                <a:ext cx="5202912" cy="1137619"/>
              </a:xfrm>
              <a:prstGeom prst="rect">
                <a:avLst/>
              </a:prstGeom>
            </p:spPr>
            <p:txBody>
              <a:bodyPr wrap="square">
                <a:spAutoFit/>
              </a:bodyPr>
              <a:lstStyle/>
              <a:p>
                <a:pPr marL="342900" lvl="1">
                  <a:buClr>
                    <a:schemeClr val="accent1"/>
                  </a:buClr>
                </a:pPr>
                <a14:m>
                  <m:oMathPara xmlns:m="http://schemas.openxmlformats.org/officeDocument/2006/math">
                    <m:oMathParaPr>
                      <m:jc m:val="centerGroup"/>
                    </m:oMathParaPr>
                    <m:oMath xmlns:m="http://schemas.openxmlformats.org/officeDocument/2006/math">
                      <m:r>
                        <a:rPr lang="en-US" altLang="ko-KR" sz="1100" i="1">
                          <a:latin typeface="Cambria Math" panose="02040503050406030204" pitchFamily="18" charset="0"/>
                          <a:ea typeface="Cambria Math" panose="02040503050406030204" pitchFamily="18" charset="0"/>
                        </a:rPr>
                        <m:t>𝑙</m:t>
                      </m:r>
                      <m:d>
                        <m:dPr>
                          <m:ctrlPr>
                            <a:rPr lang="en-US" altLang="ko-KR" sz="1100" i="1">
                              <a:latin typeface="Cambria Math" panose="02040503050406030204" pitchFamily="18" charset="0"/>
                              <a:ea typeface="Cambria Math" panose="02040503050406030204" pitchFamily="18" charset="0"/>
                            </a:rPr>
                          </m:ctrlPr>
                        </m:dPr>
                        <m:e>
                          <m:r>
                            <a:rPr lang="ko-KR" altLang="en-US" sz="1100" i="1">
                              <a:latin typeface="Cambria Math" panose="02040503050406030204" pitchFamily="18" charset="0"/>
                            </a:rPr>
                            <m:t>𝜃</m:t>
                          </m:r>
                        </m:e>
                      </m:d>
                      <m:r>
                        <a:rPr lang="en-US" altLang="ko-KR" sz="1100">
                          <a:latin typeface="Cambria Math" panose="02040503050406030204" pitchFamily="18" charset="0"/>
                        </a:rPr>
                        <m:t>=</m:t>
                      </m:r>
                      <m:r>
                        <m:rPr>
                          <m:sty m:val="p"/>
                        </m:rPr>
                        <a:rPr lang="en-US" altLang="ko-KR" sz="1100">
                          <a:latin typeface="Cambria Math" panose="02040503050406030204" pitchFamily="18" charset="0"/>
                          <a:ea typeface="Cambria Math" panose="02040503050406030204" pitchFamily="18" charset="0"/>
                        </a:rPr>
                        <m:t>ln</m:t>
                      </m:r>
                      <m:r>
                        <a:rPr lang="en-US" altLang="ko-KR" sz="1100" i="1">
                          <a:latin typeface="Cambria Math" panose="02040503050406030204" pitchFamily="18" charset="0"/>
                        </a:rPr>
                        <m:t>𝑃</m:t>
                      </m:r>
                      <m:d>
                        <m:dPr>
                          <m:ctrlPr>
                            <a:rPr lang="en-US" altLang="ko-KR" sz="1100" i="1">
                              <a:latin typeface="Cambria Math" panose="02040503050406030204" pitchFamily="18" charset="0"/>
                            </a:rPr>
                          </m:ctrlPr>
                        </m:dPr>
                        <m:e>
                          <m:r>
                            <a:rPr lang="en-US" altLang="ko-KR" sz="1100" i="1">
                              <a:latin typeface="Cambria Math" panose="02040503050406030204" pitchFamily="18" charset="0"/>
                            </a:rPr>
                            <m:t>𝑋</m:t>
                          </m:r>
                        </m:e>
                        <m:e>
                          <m:r>
                            <a:rPr lang="ko-KR" altLang="en-US" sz="1100" i="1">
                              <a:latin typeface="Cambria Math" panose="02040503050406030204" pitchFamily="18" charset="0"/>
                            </a:rPr>
                            <m:t>𝜃</m:t>
                          </m:r>
                        </m:e>
                      </m:d>
                      <m:r>
                        <a:rPr lang="en-US" altLang="ko-KR" sz="1100" i="1">
                          <a:latin typeface="Cambria Math" panose="02040503050406030204" pitchFamily="18" charset="0"/>
                        </a:rPr>
                        <m:t>=</m:t>
                      </m:r>
                      <m:r>
                        <m:rPr>
                          <m:sty m:val="p"/>
                        </m:rPr>
                        <a:rPr lang="en-US" altLang="ko-KR" sz="1100">
                          <a:latin typeface="Cambria Math" panose="02040503050406030204" pitchFamily="18" charset="0"/>
                          <a:ea typeface="Cambria Math" panose="02040503050406030204" pitchFamily="18" charset="0"/>
                        </a:rPr>
                        <m:t>ln</m:t>
                      </m:r>
                      <m:d>
                        <m:dPr>
                          <m:begChr m:val="{"/>
                          <m:endChr m:val="}"/>
                          <m:ctrlPr>
                            <a:rPr lang="en-US" altLang="ko-KR" sz="1100" i="1">
                              <a:latin typeface="Cambria Math" panose="02040503050406030204" pitchFamily="18" charset="0"/>
                              <a:ea typeface="Cambria Math" panose="02040503050406030204" pitchFamily="18" charset="0"/>
                            </a:rPr>
                          </m:ctrlPr>
                        </m:dPr>
                        <m:e>
                          <m:nary>
                            <m:naryPr>
                              <m:chr m:val="∑"/>
                              <m:supHide m:val="on"/>
                              <m:ctrlPr>
                                <a:rPr lang="en-US" altLang="ko-KR" sz="1100" i="1">
                                  <a:latin typeface="Cambria Math" panose="02040503050406030204" pitchFamily="18" charset="0"/>
                                </a:rPr>
                              </m:ctrlPr>
                            </m:naryPr>
                            <m:sub>
                              <m:r>
                                <m:rPr>
                                  <m:brk m:alnAt="7"/>
                                </m:rPr>
                                <a:rPr lang="en-US" altLang="ko-KR" sz="1100" i="1">
                                  <a:latin typeface="Cambria Math" panose="02040503050406030204" pitchFamily="18" charset="0"/>
                                </a:rPr>
                                <m:t>𝑍</m:t>
                              </m:r>
                            </m:sub>
                            <m:sup/>
                            <m:e>
                              <m:r>
                                <a:rPr lang="en-US" altLang="ko-KR" sz="1100" i="1">
                                  <a:latin typeface="Cambria Math" panose="02040503050406030204" pitchFamily="18" charset="0"/>
                                </a:rPr>
                                <m:t>𝑞</m:t>
                              </m:r>
                              <m:d>
                                <m:dPr>
                                  <m:ctrlPr>
                                    <a:rPr lang="en-US" altLang="ko-KR" sz="1100" i="1">
                                      <a:latin typeface="Cambria Math" panose="02040503050406030204" pitchFamily="18" charset="0"/>
                                    </a:rPr>
                                  </m:ctrlPr>
                                </m:dPr>
                                <m:e>
                                  <m:r>
                                    <a:rPr lang="en-US" altLang="ko-KR" sz="1100" i="1">
                                      <a:latin typeface="Cambria Math" panose="02040503050406030204" pitchFamily="18" charset="0"/>
                                    </a:rPr>
                                    <m:t>𝑍</m:t>
                                  </m:r>
                                </m:e>
                              </m:d>
                              <m:f>
                                <m:fPr>
                                  <m:ctrlPr>
                                    <a:rPr lang="en-US" altLang="ko-KR" sz="1100" i="1">
                                      <a:latin typeface="Cambria Math" panose="02040503050406030204" pitchFamily="18" charset="0"/>
                                    </a:rPr>
                                  </m:ctrlPr>
                                </m:fPr>
                                <m:num>
                                  <m:r>
                                    <a:rPr lang="en-US" altLang="ko-KR" sz="1100" i="1">
                                      <a:latin typeface="Cambria Math" panose="02040503050406030204" pitchFamily="18" charset="0"/>
                                    </a:rPr>
                                    <m:t>𝑃</m:t>
                                  </m:r>
                                  <m:d>
                                    <m:dPr>
                                      <m:ctrlPr>
                                        <a:rPr lang="en-US" altLang="ko-KR" sz="1100" i="1">
                                          <a:latin typeface="Cambria Math" panose="02040503050406030204" pitchFamily="18" charset="0"/>
                                        </a:rPr>
                                      </m:ctrlPr>
                                    </m:dPr>
                                    <m:e>
                                      <m:r>
                                        <a:rPr lang="en-US" altLang="ko-KR" sz="1100" i="1">
                                          <a:latin typeface="Cambria Math" panose="02040503050406030204" pitchFamily="18" charset="0"/>
                                        </a:rPr>
                                        <m:t>𝑋</m:t>
                                      </m:r>
                                      <m:r>
                                        <a:rPr lang="en-US" altLang="ko-KR" sz="1100" i="1">
                                          <a:latin typeface="Cambria Math" panose="02040503050406030204" pitchFamily="18" charset="0"/>
                                        </a:rPr>
                                        <m:t>,</m:t>
                                      </m:r>
                                      <m:r>
                                        <a:rPr lang="en-US" altLang="ko-KR" sz="1100" i="1">
                                          <a:latin typeface="Cambria Math" panose="02040503050406030204" pitchFamily="18" charset="0"/>
                                        </a:rPr>
                                        <m:t>𝑍</m:t>
                                      </m:r>
                                    </m:e>
                                    <m:e>
                                      <m:r>
                                        <a:rPr lang="ko-KR" altLang="en-US" sz="1100" i="1">
                                          <a:latin typeface="Cambria Math" panose="02040503050406030204" pitchFamily="18" charset="0"/>
                                        </a:rPr>
                                        <m:t>𝜃</m:t>
                                      </m:r>
                                    </m:e>
                                  </m:d>
                                </m:num>
                                <m:den>
                                  <m:r>
                                    <a:rPr lang="en-US" altLang="ko-KR" sz="1100" i="1">
                                      <a:latin typeface="Cambria Math" panose="02040503050406030204" pitchFamily="18" charset="0"/>
                                    </a:rPr>
                                    <m:t>𝑞</m:t>
                                  </m:r>
                                  <m:d>
                                    <m:dPr>
                                      <m:ctrlPr>
                                        <a:rPr lang="en-US" altLang="ko-KR" sz="1100" i="1">
                                          <a:latin typeface="Cambria Math" panose="02040503050406030204" pitchFamily="18" charset="0"/>
                                        </a:rPr>
                                      </m:ctrlPr>
                                    </m:dPr>
                                    <m:e>
                                      <m:r>
                                        <a:rPr lang="en-US" altLang="ko-KR" sz="1100" i="1">
                                          <a:latin typeface="Cambria Math" panose="02040503050406030204" pitchFamily="18" charset="0"/>
                                        </a:rPr>
                                        <m:t>𝑍</m:t>
                                      </m:r>
                                    </m:e>
                                  </m:d>
                                </m:den>
                              </m:f>
                            </m:e>
                          </m:nary>
                        </m:e>
                      </m:d>
                      <m:r>
                        <a:rPr lang="en-US" altLang="ko-KR" sz="1100" i="1">
                          <a:latin typeface="Cambria Math" panose="02040503050406030204" pitchFamily="18" charset="0"/>
                          <a:ea typeface="Cambria Math" panose="02040503050406030204" pitchFamily="18" charset="0"/>
                        </a:rPr>
                        <m:t>≥</m:t>
                      </m:r>
                      <m:nary>
                        <m:naryPr>
                          <m:chr m:val="∑"/>
                          <m:supHide m:val="on"/>
                          <m:ctrlPr>
                            <a:rPr lang="en-US" altLang="ko-KR" sz="1100" i="1">
                              <a:latin typeface="Cambria Math" panose="02040503050406030204" pitchFamily="18" charset="0"/>
                            </a:rPr>
                          </m:ctrlPr>
                        </m:naryPr>
                        <m:sub>
                          <m:r>
                            <m:rPr>
                              <m:brk m:alnAt="7"/>
                            </m:rPr>
                            <a:rPr lang="en-US" altLang="ko-KR" sz="1100" i="1">
                              <a:latin typeface="Cambria Math" panose="02040503050406030204" pitchFamily="18" charset="0"/>
                            </a:rPr>
                            <m:t>𝑍</m:t>
                          </m:r>
                        </m:sub>
                        <m:sup/>
                        <m:e>
                          <m:r>
                            <a:rPr lang="en-US" altLang="ko-KR" sz="1100" i="1">
                              <a:latin typeface="Cambria Math" panose="02040503050406030204" pitchFamily="18" charset="0"/>
                            </a:rPr>
                            <m:t>𝑞</m:t>
                          </m:r>
                          <m:r>
                            <a:rPr lang="en-US" altLang="ko-KR" sz="1100" i="1">
                              <a:latin typeface="Cambria Math" panose="02040503050406030204" pitchFamily="18" charset="0"/>
                            </a:rPr>
                            <m:t>(</m:t>
                          </m:r>
                          <m:r>
                            <a:rPr lang="en-US" altLang="ko-KR" sz="1100" i="1">
                              <a:latin typeface="Cambria Math" panose="02040503050406030204" pitchFamily="18" charset="0"/>
                            </a:rPr>
                            <m:t>𝑍</m:t>
                          </m:r>
                          <m:r>
                            <a:rPr lang="en-US" altLang="ko-KR" sz="1100" i="1">
                              <a:latin typeface="Cambria Math" panose="02040503050406030204" pitchFamily="18" charset="0"/>
                            </a:rPr>
                            <m:t>)</m:t>
                          </m:r>
                          <m:r>
                            <m:rPr>
                              <m:sty m:val="p"/>
                            </m:rPr>
                            <a:rPr lang="en-US" altLang="ko-KR" sz="1100">
                              <a:latin typeface="Cambria Math" panose="02040503050406030204" pitchFamily="18" charset="0"/>
                            </a:rPr>
                            <m:t>ln</m:t>
                          </m:r>
                          <m:f>
                            <m:fPr>
                              <m:ctrlPr>
                                <a:rPr lang="en-US" altLang="ko-KR" sz="1100" i="1">
                                  <a:latin typeface="Cambria Math" panose="02040503050406030204" pitchFamily="18" charset="0"/>
                                </a:rPr>
                              </m:ctrlPr>
                            </m:fPr>
                            <m:num>
                              <m:r>
                                <a:rPr lang="en-US" altLang="ko-KR" sz="1100" i="1">
                                  <a:latin typeface="Cambria Math" panose="02040503050406030204" pitchFamily="18" charset="0"/>
                                </a:rPr>
                                <m:t>𝑃</m:t>
                              </m:r>
                              <m:d>
                                <m:dPr>
                                  <m:ctrlPr>
                                    <a:rPr lang="en-US" altLang="ko-KR" sz="1100" i="1">
                                      <a:latin typeface="Cambria Math" panose="02040503050406030204" pitchFamily="18" charset="0"/>
                                    </a:rPr>
                                  </m:ctrlPr>
                                </m:dPr>
                                <m:e>
                                  <m:r>
                                    <a:rPr lang="en-US" altLang="ko-KR" sz="1100" i="1">
                                      <a:latin typeface="Cambria Math" panose="02040503050406030204" pitchFamily="18" charset="0"/>
                                    </a:rPr>
                                    <m:t>𝑋</m:t>
                                  </m:r>
                                  <m:r>
                                    <a:rPr lang="en-US" altLang="ko-KR" sz="1100" i="1">
                                      <a:latin typeface="Cambria Math" panose="02040503050406030204" pitchFamily="18" charset="0"/>
                                    </a:rPr>
                                    <m:t>,</m:t>
                                  </m:r>
                                  <m:r>
                                    <a:rPr lang="en-US" altLang="ko-KR" sz="1100" i="1">
                                      <a:latin typeface="Cambria Math" panose="02040503050406030204" pitchFamily="18" charset="0"/>
                                    </a:rPr>
                                    <m:t>𝑍</m:t>
                                  </m:r>
                                </m:e>
                                <m:e>
                                  <m:r>
                                    <a:rPr lang="ko-KR" altLang="en-US" sz="1100" i="1">
                                      <a:latin typeface="Cambria Math" panose="02040503050406030204" pitchFamily="18" charset="0"/>
                                    </a:rPr>
                                    <m:t>𝜃</m:t>
                                  </m:r>
                                </m:e>
                              </m:d>
                            </m:num>
                            <m:den>
                              <m:r>
                                <a:rPr lang="en-US" altLang="ko-KR" sz="1100" i="1">
                                  <a:latin typeface="Cambria Math" panose="02040503050406030204" pitchFamily="18" charset="0"/>
                                </a:rPr>
                                <m:t>𝑞</m:t>
                              </m:r>
                              <m:r>
                                <a:rPr lang="en-US" altLang="ko-KR" sz="1100" i="1">
                                  <a:latin typeface="Cambria Math" panose="02040503050406030204" pitchFamily="18" charset="0"/>
                                </a:rPr>
                                <m:t>(</m:t>
                              </m:r>
                              <m:r>
                                <a:rPr lang="en-US" altLang="ko-KR" sz="1100" i="1">
                                  <a:latin typeface="Cambria Math" panose="02040503050406030204" pitchFamily="18" charset="0"/>
                                </a:rPr>
                                <m:t>𝑍</m:t>
                              </m:r>
                              <m:r>
                                <a:rPr lang="en-US" altLang="ko-KR" sz="1100" i="1">
                                  <a:latin typeface="Cambria Math" panose="02040503050406030204" pitchFamily="18" charset="0"/>
                                </a:rPr>
                                <m:t>)</m:t>
                              </m:r>
                            </m:den>
                          </m:f>
                        </m:e>
                      </m:nary>
                      <m:r>
                        <a:rPr lang="en-US" altLang="ko-KR" sz="1100" i="1">
                          <a:latin typeface="Cambria Math" panose="02040503050406030204" pitchFamily="18" charset="0"/>
                        </a:rPr>
                        <m:t>=</m:t>
                      </m:r>
                      <m:r>
                        <a:rPr lang="en-US" altLang="ko-KR" sz="1100" i="1">
                          <a:latin typeface="Cambria Math" panose="02040503050406030204" pitchFamily="18" charset="0"/>
                        </a:rPr>
                        <m:t>𝑄</m:t>
                      </m:r>
                      <m:d>
                        <m:dPr>
                          <m:ctrlPr>
                            <a:rPr lang="en-US" altLang="ko-KR" sz="1100" i="1">
                              <a:latin typeface="Cambria Math" panose="02040503050406030204" pitchFamily="18" charset="0"/>
                            </a:rPr>
                          </m:ctrlPr>
                        </m:dPr>
                        <m:e>
                          <m:r>
                            <a:rPr lang="ko-KR" altLang="en-US" sz="1100" i="1">
                              <a:latin typeface="Cambria Math" panose="02040503050406030204" pitchFamily="18" charset="0"/>
                            </a:rPr>
                            <m:t>𝜃</m:t>
                          </m:r>
                          <m:r>
                            <a:rPr lang="en-US" altLang="ko-KR" sz="1100" i="1">
                              <a:latin typeface="Cambria Math" panose="02040503050406030204" pitchFamily="18" charset="0"/>
                            </a:rPr>
                            <m:t>,</m:t>
                          </m:r>
                          <m:r>
                            <a:rPr lang="en-US" altLang="ko-KR" sz="1100" i="1">
                              <a:latin typeface="Cambria Math" panose="02040503050406030204" pitchFamily="18" charset="0"/>
                            </a:rPr>
                            <m:t>𝑞</m:t>
                          </m:r>
                        </m:e>
                      </m:d>
                    </m:oMath>
                  </m:oMathPara>
                </a14:m>
                <a:endParaRPr lang="en-US" altLang="ko-KR" sz="1100" dirty="0"/>
              </a:p>
              <a:p>
                <a:pPr lvl="1"/>
                <a14:m>
                  <m:oMathPara xmlns:m="http://schemas.openxmlformats.org/officeDocument/2006/math">
                    <m:oMathParaPr>
                      <m:jc m:val="centerGroup"/>
                    </m:oMathParaPr>
                    <m:oMath xmlns:m="http://schemas.openxmlformats.org/officeDocument/2006/math">
                      <m:r>
                        <a:rPr lang="en-US" altLang="ko-KR" sz="1100" i="1">
                          <a:latin typeface="Cambria Math" panose="02040503050406030204" pitchFamily="18" charset="0"/>
                        </a:rPr>
                        <m:t>𝑄</m:t>
                      </m:r>
                      <m:d>
                        <m:dPr>
                          <m:ctrlPr>
                            <a:rPr lang="en-US" altLang="ko-KR" sz="1100" i="1">
                              <a:latin typeface="Cambria Math" panose="02040503050406030204" pitchFamily="18" charset="0"/>
                            </a:rPr>
                          </m:ctrlPr>
                        </m:dPr>
                        <m:e>
                          <m:r>
                            <a:rPr lang="ko-KR" altLang="en-US" sz="1100" i="1">
                              <a:latin typeface="Cambria Math" panose="02040503050406030204" pitchFamily="18" charset="0"/>
                            </a:rPr>
                            <m:t>𝜃</m:t>
                          </m:r>
                          <m:r>
                            <a:rPr lang="en-US" altLang="ko-KR" sz="1100" i="1">
                              <a:latin typeface="Cambria Math" panose="02040503050406030204" pitchFamily="18" charset="0"/>
                            </a:rPr>
                            <m:t>,</m:t>
                          </m:r>
                          <m:r>
                            <a:rPr lang="en-US" altLang="ko-KR" sz="1100" i="1">
                              <a:latin typeface="Cambria Math" panose="02040503050406030204" pitchFamily="18" charset="0"/>
                            </a:rPr>
                            <m:t>𝑞</m:t>
                          </m:r>
                        </m:e>
                      </m:d>
                      <m:r>
                        <a:rPr lang="en-US" altLang="ko-KR" sz="1100" i="1">
                          <a:latin typeface="Cambria Math" panose="02040503050406030204" pitchFamily="18" charset="0"/>
                        </a:rPr>
                        <m:t>=</m:t>
                      </m:r>
                      <m:sSub>
                        <m:sSubPr>
                          <m:ctrlPr>
                            <a:rPr lang="en-US" altLang="ko-KR" sz="1100" i="1">
                              <a:latin typeface="Cambria Math" panose="02040503050406030204" pitchFamily="18" charset="0"/>
                            </a:rPr>
                          </m:ctrlPr>
                        </m:sSubPr>
                        <m:e>
                          <m:r>
                            <a:rPr lang="en-US" altLang="ko-KR" sz="1100" i="1">
                              <a:latin typeface="Cambria Math" panose="02040503050406030204" pitchFamily="18" charset="0"/>
                            </a:rPr>
                            <m:t>𝐸</m:t>
                          </m:r>
                        </m:e>
                        <m:sub>
                          <m:r>
                            <a:rPr lang="en-US" altLang="ko-KR" sz="1100" i="1">
                              <a:latin typeface="Cambria Math" panose="02040503050406030204" pitchFamily="18" charset="0"/>
                            </a:rPr>
                            <m:t>𝑞</m:t>
                          </m:r>
                          <m:d>
                            <m:dPr>
                              <m:ctrlPr>
                                <a:rPr lang="en-US" altLang="ko-KR" sz="1100" i="1">
                                  <a:latin typeface="Cambria Math" panose="02040503050406030204" pitchFamily="18" charset="0"/>
                                </a:rPr>
                              </m:ctrlPr>
                            </m:dPr>
                            <m:e>
                              <m:r>
                                <a:rPr lang="en-US" altLang="ko-KR" sz="1100" i="1">
                                  <a:latin typeface="Cambria Math" panose="02040503050406030204" pitchFamily="18" charset="0"/>
                                </a:rPr>
                                <m:t>𝑍</m:t>
                              </m:r>
                            </m:e>
                          </m:d>
                        </m:sub>
                      </m:sSub>
                      <m:r>
                        <m:rPr>
                          <m:sty m:val="p"/>
                        </m:rPr>
                        <a:rPr lang="en-US" altLang="ko-KR" sz="1100">
                          <a:latin typeface="Cambria Math" panose="02040503050406030204" pitchFamily="18" charset="0"/>
                        </a:rPr>
                        <m:t>ln</m:t>
                      </m:r>
                      <m:r>
                        <a:rPr lang="en-US" altLang="ko-KR" sz="1100" i="1">
                          <a:latin typeface="Cambria Math" panose="02040503050406030204" pitchFamily="18" charset="0"/>
                        </a:rPr>
                        <m:t>𝑃</m:t>
                      </m:r>
                      <m:d>
                        <m:dPr>
                          <m:ctrlPr>
                            <a:rPr lang="en-US" altLang="ko-KR" sz="1100" i="1">
                              <a:latin typeface="Cambria Math" panose="02040503050406030204" pitchFamily="18" charset="0"/>
                            </a:rPr>
                          </m:ctrlPr>
                        </m:dPr>
                        <m:e>
                          <m:r>
                            <a:rPr lang="en-US" altLang="ko-KR" sz="1100" i="1">
                              <a:latin typeface="Cambria Math" panose="02040503050406030204" pitchFamily="18" charset="0"/>
                            </a:rPr>
                            <m:t>𝑋</m:t>
                          </m:r>
                          <m:r>
                            <a:rPr lang="en-US" altLang="ko-KR" sz="1100" i="1">
                              <a:latin typeface="Cambria Math" panose="02040503050406030204" pitchFamily="18" charset="0"/>
                            </a:rPr>
                            <m:t>,</m:t>
                          </m:r>
                          <m:r>
                            <a:rPr lang="en-US" altLang="ko-KR" sz="1100" i="1">
                              <a:latin typeface="Cambria Math" panose="02040503050406030204" pitchFamily="18" charset="0"/>
                            </a:rPr>
                            <m:t>𝑍</m:t>
                          </m:r>
                        </m:e>
                        <m:e>
                          <m:r>
                            <a:rPr lang="ko-KR" altLang="en-US" sz="1100" i="1">
                              <a:latin typeface="Cambria Math" panose="02040503050406030204" pitchFamily="18" charset="0"/>
                            </a:rPr>
                            <m:t>𝜃</m:t>
                          </m:r>
                        </m:e>
                      </m:d>
                      <m:r>
                        <a:rPr lang="en-US" altLang="ko-KR" sz="1100" i="1">
                          <a:latin typeface="Cambria Math" panose="02040503050406030204" pitchFamily="18" charset="0"/>
                        </a:rPr>
                        <m:t>+</m:t>
                      </m:r>
                      <m:r>
                        <a:rPr lang="en-US" altLang="ko-KR" sz="1100" i="1">
                          <a:latin typeface="Cambria Math" panose="02040503050406030204" pitchFamily="18" charset="0"/>
                        </a:rPr>
                        <m:t>𝐻</m:t>
                      </m:r>
                      <m:d>
                        <m:dPr>
                          <m:ctrlPr>
                            <a:rPr lang="en-US" altLang="ko-KR" sz="1100" i="1">
                              <a:latin typeface="Cambria Math" panose="02040503050406030204" pitchFamily="18" charset="0"/>
                            </a:rPr>
                          </m:ctrlPr>
                        </m:dPr>
                        <m:e>
                          <m:r>
                            <a:rPr lang="en-US" altLang="ko-KR" sz="1100" i="1">
                              <a:latin typeface="Cambria Math" panose="02040503050406030204" pitchFamily="18" charset="0"/>
                            </a:rPr>
                            <m:t>𝑞</m:t>
                          </m:r>
                        </m:e>
                      </m:d>
                    </m:oMath>
                  </m:oMathPara>
                </a14:m>
                <a:endParaRPr lang="en-US" altLang="ko-KR" sz="1100" dirty="0"/>
              </a:p>
              <a:p>
                <a:pPr lvl="1"/>
                <a14:m>
                  <m:oMathPara xmlns:m="http://schemas.openxmlformats.org/officeDocument/2006/math">
                    <m:oMathParaPr>
                      <m:jc m:val="centerGroup"/>
                    </m:oMathParaPr>
                    <m:oMath xmlns:m="http://schemas.openxmlformats.org/officeDocument/2006/math">
                      <m:r>
                        <a:rPr lang="en-US" altLang="ko-KR" sz="1100" i="1">
                          <a:latin typeface="Cambria Math" panose="02040503050406030204" pitchFamily="18" charset="0"/>
                        </a:rPr>
                        <m:t>𝐿</m:t>
                      </m:r>
                      <m:r>
                        <a:rPr lang="en-US" altLang="ko-KR" sz="1100" i="1">
                          <a:latin typeface="Cambria Math" panose="02040503050406030204" pitchFamily="18" charset="0"/>
                        </a:rPr>
                        <m:t>(</m:t>
                      </m:r>
                      <m:r>
                        <a:rPr lang="ko-KR" altLang="en-US" sz="1100" i="1">
                          <a:latin typeface="Cambria Math" panose="02040503050406030204" pitchFamily="18" charset="0"/>
                        </a:rPr>
                        <m:t>𝜃</m:t>
                      </m:r>
                      <m:r>
                        <a:rPr lang="en-US" altLang="ko-KR" sz="1100" i="1">
                          <a:latin typeface="Cambria Math" panose="02040503050406030204" pitchFamily="18" charset="0"/>
                        </a:rPr>
                        <m:t>,</m:t>
                      </m:r>
                      <m:r>
                        <a:rPr lang="en-US" altLang="ko-KR" sz="1100" i="1">
                          <a:latin typeface="Cambria Math" panose="02040503050406030204" pitchFamily="18" charset="0"/>
                        </a:rPr>
                        <m:t>𝑞</m:t>
                      </m:r>
                      <m:r>
                        <a:rPr lang="en-US" altLang="ko-KR" sz="1100" i="1">
                          <a:latin typeface="Cambria Math" panose="02040503050406030204" pitchFamily="18" charset="0"/>
                        </a:rPr>
                        <m:t>)=</m:t>
                      </m:r>
                      <m:r>
                        <m:rPr>
                          <m:sty m:val="p"/>
                        </m:rPr>
                        <a:rPr lang="en-US" altLang="ko-KR" sz="1100">
                          <a:latin typeface="Cambria Math" panose="02040503050406030204" pitchFamily="18" charset="0"/>
                        </a:rPr>
                        <m:t>ln</m:t>
                      </m:r>
                      <m:r>
                        <a:rPr lang="en-US" altLang="ko-KR" sz="1100" i="1">
                          <a:latin typeface="Cambria Math" panose="02040503050406030204" pitchFamily="18" charset="0"/>
                        </a:rPr>
                        <m:t>𝑃</m:t>
                      </m:r>
                      <m:d>
                        <m:dPr>
                          <m:ctrlPr>
                            <a:rPr lang="en-US" altLang="ko-KR" sz="1100" i="1">
                              <a:latin typeface="Cambria Math" panose="02040503050406030204" pitchFamily="18" charset="0"/>
                            </a:rPr>
                          </m:ctrlPr>
                        </m:dPr>
                        <m:e>
                          <m:r>
                            <a:rPr lang="en-US" altLang="ko-KR" sz="1100" i="1">
                              <a:latin typeface="Cambria Math" panose="02040503050406030204" pitchFamily="18" charset="0"/>
                            </a:rPr>
                            <m:t>𝑋</m:t>
                          </m:r>
                        </m:e>
                        <m:e>
                          <m:r>
                            <a:rPr lang="ko-KR" altLang="en-US" sz="1100" i="1">
                              <a:latin typeface="Cambria Math" panose="02040503050406030204" pitchFamily="18" charset="0"/>
                            </a:rPr>
                            <m:t>𝜃</m:t>
                          </m:r>
                        </m:e>
                      </m:d>
                      <m:r>
                        <a:rPr lang="en-US" altLang="ko-KR" sz="1100" i="1">
                          <a:latin typeface="Cambria Math" panose="02040503050406030204" pitchFamily="18" charset="0"/>
                        </a:rPr>
                        <m:t>−</m:t>
                      </m:r>
                      <m:nary>
                        <m:naryPr>
                          <m:chr m:val="∑"/>
                          <m:supHide m:val="on"/>
                          <m:ctrlPr>
                            <a:rPr lang="en-US" altLang="ko-KR" sz="1100" i="1">
                              <a:latin typeface="Cambria Math" panose="02040503050406030204" pitchFamily="18" charset="0"/>
                            </a:rPr>
                          </m:ctrlPr>
                        </m:naryPr>
                        <m:sub>
                          <m:r>
                            <m:rPr>
                              <m:brk m:alnAt="7"/>
                            </m:rPr>
                            <a:rPr lang="en-US" altLang="ko-KR" sz="1100" i="1">
                              <a:latin typeface="Cambria Math" panose="02040503050406030204" pitchFamily="18" charset="0"/>
                            </a:rPr>
                            <m:t>𝑍</m:t>
                          </m:r>
                        </m:sub>
                        <m:sup/>
                        <m:e>
                          <m:r>
                            <a:rPr lang="en-US" altLang="ko-KR" sz="1100" i="1">
                              <a:latin typeface="Cambria Math" panose="02040503050406030204" pitchFamily="18" charset="0"/>
                            </a:rPr>
                            <m:t>{</m:t>
                          </m:r>
                          <m:r>
                            <a:rPr lang="en-US" altLang="ko-KR" sz="1100" i="1">
                              <a:latin typeface="Cambria Math" panose="02040503050406030204" pitchFamily="18" charset="0"/>
                            </a:rPr>
                            <m:t>𝑞</m:t>
                          </m:r>
                          <m:d>
                            <m:dPr>
                              <m:ctrlPr>
                                <a:rPr lang="en-US" altLang="ko-KR" sz="1100" i="1">
                                  <a:latin typeface="Cambria Math" panose="02040503050406030204" pitchFamily="18" charset="0"/>
                                </a:rPr>
                              </m:ctrlPr>
                            </m:dPr>
                            <m:e>
                              <m:r>
                                <a:rPr lang="en-US" altLang="ko-KR" sz="1100" i="1">
                                  <a:latin typeface="Cambria Math" panose="02040503050406030204" pitchFamily="18" charset="0"/>
                                </a:rPr>
                                <m:t>𝑍</m:t>
                              </m:r>
                            </m:e>
                          </m:d>
                          <m:r>
                            <m:rPr>
                              <m:sty m:val="p"/>
                            </m:rPr>
                            <a:rPr lang="en-US" altLang="ko-KR" sz="1100">
                              <a:latin typeface="Cambria Math" panose="02040503050406030204" pitchFamily="18" charset="0"/>
                            </a:rPr>
                            <m:t>ln</m:t>
                          </m:r>
                          <m:f>
                            <m:fPr>
                              <m:ctrlPr>
                                <a:rPr lang="en-US" altLang="ko-KR" sz="1100" i="1">
                                  <a:latin typeface="Cambria Math" panose="02040503050406030204" pitchFamily="18" charset="0"/>
                                </a:rPr>
                              </m:ctrlPr>
                            </m:fPr>
                            <m:num>
                              <m:r>
                                <a:rPr lang="en-US" altLang="ko-KR" sz="1100" i="1">
                                  <a:latin typeface="Cambria Math" panose="02040503050406030204" pitchFamily="18" charset="0"/>
                                </a:rPr>
                                <m:t>𝑞</m:t>
                              </m:r>
                              <m:d>
                                <m:dPr>
                                  <m:ctrlPr>
                                    <a:rPr lang="en-US" altLang="ko-KR" sz="1100" i="1">
                                      <a:latin typeface="Cambria Math" panose="02040503050406030204" pitchFamily="18" charset="0"/>
                                    </a:rPr>
                                  </m:ctrlPr>
                                </m:dPr>
                                <m:e>
                                  <m:r>
                                    <a:rPr lang="en-US" altLang="ko-KR" sz="1100" i="1">
                                      <a:latin typeface="Cambria Math" panose="02040503050406030204" pitchFamily="18" charset="0"/>
                                    </a:rPr>
                                    <m:t>𝑍</m:t>
                                  </m:r>
                                </m:e>
                              </m:d>
                            </m:num>
                            <m:den>
                              <m:r>
                                <a:rPr lang="en-US" altLang="ko-KR" sz="1100" i="1">
                                  <a:latin typeface="Cambria Math" panose="02040503050406030204" pitchFamily="18" charset="0"/>
                                </a:rPr>
                                <m:t>𝑃</m:t>
                              </m:r>
                              <m:d>
                                <m:dPr>
                                  <m:ctrlPr>
                                    <a:rPr lang="en-US" altLang="ko-KR" sz="1100" i="1">
                                      <a:latin typeface="Cambria Math" panose="02040503050406030204" pitchFamily="18" charset="0"/>
                                    </a:rPr>
                                  </m:ctrlPr>
                                </m:dPr>
                                <m:e>
                                  <m:r>
                                    <a:rPr lang="en-US" altLang="ko-KR" sz="1100" i="1">
                                      <a:latin typeface="Cambria Math" panose="02040503050406030204" pitchFamily="18" charset="0"/>
                                    </a:rPr>
                                    <m:t>𝑍</m:t>
                                  </m:r>
                                </m:e>
                                <m:e>
                                  <m:r>
                                    <a:rPr lang="en-US" altLang="ko-KR" sz="1100" i="1">
                                      <a:latin typeface="Cambria Math" panose="02040503050406030204" pitchFamily="18" charset="0"/>
                                    </a:rPr>
                                    <m:t>𝑋</m:t>
                                  </m:r>
                                  <m:r>
                                    <a:rPr lang="en-US" altLang="ko-KR" sz="1100" i="1">
                                      <a:latin typeface="Cambria Math" panose="02040503050406030204" pitchFamily="18" charset="0"/>
                                    </a:rPr>
                                    <m:t>,</m:t>
                                  </m:r>
                                  <m:r>
                                    <a:rPr lang="ko-KR" altLang="en-US" sz="1100" i="1">
                                      <a:latin typeface="Cambria Math" panose="02040503050406030204" pitchFamily="18" charset="0"/>
                                    </a:rPr>
                                    <m:t>𝜃</m:t>
                                  </m:r>
                                </m:e>
                              </m:d>
                            </m:den>
                          </m:f>
                          <m:r>
                            <a:rPr lang="en-US" altLang="ko-KR" sz="1100" i="1">
                              <a:latin typeface="Cambria Math" panose="02040503050406030204" pitchFamily="18" charset="0"/>
                            </a:rPr>
                            <m:t>}</m:t>
                          </m:r>
                        </m:e>
                      </m:nary>
                    </m:oMath>
                  </m:oMathPara>
                </a14:m>
                <a:endParaRPr lang="ko-KR" altLang="en-US" sz="1100" dirty="0"/>
              </a:p>
            </p:txBody>
          </p:sp>
        </mc:Choice>
        <mc:Fallback xmlns="">
          <p:sp>
            <p:nvSpPr>
              <p:cNvPr id="5" name="Rectangle 4"/>
              <p:cNvSpPr>
                <a:spLocks noRot="1" noChangeAspect="1" noMove="1" noResize="1" noEditPoints="1" noAdjustHandles="1" noChangeArrowheads="1" noChangeShapeType="1" noTextEdit="1"/>
              </p:cNvSpPr>
              <p:nvPr/>
            </p:nvSpPr>
            <p:spPr>
              <a:xfrm>
                <a:off x="3941088" y="0"/>
                <a:ext cx="5202912" cy="1137619"/>
              </a:xfrm>
              <a:prstGeom prst="rect">
                <a:avLst/>
              </a:prstGeom>
              <a:blipFill rotWithShape="0">
                <a:blip r:embed="rId3"/>
                <a:stretch>
                  <a:fillRect t="-47059" b="-70053"/>
                </a:stretch>
              </a:blipFill>
            </p:spPr>
            <p:txBody>
              <a:bodyPr/>
              <a:lstStyle/>
              <a:p>
                <a:r>
                  <a:rPr lang="ko-KR" altLang="en-US">
                    <a:noFill/>
                  </a:rPr>
                  <a:t> </a:t>
                </a:r>
              </a:p>
            </p:txBody>
          </p:sp>
        </mc:Fallback>
      </mc:AlternateContent>
      <p:sp>
        <p:nvSpPr>
          <p:cNvPr id="6" name="Rectangular Callout 5"/>
          <p:cNvSpPr/>
          <p:nvPr/>
        </p:nvSpPr>
        <p:spPr>
          <a:xfrm>
            <a:off x="6695768" y="4970206"/>
            <a:ext cx="2020529" cy="1209368"/>
          </a:xfrm>
          <a:prstGeom prst="wedgeRectCallout">
            <a:avLst>
              <a:gd name="adj1" fmla="val -96015"/>
              <a:gd name="adj2" fmla="val -4536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Computing Expectation….</a:t>
            </a:r>
          </a:p>
          <a:p>
            <a:pPr algn="ctr"/>
            <a:r>
              <a:rPr lang="en-US" altLang="ko-KR" dirty="0" smtClean="0"/>
              <a:t>Sometimes, it can be hard</a:t>
            </a:r>
            <a:endParaRPr lang="ko-KR" altLang="en-US" dirty="0"/>
          </a:p>
        </p:txBody>
      </p:sp>
    </p:spTree>
    <p:extLst>
      <p:ext uri="{BB962C8B-B14F-4D97-AF65-F5344CB8AC3E}">
        <p14:creationId xmlns:p14="http://schemas.microsoft.com/office/powerpoint/2010/main" val="24816584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smtClean="0"/>
              <a:t>Markov </a:t>
            </a:r>
            <a:r>
              <a:rPr lang="en-US" altLang="ko-KR" dirty="0" smtClean="0"/>
              <a:t>Chain</a:t>
            </a:r>
            <a:endParaRPr lang="ko-KR" altLang="en-US" dirty="0"/>
          </a:p>
        </p:txBody>
      </p:sp>
      <p:sp>
        <p:nvSpPr>
          <p:cNvPr id="3" name="Content Placeholder 2"/>
          <p:cNvSpPr>
            <a:spLocks noGrp="1"/>
          </p:cNvSpPr>
          <p:nvPr>
            <p:ph idx="1"/>
          </p:nvPr>
        </p:nvSpPr>
        <p:spPr>
          <a:xfrm>
            <a:off x="457200" y="1433360"/>
            <a:ext cx="8435280" cy="3037114"/>
          </a:xfrm>
        </p:spPr>
        <p:txBody>
          <a:bodyPr>
            <a:normAutofit fontScale="92500" lnSpcReduction="10000"/>
          </a:bodyPr>
          <a:lstStyle/>
          <a:p>
            <a:r>
              <a:rPr lang="en-US" altLang="ko-KR" dirty="0" smtClean="0"/>
              <a:t>Markov chain</a:t>
            </a:r>
          </a:p>
          <a:p>
            <a:pPr lvl="1"/>
            <a:r>
              <a:rPr lang="en-US" altLang="ko-KR" dirty="0" smtClean="0"/>
              <a:t>Each node has a probability distribution of states</a:t>
            </a:r>
          </a:p>
          <a:p>
            <a:pPr lvl="2"/>
            <a:r>
              <a:rPr lang="en-US" altLang="ko-KR" dirty="0" smtClean="0"/>
              <a:t>i.e.) The probability that a state is the current state of a system</a:t>
            </a:r>
          </a:p>
          <a:p>
            <a:pPr lvl="3"/>
            <a:r>
              <a:rPr lang="en-US" altLang="ko-KR" dirty="0" smtClean="0"/>
              <a:t>Concrete observation of a system: [1 0 0] </a:t>
            </a:r>
            <a:r>
              <a:rPr lang="en-US" altLang="ko-KR" dirty="0" smtClean="0">
                <a:sym typeface="Wingdings" panose="05000000000000000000" pitchFamily="2" charset="2"/>
              </a:rPr>
              <a:t> the system is at the first state</a:t>
            </a:r>
          </a:p>
          <a:p>
            <a:pPr lvl="3"/>
            <a:r>
              <a:rPr lang="en-US" altLang="ko-KR" dirty="0" smtClean="0"/>
              <a:t>Stochastic observation </a:t>
            </a:r>
            <a:r>
              <a:rPr lang="en-US" altLang="ko-KR" dirty="0"/>
              <a:t>of a system: </a:t>
            </a:r>
            <a:r>
              <a:rPr lang="en-US" altLang="ko-KR" dirty="0" smtClean="0"/>
              <a:t>[0.7 0.2 0.1] </a:t>
            </a:r>
            <a:r>
              <a:rPr lang="en-US" altLang="ko-KR" dirty="0">
                <a:sym typeface="Wingdings" panose="05000000000000000000" pitchFamily="2" charset="2"/>
              </a:rPr>
              <a:t> the system </a:t>
            </a:r>
            <a:r>
              <a:rPr lang="en-US" altLang="ko-KR" dirty="0" smtClean="0">
                <a:sym typeface="Wingdings" panose="05000000000000000000" pitchFamily="2" charset="2"/>
              </a:rPr>
              <a:t>is likely </a:t>
            </a:r>
            <a:r>
              <a:rPr lang="en-US" altLang="ko-KR" dirty="0">
                <a:sym typeface="Wingdings" panose="05000000000000000000" pitchFamily="2" charset="2"/>
              </a:rPr>
              <a:t>at the first </a:t>
            </a:r>
            <a:r>
              <a:rPr lang="en-US" altLang="ko-KR" dirty="0" smtClean="0">
                <a:sym typeface="Wingdings" panose="05000000000000000000" pitchFamily="2" charset="2"/>
              </a:rPr>
              <a:t>state</a:t>
            </a:r>
          </a:p>
          <a:p>
            <a:pPr lvl="2"/>
            <a:r>
              <a:rPr lang="en-US" altLang="ko-KR" dirty="0" smtClean="0">
                <a:sym typeface="Wingdings" panose="05000000000000000000" pitchFamily="2" charset="2"/>
              </a:rPr>
              <a:t>The </a:t>
            </a:r>
            <a:r>
              <a:rPr lang="en-US" altLang="ko-KR" dirty="0">
                <a:sym typeface="Wingdings" panose="05000000000000000000" pitchFamily="2" charset="2"/>
              </a:rPr>
              <a:t>node has a vector of state probability distribution</a:t>
            </a:r>
            <a:endParaRPr lang="en-US" altLang="ko-KR" dirty="0" smtClean="0">
              <a:sym typeface="Wingdings" panose="05000000000000000000" pitchFamily="2" charset="2"/>
            </a:endParaRPr>
          </a:p>
          <a:p>
            <a:pPr lvl="1"/>
            <a:r>
              <a:rPr lang="en-US" altLang="ko-KR" dirty="0" smtClean="0">
                <a:sym typeface="Wingdings" panose="05000000000000000000" pitchFamily="2" charset="2"/>
              </a:rPr>
              <a:t>Each link suggests a probabilistic state transition</a:t>
            </a:r>
          </a:p>
          <a:p>
            <a:pPr lvl="2"/>
            <a:r>
              <a:rPr lang="en-US" altLang="ko-KR" dirty="0" smtClean="0">
                <a:sym typeface="Wingdings" panose="05000000000000000000" pitchFamily="2" charset="2"/>
              </a:rPr>
              <a:t>If a system is at the first state, the probability distribution of the next state is [0.3 0.4 0.3]</a:t>
            </a:r>
          </a:p>
          <a:p>
            <a:pPr lvl="2"/>
            <a:r>
              <a:rPr lang="en-US" altLang="ko-KR" dirty="0" smtClean="0">
                <a:sym typeface="Wingdings" panose="05000000000000000000" pitchFamily="2" charset="2"/>
              </a:rPr>
              <a:t>The link has a matrix of state transition probability distribution.</a:t>
            </a:r>
          </a:p>
          <a:p>
            <a:pPr lvl="1"/>
            <a:endParaRPr lang="ko-KR" altLang="en-US" dirty="0"/>
          </a:p>
          <a:p>
            <a:pPr lvl="3"/>
            <a:endParaRPr lang="ko-KR" altLang="en-US" dirty="0"/>
          </a:p>
        </p:txBody>
      </p:sp>
      <p:sp>
        <p:nvSpPr>
          <p:cNvPr id="4" name="Slide Number Placeholder 3"/>
          <p:cNvSpPr>
            <a:spLocks noGrp="1"/>
          </p:cNvSpPr>
          <p:nvPr>
            <p:ph type="sldNum" sz="quarter" idx="12"/>
          </p:nvPr>
        </p:nvSpPr>
        <p:spPr/>
        <p:txBody>
          <a:bodyPr/>
          <a:lstStyle/>
          <a:p>
            <a:fld id="{85CD3E9B-A789-4DCF-960C-49E4EDB7DF3D}" type="slidenum">
              <a:rPr lang="ko-KR" altLang="en-US" smtClean="0"/>
              <a:t>5</a:t>
            </a:fld>
            <a:endParaRPr lang="ko-KR" altLang="en-US"/>
          </a:p>
        </p:txBody>
      </p:sp>
      <mc:AlternateContent xmlns:mc="http://schemas.openxmlformats.org/markup-compatibility/2006" xmlns:a14="http://schemas.microsoft.com/office/drawing/2010/main">
        <mc:Choice Requires="a14">
          <p:sp>
            <p:nvSpPr>
              <p:cNvPr id="5" name="타원 4"/>
              <p:cNvSpPr/>
              <p:nvPr/>
            </p:nvSpPr>
            <p:spPr>
              <a:xfrm>
                <a:off x="2705900" y="4572710"/>
                <a:ext cx="50405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𝑧</m:t>
                          </m:r>
                        </m:e>
                        <m:sub>
                          <m:r>
                            <a:rPr lang="en-US" altLang="ko-KR" b="0" i="1" smtClean="0">
                              <a:latin typeface="Cambria Math" panose="02040503050406030204" pitchFamily="18" charset="0"/>
                            </a:rPr>
                            <m:t>𝑡</m:t>
                          </m:r>
                        </m:sub>
                      </m:sSub>
                    </m:oMath>
                  </m:oMathPara>
                </a14:m>
                <a:endParaRPr lang="ko-KR" altLang="en-US" dirty="0"/>
              </a:p>
            </p:txBody>
          </p:sp>
        </mc:Choice>
        <mc:Fallback xmlns="">
          <p:sp>
            <p:nvSpPr>
              <p:cNvPr id="5" name="타원 4"/>
              <p:cNvSpPr>
                <a:spLocks noRot="1" noChangeAspect="1" noMove="1" noResize="1" noEditPoints="1" noAdjustHandles="1" noChangeArrowheads="1" noChangeShapeType="1" noTextEdit="1"/>
              </p:cNvSpPr>
              <p:nvPr/>
            </p:nvSpPr>
            <p:spPr>
              <a:xfrm>
                <a:off x="2705900" y="4572710"/>
                <a:ext cx="504056" cy="504056"/>
              </a:xfrm>
              <a:prstGeom prst="ellipse">
                <a:avLst/>
              </a:prstGeom>
              <a:blipFill rotWithShape="0">
                <a:blip r:embed="rId2"/>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 name="타원 5"/>
              <p:cNvSpPr/>
              <p:nvPr/>
            </p:nvSpPr>
            <p:spPr>
              <a:xfrm>
                <a:off x="4239818" y="4572710"/>
                <a:ext cx="50405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𝑧</m:t>
                          </m:r>
                        </m:e>
                        <m:sub>
                          <m:r>
                            <a:rPr lang="en-US" altLang="ko-KR" b="0" i="1" smtClean="0">
                              <a:latin typeface="Cambria Math" panose="02040503050406030204" pitchFamily="18" charset="0"/>
                            </a:rPr>
                            <m:t>𝑡</m:t>
                          </m:r>
                          <m:r>
                            <a:rPr lang="en-US" altLang="ko-KR" b="0" i="1" smtClean="0">
                              <a:latin typeface="Cambria Math" panose="02040503050406030204" pitchFamily="18" charset="0"/>
                            </a:rPr>
                            <m:t>+1</m:t>
                          </m:r>
                        </m:sub>
                      </m:sSub>
                    </m:oMath>
                  </m:oMathPara>
                </a14:m>
                <a:endParaRPr lang="ko-KR" altLang="en-US" dirty="0"/>
              </a:p>
            </p:txBody>
          </p:sp>
        </mc:Choice>
        <mc:Fallback xmlns="">
          <p:sp>
            <p:nvSpPr>
              <p:cNvPr id="6" name="타원 5"/>
              <p:cNvSpPr>
                <a:spLocks noRot="1" noChangeAspect="1" noMove="1" noResize="1" noEditPoints="1" noAdjustHandles="1" noChangeArrowheads="1" noChangeShapeType="1" noTextEdit="1"/>
              </p:cNvSpPr>
              <p:nvPr/>
            </p:nvSpPr>
            <p:spPr>
              <a:xfrm>
                <a:off x="4239818" y="4572710"/>
                <a:ext cx="504056" cy="504056"/>
              </a:xfrm>
              <a:prstGeom prst="ellipse">
                <a:avLst/>
              </a:prstGeom>
              <a:blipFill rotWithShape="0">
                <a:blip r:embed="rId3"/>
                <a:stretch>
                  <a:fillRect l="-5814"/>
                </a:stretch>
              </a:blipFill>
            </p:spPr>
            <p:txBody>
              <a:bodyPr/>
              <a:lstStyle/>
              <a:p>
                <a:r>
                  <a:rPr lang="ko-KR" altLang="en-US">
                    <a:noFill/>
                  </a:rPr>
                  <a:t> </a:t>
                </a:r>
              </a:p>
            </p:txBody>
          </p:sp>
        </mc:Fallback>
      </mc:AlternateContent>
      <p:cxnSp>
        <p:nvCxnSpPr>
          <p:cNvPr id="7" name="직선 화살표 연결선 9"/>
          <p:cNvCxnSpPr>
            <a:stCxn id="5" idx="6"/>
            <a:endCxn id="6" idx="2"/>
          </p:cNvCxnSpPr>
          <p:nvPr/>
        </p:nvCxnSpPr>
        <p:spPr>
          <a:xfrm>
            <a:off x="3209956" y="4824738"/>
            <a:ext cx="102986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Rectangular Callout 7"/>
              <p:cNvSpPr/>
              <p:nvPr/>
            </p:nvSpPr>
            <p:spPr>
              <a:xfrm>
                <a:off x="91212" y="4496193"/>
                <a:ext cx="2425575" cy="431407"/>
              </a:xfrm>
              <a:prstGeom prst="wedgeRectCallout">
                <a:avLst>
                  <a:gd name="adj1" fmla="val 57448"/>
                  <a:gd name="adj2" fmla="val 1592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ko-KR" i="1" smtClean="0">
                              <a:latin typeface="Cambria Math" panose="02040503050406030204" pitchFamily="18" charset="0"/>
                            </a:rPr>
                          </m:ctrlPr>
                        </m:sSubPr>
                        <m:e>
                          <m:r>
                            <a:rPr lang="en-US" altLang="ko-KR" i="1">
                              <a:latin typeface="Cambria Math" panose="02040503050406030204" pitchFamily="18" charset="0"/>
                            </a:rPr>
                            <m:t>𝑧</m:t>
                          </m:r>
                        </m:e>
                        <m:sub>
                          <m:r>
                            <a:rPr lang="en-US" altLang="ko-KR" i="1">
                              <a:latin typeface="Cambria Math" panose="02040503050406030204" pitchFamily="18" charset="0"/>
                            </a:rPr>
                            <m:t>𝑡</m:t>
                          </m:r>
                        </m:sub>
                      </m:sSub>
                      <m:r>
                        <a:rPr lang="en-US" altLang="ko-KR" b="0" i="1" smtClean="0">
                          <a:latin typeface="Cambria Math" panose="02040503050406030204" pitchFamily="18" charset="0"/>
                        </a:rPr>
                        <m:t>=</m:t>
                      </m:r>
                      <m:d>
                        <m:dPr>
                          <m:begChr m:val="["/>
                          <m:endChr m:val="]"/>
                          <m:ctrlPr>
                            <a:rPr lang="en-US" altLang="ko-KR" b="0" i="1" smtClean="0">
                              <a:latin typeface="Cambria Math" panose="02040503050406030204" pitchFamily="18" charset="0"/>
                            </a:rPr>
                          </m:ctrlPr>
                        </m:dPr>
                        <m:e>
                          <m:m>
                            <m:mPr>
                              <m:mcs>
                                <m:mc>
                                  <m:mcPr>
                                    <m:count m:val="3"/>
                                    <m:mcJc m:val="center"/>
                                  </m:mcPr>
                                </m:mc>
                              </m:mcs>
                              <m:ctrlPr>
                                <a:rPr lang="en-US" altLang="ko-KR" b="0" i="1" smtClean="0">
                                  <a:latin typeface="Cambria Math" panose="02040503050406030204" pitchFamily="18" charset="0"/>
                                </a:rPr>
                              </m:ctrlPr>
                            </m:mPr>
                            <m:mr>
                              <m:e>
                                <m:r>
                                  <m:rPr>
                                    <m:brk m:alnAt="7"/>
                                  </m:rPr>
                                  <a:rPr lang="en-US" altLang="ko-KR" b="0" i="1" smtClean="0">
                                    <a:latin typeface="Cambria Math" panose="02040503050406030204" pitchFamily="18" charset="0"/>
                                  </a:rPr>
                                  <m:t>0</m:t>
                                </m:r>
                                <m:r>
                                  <a:rPr lang="en-US" altLang="ko-KR" b="0" i="1" smtClean="0">
                                    <a:latin typeface="Cambria Math" panose="02040503050406030204" pitchFamily="18" charset="0"/>
                                  </a:rPr>
                                  <m:t>.5</m:t>
                                </m:r>
                              </m:e>
                              <m:e>
                                <m:r>
                                  <a:rPr lang="en-US" altLang="ko-KR" b="0" i="1" smtClean="0">
                                    <a:latin typeface="Cambria Math" panose="02040503050406030204" pitchFamily="18" charset="0"/>
                                  </a:rPr>
                                  <m:t>0.2</m:t>
                                </m:r>
                              </m:e>
                              <m:e>
                                <m:r>
                                  <a:rPr lang="en-US" altLang="ko-KR" b="0" i="1" smtClean="0">
                                    <a:latin typeface="Cambria Math" panose="02040503050406030204" pitchFamily="18" charset="0"/>
                                  </a:rPr>
                                  <m:t>0.3</m:t>
                                </m:r>
                              </m:e>
                            </m:mr>
                          </m:m>
                        </m:e>
                      </m:d>
                    </m:oMath>
                  </m:oMathPara>
                </a14:m>
                <a:endParaRPr lang="ko-KR" altLang="en-US" dirty="0"/>
              </a:p>
            </p:txBody>
          </p:sp>
        </mc:Choice>
        <mc:Fallback xmlns="">
          <p:sp>
            <p:nvSpPr>
              <p:cNvPr id="8" name="Rectangular Callout 7"/>
              <p:cNvSpPr>
                <a:spLocks noRot="1" noChangeAspect="1" noMove="1" noResize="1" noEditPoints="1" noAdjustHandles="1" noChangeArrowheads="1" noChangeShapeType="1" noTextEdit="1"/>
              </p:cNvSpPr>
              <p:nvPr/>
            </p:nvSpPr>
            <p:spPr>
              <a:xfrm>
                <a:off x="91212" y="4496193"/>
                <a:ext cx="2425575" cy="431407"/>
              </a:xfrm>
              <a:prstGeom prst="wedgeRectCallout">
                <a:avLst>
                  <a:gd name="adj1" fmla="val 57448"/>
                  <a:gd name="adj2" fmla="val 15928"/>
                </a:avLst>
              </a:prstGeom>
              <a:blipFill rotWithShape="0">
                <a:blip r:embed="rId4"/>
                <a:stretch>
                  <a:fillRect/>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5370286" y="4637314"/>
                <a:ext cx="3711306" cy="18505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altLang="ko-KR" dirty="0" smtClean="0"/>
                  <a:t>The system has three states, a, b, and c.</a:t>
                </a:r>
              </a:p>
              <a:p>
                <a:pPr marL="285750" indent="-285750">
                  <a:buFont typeface="Arial" panose="020B0604020202020204" pitchFamily="34" charset="0"/>
                  <a:buChar char="•"/>
                </a:pPr>
                <a:r>
                  <a:rPr lang="en-US" altLang="ko-KR" dirty="0" smtClean="0"/>
                  <a:t>Transition matrix is</a:t>
                </a:r>
                <a:r>
                  <a:rPr lang="ko-KR" altLang="en-US" dirty="0" smtClean="0"/>
                  <a:t> </a:t>
                </a:r>
                <a:r>
                  <a:rPr lang="en-US" altLang="ko-KR" dirty="0" smtClean="0"/>
                  <a:t/>
                </a:r>
                <a:br>
                  <a:rPr lang="en-US" altLang="ko-KR" dirty="0" smtClean="0"/>
                </a:br>
                <a14:m>
                  <m:oMath xmlns:m="http://schemas.openxmlformats.org/officeDocument/2006/math">
                    <m:r>
                      <m:rPr>
                        <m:sty m:val="p"/>
                      </m:rPr>
                      <a:rPr lang="en-US" altLang="ko-KR" b="0" i="0" smtClean="0">
                        <a:latin typeface="Cambria Math" panose="02040503050406030204" pitchFamily="18" charset="0"/>
                      </a:rPr>
                      <m:t>P</m:t>
                    </m:r>
                    <m:d>
                      <m:dPr>
                        <m:ctrlPr>
                          <a:rPr lang="en-US" altLang="ko-KR" b="0" i="1" smtClean="0">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b="0" i="1" smtClean="0">
                                <a:latin typeface="Cambria Math" panose="02040503050406030204" pitchFamily="18" charset="0"/>
                              </a:rPr>
                              <m:t>𝑗</m:t>
                            </m:r>
                          </m:sub>
                        </m:sSub>
                      </m:e>
                      <m:e>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b="0" i="1" smtClean="0">
                                <a:latin typeface="Cambria Math" panose="02040503050406030204" pitchFamily="18" charset="0"/>
                              </a:rPr>
                              <m:t>𝑖</m:t>
                            </m:r>
                          </m:sub>
                        </m:sSub>
                      </m:e>
                    </m:d>
                    <m:r>
                      <a:rPr lang="en-US" altLang="ko-KR" b="0" i="0" smtClean="0">
                        <a:latin typeface="Cambria Math" panose="02040503050406030204" pitchFamily="18" charset="0"/>
                      </a:rPr>
                      <m:t>=</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𝑇</m:t>
                        </m:r>
                      </m:e>
                      <m:sub>
                        <m:r>
                          <a:rPr lang="en-US" altLang="ko-KR" b="0" i="1" smtClean="0">
                            <a:latin typeface="Cambria Math" panose="02040503050406030204" pitchFamily="18" charset="0"/>
                          </a:rPr>
                          <m:t>𝑖</m:t>
                        </m:r>
                        <m:r>
                          <a:rPr lang="en-US" altLang="ko-KR" b="0" i="1" smtClean="0">
                            <a:latin typeface="Cambria Math" panose="02040503050406030204" pitchFamily="18" charset="0"/>
                          </a:rPr>
                          <m:t>,</m:t>
                        </m:r>
                        <m:r>
                          <a:rPr lang="en-US" altLang="ko-KR" b="0" i="1" smtClean="0">
                            <a:latin typeface="Cambria Math" panose="02040503050406030204" pitchFamily="18" charset="0"/>
                          </a:rPr>
                          <m:t>𝑗</m:t>
                        </m:r>
                      </m:sub>
                    </m:sSub>
                    <m:r>
                      <a:rPr lang="en-US" altLang="ko-KR" b="0" i="1" smtClean="0">
                        <a:latin typeface="Cambria Math" panose="02040503050406030204" pitchFamily="18" charset="0"/>
                      </a:rPr>
                      <m:t>=</m:t>
                    </m:r>
                    <m:d>
                      <m:dPr>
                        <m:begChr m:val="["/>
                        <m:endChr m:val="]"/>
                        <m:ctrlPr>
                          <a:rPr lang="en-US" altLang="ko-KR" b="0" i="1" smtClean="0">
                            <a:latin typeface="Cambria Math" panose="02040503050406030204" pitchFamily="18" charset="0"/>
                          </a:rPr>
                        </m:ctrlPr>
                      </m:dPr>
                      <m:e>
                        <m:m>
                          <m:mPr>
                            <m:mcs>
                              <m:mc>
                                <m:mcPr>
                                  <m:count m:val="3"/>
                                  <m:mcJc m:val="center"/>
                                </m:mcPr>
                              </m:mc>
                            </m:mcs>
                            <m:ctrlPr>
                              <a:rPr lang="en-US" altLang="ko-KR" b="0" i="1" smtClean="0">
                                <a:latin typeface="Cambria Math" panose="02040503050406030204" pitchFamily="18" charset="0"/>
                              </a:rPr>
                            </m:ctrlPr>
                          </m:mPr>
                          <m:mr>
                            <m:e>
                              <m:m>
                                <m:mPr>
                                  <m:mcs>
                                    <m:mc>
                                      <m:mcPr>
                                        <m:count m:val="1"/>
                                        <m:mcJc m:val="center"/>
                                      </m:mcPr>
                                    </m:mc>
                                  </m:mcs>
                                  <m:ctrlPr>
                                    <a:rPr lang="en-US" altLang="ko-KR" b="0" i="1" smtClean="0">
                                      <a:latin typeface="Cambria Math" panose="02040503050406030204" pitchFamily="18" charset="0"/>
                                    </a:rPr>
                                  </m:ctrlPr>
                                </m:mPr>
                                <m:mr>
                                  <m:e>
                                    <m:r>
                                      <m:rPr>
                                        <m:brk m:alnAt="7"/>
                                      </m:rPr>
                                      <a:rPr lang="en-US" altLang="ko-KR" b="0" i="1" smtClean="0">
                                        <a:latin typeface="Cambria Math" panose="02040503050406030204" pitchFamily="18" charset="0"/>
                                      </a:rPr>
                                      <m:t>0</m:t>
                                    </m:r>
                                    <m:r>
                                      <a:rPr lang="en-US" altLang="ko-KR" b="0" i="1" smtClean="0">
                                        <a:latin typeface="Cambria Math" panose="02040503050406030204" pitchFamily="18" charset="0"/>
                                      </a:rPr>
                                      <m:t>.7</m:t>
                                    </m:r>
                                  </m:e>
                                </m:mr>
                                <m:mr>
                                  <m:e>
                                    <m:r>
                                      <a:rPr lang="en-US" altLang="ko-KR" b="0" i="1" smtClean="0">
                                        <a:latin typeface="Cambria Math" panose="02040503050406030204" pitchFamily="18" charset="0"/>
                                      </a:rPr>
                                      <m:t>0.2</m:t>
                                    </m:r>
                                  </m:e>
                                </m:mr>
                                <m:mr>
                                  <m:e>
                                    <m:r>
                                      <a:rPr lang="en-US" altLang="ko-KR" b="0" i="1" smtClean="0">
                                        <a:latin typeface="Cambria Math" panose="02040503050406030204" pitchFamily="18" charset="0"/>
                                      </a:rPr>
                                      <m:t>0.4</m:t>
                                    </m:r>
                                  </m:e>
                                </m:mr>
                              </m:m>
                            </m:e>
                            <m:e>
                              <m:m>
                                <m:mPr>
                                  <m:mcs>
                                    <m:mc>
                                      <m:mcPr>
                                        <m:count m:val="1"/>
                                        <m:mcJc m:val="center"/>
                                      </m:mcPr>
                                    </m:mc>
                                  </m:mcs>
                                  <m:ctrlPr>
                                    <a:rPr lang="en-US" altLang="ko-KR" i="1">
                                      <a:latin typeface="Cambria Math" panose="02040503050406030204" pitchFamily="18" charset="0"/>
                                    </a:rPr>
                                  </m:ctrlPr>
                                </m:mPr>
                                <m:mr>
                                  <m:e>
                                    <m:r>
                                      <m:rPr>
                                        <m:brk m:alnAt="7"/>
                                      </m:rPr>
                                      <a:rPr lang="en-US" altLang="ko-KR" b="0" i="1" smtClean="0">
                                        <a:latin typeface="Cambria Math" panose="02040503050406030204" pitchFamily="18" charset="0"/>
                                      </a:rPr>
                                      <m:t>0</m:t>
                                    </m:r>
                                    <m:r>
                                      <a:rPr lang="en-US" altLang="ko-KR" b="0" i="1" smtClean="0">
                                        <a:latin typeface="Cambria Math" panose="02040503050406030204" pitchFamily="18" charset="0"/>
                                      </a:rPr>
                                      <m:t>.2</m:t>
                                    </m:r>
                                  </m:e>
                                </m:mr>
                                <m:mr>
                                  <m:e>
                                    <m:r>
                                      <a:rPr lang="en-US" altLang="ko-KR" b="0" i="1" smtClean="0">
                                        <a:latin typeface="Cambria Math" panose="02040503050406030204" pitchFamily="18" charset="0"/>
                                      </a:rPr>
                                      <m:t>0.3</m:t>
                                    </m:r>
                                  </m:e>
                                </m:mr>
                                <m:mr>
                                  <m:e>
                                    <m:r>
                                      <a:rPr lang="en-US" altLang="ko-KR" b="0" i="1" smtClean="0">
                                        <a:latin typeface="Cambria Math" panose="02040503050406030204" pitchFamily="18" charset="0"/>
                                      </a:rPr>
                                      <m:t>0.2</m:t>
                                    </m:r>
                                  </m:e>
                                </m:mr>
                              </m:m>
                            </m:e>
                            <m:e>
                              <m:m>
                                <m:mPr>
                                  <m:mcs>
                                    <m:mc>
                                      <m:mcPr>
                                        <m:count m:val="1"/>
                                        <m:mcJc m:val="center"/>
                                      </m:mcPr>
                                    </m:mc>
                                  </m:mcs>
                                  <m:ctrlPr>
                                    <a:rPr lang="en-US" altLang="ko-KR" i="1">
                                      <a:latin typeface="Cambria Math" panose="02040503050406030204" pitchFamily="18" charset="0"/>
                                    </a:rPr>
                                  </m:ctrlPr>
                                </m:mPr>
                                <m:mr>
                                  <m:e>
                                    <m:r>
                                      <m:rPr>
                                        <m:brk m:alnAt="7"/>
                                      </m:rPr>
                                      <a:rPr lang="en-US" altLang="ko-KR" b="0" i="1" smtClean="0">
                                        <a:latin typeface="Cambria Math" panose="02040503050406030204" pitchFamily="18" charset="0"/>
                                      </a:rPr>
                                      <m:t>0</m:t>
                                    </m:r>
                                    <m:r>
                                      <a:rPr lang="en-US" altLang="ko-KR" b="0" i="1" smtClean="0">
                                        <a:latin typeface="Cambria Math" panose="02040503050406030204" pitchFamily="18" charset="0"/>
                                      </a:rPr>
                                      <m:t>.1</m:t>
                                    </m:r>
                                  </m:e>
                                </m:mr>
                                <m:mr>
                                  <m:e>
                                    <m:r>
                                      <a:rPr lang="en-US" altLang="ko-KR" b="0" i="1" smtClean="0">
                                        <a:latin typeface="Cambria Math" panose="02040503050406030204" pitchFamily="18" charset="0"/>
                                      </a:rPr>
                                      <m:t>0.5</m:t>
                                    </m:r>
                                  </m:e>
                                </m:mr>
                                <m:mr>
                                  <m:e>
                                    <m:r>
                                      <a:rPr lang="en-US" altLang="ko-KR" b="0" i="1" smtClean="0">
                                        <a:latin typeface="Cambria Math" panose="02040503050406030204" pitchFamily="18" charset="0"/>
                                      </a:rPr>
                                      <m:t>0.4</m:t>
                                    </m:r>
                                  </m:e>
                                </m:mr>
                              </m:m>
                            </m:e>
                          </m:mr>
                        </m:m>
                      </m:e>
                    </m:d>
                  </m:oMath>
                </a14:m>
                <a:endParaRPr lang="en-US" altLang="ko-KR" dirty="0" smtClean="0"/>
              </a:p>
            </p:txBody>
          </p:sp>
        </mc:Choice>
        <mc:Fallback xmlns="">
          <p:sp>
            <p:nvSpPr>
              <p:cNvPr id="9" name="Rectangle 8"/>
              <p:cNvSpPr>
                <a:spLocks noRot="1" noChangeAspect="1" noMove="1" noResize="1" noEditPoints="1" noAdjustHandles="1" noChangeArrowheads="1" noChangeShapeType="1" noTextEdit="1"/>
              </p:cNvSpPr>
              <p:nvPr/>
            </p:nvSpPr>
            <p:spPr>
              <a:xfrm>
                <a:off x="5370286" y="4637314"/>
                <a:ext cx="3711306" cy="1850572"/>
              </a:xfrm>
              <a:prstGeom prst="rect">
                <a:avLst/>
              </a:prstGeom>
              <a:blipFill rotWithShape="0">
                <a:blip r:embed="rId5"/>
                <a:stretch>
                  <a:fillRect l="-1149" r="-657"/>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225434" y="5179002"/>
                <a:ext cx="3464988" cy="130888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𝑃</m:t>
                      </m:r>
                      <m:d>
                        <m:dPr>
                          <m:ctrlPr>
                            <a:rPr lang="en-US" altLang="ko-KR" b="0" i="1" smtClean="0">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i="1">
                                  <a:latin typeface="Cambria Math" panose="02040503050406030204" pitchFamily="18" charset="0"/>
                                </a:rPr>
                                <m:t>𝑡</m:t>
                              </m:r>
                              <m:r>
                                <a:rPr lang="en-US" altLang="ko-KR" i="1">
                                  <a:latin typeface="Cambria Math" panose="02040503050406030204" pitchFamily="18" charset="0"/>
                                </a:rPr>
                                <m:t>+1</m:t>
                              </m:r>
                            </m:sub>
                          </m:sSub>
                        </m:e>
                      </m:d>
                      <m:r>
                        <a:rPr lang="en-US" altLang="ko-KR" b="0" i="1" smtClean="0">
                          <a:latin typeface="Cambria Math" panose="02040503050406030204" pitchFamily="18" charset="0"/>
                        </a:rPr>
                        <m:t>=</m:t>
                      </m:r>
                      <m:r>
                        <a:rPr lang="en-US" altLang="ko-KR" i="1">
                          <a:latin typeface="Cambria Math" panose="02040503050406030204" pitchFamily="18" charset="0"/>
                        </a:rPr>
                        <m:t>𝑃</m:t>
                      </m:r>
                      <m:d>
                        <m:dPr>
                          <m:ctrlPr>
                            <a:rPr lang="en-US" altLang="ko-KR" i="1">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i="1">
                                  <a:latin typeface="Cambria Math" panose="02040503050406030204" pitchFamily="18" charset="0"/>
                                </a:rPr>
                                <m:t>𝑡</m:t>
                              </m:r>
                            </m:sub>
                          </m:sSub>
                        </m:e>
                      </m:d>
                      <m:r>
                        <a:rPr lang="en-US" altLang="ko-KR" b="0" i="1" smtClean="0">
                          <a:latin typeface="Cambria Math" panose="02040503050406030204" pitchFamily="18" charset="0"/>
                        </a:rPr>
                        <m:t>𝑃</m:t>
                      </m:r>
                      <m:d>
                        <m:dPr>
                          <m:ctrlPr>
                            <a:rPr lang="en-US" altLang="ko-KR" b="0" i="1" smtClean="0">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i="1">
                                  <a:latin typeface="Cambria Math" panose="02040503050406030204" pitchFamily="18" charset="0"/>
                                </a:rPr>
                                <m:t>𝑡</m:t>
                              </m:r>
                              <m:r>
                                <a:rPr lang="en-US" altLang="ko-KR" i="1">
                                  <a:latin typeface="Cambria Math" panose="02040503050406030204" pitchFamily="18" charset="0"/>
                                </a:rPr>
                                <m:t>+1</m:t>
                              </m:r>
                            </m:sub>
                          </m:sSub>
                        </m:e>
                        <m:e>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i="1">
                                  <a:latin typeface="Cambria Math" panose="02040503050406030204" pitchFamily="18" charset="0"/>
                                </a:rPr>
                                <m:t>𝑡</m:t>
                              </m:r>
                            </m:sub>
                          </m:sSub>
                        </m:e>
                      </m:d>
                      <m:r>
                        <a:rPr lang="en-US" altLang="ko-KR" b="0" i="1" smtClean="0">
                          <a:latin typeface="Cambria Math" panose="02040503050406030204" pitchFamily="18" charset="0"/>
                        </a:rPr>
                        <m:t>=</m:t>
                      </m:r>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i="1">
                              <a:latin typeface="Cambria Math" panose="02040503050406030204" pitchFamily="18" charset="0"/>
                            </a:rPr>
                            <m:t>𝑡</m:t>
                          </m:r>
                        </m:sub>
                      </m:sSub>
                      <m:sSub>
                        <m:sSubPr>
                          <m:ctrlPr>
                            <a:rPr lang="en-US" altLang="ko-KR" i="1">
                              <a:latin typeface="Cambria Math" panose="02040503050406030204" pitchFamily="18" charset="0"/>
                            </a:rPr>
                          </m:ctrlPr>
                        </m:sSubPr>
                        <m:e>
                          <m:r>
                            <a:rPr lang="en-US" altLang="ko-KR" i="1">
                              <a:latin typeface="Cambria Math" panose="02040503050406030204" pitchFamily="18" charset="0"/>
                            </a:rPr>
                            <m:t>𝑇</m:t>
                          </m:r>
                        </m:e>
                        <m:sub>
                          <m:r>
                            <a:rPr lang="en-US" altLang="ko-KR" i="1">
                              <a:latin typeface="Cambria Math" panose="02040503050406030204" pitchFamily="18" charset="0"/>
                            </a:rPr>
                            <m:t>𝑖</m:t>
                          </m:r>
                          <m:r>
                            <a:rPr lang="en-US" altLang="ko-KR" i="1">
                              <a:latin typeface="Cambria Math" panose="02040503050406030204" pitchFamily="18" charset="0"/>
                            </a:rPr>
                            <m:t>,</m:t>
                          </m:r>
                          <m:r>
                            <a:rPr lang="en-US" altLang="ko-KR" i="1">
                              <a:latin typeface="Cambria Math" panose="02040503050406030204" pitchFamily="18" charset="0"/>
                            </a:rPr>
                            <m:t>𝑗</m:t>
                          </m:r>
                        </m:sub>
                      </m:sSub>
                    </m:oMath>
                  </m:oMathPara>
                </a14:m>
                <a:endParaRPr lang="en-US" altLang="ko-KR" dirty="0" smtClean="0"/>
              </a:p>
              <a:p>
                <a:pPr algn="ctr"/>
                <a:r>
                  <a:rPr lang="en-US" altLang="ko-KR" dirty="0" smtClean="0"/>
                  <a:t>=</a:t>
                </a:r>
                <a14:m>
                  <m:oMath xmlns:m="http://schemas.openxmlformats.org/officeDocument/2006/math">
                    <m:d>
                      <m:dPr>
                        <m:begChr m:val="["/>
                        <m:endChr m:val="]"/>
                        <m:ctrlPr>
                          <a:rPr lang="en-US" altLang="ko-KR" i="1">
                            <a:latin typeface="Cambria Math" panose="02040503050406030204" pitchFamily="18" charset="0"/>
                          </a:rPr>
                        </m:ctrlPr>
                      </m:dPr>
                      <m:e>
                        <m:m>
                          <m:mPr>
                            <m:mcs>
                              <m:mc>
                                <m:mcPr>
                                  <m:count m:val="3"/>
                                  <m:mcJc m:val="center"/>
                                </m:mcPr>
                              </m:mc>
                            </m:mcs>
                            <m:ctrlPr>
                              <a:rPr lang="en-US" altLang="ko-KR" i="1">
                                <a:latin typeface="Cambria Math" panose="02040503050406030204" pitchFamily="18" charset="0"/>
                              </a:rPr>
                            </m:ctrlPr>
                          </m:mPr>
                          <m:mr>
                            <m:e>
                              <m:r>
                                <m:rPr>
                                  <m:brk m:alnAt="7"/>
                                </m:rPr>
                                <a:rPr lang="en-US" altLang="ko-KR" i="1">
                                  <a:latin typeface="Cambria Math" panose="02040503050406030204" pitchFamily="18" charset="0"/>
                                </a:rPr>
                                <m:t>0</m:t>
                              </m:r>
                              <m:r>
                                <a:rPr lang="en-US" altLang="ko-KR" i="1">
                                  <a:latin typeface="Cambria Math" panose="02040503050406030204" pitchFamily="18" charset="0"/>
                                </a:rPr>
                                <m:t>.5</m:t>
                              </m:r>
                            </m:e>
                            <m:e>
                              <m:r>
                                <a:rPr lang="en-US" altLang="ko-KR" i="1">
                                  <a:latin typeface="Cambria Math" panose="02040503050406030204" pitchFamily="18" charset="0"/>
                                </a:rPr>
                                <m:t>0.2</m:t>
                              </m:r>
                            </m:e>
                            <m:e>
                              <m:r>
                                <a:rPr lang="en-US" altLang="ko-KR" i="1">
                                  <a:latin typeface="Cambria Math" panose="02040503050406030204" pitchFamily="18" charset="0"/>
                                </a:rPr>
                                <m:t>0.3</m:t>
                              </m:r>
                            </m:e>
                          </m:mr>
                        </m:m>
                      </m:e>
                    </m:d>
                    <m:d>
                      <m:dPr>
                        <m:begChr m:val="["/>
                        <m:endChr m:val="]"/>
                        <m:ctrlPr>
                          <a:rPr lang="en-US" altLang="ko-KR" i="1">
                            <a:latin typeface="Cambria Math" panose="02040503050406030204" pitchFamily="18" charset="0"/>
                          </a:rPr>
                        </m:ctrlPr>
                      </m:dPr>
                      <m:e>
                        <m:m>
                          <m:mPr>
                            <m:mcs>
                              <m:mc>
                                <m:mcPr>
                                  <m:count m:val="3"/>
                                  <m:mcJc m:val="center"/>
                                </m:mcPr>
                              </m:mc>
                            </m:mcs>
                            <m:ctrlPr>
                              <a:rPr lang="en-US" altLang="ko-KR" i="1">
                                <a:latin typeface="Cambria Math" panose="02040503050406030204" pitchFamily="18" charset="0"/>
                              </a:rPr>
                            </m:ctrlPr>
                          </m:mPr>
                          <m:mr>
                            <m:e>
                              <m:m>
                                <m:mPr>
                                  <m:mcs>
                                    <m:mc>
                                      <m:mcPr>
                                        <m:count m:val="1"/>
                                        <m:mcJc m:val="center"/>
                                      </m:mcPr>
                                    </m:mc>
                                  </m:mcs>
                                  <m:ctrlPr>
                                    <a:rPr lang="en-US" altLang="ko-KR" i="1">
                                      <a:latin typeface="Cambria Math" panose="02040503050406030204" pitchFamily="18" charset="0"/>
                                    </a:rPr>
                                  </m:ctrlPr>
                                </m:mPr>
                                <m:mr>
                                  <m:e>
                                    <m:r>
                                      <m:rPr>
                                        <m:brk m:alnAt="7"/>
                                      </m:rPr>
                                      <a:rPr lang="en-US" altLang="ko-KR" i="1">
                                        <a:latin typeface="Cambria Math" panose="02040503050406030204" pitchFamily="18" charset="0"/>
                                      </a:rPr>
                                      <m:t>0</m:t>
                                    </m:r>
                                    <m:r>
                                      <a:rPr lang="en-US" altLang="ko-KR" i="1">
                                        <a:latin typeface="Cambria Math" panose="02040503050406030204" pitchFamily="18" charset="0"/>
                                      </a:rPr>
                                      <m:t>.7</m:t>
                                    </m:r>
                                  </m:e>
                                </m:mr>
                                <m:mr>
                                  <m:e>
                                    <m:r>
                                      <a:rPr lang="en-US" altLang="ko-KR" i="1">
                                        <a:latin typeface="Cambria Math" panose="02040503050406030204" pitchFamily="18" charset="0"/>
                                      </a:rPr>
                                      <m:t>0.2</m:t>
                                    </m:r>
                                  </m:e>
                                </m:mr>
                                <m:mr>
                                  <m:e>
                                    <m:r>
                                      <a:rPr lang="en-US" altLang="ko-KR" i="1">
                                        <a:latin typeface="Cambria Math" panose="02040503050406030204" pitchFamily="18" charset="0"/>
                                      </a:rPr>
                                      <m:t>0.4</m:t>
                                    </m:r>
                                  </m:e>
                                </m:mr>
                              </m:m>
                            </m:e>
                            <m:e>
                              <m:m>
                                <m:mPr>
                                  <m:mcs>
                                    <m:mc>
                                      <m:mcPr>
                                        <m:count m:val="1"/>
                                        <m:mcJc m:val="center"/>
                                      </m:mcPr>
                                    </m:mc>
                                  </m:mcs>
                                  <m:ctrlPr>
                                    <a:rPr lang="en-US" altLang="ko-KR" i="1">
                                      <a:latin typeface="Cambria Math" panose="02040503050406030204" pitchFamily="18" charset="0"/>
                                    </a:rPr>
                                  </m:ctrlPr>
                                </m:mPr>
                                <m:mr>
                                  <m:e>
                                    <m:r>
                                      <m:rPr>
                                        <m:brk m:alnAt="7"/>
                                      </m:rPr>
                                      <a:rPr lang="en-US" altLang="ko-KR" i="1">
                                        <a:latin typeface="Cambria Math" panose="02040503050406030204" pitchFamily="18" charset="0"/>
                                      </a:rPr>
                                      <m:t>0</m:t>
                                    </m:r>
                                    <m:r>
                                      <a:rPr lang="en-US" altLang="ko-KR" i="1">
                                        <a:latin typeface="Cambria Math" panose="02040503050406030204" pitchFamily="18" charset="0"/>
                                      </a:rPr>
                                      <m:t>.2</m:t>
                                    </m:r>
                                  </m:e>
                                </m:mr>
                                <m:mr>
                                  <m:e>
                                    <m:r>
                                      <a:rPr lang="en-US" altLang="ko-KR" i="1">
                                        <a:latin typeface="Cambria Math" panose="02040503050406030204" pitchFamily="18" charset="0"/>
                                      </a:rPr>
                                      <m:t>0.3</m:t>
                                    </m:r>
                                  </m:e>
                                </m:mr>
                                <m:mr>
                                  <m:e>
                                    <m:r>
                                      <a:rPr lang="en-US" altLang="ko-KR" i="1">
                                        <a:latin typeface="Cambria Math" panose="02040503050406030204" pitchFamily="18" charset="0"/>
                                      </a:rPr>
                                      <m:t>0.2</m:t>
                                    </m:r>
                                  </m:e>
                                </m:mr>
                              </m:m>
                            </m:e>
                            <m:e>
                              <m:m>
                                <m:mPr>
                                  <m:mcs>
                                    <m:mc>
                                      <m:mcPr>
                                        <m:count m:val="1"/>
                                        <m:mcJc m:val="center"/>
                                      </m:mcPr>
                                    </m:mc>
                                  </m:mcs>
                                  <m:ctrlPr>
                                    <a:rPr lang="en-US" altLang="ko-KR" i="1">
                                      <a:latin typeface="Cambria Math" panose="02040503050406030204" pitchFamily="18" charset="0"/>
                                    </a:rPr>
                                  </m:ctrlPr>
                                </m:mPr>
                                <m:mr>
                                  <m:e>
                                    <m:r>
                                      <m:rPr>
                                        <m:brk m:alnAt="7"/>
                                      </m:rPr>
                                      <a:rPr lang="en-US" altLang="ko-KR" i="1">
                                        <a:latin typeface="Cambria Math" panose="02040503050406030204" pitchFamily="18" charset="0"/>
                                      </a:rPr>
                                      <m:t>0</m:t>
                                    </m:r>
                                    <m:r>
                                      <a:rPr lang="en-US" altLang="ko-KR" i="1">
                                        <a:latin typeface="Cambria Math" panose="02040503050406030204" pitchFamily="18" charset="0"/>
                                      </a:rPr>
                                      <m:t>.1</m:t>
                                    </m:r>
                                  </m:e>
                                </m:mr>
                                <m:mr>
                                  <m:e>
                                    <m:r>
                                      <a:rPr lang="en-US" altLang="ko-KR" i="1">
                                        <a:latin typeface="Cambria Math" panose="02040503050406030204" pitchFamily="18" charset="0"/>
                                      </a:rPr>
                                      <m:t>0.5</m:t>
                                    </m:r>
                                  </m:e>
                                </m:mr>
                                <m:mr>
                                  <m:e>
                                    <m:r>
                                      <a:rPr lang="en-US" altLang="ko-KR" i="1">
                                        <a:latin typeface="Cambria Math" panose="02040503050406030204" pitchFamily="18" charset="0"/>
                                      </a:rPr>
                                      <m:t>0.4</m:t>
                                    </m:r>
                                  </m:e>
                                </m:mr>
                              </m:m>
                            </m:e>
                          </m:mr>
                        </m:m>
                      </m:e>
                    </m:d>
                  </m:oMath>
                </a14:m>
                <a:r>
                  <a:rPr lang="en-US" altLang="ko-KR" i="1" dirty="0" smtClean="0">
                    <a:latin typeface="Cambria Math" panose="02040503050406030204" pitchFamily="18" charset="0"/>
                  </a:rPr>
                  <a:t/>
                </a:r>
                <a:br>
                  <a:rPr lang="en-US" altLang="ko-KR" i="1" dirty="0" smtClean="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m:t>
                      </m:r>
                      <m:d>
                        <m:dPr>
                          <m:begChr m:val="["/>
                          <m:endChr m:val="]"/>
                          <m:ctrlPr>
                            <a:rPr lang="en-US" altLang="ko-KR" i="1">
                              <a:latin typeface="Cambria Math" panose="02040503050406030204" pitchFamily="18" charset="0"/>
                            </a:rPr>
                          </m:ctrlPr>
                        </m:dPr>
                        <m:e>
                          <m:m>
                            <m:mPr>
                              <m:mcs>
                                <m:mc>
                                  <m:mcPr>
                                    <m:count m:val="3"/>
                                    <m:mcJc m:val="center"/>
                                  </m:mcPr>
                                </m:mc>
                              </m:mcs>
                              <m:ctrlPr>
                                <a:rPr lang="en-US" altLang="ko-KR" i="1">
                                  <a:latin typeface="Cambria Math" panose="02040503050406030204" pitchFamily="18" charset="0"/>
                                </a:rPr>
                              </m:ctrlPr>
                            </m:mPr>
                            <m:mr>
                              <m:e>
                                <m:r>
                                  <m:rPr>
                                    <m:brk m:alnAt="7"/>
                                  </m:rPr>
                                  <a:rPr lang="en-US" altLang="ko-KR" i="1">
                                    <a:latin typeface="Cambria Math" panose="02040503050406030204" pitchFamily="18" charset="0"/>
                                  </a:rPr>
                                  <m:t>0</m:t>
                                </m:r>
                                <m:r>
                                  <a:rPr lang="en-US" altLang="ko-KR" i="1">
                                    <a:latin typeface="Cambria Math" panose="02040503050406030204" pitchFamily="18" charset="0"/>
                                  </a:rPr>
                                  <m:t>.5</m:t>
                                </m:r>
                                <m:r>
                                  <a:rPr lang="en-US" altLang="ko-KR" b="0" i="1" smtClean="0">
                                    <a:latin typeface="Cambria Math" panose="02040503050406030204" pitchFamily="18" charset="0"/>
                                  </a:rPr>
                                  <m:t>1</m:t>
                                </m:r>
                              </m:e>
                              <m:e>
                                <m:r>
                                  <a:rPr lang="en-US" altLang="ko-KR" i="1">
                                    <a:latin typeface="Cambria Math" panose="02040503050406030204" pitchFamily="18" charset="0"/>
                                  </a:rPr>
                                  <m:t>0.2</m:t>
                                </m:r>
                                <m:r>
                                  <a:rPr lang="en-US" altLang="ko-KR" b="0" i="1" smtClean="0">
                                    <a:latin typeface="Cambria Math" panose="02040503050406030204" pitchFamily="18" charset="0"/>
                                  </a:rPr>
                                  <m:t>2</m:t>
                                </m:r>
                              </m:e>
                              <m:e>
                                <m:r>
                                  <a:rPr lang="en-US" altLang="ko-KR" i="1">
                                    <a:latin typeface="Cambria Math" panose="02040503050406030204" pitchFamily="18" charset="0"/>
                                  </a:rPr>
                                  <m:t>0.</m:t>
                                </m:r>
                                <m:r>
                                  <a:rPr lang="en-US" altLang="ko-KR" b="0" i="1" smtClean="0">
                                    <a:latin typeface="Cambria Math" panose="02040503050406030204" pitchFamily="18" charset="0"/>
                                  </a:rPr>
                                  <m:t>27</m:t>
                                </m:r>
                              </m:e>
                            </m:mr>
                          </m:m>
                        </m:e>
                      </m:d>
                    </m:oMath>
                  </m:oMathPara>
                </a14:m>
                <a:endParaRPr lang="ko-KR" alt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1225434" y="5179002"/>
                <a:ext cx="3464988" cy="1308884"/>
              </a:xfrm>
              <a:prstGeom prst="rect">
                <a:avLst/>
              </a:prstGeom>
              <a:blipFill rotWithShape="0">
                <a:blip r:embed="rId6"/>
                <a:stretch>
                  <a:fillRect l="-1056" r="-704" b="-2804"/>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1927158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smtClean="0"/>
              <a:t>Properties </a:t>
            </a:r>
            <a:r>
              <a:rPr lang="en-US" altLang="ko-KR" dirty="0" smtClean="0"/>
              <a:t>of Markov Chain</a:t>
            </a:r>
            <a:endParaRPr lang="ko-KR" alt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altLang="ko-KR" dirty="0" smtClean="0"/>
                  <a:t>Accessible</a:t>
                </a:r>
              </a:p>
              <a:p>
                <a:pPr lvl="1"/>
                <a:r>
                  <a:rPr lang="en-US" altLang="ko-KR" b="1" i="1" dirty="0" err="1">
                    <a:ea typeface="Cambria Math" panose="02040503050406030204" pitchFamily="18" charset="0"/>
                  </a:rPr>
                  <a:t>i</a:t>
                </a:r>
                <a:r>
                  <a:rPr lang="en-US" altLang="ko-KR" b="1" dirty="0" err="1">
                    <a:ea typeface="Cambria Math" panose="02040503050406030204" pitchFamily="18" charset="0"/>
                    <a:sym typeface="Wingdings" panose="05000000000000000000" pitchFamily="2" charset="2"/>
                  </a:rPr>
                  <a:t></a:t>
                </a:r>
                <a:r>
                  <a:rPr lang="en-US" altLang="ko-KR" b="1" i="1" dirty="0" err="1" smtClean="0">
                    <a:ea typeface="Cambria Math" panose="02040503050406030204" pitchFamily="18" charset="0"/>
                    <a:sym typeface="Wingdings" panose="05000000000000000000" pitchFamily="2" charset="2"/>
                  </a:rPr>
                  <a:t>j</a:t>
                </a:r>
                <a:r>
                  <a:rPr lang="en-US" altLang="ko-KR" b="1" i="1" dirty="0" smtClean="0">
                    <a:ea typeface="Cambria Math" panose="02040503050406030204" pitchFamily="18" charset="0"/>
                    <a:sym typeface="Wingdings" panose="05000000000000000000" pitchFamily="2" charset="2"/>
                  </a:rPr>
                  <a:t>: </a:t>
                </a:r>
                <a:r>
                  <a:rPr lang="en-US" altLang="ko-KR" dirty="0" smtClean="0"/>
                  <a:t>State </a:t>
                </a:r>
                <a:r>
                  <a:rPr lang="en-US" altLang="ko-KR" b="1" i="1" dirty="0" smtClean="0"/>
                  <a:t>j</a:t>
                </a:r>
                <a:r>
                  <a:rPr lang="en-US" altLang="ko-KR" dirty="0" smtClean="0"/>
                  <a:t> is </a:t>
                </a:r>
                <a:r>
                  <a:rPr lang="en-US" altLang="ko-KR" b="1" i="1" dirty="0" smtClean="0"/>
                  <a:t>accessible</a:t>
                </a:r>
                <a:r>
                  <a:rPr lang="en-US" altLang="ko-KR" dirty="0" smtClean="0"/>
                  <a:t> from </a:t>
                </a:r>
                <a:r>
                  <a:rPr lang="en-US" altLang="ko-KR" b="1" i="1" dirty="0" err="1" smtClean="0"/>
                  <a:t>i</a:t>
                </a:r>
                <a:r>
                  <a:rPr lang="en-US" altLang="ko-KR" dirty="0" smtClean="0"/>
                  <a:t> if </a:t>
                </a:r>
                <a14:m>
                  <m:oMath xmlns:m="http://schemas.openxmlformats.org/officeDocument/2006/math">
                    <m:sSubSup>
                      <m:sSubSupPr>
                        <m:ctrlPr>
                          <a:rPr lang="en-US" altLang="ko-KR" i="1" smtClean="0">
                            <a:latin typeface="Cambria Math" panose="02040503050406030204" pitchFamily="18" charset="0"/>
                          </a:rPr>
                        </m:ctrlPr>
                      </m:sSubSupPr>
                      <m:e>
                        <m:r>
                          <a:rPr lang="en-US" altLang="ko-KR" b="0" i="1" smtClean="0">
                            <a:latin typeface="Cambria Math" panose="02040503050406030204" pitchFamily="18" charset="0"/>
                          </a:rPr>
                          <m:t>𝑇</m:t>
                        </m:r>
                      </m:e>
                      <m:sub>
                        <m:r>
                          <a:rPr lang="en-US" altLang="ko-KR" b="0" i="1" smtClean="0">
                            <a:latin typeface="Cambria Math" panose="02040503050406030204" pitchFamily="18" charset="0"/>
                          </a:rPr>
                          <m:t>𝑖</m:t>
                        </m:r>
                        <m:r>
                          <a:rPr lang="en-US" altLang="ko-KR" b="0" i="1" smtClean="0">
                            <a:latin typeface="Cambria Math" panose="02040503050406030204" pitchFamily="18" charset="0"/>
                          </a:rPr>
                          <m:t>,</m:t>
                        </m:r>
                        <m:r>
                          <a:rPr lang="en-US" altLang="ko-KR" b="0" i="1" smtClean="0">
                            <a:latin typeface="Cambria Math" panose="02040503050406030204" pitchFamily="18" charset="0"/>
                          </a:rPr>
                          <m:t>𝑗</m:t>
                        </m:r>
                      </m:sub>
                      <m:sup>
                        <m:r>
                          <a:rPr lang="en-US" altLang="ko-KR" b="0" i="1" smtClean="0">
                            <a:latin typeface="Cambria Math" panose="02040503050406030204" pitchFamily="18" charset="0"/>
                          </a:rPr>
                          <m:t>𝑘</m:t>
                        </m:r>
                      </m:sup>
                    </m:sSubSup>
                    <m:r>
                      <a:rPr lang="en-US" altLang="ko-KR" b="0" i="1" smtClean="0">
                        <a:latin typeface="Cambria Math" panose="02040503050406030204" pitchFamily="18" charset="0"/>
                      </a:rPr>
                      <m:t>&gt;0 </m:t>
                    </m:r>
                    <m:r>
                      <a:rPr lang="en-US" altLang="ko-KR" b="0" i="1" smtClean="0">
                        <a:latin typeface="Cambria Math" panose="02040503050406030204" pitchFamily="18" charset="0"/>
                      </a:rPr>
                      <m:t>𝑎𝑛𝑑</m:t>
                    </m:r>
                    <m:r>
                      <a:rPr lang="en-US" altLang="ko-KR" b="0" i="1" smtClean="0">
                        <a:latin typeface="Cambria Math" panose="02040503050406030204" pitchFamily="18" charset="0"/>
                      </a:rPr>
                      <m:t> </m:t>
                    </m:r>
                    <m:r>
                      <a:rPr lang="en-US" altLang="ko-KR" b="0" i="1" smtClean="0">
                        <a:latin typeface="Cambria Math" panose="02040503050406030204" pitchFamily="18" charset="0"/>
                      </a:rPr>
                      <m:t>𝑘</m:t>
                    </m:r>
                    <m:r>
                      <a:rPr lang="en-US" altLang="ko-KR" b="0" i="1" smtClean="0">
                        <a:latin typeface="Cambria Math" panose="02040503050406030204" pitchFamily="18" charset="0"/>
                        <a:ea typeface="Cambria Math" panose="02040503050406030204" pitchFamily="18" charset="0"/>
                      </a:rPr>
                      <m:t>≥0</m:t>
                    </m:r>
                  </m:oMath>
                </a14:m>
                <a:endParaRPr lang="en-US" altLang="ko-KR" b="0" dirty="0" smtClean="0">
                  <a:ea typeface="Cambria Math" panose="02040503050406030204" pitchFamily="18" charset="0"/>
                </a:endParaRPr>
              </a:p>
              <a:p>
                <a:pPr lvl="1"/>
                <a14:m>
                  <m:oMath xmlns:m="http://schemas.openxmlformats.org/officeDocument/2006/math">
                    <m:r>
                      <a:rPr lang="en-US" altLang="ko-KR" b="1" i="1" smtClean="0">
                        <a:latin typeface="Cambria Math" panose="02040503050406030204" pitchFamily="18" charset="0"/>
                      </a:rPr>
                      <m:t>𝒊</m:t>
                    </m:r>
                    <m:r>
                      <a:rPr lang="en-US" altLang="ko-KR" b="1" i="1" smtClean="0">
                        <a:latin typeface="Cambria Math" panose="02040503050406030204" pitchFamily="18" charset="0"/>
                        <a:ea typeface="Cambria Math" panose="02040503050406030204" pitchFamily="18" charset="0"/>
                      </a:rPr>
                      <m:t>↔</m:t>
                    </m:r>
                    <m:r>
                      <a:rPr lang="en-US" altLang="ko-KR" b="1" i="1" smtClean="0">
                        <a:latin typeface="Cambria Math" panose="02040503050406030204" pitchFamily="18" charset="0"/>
                        <a:ea typeface="Cambria Math" panose="02040503050406030204" pitchFamily="18" charset="0"/>
                      </a:rPr>
                      <m:t>𝒋</m:t>
                    </m:r>
                  </m:oMath>
                </a14:m>
                <a:r>
                  <a:rPr lang="en-US" altLang="ko-KR" dirty="0" smtClean="0"/>
                  <a:t>: State </a:t>
                </a:r>
                <a:r>
                  <a:rPr lang="en-US" altLang="ko-KR" b="1" i="1" dirty="0" err="1" smtClean="0"/>
                  <a:t>i</a:t>
                </a:r>
                <a:r>
                  <a:rPr lang="en-US" altLang="ko-KR" dirty="0" smtClean="0"/>
                  <a:t> and </a:t>
                </a:r>
                <a:r>
                  <a:rPr lang="en-US" altLang="ko-KR" b="1" i="1" dirty="0" smtClean="0"/>
                  <a:t>j</a:t>
                </a:r>
                <a:r>
                  <a:rPr lang="en-US" altLang="ko-KR" dirty="0" smtClean="0"/>
                  <a:t> </a:t>
                </a:r>
                <a:r>
                  <a:rPr lang="en-US" altLang="ko-KR" b="1" i="1" dirty="0" smtClean="0"/>
                  <a:t>communicate</a:t>
                </a:r>
                <a:r>
                  <a:rPr lang="en-US" altLang="ko-KR" dirty="0" smtClean="0"/>
                  <a:t> if </a:t>
                </a:r>
                <a:r>
                  <a:rPr lang="en-US" altLang="ko-KR" b="1" i="1" dirty="0" err="1">
                    <a:ea typeface="Cambria Math" panose="02040503050406030204" pitchFamily="18" charset="0"/>
                  </a:rPr>
                  <a:t>i</a:t>
                </a:r>
                <a:r>
                  <a:rPr lang="en-US" altLang="ko-KR" b="1" dirty="0" err="1">
                    <a:ea typeface="Cambria Math" panose="02040503050406030204" pitchFamily="18" charset="0"/>
                    <a:sym typeface="Wingdings" panose="05000000000000000000" pitchFamily="2" charset="2"/>
                  </a:rPr>
                  <a:t></a:t>
                </a:r>
                <a:r>
                  <a:rPr lang="en-US" altLang="ko-KR" b="1" i="1" dirty="0" err="1" smtClean="0">
                    <a:ea typeface="Cambria Math" panose="02040503050406030204" pitchFamily="18" charset="0"/>
                    <a:sym typeface="Wingdings" panose="05000000000000000000" pitchFamily="2" charset="2"/>
                  </a:rPr>
                  <a:t>j</a:t>
                </a:r>
                <a:r>
                  <a:rPr lang="en-US" altLang="ko-KR" b="1" i="1" dirty="0" smtClean="0">
                    <a:ea typeface="Cambria Math" panose="02040503050406030204" pitchFamily="18" charset="0"/>
                    <a:sym typeface="Wingdings" panose="05000000000000000000" pitchFamily="2" charset="2"/>
                  </a:rPr>
                  <a:t> </a:t>
                </a:r>
                <a:r>
                  <a:rPr lang="en-US" altLang="ko-KR" dirty="0" smtClean="0">
                    <a:ea typeface="Cambria Math" panose="02040503050406030204" pitchFamily="18" charset="0"/>
                    <a:sym typeface="Wingdings" panose="05000000000000000000" pitchFamily="2" charset="2"/>
                  </a:rPr>
                  <a:t>and</a:t>
                </a:r>
                <a:r>
                  <a:rPr lang="en-US" altLang="ko-KR" b="1" i="1" dirty="0" smtClean="0">
                    <a:ea typeface="Cambria Math" panose="02040503050406030204" pitchFamily="18" charset="0"/>
                    <a:sym typeface="Wingdings" panose="05000000000000000000" pitchFamily="2" charset="2"/>
                  </a:rPr>
                  <a:t> </a:t>
                </a:r>
                <a:r>
                  <a:rPr lang="en-US" altLang="ko-KR" b="1" i="1" dirty="0" err="1" smtClean="0">
                    <a:ea typeface="Cambria Math" panose="02040503050406030204" pitchFamily="18" charset="0"/>
                    <a:sym typeface="Wingdings" panose="05000000000000000000" pitchFamily="2" charset="2"/>
                  </a:rPr>
                  <a:t>ji</a:t>
                </a:r>
                <a:endParaRPr lang="en-US" altLang="ko-KR" dirty="0" smtClean="0"/>
              </a:p>
              <a:p>
                <a:r>
                  <a:rPr lang="en-US" altLang="ko-KR" dirty="0" smtClean="0"/>
                  <a:t>Reducibility</a:t>
                </a:r>
              </a:p>
              <a:p>
                <a:pPr lvl="1"/>
                <a:r>
                  <a:rPr lang="en-US" altLang="ko-KR" dirty="0" smtClean="0"/>
                  <a:t>A Markov chain is </a:t>
                </a:r>
                <a:r>
                  <a:rPr lang="en-US" altLang="ko-KR" b="1" i="1" dirty="0" smtClean="0"/>
                  <a:t>irreducible</a:t>
                </a:r>
                <a:r>
                  <a:rPr lang="en-US" altLang="ko-KR" dirty="0" smtClean="0"/>
                  <a:t> if </a:t>
                </a:r>
                <a14:m>
                  <m:oMath xmlns:m="http://schemas.openxmlformats.org/officeDocument/2006/math">
                    <m:r>
                      <a:rPr lang="en-US" altLang="ko-KR" b="1" i="1">
                        <a:latin typeface="Cambria Math" panose="02040503050406030204" pitchFamily="18" charset="0"/>
                      </a:rPr>
                      <m:t>𝒊</m:t>
                    </m:r>
                    <m:r>
                      <a:rPr lang="en-US" altLang="ko-KR" b="1" i="1">
                        <a:latin typeface="Cambria Math" panose="02040503050406030204" pitchFamily="18" charset="0"/>
                        <a:ea typeface="Cambria Math" panose="02040503050406030204" pitchFamily="18" charset="0"/>
                      </a:rPr>
                      <m:t>↔</m:t>
                    </m:r>
                    <m:r>
                      <a:rPr lang="en-US" altLang="ko-KR" b="1" i="1">
                        <a:latin typeface="Cambria Math" panose="02040503050406030204" pitchFamily="18" charset="0"/>
                        <a:ea typeface="Cambria Math" panose="02040503050406030204" pitchFamily="18" charset="0"/>
                      </a:rPr>
                      <m:t>𝒋</m:t>
                    </m:r>
                    <m:r>
                      <a:rPr lang="en-US" altLang="ko-KR" b="1" i="1" smtClean="0">
                        <a:latin typeface="Cambria Math" panose="02040503050406030204" pitchFamily="18" charset="0"/>
                        <a:ea typeface="Cambria Math" panose="02040503050406030204" pitchFamily="18" charset="0"/>
                      </a:rPr>
                      <m:t>, ∀</m:t>
                    </m:r>
                    <m:r>
                      <a:rPr lang="en-US" altLang="ko-KR" b="1" i="1" smtClean="0">
                        <a:latin typeface="Cambria Math" panose="02040503050406030204" pitchFamily="18" charset="0"/>
                        <a:ea typeface="Cambria Math" panose="02040503050406030204" pitchFamily="18" charset="0"/>
                      </a:rPr>
                      <m:t>𝒊</m:t>
                    </m:r>
                    <m:r>
                      <a:rPr lang="en-US" altLang="ko-KR" b="1" i="1" smtClean="0">
                        <a:latin typeface="Cambria Math" panose="02040503050406030204" pitchFamily="18" charset="0"/>
                        <a:ea typeface="Cambria Math" panose="02040503050406030204" pitchFamily="18" charset="0"/>
                      </a:rPr>
                      <m:t>∈</m:t>
                    </m:r>
                    <m:r>
                      <a:rPr lang="en-US" altLang="ko-KR" b="1" i="1" smtClean="0">
                        <a:latin typeface="Cambria Math" panose="02040503050406030204" pitchFamily="18" charset="0"/>
                        <a:ea typeface="Cambria Math" panose="02040503050406030204" pitchFamily="18" charset="0"/>
                      </a:rPr>
                      <m:t>𝑺</m:t>
                    </m:r>
                    <m:r>
                      <a:rPr lang="en-US" altLang="ko-KR" b="1" i="1" smtClean="0">
                        <a:latin typeface="Cambria Math" panose="02040503050406030204" pitchFamily="18" charset="0"/>
                        <a:ea typeface="Cambria Math" panose="02040503050406030204" pitchFamily="18" charset="0"/>
                      </a:rPr>
                      <m:t>,∀</m:t>
                    </m:r>
                    <m:r>
                      <a:rPr lang="en-US" altLang="ko-KR" b="1" i="1" smtClean="0">
                        <a:latin typeface="Cambria Math" panose="02040503050406030204" pitchFamily="18" charset="0"/>
                        <a:ea typeface="Cambria Math" panose="02040503050406030204" pitchFamily="18" charset="0"/>
                      </a:rPr>
                      <m:t>𝒋</m:t>
                    </m:r>
                    <m:r>
                      <a:rPr lang="en-US" altLang="ko-KR" b="1" i="1">
                        <a:latin typeface="Cambria Math" panose="02040503050406030204" pitchFamily="18" charset="0"/>
                        <a:ea typeface="Cambria Math" panose="02040503050406030204" pitchFamily="18" charset="0"/>
                      </a:rPr>
                      <m:t>∈</m:t>
                    </m:r>
                    <m:r>
                      <a:rPr lang="en-US" altLang="ko-KR" b="1" i="1">
                        <a:latin typeface="Cambria Math" panose="02040503050406030204" pitchFamily="18" charset="0"/>
                        <a:ea typeface="Cambria Math" panose="02040503050406030204" pitchFamily="18" charset="0"/>
                      </a:rPr>
                      <m:t>𝑺</m:t>
                    </m:r>
                  </m:oMath>
                </a14:m>
                <a:endParaRPr lang="en-US" altLang="ko-KR" dirty="0" smtClean="0"/>
              </a:p>
              <a:p>
                <a:r>
                  <a:rPr lang="en-US" altLang="ko-KR" dirty="0" smtClean="0"/>
                  <a:t>Periodicity</a:t>
                </a:r>
              </a:p>
              <a:p>
                <a:pPr lvl="1"/>
                <a:r>
                  <a:rPr lang="en-US" altLang="ko-KR" dirty="0" smtClean="0"/>
                  <a:t>State </a:t>
                </a:r>
                <a:r>
                  <a:rPr lang="en-US" altLang="ko-KR" b="1" i="1" dirty="0" err="1" smtClean="0"/>
                  <a:t>i</a:t>
                </a:r>
                <a:r>
                  <a:rPr lang="en-US" altLang="ko-KR" dirty="0" smtClean="0"/>
                  <a:t> has </a:t>
                </a:r>
                <a:r>
                  <a:rPr lang="en-US" altLang="ko-KR" b="1" i="1" dirty="0" smtClean="0"/>
                  <a:t>period</a:t>
                </a:r>
                <a:r>
                  <a:rPr lang="en-US" altLang="ko-KR" dirty="0" smtClean="0"/>
                  <a:t> </a:t>
                </a:r>
                <a:r>
                  <a:rPr lang="en-US" altLang="ko-KR" b="1" i="1" dirty="0" smtClean="0"/>
                  <a:t>d</a:t>
                </a:r>
                <a:r>
                  <a:rPr lang="en-US" altLang="ko-KR" dirty="0" smtClean="0"/>
                  <a:t> if </a:t>
                </a:r>
                <a14:m>
                  <m:oMath xmlns:m="http://schemas.openxmlformats.org/officeDocument/2006/math">
                    <m:r>
                      <a:rPr lang="en-US" altLang="ko-KR" b="0" i="1" smtClean="0">
                        <a:latin typeface="Cambria Math" panose="02040503050406030204" pitchFamily="18" charset="0"/>
                      </a:rPr>
                      <m:t>𝑑</m:t>
                    </m:r>
                    <m:r>
                      <a:rPr lang="en-US" altLang="ko-KR" b="0" i="1" smtClean="0">
                        <a:latin typeface="Cambria Math" panose="02040503050406030204" pitchFamily="18" charset="0"/>
                      </a:rPr>
                      <m:t>=</m:t>
                    </m:r>
                    <m:r>
                      <m:rPr>
                        <m:sty m:val="p"/>
                      </m:rPr>
                      <a:rPr lang="en-US" altLang="ko-KR" b="0" i="0" smtClean="0">
                        <a:latin typeface="Cambria Math" panose="02040503050406030204" pitchFamily="18" charset="0"/>
                      </a:rPr>
                      <m:t>gcd</m:t>
                    </m:r>
                    <m:r>
                      <a:rPr lang="en-US" altLang="ko-KR" b="0" i="1" smtClean="0">
                        <a:latin typeface="Cambria Math" panose="02040503050406030204" pitchFamily="18" charset="0"/>
                      </a:rPr>
                      <m:t>⁡{</m:t>
                    </m:r>
                    <m:r>
                      <a:rPr lang="en-US" altLang="ko-KR" b="0" i="1" smtClean="0">
                        <a:latin typeface="Cambria Math" panose="02040503050406030204" pitchFamily="18" charset="0"/>
                      </a:rPr>
                      <m:t>𝑛</m:t>
                    </m:r>
                    <m:r>
                      <a:rPr lang="en-US" altLang="ko-KR" b="0" i="1" smtClean="0">
                        <a:latin typeface="Cambria Math" panose="02040503050406030204" pitchFamily="18" charset="0"/>
                      </a:rPr>
                      <m: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𝑇</m:t>
                        </m:r>
                      </m:e>
                      <m:sub>
                        <m:r>
                          <a:rPr lang="en-US" altLang="ko-KR" i="1">
                            <a:latin typeface="Cambria Math" panose="02040503050406030204" pitchFamily="18" charset="0"/>
                          </a:rPr>
                          <m:t>𝑖</m:t>
                        </m:r>
                        <m:r>
                          <a:rPr lang="en-US" altLang="ko-KR" i="1">
                            <a:latin typeface="Cambria Math" panose="02040503050406030204" pitchFamily="18" charset="0"/>
                          </a:rPr>
                          <m:t>,</m:t>
                        </m:r>
                        <m:r>
                          <a:rPr lang="en-US" altLang="ko-KR" i="1">
                            <a:latin typeface="Cambria Math" panose="02040503050406030204" pitchFamily="18" charset="0"/>
                          </a:rPr>
                          <m:t>𝑗</m:t>
                        </m:r>
                      </m:sub>
                      <m:sup>
                        <m:r>
                          <a:rPr lang="en-US" altLang="ko-KR" i="1">
                            <a:latin typeface="Cambria Math" panose="02040503050406030204" pitchFamily="18" charset="0"/>
                          </a:rPr>
                          <m:t>𝑛</m:t>
                        </m:r>
                      </m:sup>
                    </m:sSubSup>
                    <m:r>
                      <a:rPr lang="en-US" altLang="ko-KR" b="0" i="1" smtClean="0">
                        <a:latin typeface="Cambria Math" panose="02040503050406030204" pitchFamily="18" charset="0"/>
                      </a:rPr>
                      <m:t>&gt;</m:t>
                    </m:r>
                    <m:r>
                      <a:rPr lang="en-US" altLang="ko-KR" i="1">
                        <a:latin typeface="Cambria Math" panose="02040503050406030204" pitchFamily="18" charset="0"/>
                      </a:rPr>
                      <m:t>0</m:t>
                    </m:r>
                    <m:r>
                      <a:rPr lang="en-US" altLang="ko-KR" b="0" i="1" smtClean="0">
                        <a:latin typeface="Cambria Math" panose="02040503050406030204" pitchFamily="18" charset="0"/>
                      </a:rPr>
                      <m:t>}</m:t>
                    </m:r>
                  </m:oMath>
                </a14:m>
                <a:endParaRPr lang="en-US" altLang="ko-KR" dirty="0" smtClean="0">
                  <a:ea typeface="Cambria Math" panose="02040503050406030204" pitchFamily="18" charset="0"/>
                </a:endParaRPr>
              </a:p>
              <a:p>
                <a:pPr lvl="1"/>
                <a:r>
                  <a:rPr lang="en-US" altLang="ko-KR" dirty="0" smtClean="0"/>
                  <a:t>If </a:t>
                </a:r>
                <a:r>
                  <a:rPr lang="en-US" altLang="ko-KR" b="1" i="1" dirty="0" smtClean="0"/>
                  <a:t>d</a:t>
                </a:r>
                <a:r>
                  <a:rPr lang="en-US" altLang="ko-KR" dirty="0" smtClean="0"/>
                  <a:t>=1, State </a:t>
                </a:r>
                <a:r>
                  <a:rPr lang="en-US" altLang="ko-KR" b="1" i="1" dirty="0" err="1" smtClean="0"/>
                  <a:t>i</a:t>
                </a:r>
                <a:r>
                  <a:rPr lang="en-US" altLang="ko-KR" dirty="0" smtClean="0"/>
                  <a:t> is </a:t>
                </a:r>
                <a:r>
                  <a:rPr lang="en-US" altLang="ko-KR" b="1" i="1" dirty="0" smtClean="0"/>
                  <a:t>aperiodic</a:t>
                </a:r>
                <a:r>
                  <a:rPr lang="en-US" altLang="ko-KR" dirty="0" smtClean="0"/>
                  <a:t>.</a:t>
                </a:r>
              </a:p>
              <a:p>
                <a:r>
                  <a:rPr lang="en-US" altLang="ko-KR" dirty="0" smtClean="0"/>
                  <a:t>Transience</a:t>
                </a:r>
              </a:p>
              <a:p>
                <a:pPr lvl="1"/>
                <a:r>
                  <a:rPr lang="en-US" altLang="ko-KR" dirty="0" smtClean="0"/>
                  <a:t>State </a:t>
                </a:r>
                <a:r>
                  <a:rPr lang="en-US" altLang="ko-KR" b="1" i="1" dirty="0" smtClean="0"/>
                  <a:t>j</a:t>
                </a:r>
                <a:r>
                  <a:rPr lang="en-US" altLang="ko-KR" dirty="0" smtClean="0"/>
                  <a:t> is </a:t>
                </a:r>
                <a:r>
                  <a:rPr lang="en-US" altLang="ko-KR" b="1" i="1" dirty="0" smtClean="0"/>
                  <a:t>recurrent</a:t>
                </a:r>
                <a:r>
                  <a:rPr lang="en-US" altLang="ko-KR" dirty="0" smtClean="0"/>
                  <a:t> if </a:t>
                </a:r>
                <a14:m>
                  <m:oMath xmlns:m="http://schemas.openxmlformats.org/officeDocument/2006/math">
                    <m:r>
                      <m:rPr>
                        <m:sty m:val="p"/>
                      </m:rPr>
                      <a:rPr lang="en-US" altLang="ko-KR" b="0" i="0" smtClean="0">
                        <a:latin typeface="Cambria Math" panose="02040503050406030204" pitchFamily="18" charset="0"/>
                      </a:rPr>
                      <m:t>P</m:t>
                    </m:r>
                    <m:d>
                      <m:dPr>
                        <m:ctrlPr>
                          <a:rPr lang="en-US" altLang="ko-KR" b="0" i="1" smtClean="0">
                            <a:latin typeface="Cambria Math" panose="02040503050406030204" pitchFamily="18" charset="0"/>
                          </a:rPr>
                        </m:ctrlPr>
                      </m:dPr>
                      <m:e>
                        <m:func>
                          <m:funcPr>
                            <m:ctrlPr>
                              <a:rPr lang="en-US" altLang="ko-KR" b="0" i="1" smtClean="0">
                                <a:latin typeface="Cambria Math" panose="02040503050406030204" pitchFamily="18" charset="0"/>
                              </a:rPr>
                            </m:ctrlPr>
                          </m:funcPr>
                          <m:fName>
                            <m:r>
                              <m:rPr>
                                <m:sty m:val="p"/>
                              </m:rPr>
                              <a:rPr lang="en-US" altLang="ko-KR" b="0" i="0" smtClean="0">
                                <a:latin typeface="Cambria Math" panose="02040503050406030204" pitchFamily="18" charset="0"/>
                              </a:rPr>
                              <m:t>inf</m:t>
                            </m:r>
                          </m:fName>
                          <m:e>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𝑡</m:t>
                                </m:r>
                                <m:r>
                                  <a:rPr lang="en-US" altLang="ko-KR" b="0" i="1" smtClean="0">
                                    <a:latin typeface="Cambria Math" panose="02040503050406030204" pitchFamily="18" charset="0"/>
                                    <a:ea typeface="Cambria Math" panose="02040503050406030204" pitchFamily="18" charset="0"/>
                                  </a:rPr>
                                  <m:t>≥1:</m:t>
                                </m:r>
                                <m:sSub>
                                  <m:sSubPr>
                                    <m:ctrlPr>
                                      <a:rPr lang="en-US" altLang="ko-KR" b="0" i="1" smtClean="0">
                                        <a:latin typeface="Cambria Math" panose="02040503050406030204" pitchFamily="18" charset="0"/>
                                        <a:ea typeface="Cambria Math" panose="02040503050406030204" pitchFamily="18" charset="0"/>
                                      </a:rPr>
                                    </m:ctrlPr>
                                  </m:sSubPr>
                                  <m:e>
                                    <m:r>
                                      <a:rPr lang="en-US" altLang="ko-KR" b="0" i="1" smtClean="0">
                                        <a:latin typeface="Cambria Math" panose="02040503050406030204" pitchFamily="18" charset="0"/>
                                        <a:ea typeface="Cambria Math" panose="02040503050406030204" pitchFamily="18" charset="0"/>
                                      </a:rPr>
                                      <m:t>𝑋</m:t>
                                    </m:r>
                                  </m:e>
                                  <m:sub>
                                    <m:r>
                                      <a:rPr lang="en-US" altLang="ko-KR" b="0" i="1" smtClean="0">
                                        <a:latin typeface="Cambria Math" panose="02040503050406030204" pitchFamily="18" charset="0"/>
                                        <a:ea typeface="Cambria Math" panose="02040503050406030204" pitchFamily="18" charset="0"/>
                                      </a:rPr>
                                      <m:t>𝑡</m:t>
                                    </m:r>
                                  </m:sub>
                                </m:sSub>
                                <m:r>
                                  <a:rPr lang="en-US" altLang="ko-KR" b="0" i="1" smtClean="0">
                                    <a:latin typeface="Cambria Math" panose="02040503050406030204" pitchFamily="18" charset="0"/>
                                    <a:ea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𝑗</m:t>
                                </m:r>
                              </m:e>
                            </m:d>
                          </m:e>
                        </m:func>
                        <m:r>
                          <a:rPr lang="en-US" altLang="ko-KR" b="0" i="1" smtClean="0">
                            <a:latin typeface="Cambria Math" panose="02040503050406030204" pitchFamily="18" charset="0"/>
                            <a:ea typeface="Cambria Math" panose="02040503050406030204" pitchFamily="18" charset="0"/>
                          </a:rPr>
                          <m:t>&lt;∞</m:t>
                        </m:r>
                      </m:e>
                      <m:e>
                        <m:sSub>
                          <m:sSubPr>
                            <m:ctrlPr>
                              <a:rPr lang="en-US" altLang="ko-KR" i="1">
                                <a:latin typeface="Cambria Math" panose="02040503050406030204" pitchFamily="18" charset="0"/>
                                <a:ea typeface="Cambria Math" panose="02040503050406030204" pitchFamily="18" charset="0"/>
                              </a:rPr>
                            </m:ctrlPr>
                          </m:sSubPr>
                          <m:e>
                            <m:r>
                              <a:rPr lang="en-US" altLang="ko-KR" i="1">
                                <a:latin typeface="Cambria Math" panose="02040503050406030204" pitchFamily="18" charset="0"/>
                                <a:ea typeface="Cambria Math" panose="02040503050406030204" pitchFamily="18" charset="0"/>
                              </a:rPr>
                              <m:t>𝑋</m:t>
                            </m:r>
                          </m:e>
                          <m:sub>
                            <m:r>
                              <a:rPr lang="en-US" altLang="ko-KR" b="0" i="1" smtClean="0">
                                <a:latin typeface="Cambria Math" panose="02040503050406030204" pitchFamily="18" charset="0"/>
                                <a:ea typeface="Cambria Math" panose="02040503050406030204" pitchFamily="18" charset="0"/>
                              </a:rPr>
                              <m:t>0</m:t>
                            </m:r>
                          </m:sub>
                        </m:sSub>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𝑗</m:t>
                        </m:r>
                      </m:e>
                    </m:d>
                    <m:r>
                      <a:rPr lang="en-US" altLang="ko-KR" b="0" i="1" smtClean="0">
                        <a:latin typeface="Cambria Math" panose="02040503050406030204" pitchFamily="18" charset="0"/>
                        <a:ea typeface="Cambria Math" panose="02040503050406030204" pitchFamily="18" charset="0"/>
                      </a:rPr>
                      <m:t>=1</m:t>
                    </m:r>
                  </m:oMath>
                </a14:m>
                <a:endParaRPr lang="en-US" altLang="ko-KR" dirty="0" smtClean="0"/>
              </a:p>
              <a:p>
                <a:pPr lvl="1"/>
                <a:r>
                  <a:rPr lang="en-US" altLang="ko-KR" dirty="0" smtClean="0"/>
                  <a:t>States which are not </a:t>
                </a:r>
                <a:r>
                  <a:rPr lang="en-US" altLang="ko-KR" b="1" i="1" dirty="0" smtClean="0"/>
                  <a:t>recurrent</a:t>
                </a:r>
                <a:r>
                  <a:rPr lang="en-US" altLang="ko-KR" dirty="0" smtClean="0"/>
                  <a:t> are </a:t>
                </a:r>
                <a:r>
                  <a:rPr lang="en-US" altLang="ko-KR" b="1" i="1" dirty="0" smtClean="0"/>
                  <a:t>transient</a:t>
                </a:r>
                <a:r>
                  <a:rPr lang="en-US" altLang="ko-KR" dirty="0" smtClean="0"/>
                  <a:t>.</a:t>
                </a:r>
              </a:p>
              <a:p>
                <a:r>
                  <a:rPr lang="en-US" altLang="ko-KR" dirty="0" err="1" smtClean="0"/>
                  <a:t>Ergodicity</a:t>
                </a:r>
                <a:endParaRPr lang="en-US" altLang="ko-KR" dirty="0" smtClean="0"/>
              </a:p>
              <a:p>
                <a:pPr lvl="1"/>
                <a:r>
                  <a:rPr lang="en-US" altLang="ko-KR" dirty="0" smtClean="0"/>
                  <a:t>A state is </a:t>
                </a:r>
                <a:r>
                  <a:rPr lang="en-US" altLang="ko-KR" b="1" i="1" dirty="0" smtClean="0"/>
                  <a:t>ergodic</a:t>
                </a:r>
                <a:r>
                  <a:rPr lang="en-US" altLang="ko-KR" dirty="0" smtClean="0"/>
                  <a:t> if the state is (positive) </a:t>
                </a:r>
                <a:r>
                  <a:rPr lang="en-US" altLang="ko-KR" b="1" i="1" dirty="0" smtClean="0"/>
                  <a:t>recurrent</a:t>
                </a:r>
                <a:r>
                  <a:rPr lang="en-US" altLang="ko-KR" dirty="0" smtClean="0"/>
                  <a:t> and </a:t>
                </a:r>
                <a:r>
                  <a:rPr lang="en-US" altLang="ko-KR" b="1" i="1" dirty="0" smtClean="0"/>
                  <a:t>aperiodic</a:t>
                </a:r>
                <a:r>
                  <a:rPr lang="en-US" altLang="ko-KR" dirty="0" smtClean="0"/>
                  <a:t>.</a:t>
                </a:r>
              </a:p>
              <a:p>
                <a:pPr lvl="1"/>
                <a:r>
                  <a:rPr lang="en-US" altLang="ko-KR" dirty="0" smtClean="0"/>
                  <a:t>Markov chain is ergodic if all states are ergodic.</a:t>
                </a:r>
              </a:p>
              <a:p>
                <a:endParaRPr lang="ko-KR" alt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t="-1363"/>
                </a:stretch>
              </a:blipFill>
            </p:spPr>
            <p:txBody>
              <a:bodyPr/>
              <a:lstStyle/>
              <a:p>
                <a:r>
                  <a:rPr lang="ko-KR" altLang="en-US">
                    <a:noFill/>
                  </a:rPr>
                  <a:t> </a:t>
                </a:r>
              </a:p>
            </p:txBody>
          </p:sp>
        </mc:Fallback>
      </mc:AlternateContent>
      <p:sp>
        <p:nvSpPr>
          <p:cNvPr id="4" name="Slide Number Placeholder 3"/>
          <p:cNvSpPr>
            <a:spLocks noGrp="1"/>
          </p:cNvSpPr>
          <p:nvPr>
            <p:ph type="sldNum" sz="quarter" idx="12"/>
          </p:nvPr>
        </p:nvSpPr>
        <p:spPr/>
        <p:txBody>
          <a:bodyPr/>
          <a:lstStyle/>
          <a:p>
            <a:fld id="{85CD3E9B-A789-4DCF-960C-49E4EDB7DF3D}" type="slidenum">
              <a:rPr lang="ko-KR" altLang="en-US" smtClean="0"/>
              <a:t>6</a:t>
            </a:fld>
            <a:endParaRPr lang="ko-KR" altLang="en-US"/>
          </a:p>
        </p:txBody>
      </p:sp>
    </p:spTree>
    <p:extLst>
      <p:ext uri="{BB962C8B-B14F-4D97-AF65-F5344CB8AC3E}">
        <p14:creationId xmlns:p14="http://schemas.microsoft.com/office/powerpoint/2010/main" val="4690997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smtClean="0"/>
              <a:t>Stationary </a:t>
            </a:r>
            <a:r>
              <a:rPr lang="en-US" altLang="ko-KR" dirty="0" smtClean="0"/>
              <a:t/>
            </a:r>
            <a:br>
              <a:rPr lang="en-US" altLang="ko-KR" dirty="0" smtClean="0"/>
            </a:br>
            <a:r>
              <a:rPr lang="en-US" altLang="ko-KR" dirty="0" smtClean="0"/>
              <a:t>Distribution</a:t>
            </a:r>
            <a:endParaRPr lang="ko-KR" alt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629229"/>
                <a:ext cx="8435280" cy="4925144"/>
              </a:xfrm>
            </p:spPr>
            <p:txBody>
              <a:bodyPr>
                <a:normAutofit fontScale="85000" lnSpcReduction="10000"/>
              </a:bodyPr>
              <a:lstStyle/>
              <a:p>
                <a14:m>
                  <m:oMath xmlns:m="http://schemas.openxmlformats.org/officeDocument/2006/math">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𝑅𝑇</m:t>
                        </m:r>
                      </m:e>
                      <m:sub>
                        <m:r>
                          <a:rPr lang="en-US" altLang="ko-KR" b="0" i="1" smtClean="0">
                            <a:latin typeface="Cambria Math" panose="02040503050406030204" pitchFamily="18" charset="0"/>
                          </a:rPr>
                          <m:t>𝑖</m:t>
                        </m:r>
                      </m:sub>
                    </m:sSub>
                    <m:r>
                      <a:rPr lang="en-US" altLang="ko-KR" b="0" i="1" smtClean="0">
                        <a:latin typeface="Cambria Math" panose="02040503050406030204" pitchFamily="18" charset="0"/>
                      </a:rPr>
                      <m:t>=</m:t>
                    </m:r>
                    <m:r>
                      <m:rPr>
                        <m:sty m:val="p"/>
                      </m:rPr>
                      <a:rPr lang="en-US" altLang="ko-KR" b="0" i="0" smtClean="0">
                        <a:latin typeface="Cambria Math" panose="02040503050406030204" pitchFamily="18" charset="0"/>
                      </a:rPr>
                      <m:t>min</m:t>
                    </m:r>
                    <m:r>
                      <a:rPr lang="en-US" altLang="ko-KR" b="0" i="1" smtClean="0">
                        <a:latin typeface="Cambria Math" panose="02040503050406030204" pitchFamily="18" charset="0"/>
                      </a:rPr>
                      <m:t>⁡{</m:t>
                    </m:r>
                    <m:r>
                      <a:rPr lang="en-US" altLang="ko-KR" b="0" i="1" smtClean="0">
                        <a:latin typeface="Cambria Math" panose="02040503050406030204" pitchFamily="18" charset="0"/>
                      </a:rPr>
                      <m:t>𝑛</m:t>
                    </m:r>
                    <m:r>
                      <a:rPr lang="en-US" altLang="ko-KR" b="0" i="1" smtClean="0">
                        <a:latin typeface="Cambria Math" panose="02040503050406030204" pitchFamily="18" charset="0"/>
                      </a:rPr>
                      <m:t>&gt;0:</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𝑋</m:t>
                        </m:r>
                      </m:e>
                      <m:sub>
                        <m:r>
                          <a:rPr lang="en-US" altLang="ko-KR" b="0" i="1" smtClean="0">
                            <a:latin typeface="Cambria Math" panose="02040503050406030204" pitchFamily="18" charset="0"/>
                          </a:rPr>
                          <m:t>𝑛</m:t>
                        </m:r>
                      </m:sub>
                    </m:sSub>
                    <m:r>
                      <a:rPr lang="en-US" altLang="ko-KR" b="0" i="1" smtClean="0">
                        <a:latin typeface="Cambria Math" panose="02040503050406030204" pitchFamily="18" charset="0"/>
                      </a:rPr>
                      <m:t>=</m:t>
                    </m:r>
                    <m:r>
                      <a:rPr lang="en-US" altLang="ko-KR" b="0" i="1" smtClean="0">
                        <a:latin typeface="Cambria Math" panose="02040503050406030204" pitchFamily="18" charset="0"/>
                      </a:rPr>
                      <m:t>𝑖</m:t>
                    </m:r>
                    <m:r>
                      <a:rPr lang="en-US" altLang="ko-KR" b="0" i="1" smtClean="0">
                        <a:latin typeface="Cambria Math" panose="02040503050406030204" pitchFamily="18" charset="0"/>
                      </a:rPr>
                      <m:t>|</m:t>
                    </m:r>
                    <m:sSub>
                      <m:sSubPr>
                        <m:ctrlPr>
                          <a:rPr lang="en-US" altLang="ko-KR" i="1">
                            <a:latin typeface="Cambria Math" panose="02040503050406030204" pitchFamily="18" charset="0"/>
                          </a:rPr>
                        </m:ctrlPr>
                      </m:sSubPr>
                      <m:e>
                        <m:r>
                          <a:rPr lang="en-US" altLang="ko-KR" i="1">
                            <a:latin typeface="Cambria Math" panose="02040503050406030204" pitchFamily="18" charset="0"/>
                          </a:rPr>
                          <m:t>𝑋</m:t>
                        </m:r>
                      </m:e>
                      <m:sub>
                        <m:r>
                          <a:rPr lang="en-US" altLang="ko-KR" b="0" i="1" smtClean="0">
                            <a:latin typeface="Cambria Math" panose="02040503050406030204" pitchFamily="18" charset="0"/>
                          </a:rPr>
                          <m:t>0</m:t>
                        </m:r>
                      </m:sub>
                    </m:sSub>
                    <m:r>
                      <a:rPr lang="en-US" altLang="ko-KR" i="1">
                        <a:latin typeface="Cambria Math" panose="02040503050406030204" pitchFamily="18" charset="0"/>
                      </a:rPr>
                      <m:t>=</m:t>
                    </m:r>
                    <m:r>
                      <a:rPr lang="en-US" altLang="ko-KR" i="1">
                        <a:latin typeface="Cambria Math" panose="02040503050406030204" pitchFamily="18" charset="0"/>
                      </a:rPr>
                      <m:t>𝑖</m:t>
                    </m:r>
                    <m:r>
                      <a:rPr lang="en-US" altLang="ko-KR" b="0" i="1" smtClean="0">
                        <a:latin typeface="Cambria Math" panose="02040503050406030204" pitchFamily="18" charset="0"/>
                      </a:rPr>
                      <m:t>}</m:t>
                    </m:r>
                  </m:oMath>
                </a14:m>
                <a:endParaRPr lang="en-US" altLang="ko-KR" dirty="0" smtClean="0"/>
              </a:p>
              <a:p>
                <a:pPr lvl="1"/>
                <a:r>
                  <a:rPr lang="en-US" altLang="ko-KR" dirty="0" smtClean="0"/>
                  <a:t>Return time to state </a:t>
                </a:r>
                <a:r>
                  <a:rPr lang="en-US" altLang="ko-KR" b="1" i="1" dirty="0" err="1" smtClean="0"/>
                  <a:t>i</a:t>
                </a:r>
                <a:r>
                  <a:rPr lang="en-US" altLang="ko-KR" b="1" i="1" dirty="0" smtClean="0"/>
                  <a:t> </a:t>
                </a:r>
                <a:r>
                  <a:rPr lang="en-US" altLang="ko-KR" dirty="0" smtClean="0"/>
                  <a:t>after the </a:t>
                </a:r>
                <a:br>
                  <a:rPr lang="en-US" altLang="ko-KR" dirty="0" smtClean="0"/>
                </a:br>
                <a:r>
                  <a:rPr lang="en-US" altLang="ko-KR" dirty="0" smtClean="0"/>
                  <a:t>departure from state </a:t>
                </a:r>
                <a:r>
                  <a:rPr lang="en-US" altLang="ko-KR" b="1" i="1" dirty="0" err="1" smtClean="0"/>
                  <a:t>i</a:t>
                </a:r>
                <a:endParaRPr lang="en-US" altLang="ko-KR" b="1" i="1" dirty="0" smtClean="0"/>
              </a:p>
              <a:p>
                <a:r>
                  <a:rPr lang="en-US" altLang="ko-KR" dirty="0" smtClean="0"/>
                  <a:t>Limit theorem of Markov chain</a:t>
                </a:r>
              </a:p>
              <a:p>
                <a:pPr lvl="1"/>
                <a:r>
                  <a:rPr lang="en-US" altLang="ko-KR" dirty="0" smtClean="0"/>
                  <a:t>A friend in ISE dept. told me…..</a:t>
                </a:r>
              </a:p>
              <a:p>
                <a:pPr lvl="1"/>
                <a:r>
                  <a:rPr lang="en-US" altLang="ko-KR" dirty="0" smtClean="0"/>
                  <a:t>If a Markov chain is irreducible and </a:t>
                </a:r>
                <a:br>
                  <a:rPr lang="en-US" altLang="ko-KR" dirty="0" smtClean="0"/>
                </a:br>
                <a:r>
                  <a:rPr lang="en-US" altLang="ko-KR" dirty="0" smtClean="0"/>
                  <a:t>ergodic</a:t>
                </a:r>
              </a:p>
              <a:p>
                <a:pPr lvl="2"/>
                <a14:m>
                  <m:oMath xmlns:m="http://schemas.openxmlformats.org/officeDocument/2006/math">
                    <m:sSub>
                      <m:sSubPr>
                        <m:ctrlPr>
                          <a:rPr lang="en-US" altLang="ko-KR" i="1" smtClean="0">
                            <a:latin typeface="Cambria Math" panose="02040503050406030204" pitchFamily="18" charset="0"/>
                          </a:rPr>
                        </m:ctrlPr>
                      </m:sSubPr>
                      <m:e>
                        <m:r>
                          <a:rPr lang="ko-KR" altLang="en-US" i="1" smtClean="0">
                            <a:latin typeface="Cambria Math" panose="02040503050406030204" pitchFamily="18" charset="0"/>
                          </a:rPr>
                          <m:t>𝜋</m:t>
                        </m:r>
                      </m:e>
                      <m:sub>
                        <m:r>
                          <a:rPr lang="en-US" altLang="ko-KR" b="0" i="1" smtClean="0">
                            <a:latin typeface="Cambria Math" panose="02040503050406030204" pitchFamily="18" charset="0"/>
                          </a:rPr>
                          <m:t>𝑖</m:t>
                        </m:r>
                      </m:sub>
                    </m:sSub>
                    <m:r>
                      <a:rPr lang="en-US" altLang="ko-KR" b="0" i="1" smtClean="0">
                        <a:latin typeface="Cambria Math" panose="02040503050406030204" pitchFamily="18" charset="0"/>
                      </a:rPr>
                      <m:t>=</m:t>
                    </m:r>
                    <m:func>
                      <m:funcPr>
                        <m:ctrlPr>
                          <a:rPr lang="en-US" altLang="ko-KR" b="0" i="1" smtClean="0">
                            <a:latin typeface="Cambria Math" panose="02040503050406030204" pitchFamily="18" charset="0"/>
                          </a:rPr>
                        </m:ctrlPr>
                      </m:funcPr>
                      <m:fName>
                        <m:limLow>
                          <m:limLowPr>
                            <m:ctrlPr>
                              <a:rPr lang="en-US" altLang="ko-KR" b="0" i="1" smtClean="0">
                                <a:latin typeface="Cambria Math" panose="02040503050406030204" pitchFamily="18" charset="0"/>
                              </a:rPr>
                            </m:ctrlPr>
                          </m:limLowPr>
                          <m:e>
                            <m:r>
                              <m:rPr>
                                <m:sty m:val="p"/>
                              </m:rPr>
                              <a:rPr lang="en-US" altLang="ko-KR" b="0" i="0" smtClean="0">
                                <a:latin typeface="Cambria Math" panose="02040503050406030204" pitchFamily="18" charset="0"/>
                              </a:rPr>
                              <m:t>lim</m:t>
                            </m:r>
                          </m:e>
                          <m:lim>
                            <m:r>
                              <a:rPr lang="en-US" altLang="ko-KR" b="0" i="1" smtClean="0">
                                <a:latin typeface="Cambria Math" panose="02040503050406030204" pitchFamily="18" charset="0"/>
                              </a:rPr>
                              <m:t>𝑛</m:t>
                            </m:r>
                            <m:r>
                              <a:rPr lang="en-US" altLang="ko-KR" b="0" i="1" smtClean="0">
                                <a:latin typeface="Cambria Math" panose="02040503050406030204" pitchFamily="18" charset="0"/>
                                <a:ea typeface="Cambria Math" panose="02040503050406030204" pitchFamily="18" charset="0"/>
                              </a:rPr>
                              <m:t>→∞</m:t>
                            </m:r>
                          </m:lim>
                        </m:limLow>
                      </m:fName>
                      <m:e>
                        <m:sSubSup>
                          <m:sSubSupPr>
                            <m:ctrlPr>
                              <a:rPr lang="en-US" altLang="ko-KR" b="0" i="1" smtClean="0">
                                <a:latin typeface="Cambria Math" panose="02040503050406030204" pitchFamily="18" charset="0"/>
                              </a:rPr>
                            </m:ctrlPr>
                          </m:sSubSupPr>
                          <m:e>
                            <m:r>
                              <a:rPr lang="en-US" altLang="ko-KR" b="0" i="1" smtClean="0">
                                <a:latin typeface="Cambria Math" panose="02040503050406030204" pitchFamily="18" charset="0"/>
                              </a:rPr>
                              <m:t>𝑇</m:t>
                            </m:r>
                          </m:e>
                          <m:sub>
                            <m:r>
                              <a:rPr lang="en-US" altLang="ko-KR" b="0" i="1" smtClean="0">
                                <a:latin typeface="Cambria Math" panose="02040503050406030204" pitchFamily="18" charset="0"/>
                              </a:rPr>
                              <m:t>𝑖</m:t>
                            </m:r>
                            <m:r>
                              <a:rPr lang="en-US" altLang="ko-KR" b="0" i="1" smtClean="0">
                                <a:latin typeface="Cambria Math" panose="02040503050406030204" pitchFamily="18" charset="0"/>
                              </a:rPr>
                              <m:t>,</m:t>
                            </m:r>
                            <m:r>
                              <a:rPr lang="en-US" altLang="ko-KR" b="0" i="1" smtClean="0">
                                <a:latin typeface="Cambria Math" panose="02040503050406030204" pitchFamily="18" charset="0"/>
                              </a:rPr>
                              <m:t>𝑗</m:t>
                            </m:r>
                          </m:sub>
                          <m:sup>
                            <m:r>
                              <a:rPr lang="en-US" altLang="ko-KR" b="0" i="1" smtClean="0">
                                <a:latin typeface="Cambria Math" panose="02040503050406030204" pitchFamily="18" charset="0"/>
                              </a:rPr>
                              <m:t>(</m:t>
                            </m:r>
                            <m:r>
                              <a:rPr lang="en-US" altLang="ko-KR" b="0" i="1" smtClean="0">
                                <a:latin typeface="Cambria Math" panose="02040503050406030204" pitchFamily="18" charset="0"/>
                              </a:rPr>
                              <m:t>𝑛</m:t>
                            </m:r>
                            <m:r>
                              <a:rPr lang="en-US" altLang="ko-KR" b="0" i="1" smtClean="0">
                                <a:latin typeface="Cambria Math" panose="02040503050406030204" pitchFamily="18" charset="0"/>
                              </a:rPr>
                              <m:t>)</m:t>
                            </m:r>
                          </m:sup>
                        </m:sSubSup>
                      </m:e>
                    </m:func>
                    <m:r>
                      <a:rPr lang="en-US" altLang="ko-KR" b="0" i="1" smtClean="0">
                        <a:latin typeface="Cambria Math" panose="02040503050406030204" pitchFamily="18" charset="0"/>
                      </a:rPr>
                      <m:t>=</m:t>
                    </m:r>
                    <m:f>
                      <m:fPr>
                        <m:ctrlPr>
                          <a:rPr lang="en-US" altLang="ko-KR" b="0" i="1" smtClean="0">
                            <a:latin typeface="Cambria Math" panose="02040503050406030204" pitchFamily="18" charset="0"/>
                          </a:rPr>
                        </m:ctrlPr>
                      </m:fPr>
                      <m:num>
                        <m:r>
                          <a:rPr lang="en-US" altLang="ko-KR" b="0" i="1" smtClean="0">
                            <a:latin typeface="Cambria Math" panose="02040503050406030204" pitchFamily="18" charset="0"/>
                          </a:rPr>
                          <m:t>1</m:t>
                        </m:r>
                      </m:num>
                      <m:den>
                        <m:r>
                          <a:rPr lang="en-US" altLang="ko-KR" b="0" i="1" smtClean="0">
                            <a:latin typeface="Cambria Math" panose="02040503050406030204" pitchFamily="18" charset="0"/>
                          </a:rPr>
                          <m:t>𝐸</m:t>
                        </m:r>
                        <m:r>
                          <a:rPr lang="en-US" altLang="ko-KR" b="0" i="1" smtClean="0">
                            <a:latin typeface="Cambria Math" panose="02040503050406030204" pitchFamily="18" charset="0"/>
                          </a:rPr>
                          <m:t>[</m:t>
                        </m:r>
                        <m:sSub>
                          <m:sSubPr>
                            <m:ctrlPr>
                              <a:rPr lang="en-US" altLang="ko-KR" i="1">
                                <a:latin typeface="Cambria Math" panose="02040503050406030204" pitchFamily="18" charset="0"/>
                              </a:rPr>
                            </m:ctrlPr>
                          </m:sSubPr>
                          <m:e>
                            <m:r>
                              <a:rPr lang="en-US" altLang="ko-KR" i="1">
                                <a:latin typeface="Cambria Math" panose="02040503050406030204" pitchFamily="18" charset="0"/>
                              </a:rPr>
                              <m:t>𝑅𝑇</m:t>
                            </m:r>
                          </m:e>
                          <m:sub>
                            <m:r>
                              <a:rPr lang="en-US" altLang="ko-KR" i="1">
                                <a:latin typeface="Cambria Math" panose="02040503050406030204" pitchFamily="18" charset="0"/>
                              </a:rPr>
                              <m:t>𝑖</m:t>
                            </m:r>
                          </m:sub>
                        </m:sSub>
                        <m:r>
                          <a:rPr lang="en-US" altLang="ko-KR" b="0" i="1" smtClean="0">
                            <a:latin typeface="Cambria Math" panose="02040503050406030204" pitchFamily="18" charset="0"/>
                          </a:rPr>
                          <m:t>]</m:t>
                        </m:r>
                      </m:den>
                    </m:f>
                  </m:oMath>
                </a14:m>
                <a:endParaRPr lang="en-US" altLang="ko-KR" dirty="0" smtClean="0"/>
              </a:p>
              <a:p>
                <a:pPr lvl="2"/>
                <a14:m>
                  <m:oMath xmlns:m="http://schemas.openxmlformats.org/officeDocument/2006/math">
                    <m:sSub>
                      <m:sSubPr>
                        <m:ctrlPr>
                          <a:rPr lang="en-US" altLang="ko-KR" i="1">
                            <a:latin typeface="Cambria Math" panose="02040503050406030204" pitchFamily="18" charset="0"/>
                          </a:rPr>
                        </m:ctrlPr>
                      </m:sSubPr>
                      <m:e>
                        <m:r>
                          <a:rPr lang="ko-KR" altLang="en-US" i="1">
                            <a:latin typeface="Cambria Math" panose="02040503050406030204" pitchFamily="18" charset="0"/>
                          </a:rPr>
                          <m:t>𝜋</m:t>
                        </m:r>
                      </m:e>
                      <m:sub>
                        <m:r>
                          <a:rPr lang="en-US" altLang="ko-KR" i="1">
                            <a:latin typeface="Cambria Math" panose="02040503050406030204" pitchFamily="18" charset="0"/>
                          </a:rPr>
                          <m:t>𝑖</m:t>
                        </m:r>
                      </m:sub>
                    </m:sSub>
                  </m:oMath>
                </a14:m>
                <a:r>
                  <a:rPr lang="ko-KR" altLang="en-US" dirty="0" smtClean="0"/>
                  <a:t> </a:t>
                </a:r>
                <a:r>
                  <a:rPr lang="en-US" altLang="ko-KR" dirty="0" smtClean="0"/>
                  <a:t>is uniquely determined by the set </a:t>
                </a:r>
                <a:br>
                  <a:rPr lang="en-US" altLang="ko-KR" dirty="0" smtClean="0"/>
                </a:br>
                <a:r>
                  <a:rPr lang="en-US" altLang="ko-KR" dirty="0" smtClean="0"/>
                  <a:t>of equations</a:t>
                </a:r>
              </a:p>
              <a:p>
                <a:pPr lvl="3"/>
                <a14:m>
                  <m:oMath xmlns:m="http://schemas.openxmlformats.org/officeDocument/2006/math">
                    <m:sSub>
                      <m:sSubPr>
                        <m:ctrlPr>
                          <a:rPr lang="en-US" altLang="ko-KR" i="1">
                            <a:latin typeface="Cambria Math" panose="02040503050406030204" pitchFamily="18" charset="0"/>
                          </a:rPr>
                        </m:ctrlPr>
                      </m:sSubPr>
                      <m:e>
                        <m:r>
                          <a:rPr lang="ko-KR" altLang="en-US" i="1">
                            <a:latin typeface="Cambria Math" panose="02040503050406030204" pitchFamily="18" charset="0"/>
                          </a:rPr>
                          <m:t>𝜋</m:t>
                        </m:r>
                      </m:e>
                      <m:sub>
                        <m:r>
                          <a:rPr lang="en-US" altLang="ko-KR" i="1">
                            <a:latin typeface="Cambria Math" panose="02040503050406030204" pitchFamily="18" charset="0"/>
                          </a:rPr>
                          <m:t>𝑖</m:t>
                        </m:r>
                      </m:sub>
                    </m:sSub>
                    <m:r>
                      <a:rPr lang="en-US" altLang="ko-KR" i="1" smtClean="0">
                        <a:latin typeface="Cambria Math" panose="02040503050406030204" pitchFamily="18" charset="0"/>
                        <a:ea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0,</m:t>
                    </m:r>
                    <m:nary>
                      <m:naryPr>
                        <m:chr m:val="∑"/>
                        <m:supHide m:val="on"/>
                        <m:ctrlPr>
                          <a:rPr lang="en-US" altLang="ko-KR" b="0" i="1" smtClean="0">
                            <a:latin typeface="Cambria Math" panose="02040503050406030204" pitchFamily="18" charset="0"/>
                            <a:ea typeface="Cambria Math" panose="02040503050406030204" pitchFamily="18" charset="0"/>
                          </a:rPr>
                        </m:ctrlPr>
                      </m:naryPr>
                      <m:sub>
                        <m:r>
                          <m:rPr>
                            <m:brk m:alnAt="7"/>
                          </m:rPr>
                          <a:rPr lang="en-US" altLang="ko-KR" b="0" i="1" smtClean="0">
                            <a:latin typeface="Cambria Math" panose="02040503050406030204" pitchFamily="18" charset="0"/>
                            <a:ea typeface="Cambria Math" panose="02040503050406030204" pitchFamily="18" charset="0"/>
                          </a:rPr>
                          <m:t>𝑖</m:t>
                        </m:r>
                        <m:r>
                          <a:rPr lang="en-US" altLang="ko-KR" b="0" i="1" smtClean="0">
                            <a:latin typeface="Cambria Math" panose="02040503050406030204" pitchFamily="18" charset="0"/>
                            <a:ea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𝑆</m:t>
                        </m:r>
                      </m:sub>
                      <m:sup/>
                      <m:e>
                        <m:sSub>
                          <m:sSubPr>
                            <m:ctrlPr>
                              <a:rPr lang="en-US" altLang="ko-KR" b="0" i="1" smtClean="0">
                                <a:latin typeface="Cambria Math" panose="02040503050406030204" pitchFamily="18" charset="0"/>
                                <a:ea typeface="Cambria Math" panose="02040503050406030204" pitchFamily="18" charset="0"/>
                              </a:rPr>
                            </m:ctrlPr>
                          </m:sSubPr>
                          <m:e>
                            <m:r>
                              <a:rPr lang="ko-KR" altLang="en-US" b="0" i="1" smtClean="0">
                                <a:latin typeface="Cambria Math" panose="02040503050406030204" pitchFamily="18" charset="0"/>
                                <a:ea typeface="Cambria Math" panose="02040503050406030204" pitchFamily="18" charset="0"/>
                              </a:rPr>
                              <m:t>𝜋</m:t>
                            </m:r>
                          </m:e>
                          <m:sub>
                            <m:r>
                              <a:rPr lang="en-US" altLang="ko-KR" b="0" i="1" smtClean="0">
                                <a:latin typeface="Cambria Math" panose="02040503050406030204" pitchFamily="18" charset="0"/>
                                <a:ea typeface="Cambria Math" panose="02040503050406030204" pitchFamily="18" charset="0"/>
                              </a:rPr>
                              <m:t>𝑖</m:t>
                            </m:r>
                          </m:sub>
                        </m:sSub>
                      </m:e>
                    </m:nary>
                    <m:r>
                      <a:rPr lang="en-US" altLang="ko-KR" b="0" i="1" smtClean="0">
                        <a:latin typeface="Cambria Math" panose="02040503050406030204" pitchFamily="18" charset="0"/>
                        <a:ea typeface="Cambria Math" panose="02040503050406030204" pitchFamily="18" charset="0"/>
                      </a:rPr>
                      <m:t>=1,</m:t>
                    </m:r>
                    <m:sSub>
                      <m:sSubPr>
                        <m:ctrlPr>
                          <a:rPr lang="en-US" altLang="ko-KR" i="1">
                            <a:latin typeface="Cambria Math" panose="02040503050406030204" pitchFamily="18" charset="0"/>
                          </a:rPr>
                        </m:ctrlPr>
                      </m:sSubPr>
                      <m:e>
                        <m:r>
                          <a:rPr lang="ko-KR" altLang="en-US" i="1">
                            <a:latin typeface="Cambria Math" panose="02040503050406030204" pitchFamily="18" charset="0"/>
                          </a:rPr>
                          <m:t>𝜋</m:t>
                        </m:r>
                      </m:e>
                      <m:sub>
                        <m:r>
                          <a:rPr lang="en-US" altLang="ko-KR" b="0" i="1" smtClean="0">
                            <a:latin typeface="Cambria Math" panose="02040503050406030204" pitchFamily="18" charset="0"/>
                          </a:rPr>
                          <m:t>𝑗</m:t>
                        </m:r>
                      </m:sub>
                    </m:sSub>
                    <m:r>
                      <a:rPr lang="en-US" altLang="ko-KR" b="0" i="1" smtClean="0">
                        <a:latin typeface="Cambria Math" panose="02040503050406030204" pitchFamily="18" charset="0"/>
                      </a:rPr>
                      <m:t>=</m:t>
                    </m:r>
                    <m:nary>
                      <m:naryPr>
                        <m:chr m:val="∑"/>
                        <m:supHide m:val="on"/>
                        <m:ctrlPr>
                          <a:rPr lang="en-US" altLang="ko-KR" i="1">
                            <a:latin typeface="Cambria Math" panose="02040503050406030204" pitchFamily="18" charset="0"/>
                            <a:ea typeface="Cambria Math" panose="02040503050406030204" pitchFamily="18" charset="0"/>
                          </a:rPr>
                        </m:ctrlPr>
                      </m:naryPr>
                      <m:sub>
                        <m:r>
                          <m:rPr>
                            <m:brk m:alnAt="7"/>
                          </m:rPr>
                          <a:rPr lang="en-US" altLang="ko-KR" i="1">
                            <a:latin typeface="Cambria Math" panose="02040503050406030204" pitchFamily="18" charset="0"/>
                            <a:ea typeface="Cambria Math" panose="02040503050406030204" pitchFamily="18" charset="0"/>
                          </a:rPr>
                          <m:t>𝑖</m:t>
                        </m:r>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𝑆</m:t>
                        </m:r>
                      </m:sub>
                      <m:sup/>
                      <m:e>
                        <m:sSub>
                          <m:sSubPr>
                            <m:ctrlPr>
                              <a:rPr lang="en-US" altLang="ko-KR" i="1">
                                <a:latin typeface="Cambria Math" panose="02040503050406030204" pitchFamily="18" charset="0"/>
                                <a:ea typeface="Cambria Math" panose="02040503050406030204" pitchFamily="18" charset="0"/>
                              </a:rPr>
                            </m:ctrlPr>
                          </m:sSubPr>
                          <m:e>
                            <m:r>
                              <a:rPr lang="ko-KR" altLang="en-US" i="1">
                                <a:latin typeface="Cambria Math" panose="02040503050406030204" pitchFamily="18" charset="0"/>
                                <a:ea typeface="Cambria Math" panose="02040503050406030204" pitchFamily="18" charset="0"/>
                              </a:rPr>
                              <m:t>𝜋</m:t>
                            </m:r>
                          </m:e>
                          <m:sub>
                            <m:r>
                              <a:rPr lang="en-US" altLang="ko-KR" i="1">
                                <a:latin typeface="Cambria Math" panose="02040503050406030204" pitchFamily="18" charset="0"/>
                                <a:ea typeface="Cambria Math" panose="02040503050406030204" pitchFamily="18" charset="0"/>
                              </a:rPr>
                              <m:t>𝑖</m:t>
                            </m:r>
                          </m:sub>
                        </m:sSub>
                        <m:sSub>
                          <m:sSubPr>
                            <m:ctrlPr>
                              <a:rPr lang="en-US" altLang="ko-KR" i="1" smtClean="0">
                                <a:latin typeface="Cambria Math" panose="02040503050406030204" pitchFamily="18" charset="0"/>
                                <a:ea typeface="Cambria Math" panose="02040503050406030204" pitchFamily="18" charset="0"/>
                              </a:rPr>
                            </m:ctrlPr>
                          </m:sSubPr>
                          <m:e>
                            <m:r>
                              <a:rPr lang="en-US" altLang="ko-KR" b="0" i="1" smtClean="0">
                                <a:latin typeface="Cambria Math" panose="02040503050406030204" pitchFamily="18" charset="0"/>
                                <a:ea typeface="Cambria Math" panose="02040503050406030204" pitchFamily="18" charset="0"/>
                              </a:rPr>
                              <m:t>𝑇</m:t>
                            </m:r>
                          </m:e>
                          <m:sub>
                            <m:r>
                              <a:rPr lang="en-US" altLang="ko-KR" b="0" i="1" smtClean="0">
                                <a:latin typeface="Cambria Math" panose="02040503050406030204" pitchFamily="18" charset="0"/>
                                <a:ea typeface="Cambria Math" panose="02040503050406030204" pitchFamily="18" charset="0"/>
                              </a:rPr>
                              <m:t>𝑖</m:t>
                            </m:r>
                            <m:r>
                              <a:rPr lang="en-US" altLang="ko-KR" b="0" i="1" smtClean="0">
                                <a:latin typeface="Cambria Math" panose="02040503050406030204" pitchFamily="18" charset="0"/>
                                <a:ea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𝑗</m:t>
                            </m:r>
                          </m:sub>
                        </m:sSub>
                      </m:e>
                    </m:nary>
                  </m:oMath>
                </a14:m>
                <a:endParaRPr lang="en-US" altLang="ko-KR" dirty="0" smtClean="0"/>
              </a:p>
              <a:p>
                <a:pPr lvl="1"/>
                <a:r>
                  <a:rPr lang="en-US" altLang="ko-KR" dirty="0" smtClean="0"/>
                  <a:t>How to compute</a:t>
                </a:r>
                <a:r>
                  <a:rPr lang="ko-KR" altLang="en-US" dirty="0"/>
                  <a:t> </a:t>
                </a:r>
                <a14:m>
                  <m:oMath xmlns:m="http://schemas.openxmlformats.org/officeDocument/2006/math">
                    <m:r>
                      <a:rPr lang="ko-KR" altLang="en-US" b="1" i="1">
                        <a:latin typeface="Cambria Math" panose="02040503050406030204" pitchFamily="18" charset="0"/>
                      </a:rPr>
                      <m:t>𝝅</m:t>
                    </m:r>
                  </m:oMath>
                </a14:m>
                <a:r>
                  <a:rPr lang="ko-KR" altLang="en-US" dirty="0" smtClean="0"/>
                  <a:t> </a:t>
                </a:r>
                <a:r>
                  <a:rPr lang="en-US" altLang="ko-KR" dirty="0" smtClean="0"/>
                  <a:t>given </a:t>
                </a:r>
                <a14:m>
                  <m:oMath xmlns:m="http://schemas.openxmlformats.org/officeDocument/2006/math">
                    <m:r>
                      <a:rPr lang="en-US" altLang="ko-KR" b="1" i="1">
                        <a:latin typeface="Cambria Math" panose="02040503050406030204" pitchFamily="18" charset="0"/>
                        <a:ea typeface="Cambria Math" panose="02040503050406030204" pitchFamily="18" charset="0"/>
                      </a:rPr>
                      <m:t>𝑻</m:t>
                    </m:r>
                  </m:oMath>
                </a14:m>
                <a:endParaRPr lang="en-US" altLang="ko-KR" b="1" dirty="0" smtClean="0"/>
              </a:p>
              <a:p>
                <a:pPr lvl="2"/>
                <a14:m>
                  <m:oMath xmlns:m="http://schemas.openxmlformats.org/officeDocument/2006/math">
                    <m:r>
                      <a:rPr lang="ko-KR" altLang="en-US" i="1">
                        <a:latin typeface="Cambria Math" panose="02040503050406030204" pitchFamily="18" charset="0"/>
                        <a:ea typeface="Cambria Math" panose="02040503050406030204" pitchFamily="18" charset="0"/>
                      </a:rPr>
                      <m:t>𝜋</m:t>
                    </m:r>
                    <m:d>
                      <m:dPr>
                        <m:ctrlPr>
                          <a:rPr lang="en-US" altLang="ko-KR" b="0" i="1" smtClean="0">
                            <a:latin typeface="Cambria Math" panose="02040503050406030204" pitchFamily="18" charset="0"/>
                            <a:ea typeface="Cambria Math" panose="02040503050406030204" pitchFamily="18" charset="0"/>
                          </a:rPr>
                        </m:ctrlPr>
                      </m:dPr>
                      <m:e>
                        <m:sSub>
                          <m:sSubPr>
                            <m:ctrlPr>
                              <a:rPr lang="en-US" altLang="ko-KR" b="0" i="1" smtClean="0">
                                <a:latin typeface="Cambria Math" panose="02040503050406030204" pitchFamily="18" charset="0"/>
                                <a:ea typeface="Cambria Math" panose="02040503050406030204" pitchFamily="18" charset="0"/>
                              </a:rPr>
                            </m:ctrlPr>
                          </m:sSubPr>
                          <m:e>
                            <m:r>
                              <a:rPr lang="en-US" altLang="ko-KR" i="1">
                                <a:latin typeface="Cambria Math" panose="02040503050406030204" pitchFamily="18" charset="0"/>
                                <a:ea typeface="Cambria Math" panose="02040503050406030204" pitchFamily="18" charset="0"/>
                              </a:rPr>
                              <m:t>𝐼</m:t>
                            </m:r>
                          </m:e>
                          <m:sub>
                            <m:d>
                              <m:dPr>
                                <m:begChr m:val="|"/>
                                <m:endChr m:val="|"/>
                                <m:ctrlPr>
                                  <a:rPr lang="en-US" altLang="ko-KR" b="0" i="1" smtClean="0">
                                    <a:latin typeface="Cambria Math" panose="02040503050406030204" pitchFamily="18" charset="0"/>
                                    <a:ea typeface="Cambria Math" panose="02040503050406030204" pitchFamily="18" charset="0"/>
                                  </a:rPr>
                                </m:ctrlPr>
                              </m:dPr>
                              <m:e>
                                <m:r>
                                  <a:rPr lang="en-US" altLang="ko-KR" b="0" i="1" smtClean="0">
                                    <a:latin typeface="Cambria Math" panose="02040503050406030204" pitchFamily="18" charset="0"/>
                                    <a:ea typeface="Cambria Math" panose="02040503050406030204" pitchFamily="18" charset="0"/>
                                  </a:rPr>
                                  <m:t>𝑆</m:t>
                                </m:r>
                              </m:e>
                            </m:d>
                            <m:r>
                              <a:rPr lang="en-US" altLang="ko-KR" b="0" i="1" smtClean="0">
                                <a:latin typeface="Cambria Math" panose="02040503050406030204" pitchFamily="18" charset="0"/>
                                <a:ea typeface="Cambria Math" panose="02040503050406030204" pitchFamily="18" charset="0"/>
                              </a:rPr>
                              <m:t>,</m:t>
                            </m:r>
                            <m:d>
                              <m:dPr>
                                <m:begChr m:val="|"/>
                                <m:endChr m:val="|"/>
                                <m:ctrlPr>
                                  <a:rPr lang="en-US" altLang="ko-KR" b="0" i="1" smtClean="0">
                                    <a:latin typeface="Cambria Math" panose="02040503050406030204" pitchFamily="18" charset="0"/>
                                    <a:ea typeface="Cambria Math" panose="02040503050406030204" pitchFamily="18" charset="0"/>
                                  </a:rPr>
                                </m:ctrlPr>
                              </m:dPr>
                              <m:e>
                                <m:r>
                                  <a:rPr lang="en-US" altLang="ko-KR" b="0" i="1" smtClean="0">
                                    <a:latin typeface="Cambria Math" panose="02040503050406030204" pitchFamily="18" charset="0"/>
                                    <a:ea typeface="Cambria Math" panose="02040503050406030204" pitchFamily="18" charset="0"/>
                                  </a:rPr>
                                  <m:t>𝑆</m:t>
                                </m:r>
                              </m:e>
                            </m:d>
                          </m:sub>
                        </m:sSub>
                        <m:r>
                          <a:rPr lang="en-US" altLang="ko-KR" b="0" i="1" smtClean="0">
                            <a:latin typeface="Cambria Math" panose="02040503050406030204" pitchFamily="18" charset="0"/>
                            <a:ea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𝑇</m:t>
                        </m:r>
                        <m:r>
                          <a:rPr lang="en-US" altLang="ko-KR" b="0" i="1" smtClean="0">
                            <a:latin typeface="Cambria Math" panose="02040503050406030204" pitchFamily="18" charset="0"/>
                            <a:ea typeface="Cambria Math" panose="02040503050406030204" pitchFamily="18" charset="0"/>
                          </a:rPr>
                          <m:t>+</m:t>
                        </m:r>
                        <m:sSub>
                          <m:sSubPr>
                            <m:ctrlPr>
                              <a:rPr lang="en-US" altLang="ko-KR" i="1">
                                <a:latin typeface="Cambria Math" panose="02040503050406030204" pitchFamily="18" charset="0"/>
                                <a:ea typeface="Cambria Math" panose="02040503050406030204" pitchFamily="18" charset="0"/>
                              </a:rPr>
                            </m:ctrlPr>
                          </m:sSubPr>
                          <m:e>
                            <m:r>
                              <a:rPr lang="en-US" altLang="ko-KR" b="0" i="1" smtClean="0">
                                <a:latin typeface="Cambria Math" panose="02040503050406030204" pitchFamily="18" charset="0"/>
                                <a:ea typeface="Cambria Math" panose="02040503050406030204" pitchFamily="18" charset="0"/>
                              </a:rPr>
                              <m:t>1</m:t>
                            </m:r>
                          </m:e>
                          <m:sub>
                            <m:d>
                              <m:dPr>
                                <m:begChr m:val="|"/>
                                <m:endChr m:val="|"/>
                                <m:ctrlPr>
                                  <a:rPr lang="en-US" altLang="ko-KR" i="1">
                                    <a:latin typeface="Cambria Math" panose="02040503050406030204" pitchFamily="18" charset="0"/>
                                    <a:ea typeface="Cambria Math" panose="02040503050406030204" pitchFamily="18" charset="0"/>
                                  </a:rPr>
                                </m:ctrlPr>
                              </m:dPr>
                              <m:e>
                                <m:r>
                                  <a:rPr lang="en-US" altLang="ko-KR" i="1">
                                    <a:latin typeface="Cambria Math" panose="02040503050406030204" pitchFamily="18" charset="0"/>
                                    <a:ea typeface="Cambria Math" panose="02040503050406030204" pitchFamily="18" charset="0"/>
                                  </a:rPr>
                                  <m:t>𝑆</m:t>
                                </m:r>
                              </m:e>
                            </m:d>
                            <m:r>
                              <a:rPr lang="en-US" altLang="ko-KR" i="1">
                                <a:latin typeface="Cambria Math" panose="02040503050406030204" pitchFamily="18" charset="0"/>
                                <a:ea typeface="Cambria Math" panose="02040503050406030204" pitchFamily="18" charset="0"/>
                              </a:rPr>
                              <m:t>,</m:t>
                            </m:r>
                            <m:d>
                              <m:dPr>
                                <m:begChr m:val="|"/>
                                <m:endChr m:val="|"/>
                                <m:ctrlPr>
                                  <a:rPr lang="en-US" altLang="ko-KR" i="1">
                                    <a:latin typeface="Cambria Math" panose="02040503050406030204" pitchFamily="18" charset="0"/>
                                    <a:ea typeface="Cambria Math" panose="02040503050406030204" pitchFamily="18" charset="0"/>
                                  </a:rPr>
                                </m:ctrlPr>
                              </m:dPr>
                              <m:e>
                                <m:r>
                                  <a:rPr lang="en-US" altLang="ko-KR" i="1">
                                    <a:latin typeface="Cambria Math" panose="02040503050406030204" pitchFamily="18" charset="0"/>
                                    <a:ea typeface="Cambria Math" panose="02040503050406030204" pitchFamily="18" charset="0"/>
                                  </a:rPr>
                                  <m:t>𝑆</m:t>
                                </m:r>
                              </m:e>
                            </m:d>
                          </m:sub>
                        </m:sSub>
                      </m:e>
                    </m:d>
                    <m:r>
                      <a:rPr lang="en-US" altLang="ko-KR" b="0" i="1" smtClean="0">
                        <a:latin typeface="Cambria Math" panose="02040503050406030204" pitchFamily="18" charset="0"/>
                        <a:ea typeface="Cambria Math" panose="02040503050406030204" pitchFamily="18" charset="0"/>
                      </a:rPr>
                      <m:t>=</m:t>
                    </m:r>
                    <m:sSub>
                      <m:sSubPr>
                        <m:ctrlPr>
                          <a:rPr lang="en-US" altLang="ko-KR" i="1">
                            <a:latin typeface="Cambria Math" panose="02040503050406030204" pitchFamily="18" charset="0"/>
                            <a:ea typeface="Cambria Math" panose="02040503050406030204" pitchFamily="18" charset="0"/>
                          </a:rPr>
                        </m:ctrlPr>
                      </m:sSubPr>
                      <m:e>
                        <m:r>
                          <a:rPr lang="en-US" altLang="ko-KR" b="0" i="1" smtClean="0">
                            <a:latin typeface="Cambria Math" panose="02040503050406030204" pitchFamily="18" charset="0"/>
                            <a:ea typeface="Cambria Math" panose="02040503050406030204" pitchFamily="18" charset="0"/>
                          </a:rPr>
                          <m:t>1</m:t>
                        </m:r>
                      </m:e>
                      <m:sub>
                        <m:r>
                          <a:rPr lang="en-US" altLang="ko-KR" b="0" i="1" smtClean="0">
                            <a:latin typeface="Cambria Math" panose="02040503050406030204" pitchFamily="18" charset="0"/>
                            <a:ea typeface="Cambria Math" panose="02040503050406030204" pitchFamily="18" charset="0"/>
                          </a:rPr>
                          <m:t>1,|</m:t>
                        </m:r>
                        <m:r>
                          <a:rPr lang="en-US" altLang="ko-KR" i="1">
                            <a:latin typeface="Cambria Math" panose="02040503050406030204" pitchFamily="18" charset="0"/>
                            <a:ea typeface="Cambria Math" panose="02040503050406030204" pitchFamily="18" charset="0"/>
                          </a:rPr>
                          <m:t>𝑆</m:t>
                        </m:r>
                        <m:r>
                          <a:rPr lang="en-US" altLang="ko-KR" i="1">
                            <a:latin typeface="Cambria Math" panose="02040503050406030204" pitchFamily="18" charset="0"/>
                            <a:ea typeface="Cambria Math" panose="02040503050406030204" pitchFamily="18" charset="0"/>
                          </a:rPr>
                          <m:t>|</m:t>
                        </m:r>
                      </m:sub>
                    </m:sSub>
                  </m:oMath>
                </a14:m>
                <a:endParaRPr lang="en-US" altLang="ko-KR" b="1" dirty="0" smtClean="0"/>
              </a:p>
              <a:p>
                <a:pPr lvl="3"/>
                <a14:m>
                  <m:oMath xmlns:m="http://schemas.openxmlformats.org/officeDocument/2006/math">
                    <m:sSub>
                      <m:sSubPr>
                        <m:ctrlPr>
                          <a:rPr lang="en-US" altLang="ko-KR" i="1">
                            <a:latin typeface="Cambria Math" panose="02040503050406030204" pitchFamily="18" charset="0"/>
                          </a:rPr>
                        </m:ctrlPr>
                      </m:sSubPr>
                      <m:e>
                        <m:r>
                          <a:rPr lang="ko-KR" altLang="en-US" i="1">
                            <a:latin typeface="Cambria Math" panose="02040503050406030204" pitchFamily="18" charset="0"/>
                          </a:rPr>
                          <m:t>𝜋</m:t>
                        </m:r>
                      </m:e>
                      <m:sub>
                        <m:r>
                          <a:rPr lang="en-US" altLang="ko-KR" i="1">
                            <a:latin typeface="Cambria Math" panose="02040503050406030204" pitchFamily="18" charset="0"/>
                          </a:rPr>
                          <m:t>𝑗</m:t>
                        </m:r>
                      </m:sub>
                    </m:sSub>
                    <m:r>
                      <a:rPr lang="en-US" altLang="ko-KR" i="1">
                        <a:latin typeface="Cambria Math" panose="02040503050406030204" pitchFamily="18" charset="0"/>
                      </a:rPr>
                      <m:t>=</m:t>
                    </m:r>
                    <m:nary>
                      <m:naryPr>
                        <m:chr m:val="∑"/>
                        <m:supHide m:val="on"/>
                        <m:ctrlPr>
                          <a:rPr lang="en-US" altLang="ko-KR" i="1">
                            <a:latin typeface="Cambria Math" panose="02040503050406030204" pitchFamily="18" charset="0"/>
                            <a:ea typeface="Cambria Math" panose="02040503050406030204" pitchFamily="18" charset="0"/>
                          </a:rPr>
                        </m:ctrlPr>
                      </m:naryPr>
                      <m:sub>
                        <m:r>
                          <m:rPr>
                            <m:brk m:alnAt="7"/>
                          </m:rPr>
                          <a:rPr lang="en-US" altLang="ko-KR" i="1">
                            <a:latin typeface="Cambria Math" panose="02040503050406030204" pitchFamily="18" charset="0"/>
                            <a:ea typeface="Cambria Math" panose="02040503050406030204" pitchFamily="18" charset="0"/>
                          </a:rPr>
                          <m:t>𝑖</m:t>
                        </m:r>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𝑆</m:t>
                        </m:r>
                      </m:sub>
                      <m:sup/>
                      <m:e>
                        <m:sSub>
                          <m:sSubPr>
                            <m:ctrlPr>
                              <a:rPr lang="en-US" altLang="ko-KR" i="1">
                                <a:latin typeface="Cambria Math" panose="02040503050406030204" pitchFamily="18" charset="0"/>
                                <a:ea typeface="Cambria Math" panose="02040503050406030204" pitchFamily="18" charset="0"/>
                              </a:rPr>
                            </m:ctrlPr>
                          </m:sSubPr>
                          <m:e>
                            <m:r>
                              <a:rPr lang="ko-KR" altLang="en-US" i="1">
                                <a:latin typeface="Cambria Math" panose="02040503050406030204" pitchFamily="18" charset="0"/>
                                <a:ea typeface="Cambria Math" panose="02040503050406030204" pitchFamily="18" charset="0"/>
                              </a:rPr>
                              <m:t>𝜋</m:t>
                            </m:r>
                          </m:e>
                          <m:sub>
                            <m:r>
                              <a:rPr lang="en-US" altLang="ko-KR" i="1">
                                <a:latin typeface="Cambria Math" panose="02040503050406030204" pitchFamily="18" charset="0"/>
                                <a:ea typeface="Cambria Math" panose="02040503050406030204" pitchFamily="18" charset="0"/>
                              </a:rPr>
                              <m:t>𝑖</m:t>
                            </m:r>
                          </m:sub>
                        </m:sSub>
                        <m:sSub>
                          <m:sSubPr>
                            <m:ctrlPr>
                              <a:rPr lang="en-US" altLang="ko-KR" i="1">
                                <a:latin typeface="Cambria Math" panose="02040503050406030204" pitchFamily="18" charset="0"/>
                                <a:ea typeface="Cambria Math" panose="02040503050406030204" pitchFamily="18" charset="0"/>
                              </a:rPr>
                            </m:ctrlPr>
                          </m:sSubPr>
                          <m:e>
                            <m:r>
                              <a:rPr lang="en-US" altLang="ko-KR" i="1">
                                <a:latin typeface="Cambria Math" panose="02040503050406030204" pitchFamily="18" charset="0"/>
                                <a:ea typeface="Cambria Math" panose="02040503050406030204" pitchFamily="18" charset="0"/>
                              </a:rPr>
                              <m:t>𝑇</m:t>
                            </m:r>
                          </m:e>
                          <m:sub>
                            <m:r>
                              <a:rPr lang="en-US" altLang="ko-KR" i="1">
                                <a:latin typeface="Cambria Math" panose="02040503050406030204" pitchFamily="18" charset="0"/>
                                <a:ea typeface="Cambria Math" panose="02040503050406030204" pitchFamily="18" charset="0"/>
                              </a:rPr>
                              <m:t>𝑖</m:t>
                            </m:r>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𝑗</m:t>
                            </m:r>
                          </m:sub>
                        </m:sSub>
                      </m:e>
                    </m:nary>
                    <m:r>
                      <a:rPr lang="en-US" altLang="ko-KR" i="1" smtClean="0">
                        <a:latin typeface="Cambria Math" panose="02040503050406030204" pitchFamily="18" charset="0"/>
                        <a:ea typeface="Cambria Math" panose="02040503050406030204" pitchFamily="18" charset="0"/>
                      </a:rPr>
                      <m:t>→</m:t>
                    </m:r>
                    <m:sSub>
                      <m:sSubPr>
                        <m:ctrlPr>
                          <a:rPr lang="en-US" altLang="ko-KR" i="1">
                            <a:latin typeface="Cambria Math" panose="02040503050406030204" pitchFamily="18" charset="0"/>
                          </a:rPr>
                        </m:ctrlPr>
                      </m:sSubPr>
                      <m:e>
                        <m:r>
                          <a:rPr lang="ko-KR" altLang="en-US" i="1">
                            <a:latin typeface="Cambria Math" panose="02040503050406030204" pitchFamily="18" charset="0"/>
                          </a:rPr>
                          <m:t>𝜋</m:t>
                        </m:r>
                      </m:e>
                      <m:sub>
                        <m:r>
                          <a:rPr lang="en-US" altLang="ko-KR" i="1">
                            <a:latin typeface="Cambria Math" panose="02040503050406030204" pitchFamily="18" charset="0"/>
                          </a:rPr>
                          <m:t>𝑗</m:t>
                        </m:r>
                      </m:sub>
                    </m:sSub>
                    <m:r>
                      <a:rPr lang="en-US" altLang="ko-KR" b="0" i="1" smtClean="0">
                        <a:latin typeface="Cambria Math" panose="02040503050406030204" pitchFamily="18" charset="0"/>
                      </a:rPr>
                      <m:t>−</m:t>
                    </m:r>
                    <m:nary>
                      <m:naryPr>
                        <m:chr m:val="∑"/>
                        <m:supHide m:val="on"/>
                        <m:ctrlPr>
                          <a:rPr lang="en-US" altLang="ko-KR" i="1">
                            <a:latin typeface="Cambria Math" panose="02040503050406030204" pitchFamily="18" charset="0"/>
                            <a:ea typeface="Cambria Math" panose="02040503050406030204" pitchFamily="18" charset="0"/>
                          </a:rPr>
                        </m:ctrlPr>
                      </m:naryPr>
                      <m:sub>
                        <m:r>
                          <m:rPr>
                            <m:brk m:alnAt="7"/>
                          </m:rPr>
                          <a:rPr lang="en-US" altLang="ko-KR" i="1">
                            <a:latin typeface="Cambria Math" panose="02040503050406030204" pitchFamily="18" charset="0"/>
                            <a:ea typeface="Cambria Math" panose="02040503050406030204" pitchFamily="18" charset="0"/>
                          </a:rPr>
                          <m:t>𝑖</m:t>
                        </m:r>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𝑆</m:t>
                        </m:r>
                      </m:sub>
                      <m:sup/>
                      <m:e>
                        <m:sSub>
                          <m:sSubPr>
                            <m:ctrlPr>
                              <a:rPr lang="en-US" altLang="ko-KR" i="1">
                                <a:latin typeface="Cambria Math" panose="02040503050406030204" pitchFamily="18" charset="0"/>
                                <a:ea typeface="Cambria Math" panose="02040503050406030204" pitchFamily="18" charset="0"/>
                              </a:rPr>
                            </m:ctrlPr>
                          </m:sSubPr>
                          <m:e>
                            <m:r>
                              <a:rPr lang="ko-KR" altLang="en-US" i="1">
                                <a:latin typeface="Cambria Math" panose="02040503050406030204" pitchFamily="18" charset="0"/>
                                <a:ea typeface="Cambria Math" panose="02040503050406030204" pitchFamily="18" charset="0"/>
                              </a:rPr>
                              <m:t>𝜋</m:t>
                            </m:r>
                          </m:e>
                          <m:sub>
                            <m:r>
                              <a:rPr lang="en-US" altLang="ko-KR" i="1">
                                <a:latin typeface="Cambria Math" panose="02040503050406030204" pitchFamily="18" charset="0"/>
                                <a:ea typeface="Cambria Math" panose="02040503050406030204" pitchFamily="18" charset="0"/>
                              </a:rPr>
                              <m:t>𝑖</m:t>
                            </m:r>
                          </m:sub>
                        </m:sSub>
                        <m:sSub>
                          <m:sSubPr>
                            <m:ctrlPr>
                              <a:rPr lang="en-US" altLang="ko-KR" i="1">
                                <a:latin typeface="Cambria Math" panose="02040503050406030204" pitchFamily="18" charset="0"/>
                                <a:ea typeface="Cambria Math" panose="02040503050406030204" pitchFamily="18" charset="0"/>
                              </a:rPr>
                            </m:ctrlPr>
                          </m:sSubPr>
                          <m:e>
                            <m:r>
                              <a:rPr lang="en-US" altLang="ko-KR" i="1">
                                <a:latin typeface="Cambria Math" panose="02040503050406030204" pitchFamily="18" charset="0"/>
                                <a:ea typeface="Cambria Math" panose="02040503050406030204" pitchFamily="18" charset="0"/>
                              </a:rPr>
                              <m:t>𝑇</m:t>
                            </m:r>
                          </m:e>
                          <m:sub>
                            <m:r>
                              <a:rPr lang="en-US" altLang="ko-KR" i="1">
                                <a:latin typeface="Cambria Math" panose="02040503050406030204" pitchFamily="18" charset="0"/>
                                <a:ea typeface="Cambria Math" panose="02040503050406030204" pitchFamily="18" charset="0"/>
                              </a:rPr>
                              <m:t>𝑖</m:t>
                            </m:r>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𝑗</m:t>
                            </m:r>
                          </m:sub>
                        </m:sSub>
                      </m:e>
                    </m:nary>
                    <m:r>
                      <a:rPr lang="en-US" altLang="ko-KR" i="1">
                        <a:latin typeface="Cambria Math" panose="02040503050406030204" pitchFamily="18" charset="0"/>
                      </a:rPr>
                      <m:t>=</m:t>
                    </m:r>
                    <m:r>
                      <a:rPr lang="en-US" altLang="ko-KR" b="0" i="1" smtClean="0">
                        <a:latin typeface="Cambria Math" panose="02040503050406030204" pitchFamily="18" charset="0"/>
                      </a:rPr>
                      <m:t>0</m:t>
                    </m:r>
                    <m:r>
                      <a:rPr lang="en-US" altLang="ko-KR" i="1">
                        <a:latin typeface="Cambria Math" panose="02040503050406030204" pitchFamily="18" charset="0"/>
                        <a:ea typeface="Cambria Math" panose="02040503050406030204" pitchFamily="18" charset="0"/>
                      </a:rPr>
                      <m:t>→</m:t>
                    </m:r>
                    <m:r>
                      <a:rPr lang="ko-KR" altLang="en-US" i="1">
                        <a:latin typeface="Cambria Math" panose="02040503050406030204" pitchFamily="18" charset="0"/>
                        <a:ea typeface="Cambria Math" panose="02040503050406030204" pitchFamily="18" charset="0"/>
                      </a:rPr>
                      <m:t>𝜋</m:t>
                    </m:r>
                    <m:d>
                      <m:dPr>
                        <m:ctrlPr>
                          <a:rPr lang="en-US" altLang="ko-KR" i="1">
                            <a:latin typeface="Cambria Math" panose="02040503050406030204" pitchFamily="18" charset="0"/>
                            <a:ea typeface="Cambria Math" panose="02040503050406030204" pitchFamily="18" charset="0"/>
                          </a:rPr>
                        </m:ctrlPr>
                      </m:dPr>
                      <m:e>
                        <m:sSub>
                          <m:sSubPr>
                            <m:ctrlPr>
                              <a:rPr lang="en-US" altLang="ko-KR" i="1">
                                <a:latin typeface="Cambria Math" panose="02040503050406030204" pitchFamily="18" charset="0"/>
                                <a:ea typeface="Cambria Math" panose="02040503050406030204" pitchFamily="18" charset="0"/>
                              </a:rPr>
                            </m:ctrlPr>
                          </m:sSubPr>
                          <m:e>
                            <m:r>
                              <a:rPr lang="en-US" altLang="ko-KR" i="1">
                                <a:latin typeface="Cambria Math" panose="02040503050406030204" pitchFamily="18" charset="0"/>
                                <a:ea typeface="Cambria Math" panose="02040503050406030204" pitchFamily="18" charset="0"/>
                              </a:rPr>
                              <m:t>𝐼</m:t>
                            </m:r>
                          </m:e>
                          <m:sub>
                            <m:d>
                              <m:dPr>
                                <m:begChr m:val="|"/>
                                <m:endChr m:val="|"/>
                                <m:ctrlPr>
                                  <a:rPr lang="en-US" altLang="ko-KR" i="1">
                                    <a:latin typeface="Cambria Math" panose="02040503050406030204" pitchFamily="18" charset="0"/>
                                    <a:ea typeface="Cambria Math" panose="02040503050406030204" pitchFamily="18" charset="0"/>
                                  </a:rPr>
                                </m:ctrlPr>
                              </m:dPr>
                              <m:e>
                                <m:r>
                                  <a:rPr lang="en-US" altLang="ko-KR" i="1">
                                    <a:latin typeface="Cambria Math" panose="02040503050406030204" pitchFamily="18" charset="0"/>
                                    <a:ea typeface="Cambria Math" panose="02040503050406030204" pitchFamily="18" charset="0"/>
                                  </a:rPr>
                                  <m:t>𝑆</m:t>
                                </m:r>
                              </m:e>
                            </m:d>
                            <m:r>
                              <a:rPr lang="en-US" altLang="ko-KR" i="1">
                                <a:latin typeface="Cambria Math" panose="02040503050406030204" pitchFamily="18" charset="0"/>
                                <a:ea typeface="Cambria Math" panose="02040503050406030204" pitchFamily="18" charset="0"/>
                              </a:rPr>
                              <m:t>,</m:t>
                            </m:r>
                            <m:d>
                              <m:dPr>
                                <m:begChr m:val="|"/>
                                <m:endChr m:val="|"/>
                                <m:ctrlPr>
                                  <a:rPr lang="en-US" altLang="ko-KR" i="1">
                                    <a:latin typeface="Cambria Math" panose="02040503050406030204" pitchFamily="18" charset="0"/>
                                    <a:ea typeface="Cambria Math" panose="02040503050406030204" pitchFamily="18" charset="0"/>
                                  </a:rPr>
                                </m:ctrlPr>
                              </m:dPr>
                              <m:e>
                                <m:r>
                                  <a:rPr lang="en-US" altLang="ko-KR" i="1">
                                    <a:latin typeface="Cambria Math" panose="02040503050406030204" pitchFamily="18" charset="0"/>
                                    <a:ea typeface="Cambria Math" panose="02040503050406030204" pitchFamily="18" charset="0"/>
                                  </a:rPr>
                                  <m:t>𝑆</m:t>
                                </m:r>
                              </m:e>
                            </m:d>
                          </m:sub>
                        </m:sSub>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𝑇</m:t>
                        </m:r>
                      </m:e>
                    </m:d>
                    <m:r>
                      <a:rPr lang="en-US" altLang="ko-KR" i="1">
                        <a:latin typeface="Cambria Math" panose="02040503050406030204" pitchFamily="18" charset="0"/>
                        <a:ea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0</m:t>
                    </m:r>
                  </m:oMath>
                </a14:m>
                <a:endParaRPr lang="en-US" altLang="ko-KR" b="1" dirty="0" smtClean="0"/>
              </a:p>
              <a:p>
                <a:pPr lvl="4"/>
                <a:r>
                  <a:rPr lang="en-US" altLang="ko-KR" dirty="0" smtClean="0">
                    <a:ea typeface="Cambria Math" panose="02040503050406030204" pitchFamily="18" charset="0"/>
                  </a:rPr>
                  <a:t>To the above formula, apply </a:t>
                </a:r>
                <a14:m>
                  <m:oMath xmlns:m="http://schemas.openxmlformats.org/officeDocument/2006/math">
                    <m:nary>
                      <m:naryPr>
                        <m:chr m:val="∑"/>
                        <m:supHide m:val="on"/>
                        <m:ctrlPr>
                          <a:rPr lang="en-US" altLang="ko-KR" i="1">
                            <a:latin typeface="Cambria Math" panose="02040503050406030204" pitchFamily="18" charset="0"/>
                            <a:ea typeface="Cambria Math" panose="02040503050406030204" pitchFamily="18" charset="0"/>
                          </a:rPr>
                        </m:ctrlPr>
                      </m:naryPr>
                      <m:sub>
                        <m:r>
                          <m:rPr>
                            <m:brk m:alnAt="7"/>
                          </m:rPr>
                          <a:rPr lang="en-US" altLang="ko-KR" i="1">
                            <a:latin typeface="Cambria Math" panose="02040503050406030204" pitchFamily="18" charset="0"/>
                            <a:ea typeface="Cambria Math" panose="02040503050406030204" pitchFamily="18" charset="0"/>
                          </a:rPr>
                          <m:t>𝑖</m:t>
                        </m:r>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𝑆</m:t>
                        </m:r>
                      </m:sub>
                      <m:sup/>
                      <m:e>
                        <m:sSub>
                          <m:sSubPr>
                            <m:ctrlPr>
                              <a:rPr lang="en-US" altLang="ko-KR" i="1">
                                <a:latin typeface="Cambria Math" panose="02040503050406030204" pitchFamily="18" charset="0"/>
                                <a:ea typeface="Cambria Math" panose="02040503050406030204" pitchFamily="18" charset="0"/>
                              </a:rPr>
                            </m:ctrlPr>
                          </m:sSubPr>
                          <m:e>
                            <m:r>
                              <a:rPr lang="ko-KR" altLang="en-US" i="1">
                                <a:latin typeface="Cambria Math" panose="02040503050406030204" pitchFamily="18" charset="0"/>
                                <a:ea typeface="Cambria Math" panose="02040503050406030204" pitchFamily="18" charset="0"/>
                              </a:rPr>
                              <m:t>𝜋</m:t>
                            </m:r>
                          </m:e>
                          <m:sub>
                            <m:r>
                              <a:rPr lang="en-US" altLang="ko-KR" i="1">
                                <a:latin typeface="Cambria Math" panose="02040503050406030204" pitchFamily="18" charset="0"/>
                                <a:ea typeface="Cambria Math" panose="02040503050406030204" pitchFamily="18" charset="0"/>
                              </a:rPr>
                              <m:t>𝑖</m:t>
                            </m:r>
                          </m:sub>
                        </m:sSub>
                      </m:e>
                    </m:nary>
                    <m:r>
                      <a:rPr lang="en-US" altLang="ko-KR" i="1">
                        <a:latin typeface="Cambria Math" panose="02040503050406030204" pitchFamily="18" charset="0"/>
                        <a:ea typeface="Cambria Math" panose="02040503050406030204" pitchFamily="18" charset="0"/>
                      </a:rPr>
                      <m:t>=1→</m:t>
                    </m:r>
                    <m:r>
                      <a:rPr lang="ko-KR" altLang="en-US" i="1">
                        <a:latin typeface="Cambria Math" panose="02040503050406030204" pitchFamily="18" charset="0"/>
                        <a:ea typeface="Cambria Math" panose="02040503050406030204" pitchFamily="18" charset="0"/>
                      </a:rPr>
                      <m:t>𝜋</m:t>
                    </m:r>
                    <m:sSub>
                      <m:sSubPr>
                        <m:ctrlPr>
                          <a:rPr lang="en-US" altLang="ko-KR" i="1">
                            <a:latin typeface="Cambria Math" panose="02040503050406030204" pitchFamily="18" charset="0"/>
                            <a:ea typeface="Cambria Math" panose="02040503050406030204" pitchFamily="18" charset="0"/>
                          </a:rPr>
                        </m:ctrlPr>
                      </m:sSubPr>
                      <m:e>
                        <m:r>
                          <a:rPr lang="en-US" altLang="ko-KR" i="1">
                            <a:latin typeface="Cambria Math" panose="02040503050406030204" pitchFamily="18" charset="0"/>
                            <a:ea typeface="Cambria Math" panose="02040503050406030204" pitchFamily="18" charset="0"/>
                          </a:rPr>
                          <m:t>1</m:t>
                        </m:r>
                      </m:e>
                      <m:sub>
                        <m:d>
                          <m:dPr>
                            <m:begChr m:val="|"/>
                            <m:endChr m:val="|"/>
                            <m:ctrlPr>
                              <a:rPr lang="en-US" altLang="ko-KR" i="1">
                                <a:latin typeface="Cambria Math" panose="02040503050406030204" pitchFamily="18" charset="0"/>
                                <a:ea typeface="Cambria Math" panose="02040503050406030204" pitchFamily="18" charset="0"/>
                              </a:rPr>
                            </m:ctrlPr>
                          </m:dPr>
                          <m:e>
                            <m:r>
                              <a:rPr lang="en-US" altLang="ko-KR" i="1">
                                <a:latin typeface="Cambria Math" panose="02040503050406030204" pitchFamily="18" charset="0"/>
                                <a:ea typeface="Cambria Math" panose="02040503050406030204" pitchFamily="18" charset="0"/>
                              </a:rPr>
                              <m:t>𝑆</m:t>
                            </m:r>
                          </m:e>
                        </m:d>
                        <m:r>
                          <a:rPr lang="en-US" altLang="ko-KR" i="1">
                            <a:latin typeface="Cambria Math" panose="02040503050406030204" pitchFamily="18" charset="0"/>
                            <a:ea typeface="Cambria Math" panose="02040503050406030204" pitchFamily="18" charset="0"/>
                          </a:rPr>
                          <m:t>,</m:t>
                        </m:r>
                        <m:d>
                          <m:dPr>
                            <m:begChr m:val="|"/>
                            <m:endChr m:val="|"/>
                            <m:ctrlPr>
                              <a:rPr lang="en-US" altLang="ko-KR" i="1">
                                <a:latin typeface="Cambria Math" panose="02040503050406030204" pitchFamily="18" charset="0"/>
                                <a:ea typeface="Cambria Math" panose="02040503050406030204" pitchFamily="18" charset="0"/>
                              </a:rPr>
                            </m:ctrlPr>
                          </m:dPr>
                          <m:e>
                            <m:r>
                              <a:rPr lang="en-US" altLang="ko-KR" i="1">
                                <a:latin typeface="Cambria Math" panose="02040503050406030204" pitchFamily="18" charset="0"/>
                                <a:ea typeface="Cambria Math" panose="02040503050406030204" pitchFamily="18" charset="0"/>
                              </a:rPr>
                              <m:t>𝑆</m:t>
                            </m:r>
                          </m:e>
                        </m:d>
                      </m:sub>
                    </m:sSub>
                    <m:r>
                      <a:rPr lang="en-US" altLang="ko-KR" b="0" i="1" smtClean="0">
                        <a:latin typeface="Cambria Math" panose="02040503050406030204" pitchFamily="18" charset="0"/>
                        <a:ea typeface="Cambria Math" panose="02040503050406030204" pitchFamily="18" charset="0"/>
                      </a:rPr>
                      <m:t>=</m:t>
                    </m:r>
                    <m:sSub>
                      <m:sSubPr>
                        <m:ctrlPr>
                          <a:rPr lang="en-US" altLang="ko-KR" i="1">
                            <a:latin typeface="Cambria Math" panose="02040503050406030204" pitchFamily="18" charset="0"/>
                            <a:ea typeface="Cambria Math" panose="02040503050406030204" pitchFamily="18" charset="0"/>
                          </a:rPr>
                        </m:ctrlPr>
                      </m:sSubPr>
                      <m:e>
                        <m:r>
                          <a:rPr lang="en-US" altLang="ko-KR" i="1">
                            <a:latin typeface="Cambria Math" panose="02040503050406030204" pitchFamily="18" charset="0"/>
                            <a:ea typeface="Cambria Math" panose="02040503050406030204" pitchFamily="18" charset="0"/>
                          </a:rPr>
                          <m:t>1</m:t>
                        </m:r>
                      </m:e>
                      <m:sub>
                        <m:r>
                          <a:rPr lang="en-US" altLang="ko-KR" i="1">
                            <a:latin typeface="Cambria Math" panose="02040503050406030204" pitchFamily="18" charset="0"/>
                            <a:ea typeface="Cambria Math" panose="02040503050406030204" pitchFamily="18" charset="0"/>
                          </a:rPr>
                          <m:t>1,|</m:t>
                        </m:r>
                        <m:r>
                          <a:rPr lang="en-US" altLang="ko-KR" i="1">
                            <a:latin typeface="Cambria Math" panose="02040503050406030204" pitchFamily="18" charset="0"/>
                            <a:ea typeface="Cambria Math" panose="02040503050406030204" pitchFamily="18" charset="0"/>
                          </a:rPr>
                          <m:t>𝑆</m:t>
                        </m:r>
                        <m:r>
                          <a:rPr lang="en-US" altLang="ko-KR" i="1">
                            <a:latin typeface="Cambria Math" panose="02040503050406030204" pitchFamily="18" charset="0"/>
                            <a:ea typeface="Cambria Math" panose="02040503050406030204" pitchFamily="18" charset="0"/>
                          </a:rPr>
                          <m:t>|</m:t>
                        </m:r>
                      </m:sub>
                    </m:sSub>
                  </m:oMath>
                </a14:m>
                <a:r>
                  <a:rPr lang="ko-KR" altLang="en-US" b="1" dirty="0" smtClean="0"/>
                  <a:t> </a:t>
                </a:r>
                <a:r>
                  <a:rPr lang="en-US" altLang="ko-KR" dirty="0" smtClean="0"/>
                  <a:t>to both sides</a:t>
                </a:r>
              </a:p>
              <a:p>
                <a:pPr lvl="3"/>
                <a14:m>
                  <m:oMath xmlns:m="http://schemas.openxmlformats.org/officeDocument/2006/math">
                    <m:r>
                      <a:rPr lang="ko-KR" altLang="en-US" i="1">
                        <a:latin typeface="Cambria Math" panose="02040503050406030204" pitchFamily="18" charset="0"/>
                        <a:ea typeface="Cambria Math" panose="02040503050406030204" pitchFamily="18" charset="0"/>
                      </a:rPr>
                      <m:t>𝜋</m:t>
                    </m:r>
                    <m:d>
                      <m:dPr>
                        <m:ctrlPr>
                          <a:rPr lang="en-US" altLang="ko-KR" i="1">
                            <a:latin typeface="Cambria Math" panose="02040503050406030204" pitchFamily="18" charset="0"/>
                            <a:ea typeface="Cambria Math" panose="02040503050406030204" pitchFamily="18" charset="0"/>
                          </a:rPr>
                        </m:ctrlPr>
                      </m:dPr>
                      <m:e>
                        <m:sSub>
                          <m:sSubPr>
                            <m:ctrlPr>
                              <a:rPr lang="en-US" altLang="ko-KR" i="1">
                                <a:latin typeface="Cambria Math" panose="02040503050406030204" pitchFamily="18" charset="0"/>
                                <a:ea typeface="Cambria Math" panose="02040503050406030204" pitchFamily="18" charset="0"/>
                              </a:rPr>
                            </m:ctrlPr>
                          </m:sSubPr>
                          <m:e>
                            <m:r>
                              <a:rPr lang="en-US" altLang="ko-KR" i="1">
                                <a:latin typeface="Cambria Math" panose="02040503050406030204" pitchFamily="18" charset="0"/>
                                <a:ea typeface="Cambria Math" panose="02040503050406030204" pitchFamily="18" charset="0"/>
                              </a:rPr>
                              <m:t>𝐼</m:t>
                            </m:r>
                          </m:e>
                          <m:sub>
                            <m:d>
                              <m:dPr>
                                <m:begChr m:val="|"/>
                                <m:endChr m:val="|"/>
                                <m:ctrlPr>
                                  <a:rPr lang="en-US" altLang="ko-KR" i="1">
                                    <a:latin typeface="Cambria Math" panose="02040503050406030204" pitchFamily="18" charset="0"/>
                                    <a:ea typeface="Cambria Math" panose="02040503050406030204" pitchFamily="18" charset="0"/>
                                  </a:rPr>
                                </m:ctrlPr>
                              </m:dPr>
                              <m:e>
                                <m:r>
                                  <a:rPr lang="en-US" altLang="ko-KR" i="1">
                                    <a:latin typeface="Cambria Math" panose="02040503050406030204" pitchFamily="18" charset="0"/>
                                    <a:ea typeface="Cambria Math" panose="02040503050406030204" pitchFamily="18" charset="0"/>
                                  </a:rPr>
                                  <m:t>𝑆</m:t>
                                </m:r>
                              </m:e>
                            </m:d>
                            <m:r>
                              <a:rPr lang="en-US" altLang="ko-KR" i="1">
                                <a:latin typeface="Cambria Math" panose="02040503050406030204" pitchFamily="18" charset="0"/>
                                <a:ea typeface="Cambria Math" panose="02040503050406030204" pitchFamily="18" charset="0"/>
                              </a:rPr>
                              <m:t>,</m:t>
                            </m:r>
                            <m:d>
                              <m:dPr>
                                <m:begChr m:val="|"/>
                                <m:endChr m:val="|"/>
                                <m:ctrlPr>
                                  <a:rPr lang="en-US" altLang="ko-KR" i="1">
                                    <a:latin typeface="Cambria Math" panose="02040503050406030204" pitchFamily="18" charset="0"/>
                                    <a:ea typeface="Cambria Math" panose="02040503050406030204" pitchFamily="18" charset="0"/>
                                  </a:rPr>
                                </m:ctrlPr>
                              </m:dPr>
                              <m:e>
                                <m:r>
                                  <a:rPr lang="en-US" altLang="ko-KR" i="1">
                                    <a:latin typeface="Cambria Math" panose="02040503050406030204" pitchFamily="18" charset="0"/>
                                    <a:ea typeface="Cambria Math" panose="02040503050406030204" pitchFamily="18" charset="0"/>
                                  </a:rPr>
                                  <m:t>𝑆</m:t>
                                </m:r>
                              </m:e>
                            </m:d>
                          </m:sub>
                        </m:sSub>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𝑇</m:t>
                        </m:r>
                        <m:r>
                          <a:rPr lang="en-US" altLang="ko-KR" i="1">
                            <a:latin typeface="Cambria Math" panose="02040503050406030204" pitchFamily="18" charset="0"/>
                            <a:ea typeface="Cambria Math" panose="02040503050406030204" pitchFamily="18" charset="0"/>
                          </a:rPr>
                          <m:t>+</m:t>
                        </m:r>
                        <m:sSub>
                          <m:sSubPr>
                            <m:ctrlPr>
                              <a:rPr lang="en-US" altLang="ko-KR" i="1">
                                <a:latin typeface="Cambria Math" panose="02040503050406030204" pitchFamily="18" charset="0"/>
                                <a:ea typeface="Cambria Math" panose="02040503050406030204" pitchFamily="18" charset="0"/>
                              </a:rPr>
                            </m:ctrlPr>
                          </m:sSubPr>
                          <m:e>
                            <m:r>
                              <a:rPr lang="en-US" altLang="ko-KR" i="1">
                                <a:latin typeface="Cambria Math" panose="02040503050406030204" pitchFamily="18" charset="0"/>
                                <a:ea typeface="Cambria Math" panose="02040503050406030204" pitchFamily="18" charset="0"/>
                              </a:rPr>
                              <m:t>1</m:t>
                            </m:r>
                          </m:e>
                          <m:sub>
                            <m:d>
                              <m:dPr>
                                <m:begChr m:val="|"/>
                                <m:endChr m:val="|"/>
                                <m:ctrlPr>
                                  <a:rPr lang="en-US" altLang="ko-KR" i="1">
                                    <a:latin typeface="Cambria Math" panose="02040503050406030204" pitchFamily="18" charset="0"/>
                                    <a:ea typeface="Cambria Math" panose="02040503050406030204" pitchFamily="18" charset="0"/>
                                  </a:rPr>
                                </m:ctrlPr>
                              </m:dPr>
                              <m:e>
                                <m:r>
                                  <a:rPr lang="en-US" altLang="ko-KR" i="1">
                                    <a:latin typeface="Cambria Math" panose="02040503050406030204" pitchFamily="18" charset="0"/>
                                    <a:ea typeface="Cambria Math" panose="02040503050406030204" pitchFamily="18" charset="0"/>
                                  </a:rPr>
                                  <m:t>𝑆</m:t>
                                </m:r>
                              </m:e>
                            </m:d>
                            <m:r>
                              <a:rPr lang="en-US" altLang="ko-KR" i="1">
                                <a:latin typeface="Cambria Math" panose="02040503050406030204" pitchFamily="18" charset="0"/>
                                <a:ea typeface="Cambria Math" panose="02040503050406030204" pitchFamily="18" charset="0"/>
                              </a:rPr>
                              <m:t>,</m:t>
                            </m:r>
                            <m:d>
                              <m:dPr>
                                <m:begChr m:val="|"/>
                                <m:endChr m:val="|"/>
                                <m:ctrlPr>
                                  <a:rPr lang="en-US" altLang="ko-KR" i="1">
                                    <a:latin typeface="Cambria Math" panose="02040503050406030204" pitchFamily="18" charset="0"/>
                                    <a:ea typeface="Cambria Math" panose="02040503050406030204" pitchFamily="18" charset="0"/>
                                  </a:rPr>
                                </m:ctrlPr>
                              </m:dPr>
                              <m:e>
                                <m:r>
                                  <a:rPr lang="en-US" altLang="ko-KR" i="1">
                                    <a:latin typeface="Cambria Math" panose="02040503050406030204" pitchFamily="18" charset="0"/>
                                    <a:ea typeface="Cambria Math" panose="02040503050406030204" pitchFamily="18" charset="0"/>
                                  </a:rPr>
                                  <m:t>𝑆</m:t>
                                </m:r>
                              </m:e>
                            </m:d>
                          </m:sub>
                        </m:sSub>
                      </m:e>
                    </m:d>
                    <m:r>
                      <a:rPr lang="en-US" altLang="ko-KR" i="1">
                        <a:latin typeface="Cambria Math" panose="02040503050406030204" pitchFamily="18" charset="0"/>
                        <a:ea typeface="Cambria Math" panose="02040503050406030204" pitchFamily="18" charset="0"/>
                      </a:rPr>
                      <m:t>=</m:t>
                    </m:r>
                    <m:sSub>
                      <m:sSubPr>
                        <m:ctrlPr>
                          <a:rPr lang="en-US" altLang="ko-KR" i="1">
                            <a:latin typeface="Cambria Math" panose="02040503050406030204" pitchFamily="18" charset="0"/>
                            <a:ea typeface="Cambria Math" panose="02040503050406030204" pitchFamily="18" charset="0"/>
                          </a:rPr>
                        </m:ctrlPr>
                      </m:sSubPr>
                      <m:e>
                        <m:r>
                          <a:rPr lang="en-US" altLang="ko-KR" i="1">
                            <a:latin typeface="Cambria Math" panose="02040503050406030204" pitchFamily="18" charset="0"/>
                            <a:ea typeface="Cambria Math" panose="02040503050406030204" pitchFamily="18" charset="0"/>
                          </a:rPr>
                          <m:t>1</m:t>
                        </m:r>
                      </m:e>
                      <m:sub>
                        <m:r>
                          <a:rPr lang="en-US" altLang="ko-KR" i="1">
                            <a:latin typeface="Cambria Math" panose="02040503050406030204" pitchFamily="18" charset="0"/>
                            <a:ea typeface="Cambria Math" panose="02040503050406030204" pitchFamily="18" charset="0"/>
                          </a:rPr>
                          <m:t>1,|</m:t>
                        </m:r>
                        <m:r>
                          <a:rPr lang="en-US" altLang="ko-KR" i="1">
                            <a:latin typeface="Cambria Math" panose="02040503050406030204" pitchFamily="18" charset="0"/>
                            <a:ea typeface="Cambria Math" panose="02040503050406030204" pitchFamily="18" charset="0"/>
                          </a:rPr>
                          <m:t>𝑆</m:t>
                        </m:r>
                        <m:r>
                          <a:rPr lang="en-US" altLang="ko-KR" i="1">
                            <a:latin typeface="Cambria Math" panose="02040503050406030204" pitchFamily="18" charset="0"/>
                            <a:ea typeface="Cambria Math" panose="02040503050406030204" pitchFamily="18" charset="0"/>
                          </a:rPr>
                          <m:t>|</m:t>
                        </m:r>
                      </m:sub>
                    </m:sSub>
                  </m:oMath>
                </a14:m>
                <a:endParaRPr lang="en-US" altLang="ko-KR" b="1" dirty="0"/>
              </a:p>
              <a:p>
                <a:pPr lvl="1"/>
                <a:r>
                  <a:rPr lang="en-US" altLang="ko-KR" dirty="0" smtClean="0"/>
                  <a:t>Here, </a:t>
                </a:r>
                <a14:m>
                  <m:oMath xmlns:m="http://schemas.openxmlformats.org/officeDocument/2006/math">
                    <m:r>
                      <a:rPr lang="ko-KR" altLang="en-US" b="1" i="1">
                        <a:latin typeface="Cambria Math" panose="02040503050406030204" pitchFamily="18" charset="0"/>
                      </a:rPr>
                      <m:t>𝝅</m:t>
                    </m:r>
                  </m:oMath>
                </a14:m>
                <a:r>
                  <a:rPr lang="ko-KR" altLang="en-US" dirty="0" smtClean="0"/>
                  <a:t> </a:t>
                </a:r>
                <a:r>
                  <a:rPr lang="en-US" altLang="ko-KR" dirty="0" smtClean="0"/>
                  <a:t>is the stationary distribution!</a:t>
                </a:r>
              </a:p>
              <a:p>
                <a:endParaRPr lang="ko-KR" alt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629229"/>
                <a:ext cx="8435280" cy="4925144"/>
              </a:xfrm>
              <a:blipFill rotWithShape="0">
                <a:blip r:embed="rId2"/>
                <a:stretch>
                  <a:fillRect t="-124" b="-866"/>
                </a:stretch>
              </a:blipFill>
            </p:spPr>
            <p:txBody>
              <a:bodyPr/>
              <a:lstStyle/>
              <a:p>
                <a:r>
                  <a:rPr lang="ko-KR" altLang="en-US">
                    <a:noFill/>
                  </a:rPr>
                  <a:t> </a:t>
                </a:r>
              </a:p>
            </p:txBody>
          </p:sp>
        </mc:Fallback>
      </mc:AlternateContent>
      <p:sp>
        <p:nvSpPr>
          <p:cNvPr id="4" name="Slide Number Placeholder 3"/>
          <p:cNvSpPr>
            <a:spLocks noGrp="1"/>
          </p:cNvSpPr>
          <p:nvPr>
            <p:ph type="sldNum" sz="quarter" idx="12"/>
          </p:nvPr>
        </p:nvSpPr>
        <p:spPr/>
        <p:txBody>
          <a:bodyPr/>
          <a:lstStyle/>
          <a:p>
            <a:fld id="{85CD3E9B-A789-4DCF-960C-49E4EDB7DF3D}" type="slidenum">
              <a:rPr lang="ko-KR" altLang="en-US" smtClean="0"/>
              <a:t>7</a:t>
            </a:fld>
            <a:endParaRPr lang="ko-KR" altLang="en-US"/>
          </a:p>
        </p:txBody>
      </p:sp>
      <p:pic>
        <p:nvPicPr>
          <p:cNvPr id="7" name="Picture 6"/>
          <p:cNvPicPr>
            <a:picLocks noChangeAspect="1"/>
          </p:cNvPicPr>
          <p:nvPr/>
        </p:nvPicPr>
        <p:blipFill>
          <a:blip r:embed="rId3"/>
          <a:stretch>
            <a:fillRect/>
          </a:stretch>
        </p:blipFill>
        <p:spPr>
          <a:xfrm>
            <a:off x="4798774" y="0"/>
            <a:ext cx="2189658" cy="4358594"/>
          </a:xfrm>
          <a:prstGeom prst="rect">
            <a:avLst/>
          </a:prstGeom>
        </p:spPr>
      </p:pic>
      <p:pic>
        <p:nvPicPr>
          <p:cNvPr id="6" name="Picture 5"/>
          <p:cNvPicPr>
            <a:picLocks noChangeAspect="1"/>
          </p:cNvPicPr>
          <p:nvPr/>
        </p:nvPicPr>
        <p:blipFill rotWithShape="1">
          <a:blip r:embed="rId4"/>
          <a:srcRect r="15086"/>
          <a:stretch/>
        </p:blipFill>
        <p:spPr>
          <a:xfrm>
            <a:off x="6988432" y="0"/>
            <a:ext cx="2155568" cy="4358594"/>
          </a:xfrm>
          <a:prstGeom prst="rect">
            <a:avLst/>
          </a:prstGeom>
        </p:spPr>
      </p:pic>
      <mc:AlternateContent xmlns:mc="http://schemas.openxmlformats.org/markup-compatibility/2006" xmlns:a14="http://schemas.microsoft.com/office/drawing/2010/main">
        <mc:Choice Requires="a14">
          <p:sp>
            <p:nvSpPr>
              <p:cNvPr id="8" name="Rectangle 7"/>
              <p:cNvSpPr/>
              <p:nvPr/>
            </p:nvSpPr>
            <p:spPr>
              <a:xfrm>
                <a:off x="6516914" y="5787078"/>
                <a:ext cx="2627086" cy="668645"/>
              </a:xfrm>
              <a:prstGeom prst="rect">
                <a:avLst/>
              </a:prstGeom>
            </p:spPr>
            <p:txBody>
              <a:bodyPr wrap="square">
                <a:spAutoFit/>
              </a:bodyPr>
              <a:lstStyle/>
              <a:p>
                <a:r>
                  <a:rPr lang="en-US" altLang="ko-KR" dirty="0"/>
                  <a:t>Reversible Markov chain</a:t>
                </a:r>
              </a:p>
              <a:p>
                <a:pPr lvl="1"/>
                <a14:m>
                  <m:oMathPara xmlns:m="http://schemas.openxmlformats.org/officeDocument/2006/math">
                    <m:oMathParaPr>
                      <m:jc m:val="centerGroup"/>
                    </m:oMathParaPr>
                    <m:oMath xmlns:m="http://schemas.openxmlformats.org/officeDocument/2006/math">
                      <m:sSub>
                        <m:sSubPr>
                          <m:ctrlPr>
                            <a:rPr lang="en-US" altLang="ko-KR" i="1">
                              <a:latin typeface="Cambria Math" panose="02040503050406030204" pitchFamily="18" charset="0"/>
                              <a:ea typeface="Cambria Math" panose="02040503050406030204" pitchFamily="18" charset="0"/>
                            </a:rPr>
                          </m:ctrlPr>
                        </m:sSubPr>
                        <m:e>
                          <m:r>
                            <a:rPr lang="ko-KR" altLang="en-US" i="1">
                              <a:latin typeface="Cambria Math" panose="02040503050406030204" pitchFamily="18" charset="0"/>
                              <a:ea typeface="Cambria Math" panose="02040503050406030204" pitchFamily="18" charset="0"/>
                            </a:rPr>
                            <m:t>𝜋</m:t>
                          </m:r>
                        </m:e>
                        <m:sub>
                          <m:r>
                            <a:rPr lang="en-US" altLang="ko-KR" i="1">
                              <a:latin typeface="Cambria Math" panose="02040503050406030204" pitchFamily="18" charset="0"/>
                              <a:ea typeface="Cambria Math" panose="02040503050406030204" pitchFamily="18" charset="0"/>
                            </a:rPr>
                            <m:t>𝑖</m:t>
                          </m:r>
                        </m:sub>
                      </m:sSub>
                      <m:sSub>
                        <m:sSubPr>
                          <m:ctrlPr>
                            <a:rPr lang="en-US" altLang="ko-KR" i="1">
                              <a:latin typeface="Cambria Math" panose="02040503050406030204" pitchFamily="18" charset="0"/>
                              <a:ea typeface="Cambria Math" panose="02040503050406030204" pitchFamily="18" charset="0"/>
                            </a:rPr>
                          </m:ctrlPr>
                        </m:sSubPr>
                        <m:e>
                          <m:r>
                            <a:rPr lang="en-US" altLang="ko-KR" i="1">
                              <a:latin typeface="Cambria Math" panose="02040503050406030204" pitchFamily="18" charset="0"/>
                              <a:ea typeface="Cambria Math" panose="02040503050406030204" pitchFamily="18" charset="0"/>
                            </a:rPr>
                            <m:t>𝑇</m:t>
                          </m:r>
                        </m:e>
                        <m:sub>
                          <m:r>
                            <a:rPr lang="en-US" altLang="ko-KR" i="1">
                              <a:latin typeface="Cambria Math" panose="02040503050406030204" pitchFamily="18" charset="0"/>
                              <a:ea typeface="Cambria Math" panose="02040503050406030204" pitchFamily="18" charset="0"/>
                            </a:rPr>
                            <m:t>𝑖</m:t>
                          </m:r>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𝑗</m:t>
                          </m:r>
                        </m:sub>
                      </m:sSub>
                      <m:r>
                        <a:rPr lang="en-US" altLang="ko-KR" i="1">
                          <a:latin typeface="Cambria Math" panose="02040503050406030204" pitchFamily="18" charset="0"/>
                          <a:ea typeface="Cambria Math" panose="02040503050406030204" pitchFamily="18" charset="0"/>
                        </a:rPr>
                        <m:t>=</m:t>
                      </m:r>
                      <m:sSub>
                        <m:sSubPr>
                          <m:ctrlPr>
                            <a:rPr lang="en-US" altLang="ko-KR" i="1">
                              <a:latin typeface="Cambria Math" panose="02040503050406030204" pitchFamily="18" charset="0"/>
                              <a:ea typeface="Cambria Math" panose="02040503050406030204" pitchFamily="18" charset="0"/>
                            </a:rPr>
                          </m:ctrlPr>
                        </m:sSubPr>
                        <m:e>
                          <m:r>
                            <a:rPr lang="ko-KR" altLang="en-US" i="1">
                              <a:latin typeface="Cambria Math" panose="02040503050406030204" pitchFamily="18" charset="0"/>
                              <a:ea typeface="Cambria Math" panose="02040503050406030204" pitchFamily="18" charset="0"/>
                            </a:rPr>
                            <m:t>𝜋</m:t>
                          </m:r>
                        </m:e>
                        <m:sub>
                          <m:r>
                            <a:rPr lang="en-US" altLang="ko-KR" i="1">
                              <a:latin typeface="Cambria Math" panose="02040503050406030204" pitchFamily="18" charset="0"/>
                              <a:ea typeface="Cambria Math" panose="02040503050406030204" pitchFamily="18" charset="0"/>
                            </a:rPr>
                            <m:t>𝑗</m:t>
                          </m:r>
                        </m:sub>
                      </m:sSub>
                      <m:sSub>
                        <m:sSubPr>
                          <m:ctrlPr>
                            <a:rPr lang="en-US" altLang="ko-KR" i="1">
                              <a:latin typeface="Cambria Math" panose="02040503050406030204" pitchFamily="18" charset="0"/>
                              <a:ea typeface="Cambria Math" panose="02040503050406030204" pitchFamily="18" charset="0"/>
                            </a:rPr>
                          </m:ctrlPr>
                        </m:sSubPr>
                        <m:e>
                          <m:r>
                            <a:rPr lang="en-US" altLang="ko-KR" i="1">
                              <a:latin typeface="Cambria Math" panose="02040503050406030204" pitchFamily="18" charset="0"/>
                              <a:ea typeface="Cambria Math" panose="02040503050406030204" pitchFamily="18" charset="0"/>
                            </a:rPr>
                            <m:t>𝑇</m:t>
                          </m:r>
                        </m:e>
                        <m:sub>
                          <m:r>
                            <a:rPr lang="en-US" altLang="ko-KR" i="1">
                              <a:latin typeface="Cambria Math" panose="02040503050406030204" pitchFamily="18" charset="0"/>
                              <a:ea typeface="Cambria Math" panose="02040503050406030204" pitchFamily="18" charset="0"/>
                            </a:rPr>
                            <m:t>𝑗</m:t>
                          </m:r>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𝑖</m:t>
                          </m:r>
                        </m:sub>
                      </m:sSub>
                    </m:oMath>
                  </m:oMathPara>
                </a14:m>
                <a:endParaRPr lang="ko-KR" altLang="en-US" dirty="0"/>
              </a:p>
            </p:txBody>
          </p:sp>
        </mc:Choice>
        <mc:Fallback xmlns="">
          <p:sp>
            <p:nvSpPr>
              <p:cNvPr id="8" name="Rectangle 7"/>
              <p:cNvSpPr>
                <a:spLocks noRot="1" noChangeAspect="1" noMove="1" noResize="1" noEditPoints="1" noAdjustHandles="1" noChangeArrowheads="1" noChangeShapeType="1" noTextEdit="1"/>
              </p:cNvSpPr>
              <p:nvPr/>
            </p:nvSpPr>
            <p:spPr>
              <a:xfrm>
                <a:off x="6516914" y="5787078"/>
                <a:ext cx="2627086" cy="668645"/>
              </a:xfrm>
              <a:prstGeom prst="rect">
                <a:avLst/>
              </a:prstGeom>
              <a:blipFill rotWithShape="0">
                <a:blip r:embed="rId5"/>
                <a:stretch>
                  <a:fillRect l="-1856" t="-5455" r="-696" b="-4545"/>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6690971" y="4749670"/>
                <a:ext cx="2037737" cy="646331"/>
              </a:xfrm>
              <a:prstGeom prst="rect">
                <a:avLst/>
              </a:prstGeom>
            </p:spPr>
            <p:txBody>
              <a:bodyPr wrap="none">
                <a:spAutoFit/>
              </a:bodyPr>
              <a:lstStyle/>
              <a:p>
                <a:pPr algn="ctr"/>
                <a14:m>
                  <m:oMath xmlns:m="http://schemas.openxmlformats.org/officeDocument/2006/math">
                    <m:r>
                      <a:rPr lang="ko-KR" altLang="en-US" b="1" i="1">
                        <a:latin typeface="Cambria Math" panose="02040503050406030204" pitchFamily="18" charset="0"/>
                      </a:rPr>
                      <m:t>𝝅</m:t>
                    </m:r>
                  </m:oMath>
                </a14:m>
                <a:r>
                  <a:rPr lang="ko-KR" altLang="en-US" dirty="0"/>
                  <a:t> </a:t>
                </a:r>
                <a:r>
                  <a:rPr lang="en-US" altLang="ko-KR" dirty="0"/>
                  <a:t>is the stationary </a:t>
                </a:r>
                <a:r>
                  <a:rPr lang="en-US" altLang="ko-KR" dirty="0" smtClean="0"/>
                  <a:t/>
                </a:r>
                <a:br>
                  <a:rPr lang="en-US" altLang="ko-KR" dirty="0" smtClean="0"/>
                </a:br>
                <a:r>
                  <a:rPr lang="en-US" altLang="ko-KR" dirty="0" smtClean="0"/>
                  <a:t>distribution</a:t>
                </a:r>
                <a:endParaRPr lang="ko-KR" altLang="en-US" dirty="0"/>
              </a:p>
            </p:txBody>
          </p:sp>
        </mc:Choice>
        <mc:Fallback xmlns="">
          <p:sp>
            <p:nvSpPr>
              <p:cNvPr id="9" name="Rectangle 8"/>
              <p:cNvSpPr>
                <a:spLocks noRot="1" noChangeAspect="1" noMove="1" noResize="1" noEditPoints="1" noAdjustHandles="1" noChangeArrowheads="1" noChangeShapeType="1" noTextEdit="1"/>
              </p:cNvSpPr>
              <p:nvPr/>
            </p:nvSpPr>
            <p:spPr>
              <a:xfrm>
                <a:off x="6690971" y="4749670"/>
                <a:ext cx="2037737" cy="646331"/>
              </a:xfrm>
              <a:prstGeom prst="rect">
                <a:avLst/>
              </a:prstGeom>
              <a:blipFill rotWithShape="0">
                <a:blip r:embed="rId6"/>
                <a:stretch>
                  <a:fillRect t="-5660" r="-1796" b="-13208"/>
                </a:stretch>
              </a:blipFill>
            </p:spPr>
            <p:txBody>
              <a:bodyPr/>
              <a:lstStyle/>
              <a:p>
                <a:r>
                  <a:rPr lang="ko-KR" altLang="en-US">
                    <a:noFill/>
                  </a:rPr>
                  <a:t> </a:t>
                </a:r>
              </a:p>
            </p:txBody>
          </p:sp>
        </mc:Fallback>
      </mc:AlternateContent>
      <p:sp>
        <p:nvSpPr>
          <p:cNvPr id="10" name="Down Arrow 9"/>
          <p:cNvSpPr/>
          <p:nvPr/>
        </p:nvSpPr>
        <p:spPr>
          <a:xfrm>
            <a:off x="6988432" y="5396001"/>
            <a:ext cx="721407" cy="391077"/>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Down Arrow 10"/>
          <p:cNvSpPr/>
          <p:nvPr/>
        </p:nvSpPr>
        <p:spPr>
          <a:xfrm rot="10800000">
            <a:off x="7860587" y="5396000"/>
            <a:ext cx="721407" cy="391077"/>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Multiply 11"/>
          <p:cNvSpPr/>
          <p:nvPr/>
        </p:nvSpPr>
        <p:spPr>
          <a:xfrm>
            <a:off x="7022013" y="5324849"/>
            <a:ext cx="645886" cy="485001"/>
          </a:xfrm>
          <a:prstGeom prst="mathMultiply">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Rectangular Callout 12"/>
          <p:cNvSpPr/>
          <p:nvPr/>
        </p:nvSpPr>
        <p:spPr>
          <a:xfrm>
            <a:off x="4397829" y="6022750"/>
            <a:ext cx="2169885" cy="598058"/>
          </a:xfrm>
          <a:prstGeom prst="wedgeRectCallout">
            <a:avLst>
              <a:gd name="adj1" fmla="val 69493"/>
              <a:gd name="adj2" fmla="val -280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Detailed Balance, or </a:t>
            </a:r>
            <a:r>
              <a:rPr lang="en-US" altLang="ko-KR" b="1" dirty="0" smtClean="0"/>
              <a:t>Balance Equation</a:t>
            </a:r>
            <a:endParaRPr lang="ko-KR" altLang="en-US" b="1" dirty="0"/>
          </a:p>
        </p:txBody>
      </p:sp>
      <p:sp>
        <p:nvSpPr>
          <p:cNvPr id="14" name="TextBox 13"/>
          <p:cNvSpPr txBox="1"/>
          <p:nvPr/>
        </p:nvSpPr>
        <p:spPr>
          <a:xfrm>
            <a:off x="5053597" y="4303684"/>
            <a:ext cx="1820242" cy="369332"/>
          </a:xfrm>
          <a:prstGeom prst="rect">
            <a:avLst/>
          </a:prstGeom>
          <a:noFill/>
        </p:spPr>
        <p:txBody>
          <a:bodyPr wrap="none" rtlCol="0">
            <a:spAutoFit/>
          </a:bodyPr>
          <a:lstStyle/>
          <a:p>
            <a:r>
              <a:rPr lang="en-US" altLang="ko-KR" b="1" dirty="0" smtClean="0"/>
              <a:t>Irreversible </a:t>
            </a:r>
            <a:r>
              <a:rPr lang="en-US" altLang="ko-KR" b="1" dirty="0" smtClean="0"/>
              <a:t>MC</a:t>
            </a:r>
          </a:p>
        </p:txBody>
      </p:sp>
      <p:sp>
        <p:nvSpPr>
          <p:cNvPr id="15" name="TextBox 14"/>
          <p:cNvSpPr txBox="1"/>
          <p:nvPr/>
        </p:nvSpPr>
        <p:spPr>
          <a:xfrm>
            <a:off x="7205211" y="4303684"/>
            <a:ext cx="1680012" cy="369332"/>
          </a:xfrm>
          <a:prstGeom prst="rect">
            <a:avLst/>
          </a:prstGeom>
          <a:noFill/>
        </p:spPr>
        <p:txBody>
          <a:bodyPr wrap="none" rtlCol="0">
            <a:spAutoFit/>
          </a:bodyPr>
          <a:lstStyle/>
          <a:p>
            <a:r>
              <a:rPr lang="en-US" altLang="ko-KR" b="1" dirty="0" smtClean="0"/>
              <a:t>R</a:t>
            </a:r>
            <a:r>
              <a:rPr lang="en-US" altLang="ko-KR" b="1" dirty="0" smtClean="0"/>
              <a:t>eversible </a:t>
            </a:r>
            <a:r>
              <a:rPr lang="en-US" altLang="ko-KR" b="1" dirty="0" smtClean="0"/>
              <a:t>MC</a:t>
            </a:r>
          </a:p>
        </p:txBody>
      </p:sp>
    </p:spTree>
    <p:extLst>
      <p:ext uri="{BB962C8B-B14F-4D97-AF65-F5344CB8AC3E}">
        <p14:creationId xmlns:p14="http://schemas.microsoft.com/office/powerpoint/2010/main" val="4002710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Markov Chain for Sampling</a:t>
            </a:r>
            <a:endParaRPr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p:txBody>
              <a:bodyPr>
                <a:normAutofit fontScale="92500" lnSpcReduction="10000"/>
              </a:bodyPr>
              <a:lstStyle/>
              <a:p>
                <a:r>
                  <a:rPr lang="en-US" altLang="ko-KR" dirty="0" smtClean="0"/>
                  <a:t>Problem of the previous samplings?</a:t>
                </a:r>
              </a:p>
              <a:p>
                <a:pPr lvl="1"/>
                <a:r>
                  <a:rPr lang="en-US" altLang="ko-KR" dirty="0" smtClean="0"/>
                  <a:t>No use of the past records </a:t>
                </a:r>
                <a:r>
                  <a:rPr lang="en-US" altLang="ko-KR" dirty="0" smtClean="0">
                    <a:sym typeface="Wingdings" panose="05000000000000000000" pitchFamily="2" charset="2"/>
                  </a:rPr>
                  <a:t> every sampling is independent</a:t>
                </a:r>
                <a:endParaRPr lang="en-US" altLang="ko-KR" dirty="0" smtClean="0"/>
              </a:p>
              <a:p>
                <a:r>
                  <a:rPr lang="en-US" altLang="ko-KR" dirty="0" smtClean="0"/>
                  <a:t>Assigning Z values is a key in the inference</a:t>
                </a:r>
              </a:p>
              <a:p>
                <a:pPr lvl="1"/>
                <a:r>
                  <a:rPr lang="en-US" altLang="ko-KR" dirty="0" smtClean="0"/>
                  <a:t>Let’s assign the values by sampling result</a:t>
                </a:r>
              </a:p>
              <a:p>
                <a:pPr lvl="2"/>
                <a:r>
                  <a:rPr lang="en-US" altLang="ko-KR" dirty="0" smtClean="0"/>
                  <a:t>Calculate P(E|MC=T,A=F) </a:t>
                </a:r>
                <a:r>
                  <a:rPr lang="en-US" altLang="ko-KR" dirty="0" smtClean="0">
                    <a:sym typeface="Wingdings" panose="05000000000000000000" pitchFamily="2" charset="2"/>
                  </a:rPr>
                  <a:t> Toss a biased coin to assign a value to E</a:t>
                </a:r>
                <a:endParaRPr lang="en-US" altLang="ko-KR" dirty="0" smtClean="0"/>
              </a:p>
              <a:p>
                <a:r>
                  <a:rPr lang="en-US" altLang="ko-KR" dirty="0" smtClean="0"/>
                  <a:t>Sequence of random variables</a:t>
                </a:r>
                <a:r>
                  <a:rPr lang="en-US" altLang="ko-KR" dirty="0"/>
                  <a:t> such a process moves through, with the Markov property defining serial dependence only between adjacent periods (as in a "chain</a:t>
                </a:r>
                <a:r>
                  <a:rPr lang="en-US" altLang="ko-KR" dirty="0" smtClean="0"/>
                  <a:t>")</a:t>
                </a:r>
                <a:endParaRPr lang="en-US" altLang="ko-KR" dirty="0"/>
              </a:p>
              <a:p>
                <a:r>
                  <a:rPr lang="en-US" altLang="ko-KR" dirty="0" smtClean="0"/>
                  <a:t>A </a:t>
                </a:r>
                <a:r>
                  <a:rPr lang="en-US" altLang="ko-KR" dirty="0"/>
                  <a:t>Markov chain is a stochastic process with the </a:t>
                </a:r>
                <a:r>
                  <a:rPr lang="en-US" altLang="ko-KR" dirty="0" smtClean="0"/>
                  <a:t>Markov property </a:t>
                </a:r>
              </a:p>
              <a:p>
                <a:pPr lvl="1"/>
                <a:r>
                  <a:rPr lang="en-US" altLang="ko-KR" dirty="0" smtClean="0"/>
                  <a:t>Example) First-order Markov chain</a:t>
                </a:r>
                <a:endParaRPr lang="en-US" altLang="ko-KR" dirty="0"/>
              </a:p>
              <a:p>
                <a:endParaRPr lang="en-US" altLang="ko-KR" dirty="0" smtClean="0"/>
              </a:p>
              <a:p>
                <a:endParaRPr lang="en-US" altLang="ko-KR" dirty="0"/>
              </a:p>
              <a:p>
                <a:pPr lvl="2"/>
                <a14:m>
                  <m:oMath xmlns:m="http://schemas.openxmlformats.org/officeDocument/2006/math">
                    <m:r>
                      <a:rPr lang="en-US" altLang="ko-KR" b="0" i="1" smtClean="0">
                        <a:latin typeface="Cambria Math" panose="02040503050406030204" pitchFamily="18" charset="0"/>
                      </a:rPr>
                      <m:t>𝑝</m:t>
                    </m:r>
                    <m:d>
                      <m:dPr>
                        <m:ctrlPr>
                          <a:rPr lang="en-US" altLang="ko-KR" b="0" i="1" smtClean="0">
                            <a:latin typeface="Cambria Math" panose="02040503050406030204" pitchFamily="18" charset="0"/>
                          </a:rPr>
                        </m:ctrlPr>
                      </m:dPr>
                      <m:e>
                        <m:sSup>
                          <m:sSupPr>
                            <m:ctrlPr>
                              <a:rPr lang="en-US" altLang="ko-KR" b="0" i="1" smtClean="0">
                                <a:latin typeface="Cambria Math" panose="02040503050406030204" pitchFamily="18" charset="0"/>
                              </a:rPr>
                            </m:ctrlPr>
                          </m:sSupPr>
                          <m:e>
                            <m:r>
                              <a:rPr lang="en-US" altLang="ko-KR" b="1" i="1" smtClean="0">
                                <a:latin typeface="Cambria Math" panose="02040503050406030204" pitchFamily="18" charset="0"/>
                              </a:rPr>
                              <m:t>𝒛</m:t>
                            </m:r>
                          </m:e>
                          <m:sup>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𝑚</m:t>
                                </m:r>
                                <m:r>
                                  <a:rPr lang="en-US" altLang="ko-KR" b="0" i="1" smtClean="0">
                                    <a:latin typeface="Cambria Math" panose="02040503050406030204" pitchFamily="18" charset="0"/>
                                  </a:rPr>
                                  <m:t>+1</m:t>
                                </m:r>
                              </m:e>
                            </m:d>
                          </m:sup>
                        </m:sSup>
                        <m:r>
                          <a:rPr lang="en-US" altLang="ko-KR" b="0" i="1" smtClean="0">
                            <a:latin typeface="Cambria Math" panose="02040503050406030204" pitchFamily="18" charset="0"/>
                          </a:rPr>
                          <m:t> |</m:t>
                        </m:r>
                        <m:sSup>
                          <m:sSupPr>
                            <m:ctrlPr>
                              <a:rPr lang="en-US" altLang="ko-KR" i="1">
                                <a:latin typeface="Cambria Math" panose="02040503050406030204" pitchFamily="18" charset="0"/>
                              </a:rPr>
                            </m:ctrlPr>
                          </m:sSupPr>
                          <m:e>
                            <m:r>
                              <a:rPr lang="en-US" altLang="ko-KR" b="1" i="1">
                                <a:latin typeface="Cambria Math" panose="02040503050406030204" pitchFamily="18" charset="0"/>
                              </a:rPr>
                              <m:t>𝒛</m:t>
                            </m:r>
                          </m:e>
                          <m:sup>
                            <m:d>
                              <m:dPr>
                                <m:ctrlPr>
                                  <a:rPr lang="en-US" altLang="ko-KR" i="1">
                                    <a:latin typeface="Cambria Math" panose="02040503050406030204" pitchFamily="18" charset="0"/>
                                  </a:rPr>
                                </m:ctrlPr>
                              </m:dPr>
                              <m:e>
                                <m:r>
                                  <a:rPr lang="en-US" altLang="ko-KR" i="1">
                                    <a:latin typeface="Cambria Math" panose="02040503050406030204" pitchFamily="18" charset="0"/>
                                  </a:rPr>
                                  <m:t>1</m:t>
                                </m:r>
                              </m:e>
                            </m:d>
                          </m:sup>
                        </m:sSup>
                        <m:r>
                          <a:rPr lang="en-US" altLang="ko-KR" b="0" i="1" smtClean="0">
                            <a:latin typeface="Cambria Math" panose="02040503050406030204" pitchFamily="18" charset="0"/>
                          </a:rPr>
                          <m:t>,…,</m:t>
                        </m:r>
                        <m:sSup>
                          <m:sSupPr>
                            <m:ctrlPr>
                              <a:rPr lang="en-US" altLang="ko-KR" i="1">
                                <a:latin typeface="Cambria Math" panose="02040503050406030204" pitchFamily="18" charset="0"/>
                              </a:rPr>
                            </m:ctrlPr>
                          </m:sSupPr>
                          <m:e>
                            <m:r>
                              <a:rPr lang="en-US" altLang="ko-KR" b="1" i="1">
                                <a:latin typeface="Cambria Math" panose="02040503050406030204" pitchFamily="18" charset="0"/>
                              </a:rPr>
                              <m:t>𝒛</m:t>
                            </m:r>
                          </m:e>
                          <m:sup>
                            <m:d>
                              <m:dPr>
                                <m:ctrlPr>
                                  <a:rPr lang="en-US" altLang="ko-KR" i="1">
                                    <a:latin typeface="Cambria Math" panose="02040503050406030204" pitchFamily="18" charset="0"/>
                                  </a:rPr>
                                </m:ctrlPr>
                              </m:dPr>
                              <m:e>
                                <m:r>
                                  <a:rPr lang="en-US" altLang="ko-KR" i="1">
                                    <a:latin typeface="Cambria Math" panose="02040503050406030204" pitchFamily="18" charset="0"/>
                                  </a:rPr>
                                  <m:t>𝑚</m:t>
                                </m:r>
                              </m:e>
                            </m:d>
                          </m:sup>
                        </m:sSup>
                      </m:e>
                    </m:d>
                    <m:r>
                      <a:rPr lang="en-US" altLang="ko-KR" b="0" i="1" smtClean="0">
                        <a:latin typeface="Cambria Math" panose="02040503050406030204" pitchFamily="18" charset="0"/>
                      </a:rPr>
                      <m:t>=</m:t>
                    </m:r>
                    <m:r>
                      <a:rPr lang="en-US" altLang="ko-KR" i="1">
                        <a:latin typeface="Cambria Math" panose="02040503050406030204" pitchFamily="18" charset="0"/>
                      </a:rPr>
                      <m:t>𝑝</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b="1" i="1">
                                <a:latin typeface="Cambria Math" panose="02040503050406030204" pitchFamily="18" charset="0"/>
                              </a:rPr>
                              <m:t>𝒛</m:t>
                            </m:r>
                          </m:e>
                          <m:sup>
                            <m:d>
                              <m:dPr>
                                <m:ctrlPr>
                                  <a:rPr lang="en-US" altLang="ko-KR" i="1">
                                    <a:latin typeface="Cambria Math" panose="02040503050406030204" pitchFamily="18" charset="0"/>
                                  </a:rPr>
                                </m:ctrlPr>
                              </m:dPr>
                              <m:e>
                                <m:r>
                                  <a:rPr lang="en-US" altLang="ko-KR" i="1">
                                    <a:latin typeface="Cambria Math" panose="02040503050406030204" pitchFamily="18" charset="0"/>
                                  </a:rPr>
                                  <m:t>𝑚</m:t>
                                </m:r>
                                <m:r>
                                  <a:rPr lang="en-US" altLang="ko-KR" i="1">
                                    <a:latin typeface="Cambria Math" panose="02040503050406030204" pitchFamily="18" charset="0"/>
                                  </a:rPr>
                                  <m:t>+1</m:t>
                                </m:r>
                              </m:e>
                            </m:d>
                          </m:sup>
                        </m:sSup>
                        <m:r>
                          <a:rPr lang="en-US" altLang="ko-KR" i="1">
                            <a:latin typeface="Cambria Math" panose="02040503050406030204" pitchFamily="18" charset="0"/>
                          </a:rPr>
                          <m:t> |</m:t>
                        </m:r>
                        <m:r>
                          <a:rPr lang="en-US" altLang="ko-KR" b="0" i="1" smtClean="0">
                            <a:latin typeface="Cambria Math" panose="02040503050406030204" pitchFamily="18" charset="0"/>
                          </a:rPr>
                          <m:t> </m:t>
                        </m:r>
                        <m:sSup>
                          <m:sSupPr>
                            <m:ctrlPr>
                              <a:rPr lang="en-US" altLang="ko-KR" i="1">
                                <a:latin typeface="Cambria Math" panose="02040503050406030204" pitchFamily="18" charset="0"/>
                              </a:rPr>
                            </m:ctrlPr>
                          </m:sSupPr>
                          <m:e>
                            <m:r>
                              <a:rPr lang="en-US" altLang="ko-KR" b="1" i="1">
                                <a:latin typeface="Cambria Math" panose="02040503050406030204" pitchFamily="18" charset="0"/>
                              </a:rPr>
                              <m:t>𝒛</m:t>
                            </m:r>
                          </m:e>
                          <m:sup>
                            <m:d>
                              <m:dPr>
                                <m:ctrlPr>
                                  <a:rPr lang="en-US" altLang="ko-KR" i="1">
                                    <a:latin typeface="Cambria Math" panose="02040503050406030204" pitchFamily="18" charset="0"/>
                                  </a:rPr>
                                </m:ctrlPr>
                              </m:dPr>
                              <m:e>
                                <m:r>
                                  <a:rPr lang="en-US" altLang="ko-KR" i="1">
                                    <a:latin typeface="Cambria Math" panose="02040503050406030204" pitchFamily="18" charset="0"/>
                                  </a:rPr>
                                  <m:t>𝑚</m:t>
                                </m:r>
                              </m:e>
                            </m:d>
                          </m:sup>
                        </m:sSup>
                      </m:e>
                    </m:d>
                  </m:oMath>
                </a14:m>
                <a:r>
                  <a:rPr lang="en-US" altLang="ko-KR" dirty="0" smtClean="0"/>
                  <a:t>, </a:t>
                </a:r>
                <a14:m>
                  <m:oMath xmlns:m="http://schemas.openxmlformats.org/officeDocument/2006/math">
                    <m:r>
                      <a:rPr lang="en-US" altLang="ko-KR" i="1" smtClean="0">
                        <a:latin typeface="Cambria Math" panose="02040503050406030204" pitchFamily="18" charset="0"/>
                      </a:rPr>
                      <m:t>𝑚</m:t>
                    </m:r>
                    <m:r>
                      <a:rPr lang="en-US" altLang="ko-KR" b="0" i="1" smtClean="0">
                        <a:latin typeface="Cambria Math" panose="02040503050406030204" pitchFamily="18" charset="0"/>
                      </a:rPr>
                      <m:t>∈</m:t>
                    </m:r>
                    <m:d>
                      <m:dPr>
                        <m:begChr m:val="{"/>
                        <m:endChr m:val="}"/>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1,…,</m:t>
                        </m:r>
                        <m:r>
                          <a:rPr lang="en-US" altLang="ko-KR" b="0" i="1" smtClean="0">
                            <a:latin typeface="Cambria Math" panose="02040503050406030204" pitchFamily="18" charset="0"/>
                          </a:rPr>
                          <m:t>𝑀</m:t>
                        </m:r>
                        <m:r>
                          <a:rPr lang="en-US" altLang="ko-KR" b="0" i="1" smtClean="0">
                            <a:latin typeface="Cambria Math" panose="02040503050406030204" pitchFamily="18" charset="0"/>
                          </a:rPr>
                          <m:t>−1</m:t>
                        </m:r>
                      </m:e>
                    </m:d>
                  </m:oMath>
                </a14:m>
                <a:r>
                  <a:rPr lang="en-US" altLang="ko-KR" dirty="0" smtClean="0"/>
                  <a:t> </a:t>
                </a:r>
              </a:p>
              <a:p>
                <a:r>
                  <a:rPr lang="en-US" altLang="ko-KR" dirty="0" smtClean="0"/>
                  <a:t>Describing </a:t>
                </a:r>
                <a:r>
                  <a:rPr lang="en-US" altLang="ko-KR" dirty="0"/>
                  <a:t>systems that follow a chain of linked events, </a:t>
                </a:r>
                <a:r>
                  <a:rPr lang="en-US" altLang="ko-KR" dirty="0" smtClean="0"/>
                  <a:t>where what </a:t>
                </a:r>
                <a:r>
                  <a:rPr lang="en-US" altLang="ko-KR" dirty="0"/>
                  <a:t>happens next depends only on the current state of </a:t>
                </a:r>
                <a:r>
                  <a:rPr lang="en-US" altLang="ko-KR" dirty="0" smtClean="0"/>
                  <a:t>the system</a:t>
                </a:r>
                <a:endParaRPr lang="ko-KR" altLang="en-US" dirty="0"/>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blipFill rotWithShape="0">
                <a:blip r:embed="rId2"/>
                <a:stretch>
                  <a:fillRect t="-1363"/>
                </a:stretch>
              </a:blipFill>
            </p:spPr>
            <p:txBody>
              <a:bodyPr/>
              <a:lstStyle/>
              <a:p>
                <a:r>
                  <a:rPr lang="ko-KR" altLang="en-US">
                    <a:noFill/>
                  </a:rPr>
                  <a:t> </a:t>
                </a:r>
              </a:p>
            </p:txBody>
          </p:sp>
        </mc:Fallback>
      </mc:AlternateContent>
      <p:sp>
        <p:nvSpPr>
          <p:cNvPr id="4" name="슬라이드 번호 개체 틀 3"/>
          <p:cNvSpPr>
            <a:spLocks noGrp="1"/>
          </p:cNvSpPr>
          <p:nvPr>
            <p:ph type="sldNum" sz="quarter" idx="12"/>
          </p:nvPr>
        </p:nvSpPr>
        <p:spPr/>
        <p:txBody>
          <a:bodyPr/>
          <a:lstStyle/>
          <a:p>
            <a:fld id="{E4E48515-694B-44C7-A9EB-D2CB2C6423BC}" type="slidenum">
              <a:rPr lang="ko-KR" altLang="en-US" smtClean="0"/>
              <a:t>8</a:t>
            </a:fld>
            <a:endParaRPr lang="ko-KR" altLang="en-US" dirty="0"/>
          </a:p>
        </p:txBody>
      </p:sp>
      <p:grpSp>
        <p:nvGrpSpPr>
          <p:cNvPr id="21" name="그룹 20"/>
          <p:cNvGrpSpPr/>
          <p:nvPr/>
        </p:nvGrpSpPr>
        <p:grpSpPr>
          <a:xfrm>
            <a:off x="1614500" y="4795281"/>
            <a:ext cx="6120680" cy="504056"/>
            <a:chOff x="1619672" y="3645024"/>
            <a:chExt cx="6120680" cy="504056"/>
          </a:xfrm>
        </p:grpSpPr>
        <mc:AlternateContent xmlns:mc="http://schemas.openxmlformats.org/markup-compatibility/2006" xmlns:a14="http://schemas.microsoft.com/office/drawing/2010/main">
          <mc:Choice Requires="a14">
            <p:sp>
              <p:nvSpPr>
                <p:cNvPr id="5" name="타원 4"/>
                <p:cNvSpPr/>
                <p:nvPr/>
              </p:nvSpPr>
              <p:spPr>
                <a:xfrm>
                  <a:off x="1619672" y="3645024"/>
                  <a:ext cx="50405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𝑧</m:t>
                            </m:r>
                          </m:e>
                          <m:sub>
                            <m:r>
                              <a:rPr lang="en-US" altLang="ko-KR" b="0" i="1" smtClean="0">
                                <a:latin typeface="Cambria Math" panose="02040503050406030204" pitchFamily="18" charset="0"/>
                              </a:rPr>
                              <m:t>1</m:t>
                            </m:r>
                          </m:sub>
                        </m:sSub>
                      </m:oMath>
                    </m:oMathPara>
                  </a14:m>
                  <a:endParaRPr lang="ko-KR" altLang="en-US" dirty="0"/>
                </a:p>
              </p:txBody>
            </p:sp>
          </mc:Choice>
          <mc:Fallback xmlns="">
            <p:sp>
              <p:nvSpPr>
                <p:cNvPr id="5" name="타원 4"/>
                <p:cNvSpPr>
                  <a:spLocks noRot="1" noChangeAspect="1" noMove="1" noResize="1" noEditPoints="1" noAdjustHandles="1" noChangeArrowheads="1" noChangeShapeType="1" noTextEdit="1"/>
                </p:cNvSpPr>
                <p:nvPr/>
              </p:nvSpPr>
              <p:spPr>
                <a:xfrm>
                  <a:off x="1619672" y="3645024"/>
                  <a:ext cx="504056" cy="504056"/>
                </a:xfrm>
                <a:prstGeom prst="ellipse">
                  <a:avLst/>
                </a:prstGeom>
                <a:blipFill rotWithShape="0">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6" name="타원 5"/>
                <p:cNvSpPr/>
                <p:nvPr/>
              </p:nvSpPr>
              <p:spPr>
                <a:xfrm>
                  <a:off x="3153590" y="3645024"/>
                  <a:ext cx="50405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𝑧</m:t>
                            </m:r>
                          </m:e>
                          <m:sub>
                            <m:r>
                              <a:rPr lang="en-US" altLang="ko-KR" b="0" i="1" smtClean="0">
                                <a:latin typeface="Cambria Math" panose="02040503050406030204" pitchFamily="18" charset="0"/>
                              </a:rPr>
                              <m:t>2</m:t>
                            </m:r>
                          </m:sub>
                        </m:sSub>
                      </m:oMath>
                    </m:oMathPara>
                  </a14:m>
                  <a:endParaRPr lang="ko-KR" altLang="en-US" dirty="0"/>
                </a:p>
              </p:txBody>
            </p:sp>
          </mc:Choice>
          <mc:Fallback xmlns="">
            <p:sp>
              <p:nvSpPr>
                <p:cNvPr id="6" name="타원 5"/>
                <p:cNvSpPr>
                  <a:spLocks noRot="1" noChangeAspect="1" noMove="1" noResize="1" noEditPoints="1" noAdjustHandles="1" noChangeArrowheads="1" noChangeShapeType="1" noTextEdit="1"/>
                </p:cNvSpPr>
                <p:nvPr/>
              </p:nvSpPr>
              <p:spPr>
                <a:xfrm>
                  <a:off x="3153590" y="3645024"/>
                  <a:ext cx="504056" cy="504056"/>
                </a:xfrm>
                <a:prstGeom prst="ellipse">
                  <a:avLst/>
                </a:prstGeom>
                <a:blipFill rotWithShape="0">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 name="타원 6"/>
                <p:cNvSpPr/>
                <p:nvPr/>
              </p:nvSpPr>
              <p:spPr>
                <a:xfrm>
                  <a:off x="4687508" y="3645024"/>
                  <a:ext cx="50405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𝑧</m:t>
                            </m:r>
                          </m:e>
                          <m:sub>
                            <m:r>
                              <a:rPr lang="en-US" altLang="ko-KR" b="0" i="1" smtClean="0">
                                <a:latin typeface="Cambria Math" panose="02040503050406030204" pitchFamily="18" charset="0"/>
                              </a:rPr>
                              <m:t>3</m:t>
                            </m:r>
                          </m:sub>
                        </m:sSub>
                      </m:oMath>
                    </m:oMathPara>
                  </a14:m>
                  <a:endParaRPr lang="ko-KR" altLang="en-US" dirty="0"/>
                </a:p>
              </p:txBody>
            </p:sp>
          </mc:Choice>
          <mc:Fallback xmlns="">
            <p:sp>
              <p:nvSpPr>
                <p:cNvPr id="7" name="타원 6"/>
                <p:cNvSpPr>
                  <a:spLocks noRot="1" noChangeAspect="1" noMove="1" noResize="1" noEditPoints="1" noAdjustHandles="1" noChangeArrowheads="1" noChangeShapeType="1" noTextEdit="1"/>
                </p:cNvSpPr>
                <p:nvPr/>
              </p:nvSpPr>
              <p:spPr>
                <a:xfrm>
                  <a:off x="4687508" y="3645024"/>
                  <a:ext cx="504056" cy="504056"/>
                </a:xfrm>
                <a:prstGeom prst="ellipse">
                  <a:avLst/>
                </a:prstGeom>
                <a:blipFill rotWithShape="0">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 name="타원 7"/>
                <p:cNvSpPr/>
                <p:nvPr/>
              </p:nvSpPr>
              <p:spPr>
                <a:xfrm>
                  <a:off x="6221425" y="3645024"/>
                  <a:ext cx="504056" cy="5040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𝑧</m:t>
                            </m:r>
                          </m:e>
                          <m:sub>
                            <m:r>
                              <a:rPr lang="en-US" altLang="ko-KR" b="0" i="1" smtClean="0">
                                <a:latin typeface="Cambria Math" panose="02040503050406030204" pitchFamily="18" charset="0"/>
                              </a:rPr>
                              <m:t>4</m:t>
                            </m:r>
                          </m:sub>
                        </m:sSub>
                      </m:oMath>
                    </m:oMathPara>
                  </a14:m>
                  <a:endParaRPr lang="ko-KR" altLang="en-US" dirty="0"/>
                </a:p>
              </p:txBody>
            </p:sp>
          </mc:Choice>
          <mc:Fallback xmlns="">
            <p:sp>
              <p:nvSpPr>
                <p:cNvPr id="8" name="타원 7"/>
                <p:cNvSpPr>
                  <a:spLocks noRot="1" noChangeAspect="1" noMove="1" noResize="1" noEditPoints="1" noAdjustHandles="1" noChangeArrowheads="1" noChangeShapeType="1" noTextEdit="1"/>
                </p:cNvSpPr>
                <p:nvPr/>
              </p:nvSpPr>
              <p:spPr>
                <a:xfrm>
                  <a:off x="6221425" y="3645024"/>
                  <a:ext cx="504056" cy="504056"/>
                </a:xfrm>
                <a:prstGeom prst="ellipse">
                  <a:avLst/>
                </a:prstGeom>
                <a:blipFill rotWithShape="0">
                  <a:blip r:embed="rId6"/>
                  <a:stretch>
                    <a:fillRect/>
                  </a:stretch>
                </a:blipFill>
              </p:spPr>
              <p:txBody>
                <a:bodyPr/>
                <a:lstStyle/>
                <a:p>
                  <a:r>
                    <a:rPr lang="ko-KR" altLang="en-US">
                      <a:noFill/>
                    </a:rPr>
                    <a:t> </a:t>
                  </a:r>
                </a:p>
              </p:txBody>
            </p:sp>
          </mc:Fallback>
        </mc:AlternateContent>
        <p:cxnSp>
          <p:nvCxnSpPr>
            <p:cNvPr id="10" name="직선 화살표 연결선 9"/>
            <p:cNvCxnSpPr>
              <a:stCxn id="5" idx="6"/>
              <a:endCxn id="6" idx="2"/>
            </p:cNvCxnSpPr>
            <p:nvPr/>
          </p:nvCxnSpPr>
          <p:spPr>
            <a:xfrm>
              <a:off x="2123728" y="3897052"/>
              <a:ext cx="102986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직선 화살표 연결선 10"/>
            <p:cNvCxnSpPr>
              <a:stCxn id="6" idx="6"/>
              <a:endCxn id="7" idx="2"/>
            </p:cNvCxnSpPr>
            <p:nvPr/>
          </p:nvCxnSpPr>
          <p:spPr>
            <a:xfrm>
              <a:off x="3657646" y="3897052"/>
              <a:ext cx="102986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직선 화살표 연결선 13"/>
            <p:cNvCxnSpPr>
              <a:stCxn id="7" idx="6"/>
              <a:endCxn id="8" idx="2"/>
            </p:cNvCxnSpPr>
            <p:nvPr/>
          </p:nvCxnSpPr>
          <p:spPr>
            <a:xfrm>
              <a:off x="5191564" y="3897052"/>
              <a:ext cx="102986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직선 화살표 연결선 17"/>
            <p:cNvCxnSpPr>
              <a:stCxn id="8" idx="6"/>
            </p:cNvCxnSpPr>
            <p:nvPr/>
          </p:nvCxnSpPr>
          <p:spPr>
            <a:xfrm>
              <a:off x="6725481" y="3897052"/>
              <a:ext cx="101487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733138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sz="3600" dirty="0" smtClean="0"/>
              <a:t>Markov chain theory vs.</a:t>
            </a:r>
            <a:br>
              <a:rPr lang="en-US" altLang="ko-KR" sz="3600" dirty="0" smtClean="0"/>
            </a:br>
            <a:r>
              <a:rPr lang="en-US" altLang="ko-KR" sz="3600" dirty="0" smtClean="0"/>
              <a:t>Markov </a:t>
            </a:r>
            <a:r>
              <a:rPr lang="en-US" altLang="ko-KR" sz="3600" dirty="0"/>
              <a:t>Chain Monte Carlo</a:t>
            </a:r>
            <a:endParaRPr lang="ko-KR" altLang="en-US" sz="3600"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p:txBody>
              <a:bodyPr>
                <a:normAutofit/>
              </a:bodyPr>
              <a:lstStyle/>
              <a:p>
                <a:r>
                  <a:rPr lang="en-US" altLang="ko-KR" dirty="0" smtClean="0"/>
                  <a:t>Traditional Markov Chain analysis :</a:t>
                </a:r>
              </a:p>
              <a:p>
                <a:pPr lvl="1"/>
                <a:r>
                  <a:rPr lang="en-US" altLang="ko-KR" dirty="0" smtClean="0"/>
                  <a:t>A transition rule, </a:t>
                </a:r>
                <a14:m>
                  <m:oMath xmlns:m="http://schemas.openxmlformats.org/officeDocument/2006/math">
                    <m:r>
                      <a:rPr lang="en-US" altLang="ko-KR" b="0" i="1" smtClean="0">
                        <a:latin typeface="Cambria Math" panose="02040503050406030204" pitchFamily="18" charset="0"/>
                      </a:rPr>
                      <m:t>𝑝</m:t>
                    </m:r>
                    <m:d>
                      <m:dPr>
                        <m:ctrlPr>
                          <a:rPr lang="en-US" altLang="ko-KR" b="0" i="1" smtClean="0">
                            <a:latin typeface="Cambria Math" panose="02040503050406030204" pitchFamily="18" charset="0"/>
                          </a:rPr>
                        </m:ctrlPr>
                      </m:dPr>
                      <m:e>
                        <m:sSup>
                          <m:sSupPr>
                            <m:ctrlPr>
                              <a:rPr lang="en-US" altLang="ko-KR" b="0" i="1" smtClean="0">
                                <a:latin typeface="Cambria Math" panose="02040503050406030204" pitchFamily="18" charset="0"/>
                              </a:rPr>
                            </m:ctrlPr>
                          </m:sSupPr>
                          <m:e>
                            <m:r>
                              <a:rPr lang="en-US" altLang="ko-KR" b="0" i="1" smtClean="0">
                                <a:latin typeface="Cambria Math" panose="02040503050406030204" pitchFamily="18" charset="0"/>
                              </a:rPr>
                              <m:t>𝑧</m:t>
                            </m:r>
                          </m:e>
                          <m:sup>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𝑡</m:t>
                                </m:r>
                                <m:r>
                                  <a:rPr lang="en-US" altLang="ko-KR" b="0" i="1" smtClean="0">
                                    <a:latin typeface="Cambria Math" panose="02040503050406030204" pitchFamily="18" charset="0"/>
                                  </a:rPr>
                                  <m:t>+1</m:t>
                                </m:r>
                              </m:e>
                            </m:d>
                          </m:sup>
                        </m:sSup>
                        <m:r>
                          <a:rPr lang="en-US" altLang="ko-KR" b="0" i="1" smtClean="0">
                            <a:latin typeface="Cambria Math" panose="02040503050406030204" pitchFamily="18" charset="0"/>
                          </a:rPr>
                          <m:t> | </m:t>
                        </m:r>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𝑧</m:t>
                            </m:r>
                          </m:e>
                          <m:sup>
                            <m:d>
                              <m:dPr>
                                <m:ctrlPr>
                                  <a:rPr lang="en-US" altLang="ko-KR" i="1">
                                    <a:latin typeface="Cambria Math" panose="02040503050406030204" pitchFamily="18" charset="0"/>
                                  </a:rPr>
                                </m:ctrlPr>
                              </m:dPr>
                              <m:e>
                                <m:r>
                                  <a:rPr lang="en-US" altLang="ko-KR" i="1">
                                    <a:latin typeface="Cambria Math" panose="02040503050406030204" pitchFamily="18" charset="0"/>
                                  </a:rPr>
                                  <m:t>𝑡</m:t>
                                </m:r>
                              </m:e>
                            </m:d>
                          </m:sup>
                        </m:sSup>
                      </m:e>
                    </m:d>
                  </m:oMath>
                </a14:m>
                <a:r>
                  <a:rPr lang="en-US" altLang="ko-KR" dirty="0" smtClean="0"/>
                  <a:t>, is given,</a:t>
                </a:r>
              </a:p>
              <a:p>
                <a:pPr lvl="1"/>
                <a:r>
                  <a:rPr lang="en-US" altLang="ko-KR" dirty="0" smtClean="0"/>
                  <a:t>Interested in finding the stationary distribution </a:t>
                </a:r>
                <a14:m>
                  <m:oMath xmlns:m="http://schemas.openxmlformats.org/officeDocument/2006/math">
                    <m:r>
                      <a:rPr lang="en-US" altLang="ko-KR" b="0" i="1" smtClean="0">
                        <a:latin typeface="Cambria Math" panose="02040503050406030204" pitchFamily="18" charset="0"/>
                      </a:rPr>
                      <m:t>𝜋</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𝑧</m:t>
                        </m:r>
                      </m:e>
                    </m:d>
                  </m:oMath>
                </a14:m>
                <a:endParaRPr lang="en-US" altLang="ko-KR" b="0" dirty="0" smtClean="0"/>
              </a:p>
              <a:p>
                <a:pPr lvl="1"/>
                <a:endParaRPr lang="en-US" altLang="ko-KR" dirty="0" smtClean="0"/>
              </a:p>
              <a:p>
                <a:r>
                  <a:rPr lang="en-US" altLang="ko-KR" dirty="0" smtClean="0"/>
                  <a:t>Markov chain Monte Carlo(MCMC) :</a:t>
                </a:r>
              </a:p>
              <a:p>
                <a:pPr lvl="1"/>
                <a:r>
                  <a:rPr lang="en-US" altLang="ko-KR" dirty="0" smtClean="0"/>
                  <a:t>A target stationary distribution </a:t>
                </a:r>
                <a14:m>
                  <m:oMath xmlns:m="http://schemas.openxmlformats.org/officeDocument/2006/math">
                    <m:r>
                      <a:rPr lang="en-US" altLang="ko-KR" b="0" i="1" smtClean="0">
                        <a:latin typeface="Cambria Math" panose="02040503050406030204" pitchFamily="18" charset="0"/>
                      </a:rPr>
                      <m:t>𝜋</m:t>
                    </m:r>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𝑧</m:t>
                        </m:r>
                      </m:e>
                    </m:d>
                  </m:oMath>
                </a14:m>
                <a:r>
                  <a:rPr lang="en-US" altLang="ko-KR" dirty="0" smtClean="0"/>
                  <a:t> is known,</a:t>
                </a:r>
              </a:p>
              <a:p>
                <a:pPr lvl="1"/>
                <a:r>
                  <a:rPr lang="en-US" altLang="ko-KR" dirty="0" smtClean="0"/>
                  <a:t>Interested in prescribing an efficient transition rule to reach the stationary distribution</a:t>
                </a:r>
              </a:p>
              <a:p>
                <a:pPr lvl="1"/>
                <a:r>
                  <a:rPr lang="en-US" altLang="ko-KR" dirty="0" smtClean="0"/>
                  <a:t>Algorithms for sampling from probability distributions based on constructing a Markov chain that has the desired distribution </a:t>
                </a:r>
                <a14:m>
                  <m:oMath xmlns:m="http://schemas.openxmlformats.org/officeDocument/2006/math">
                    <m:r>
                      <a:rPr lang="en-US" altLang="ko-KR" i="1">
                        <a:latin typeface="Cambria Math" panose="02040503050406030204" pitchFamily="18" charset="0"/>
                      </a:rPr>
                      <m:t>𝜋</m:t>
                    </m:r>
                    <m:d>
                      <m:dPr>
                        <m:ctrlPr>
                          <a:rPr lang="en-US" altLang="ko-KR" i="1">
                            <a:latin typeface="Cambria Math" panose="02040503050406030204" pitchFamily="18" charset="0"/>
                          </a:rPr>
                        </m:ctrlPr>
                      </m:dPr>
                      <m:e>
                        <m:r>
                          <a:rPr lang="en-US" altLang="ko-KR" b="0" i="1" smtClean="0">
                            <a:latin typeface="Cambria Math" panose="02040503050406030204" pitchFamily="18" charset="0"/>
                          </a:rPr>
                          <m:t>𝑧</m:t>
                        </m:r>
                      </m:e>
                    </m:d>
                  </m:oMath>
                </a14:m>
                <a:endParaRPr lang="en-US" altLang="ko-KR" dirty="0" smtClean="0"/>
              </a:p>
              <a:p>
                <a:pPr lvl="1"/>
                <a:r>
                  <a:rPr lang="en-US" altLang="ko-KR" dirty="0"/>
                  <a:t>Starting from an arbitrary state, the Markov chain proceeds</a:t>
                </a:r>
              </a:p>
              <a:p>
                <a:pPr lvl="2"/>
                <a14:m>
                  <m:oMath xmlns:m="http://schemas.openxmlformats.org/officeDocument/2006/math">
                    <m:limLow>
                      <m:limLowPr>
                        <m:ctrlPr>
                          <a:rPr lang="en-US" altLang="ko-KR" i="1">
                            <a:latin typeface="Cambria Math" panose="02040503050406030204" pitchFamily="18" charset="0"/>
                          </a:rPr>
                        </m:ctrlPr>
                      </m:limLowPr>
                      <m:e>
                        <m:groupChr>
                          <m:groupChrPr>
                            <m:chr m:val="⏟"/>
                            <m:ctrlPr>
                              <a:rPr lang="en-US" altLang="ko-KR" i="1">
                                <a:latin typeface="Cambria Math" panose="02040503050406030204" pitchFamily="18" charset="0"/>
                              </a:rPr>
                            </m:ctrlPr>
                          </m:groupChrPr>
                          <m:e>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𝑧</m:t>
                                </m:r>
                              </m:e>
                              <m:sup>
                                <m:d>
                                  <m:dPr>
                                    <m:ctrlPr>
                                      <a:rPr lang="en-US" altLang="ko-KR" i="1">
                                        <a:latin typeface="Cambria Math" panose="02040503050406030204" pitchFamily="18" charset="0"/>
                                      </a:rPr>
                                    </m:ctrlPr>
                                  </m:dPr>
                                  <m:e>
                                    <m:r>
                                      <a:rPr lang="en-US" altLang="ko-KR" i="1">
                                        <a:latin typeface="Cambria Math" panose="02040503050406030204" pitchFamily="18" charset="0"/>
                                      </a:rPr>
                                      <m:t>1</m:t>
                                    </m:r>
                                  </m:e>
                                </m:d>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𝑧</m:t>
                                </m:r>
                              </m:e>
                              <m:sup>
                                <m:d>
                                  <m:dPr>
                                    <m:ctrlPr>
                                      <a:rPr lang="en-US" altLang="ko-KR" i="1">
                                        <a:latin typeface="Cambria Math" panose="02040503050406030204" pitchFamily="18" charset="0"/>
                                      </a:rPr>
                                    </m:ctrlPr>
                                  </m:dPr>
                                  <m:e>
                                    <m:r>
                                      <a:rPr lang="en-US" altLang="ko-KR" i="1">
                                        <a:latin typeface="Cambria Math" panose="02040503050406030204" pitchFamily="18" charset="0"/>
                                      </a:rPr>
                                      <m:t>2</m:t>
                                    </m:r>
                                  </m:e>
                                </m:d>
                              </m:sup>
                            </m:sSup>
                            <m:r>
                              <a:rPr lang="en-US" altLang="ko-KR" i="1">
                                <a:latin typeface="Cambria Math" panose="02040503050406030204" pitchFamily="18" charset="0"/>
                              </a:rPr>
                              <m:t>→</m:t>
                            </m:r>
                            <m:r>
                              <a:rPr lang="en-US" altLang="ko-KR" i="1">
                                <a:latin typeface="Cambria Math" panose="02040503050406030204" pitchFamily="18" charset="0"/>
                                <a:ea typeface="Cambria Math" panose="02040503050406030204" pitchFamily="18" charset="0"/>
                              </a:rPr>
                              <m:t>⋯→</m:t>
                            </m:r>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𝑧</m:t>
                                </m:r>
                              </m:e>
                              <m:sup>
                                <m:d>
                                  <m:dPr>
                                    <m:ctrlPr>
                                      <a:rPr lang="en-US" altLang="ko-KR" i="1">
                                        <a:latin typeface="Cambria Math" panose="02040503050406030204" pitchFamily="18" charset="0"/>
                                      </a:rPr>
                                    </m:ctrlPr>
                                  </m:dPr>
                                  <m:e>
                                    <m:r>
                                      <a:rPr lang="en-US" altLang="ko-KR" i="1">
                                        <a:latin typeface="Cambria Math" panose="02040503050406030204" pitchFamily="18" charset="0"/>
                                      </a:rPr>
                                      <m:t>𝑚</m:t>
                                    </m:r>
                                  </m:e>
                                </m:d>
                              </m:sup>
                            </m:sSup>
                          </m:e>
                        </m:groupChr>
                      </m:e>
                      <m:lim>
                        <m:r>
                          <a:rPr lang="en-US" altLang="ko-KR" i="1">
                            <a:latin typeface="Cambria Math" panose="02040503050406030204" pitchFamily="18" charset="0"/>
                          </a:rPr>
                          <m:t>𝐵𝑢𝑟𝑛</m:t>
                        </m:r>
                        <m:r>
                          <a:rPr lang="en-US" altLang="ko-KR" i="1">
                            <a:latin typeface="Cambria Math" panose="02040503050406030204" pitchFamily="18" charset="0"/>
                          </a:rPr>
                          <m:t>−</m:t>
                        </m:r>
                        <m:r>
                          <a:rPr lang="en-US" altLang="ko-KR" i="1">
                            <a:latin typeface="Cambria Math" panose="02040503050406030204" pitchFamily="18" charset="0"/>
                          </a:rPr>
                          <m:t>𝑖𝑛</m:t>
                        </m:r>
                        <m:r>
                          <a:rPr lang="en-US" altLang="ko-KR" i="1">
                            <a:latin typeface="Cambria Math" panose="02040503050406030204" pitchFamily="18" charset="0"/>
                          </a:rPr>
                          <m:t> </m:t>
                        </m:r>
                        <m:r>
                          <a:rPr lang="en-US" altLang="ko-KR" i="1">
                            <a:latin typeface="Cambria Math" panose="02040503050406030204" pitchFamily="18" charset="0"/>
                          </a:rPr>
                          <m:t>𝑝𝑒𝑟𝑖𝑜𝑑</m:t>
                        </m:r>
                      </m:lim>
                    </m:limLow>
                    <m:r>
                      <a:rPr lang="en-US" altLang="ko-KR" i="1">
                        <a:latin typeface="Cambria Math" panose="02040503050406030204" pitchFamily="18" charset="0"/>
                      </a:rPr>
                      <m:t>→</m:t>
                    </m:r>
                    <m:limLow>
                      <m:limLowPr>
                        <m:ctrlPr>
                          <a:rPr lang="en-US" altLang="ko-KR" i="1">
                            <a:latin typeface="Cambria Math" panose="02040503050406030204" pitchFamily="18" charset="0"/>
                          </a:rPr>
                        </m:ctrlPr>
                      </m:limLowPr>
                      <m:e>
                        <m:groupChr>
                          <m:groupChrPr>
                            <m:chr m:val="⏟"/>
                            <m:ctrlPr>
                              <a:rPr lang="en-US" altLang="ko-KR" i="1">
                                <a:latin typeface="Cambria Math" panose="02040503050406030204" pitchFamily="18" charset="0"/>
                              </a:rPr>
                            </m:ctrlPr>
                          </m:groupChrPr>
                          <m:e>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𝑧</m:t>
                                </m:r>
                              </m:e>
                              <m:sup>
                                <m:d>
                                  <m:dPr>
                                    <m:ctrlPr>
                                      <a:rPr lang="en-US" altLang="ko-KR" i="1">
                                        <a:latin typeface="Cambria Math" panose="02040503050406030204" pitchFamily="18" charset="0"/>
                                      </a:rPr>
                                    </m:ctrlPr>
                                  </m:dPr>
                                  <m:e>
                                    <m:r>
                                      <a:rPr lang="en-US" altLang="ko-KR" i="1">
                                        <a:latin typeface="Cambria Math" panose="02040503050406030204" pitchFamily="18" charset="0"/>
                                      </a:rPr>
                                      <m:t>𝑚</m:t>
                                    </m:r>
                                    <m:r>
                                      <a:rPr lang="en-US" altLang="ko-KR" i="1">
                                        <a:latin typeface="Cambria Math" panose="02040503050406030204" pitchFamily="18" charset="0"/>
                                      </a:rPr>
                                      <m:t>+1</m:t>
                                    </m:r>
                                  </m:e>
                                </m:d>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𝑧</m:t>
                                </m:r>
                              </m:e>
                              <m:sup>
                                <m:d>
                                  <m:dPr>
                                    <m:ctrlPr>
                                      <a:rPr lang="en-US" altLang="ko-KR" i="1">
                                        <a:latin typeface="Cambria Math" panose="02040503050406030204" pitchFamily="18" charset="0"/>
                                      </a:rPr>
                                    </m:ctrlPr>
                                  </m:dPr>
                                  <m:e>
                                    <m:r>
                                      <a:rPr lang="en-US" altLang="ko-KR" i="1">
                                        <a:latin typeface="Cambria Math" panose="02040503050406030204" pitchFamily="18" charset="0"/>
                                      </a:rPr>
                                      <m:t>𝑚</m:t>
                                    </m:r>
                                    <m:r>
                                      <a:rPr lang="en-US" altLang="ko-KR" i="1">
                                        <a:latin typeface="Cambria Math" panose="02040503050406030204" pitchFamily="18" charset="0"/>
                                      </a:rPr>
                                      <m:t>+2</m:t>
                                    </m:r>
                                  </m:e>
                                </m:d>
                              </m:sup>
                            </m:sSup>
                            <m:r>
                              <a:rPr lang="en-US" altLang="ko-KR" i="1">
                                <a:latin typeface="Cambria Math" panose="02040503050406030204" pitchFamily="18" charset="0"/>
                              </a:rPr>
                              <m:t>→</m:t>
                            </m:r>
                            <m:r>
                              <a:rPr lang="en-US" altLang="ko-KR" i="1">
                                <a:latin typeface="Cambria Math" panose="02040503050406030204" pitchFamily="18" charset="0"/>
                                <a:ea typeface="Cambria Math" panose="02040503050406030204" pitchFamily="18" charset="0"/>
                              </a:rPr>
                              <m:t>⋯→</m:t>
                            </m:r>
                            <m:sSup>
                              <m:sSupPr>
                                <m:ctrlPr>
                                  <a:rPr lang="en-US" altLang="ko-KR" i="1">
                                    <a:latin typeface="Cambria Math" panose="02040503050406030204" pitchFamily="18" charset="0"/>
                                  </a:rPr>
                                </m:ctrlPr>
                              </m:sSupPr>
                              <m:e>
                                <m:r>
                                  <a:rPr lang="en-US" altLang="ko-KR" b="0" i="1" smtClean="0">
                                    <a:latin typeface="Cambria Math" panose="02040503050406030204" pitchFamily="18" charset="0"/>
                                  </a:rPr>
                                  <m:t>𝑧</m:t>
                                </m:r>
                              </m:e>
                              <m:sup>
                                <m:d>
                                  <m:dPr>
                                    <m:ctrlPr>
                                      <a:rPr lang="en-US" altLang="ko-KR" i="1">
                                        <a:latin typeface="Cambria Math" panose="02040503050406030204" pitchFamily="18" charset="0"/>
                                      </a:rPr>
                                    </m:ctrlPr>
                                  </m:dPr>
                                  <m:e>
                                    <m:r>
                                      <a:rPr lang="en-US" altLang="ko-KR" i="1">
                                        <a:latin typeface="Cambria Math" panose="02040503050406030204" pitchFamily="18" charset="0"/>
                                      </a:rPr>
                                      <m:t>𝑚</m:t>
                                    </m:r>
                                    <m:r>
                                      <a:rPr lang="en-US" altLang="ko-KR" i="1">
                                        <a:latin typeface="Cambria Math" panose="02040503050406030204" pitchFamily="18" charset="0"/>
                                      </a:rPr>
                                      <m:t>+</m:t>
                                    </m:r>
                                    <m:r>
                                      <a:rPr lang="en-US" altLang="ko-KR" i="1">
                                        <a:latin typeface="Cambria Math" panose="02040503050406030204" pitchFamily="18" charset="0"/>
                                      </a:rPr>
                                      <m:t>𝑛</m:t>
                                    </m:r>
                                  </m:e>
                                </m:d>
                              </m:sup>
                            </m:sSup>
                          </m:e>
                        </m:groupChr>
                      </m:e>
                      <m:lim>
                        <m:r>
                          <a:rPr lang="en-US" altLang="ko-KR" i="1">
                            <a:latin typeface="Cambria Math" panose="02040503050406030204" pitchFamily="18" charset="0"/>
                          </a:rPr>
                          <m:t>𝑇𝑟𝑒𝑎𝑡</m:t>
                        </m:r>
                        <m:r>
                          <a:rPr lang="en-US" altLang="ko-KR" i="1">
                            <a:latin typeface="Cambria Math" panose="02040503050406030204" pitchFamily="18" charset="0"/>
                          </a:rPr>
                          <m:t> </m:t>
                        </m:r>
                        <m:r>
                          <a:rPr lang="en-US" altLang="ko-KR" i="1">
                            <a:latin typeface="Cambria Math" panose="02040503050406030204" pitchFamily="18" charset="0"/>
                          </a:rPr>
                          <m:t>𝑡h𝑒𝑚</m:t>
                        </m:r>
                        <m:r>
                          <a:rPr lang="en-US" altLang="ko-KR" i="1">
                            <a:latin typeface="Cambria Math" panose="02040503050406030204" pitchFamily="18" charset="0"/>
                          </a:rPr>
                          <m:t> </m:t>
                        </m:r>
                        <m:r>
                          <a:rPr lang="en-US" altLang="ko-KR" i="1">
                            <a:latin typeface="Cambria Math" panose="02040503050406030204" pitchFamily="18" charset="0"/>
                          </a:rPr>
                          <m:t>𝑎𝑠</m:t>
                        </m:r>
                        <m:r>
                          <a:rPr lang="en-US" altLang="ko-KR" i="1">
                            <a:latin typeface="Cambria Math" panose="02040503050406030204" pitchFamily="18" charset="0"/>
                          </a:rPr>
                          <m:t> </m:t>
                        </m:r>
                        <m:r>
                          <a:rPr lang="en-US" altLang="ko-KR" i="1">
                            <a:latin typeface="Cambria Math" panose="02040503050406030204" pitchFamily="18" charset="0"/>
                          </a:rPr>
                          <m:t>𝑠𝑎𝑚𝑝𝑙𝑒𝑠</m:t>
                        </m:r>
                        <m:r>
                          <a:rPr lang="en-US" altLang="ko-KR" i="1">
                            <a:latin typeface="Cambria Math" panose="02040503050406030204" pitchFamily="18" charset="0"/>
                          </a:rPr>
                          <m:t> </m:t>
                        </m:r>
                        <m:r>
                          <a:rPr lang="en-US" altLang="ko-KR" i="1">
                            <a:latin typeface="Cambria Math" panose="02040503050406030204" pitchFamily="18" charset="0"/>
                          </a:rPr>
                          <m:t>𝑓𝑟𝑜𝑚</m:t>
                        </m:r>
                        <m:r>
                          <a:rPr lang="en-US" altLang="ko-KR" i="1">
                            <a:latin typeface="Cambria Math" panose="02040503050406030204" pitchFamily="18" charset="0"/>
                          </a:rPr>
                          <m:t> </m:t>
                        </m:r>
                        <m:r>
                          <a:rPr lang="en-US" altLang="ko-KR" i="1">
                            <a:latin typeface="Cambria Math" panose="02040503050406030204" pitchFamily="18" charset="0"/>
                          </a:rPr>
                          <m:t>𝜋</m:t>
                        </m:r>
                        <m:d>
                          <m:dPr>
                            <m:ctrlPr>
                              <a:rPr lang="en-US" altLang="ko-KR" i="1">
                                <a:latin typeface="Cambria Math" panose="02040503050406030204" pitchFamily="18" charset="0"/>
                              </a:rPr>
                            </m:ctrlPr>
                          </m:dPr>
                          <m:e>
                            <m:r>
                              <a:rPr lang="en-US" altLang="ko-KR" i="1">
                                <a:latin typeface="Cambria Math" panose="02040503050406030204" pitchFamily="18" charset="0"/>
                              </a:rPr>
                              <m:t>𝑥</m:t>
                            </m:r>
                          </m:e>
                        </m:d>
                      </m:lim>
                    </m:limLow>
                  </m:oMath>
                </a14:m>
                <a:endParaRPr lang="en-US" altLang="ko-KR" dirty="0"/>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blipFill rotWithShape="0">
                <a:blip r:embed="rId3"/>
                <a:stretch>
                  <a:fillRect t="-867"/>
                </a:stretch>
              </a:blipFill>
            </p:spPr>
            <p:txBody>
              <a:bodyPr/>
              <a:lstStyle/>
              <a:p>
                <a:r>
                  <a:rPr lang="ko-KR" altLang="en-US">
                    <a:noFill/>
                  </a:rPr>
                  <a:t> </a:t>
                </a:r>
              </a:p>
            </p:txBody>
          </p:sp>
        </mc:Fallback>
      </mc:AlternateContent>
      <p:sp>
        <p:nvSpPr>
          <p:cNvPr id="4" name="슬라이드 번호 개체 틀 3"/>
          <p:cNvSpPr>
            <a:spLocks noGrp="1"/>
          </p:cNvSpPr>
          <p:nvPr>
            <p:ph type="sldNum" sz="quarter" idx="12"/>
          </p:nvPr>
        </p:nvSpPr>
        <p:spPr/>
        <p:txBody>
          <a:bodyPr/>
          <a:lstStyle/>
          <a:p>
            <a:fld id="{E4E48515-694B-44C7-A9EB-D2CB2C6423BC}" type="slidenum">
              <a:rPr lang="ko-KR" altLang="en-US" smtClean="0"/>
              <a:t>9</a:t>
            </a:fld>
            <a:endParaRPr lang="ko-KR" altLang="en-US" dirty="0"/>
          </a:p>
        </p:txBody>
      </p:sp>
      <p:sp>
        <p:nvSpPr>
          <p:cNvPr id="5" name="직사각형 4"/>
          <p:cNvSpPr/>
          <p:nvPr/>
        </p:nvSpPr>
        <p:spPr>
          <a:xfrm>
            <a:off x="1115616" y="6602198"/>
            <a:ext cx="6840000" cy="25324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dirty="0" smtClean="0"/>
              <a:t>slides adopted from Prof. Park Tae Young’s</a:t>
            </a:r>
            <a:endParaRPr lang="ko-KR" altLang="en-US" sz="1200" dirty="0"/>
          </a:p>
        </p:txBody>
      </p:sp>
      <p:grpSp>
        <p:nvGrpSpPr>
          <p:cNvPr id="25" name="그룹 24"/>
          <p:cNvGrpSpPr/>
          <p:nvPr/>
        </p:nvGrpSpPr>
        <p:grpSpPr>
          <a:xfrm>
            <a:off x="5741621" y="1630912"/>
            <a:ext cx="3339866" cy="429936"/>
            <a:chOff x="2199960" y="3645024"/>
            <a:chExt cx="3339866" cy="429936"/>
          </a:xfrm>
        </p:grpSpPr>
        <mc:AlternateContent xmlns:mc="http://schemas.openxmlformats.org/markup-compatibility/2006" xmlns:a14="http://schemas.microsoft.com/office/drawing/2010/main">
          <mc:Choice Requires="a14">
            <p:sp>
              <p:nvSpPr>
                <p:cNvPr id="26" name="타원 25"/>
                <p:cNvSpPr/>
                <p:nvPr/>
              </p:nvSpPr>
              <p:spPr>
                <a:xfrm>
                  <a:off x="2199960" y="3645024"/>
                  <a:ext cx="429936" cy="4299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𝑧</m:t>
                            </m:r>
                          </m:e>
                          <m:sub>
                            <m:r>
                              <a:rPr lang="en-US" altLang="ko-KR" b="0" i="1" smtClean="0">
                                <a:latin typeface="Cambria Math" panose="02040503050406030204" pitchFamily="18" charset="0"/>
                              </a:rPr>
                              <m:t>1</m:t>
                            </m:r>
                          </m:sub>
                        </m:sSub>
                      </m:oMath>
                    </m:oMathPara>
                  </a14:m>
                  <a:endParaRPr lang="ko-KR" altLang="en-US" dirty="0"/>
                </a:p>
              </p:txBody>
            </p:sp>
          </mc:Choice>
          <mc:Fallback xmlns="">
            <p:sp>
              <p:nvSpPr>
                <p:cNvPr id="26" name="타원 25"/>
                <p:cNvSpPr>
                  <a:spLocks noRot="1" noChangeAspect="1" noMove="1" noResize="1" noEditPoints="1" noAdjustHandles="1" noChangeArrowheads="1" noChangeShapeType="1" noTextEdit="1"/>
                </p:cNvSpPr>
                <p:nvPr/>
              </p:nvSpPr>
              <p:spPr>
                <a:xfrm>
                  <a:off x="2199960" y="3645024"/>
                  <a:ext cx="429936" cy="429936"/>
                </a:xfrm>
                <a:prstGeom prst="ellipse">
                  <a:avLst/>
                </a:prstGeom>
                <a:blipFill rotWithShape="0">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7" name="타원 26"/>
                <p:cNvSpPr/>
                <p:nvPr/>
              </p:nvSpPr>
              <p:spPr>
                <a:xfrm>
                  <a:off x="3034926" y="3645024"/>
                  <a:ext cx="429936" cy="4299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𝑧</m:t>
                            </m:r>
                          </m:e>
                          <m:sub>
                            <m:r>
                              <a:rPr lang="en-US" altLang="ko-KR" b="0" i="1" smtClean="0">
                                <a:latin typeface="Cambria Math" panose="02040503050406030204" pitchFamily="18" charset="0"/>
                              </a:rPr>
                              <m:t>2</m:t>
                            </m:r>
                          </m:sub>
                        </m:sSub>
                      </m:oMath>
                    </m:oMathPara>
                  </a14:m>
                  <a:endParaRPr lang="ko-KR" altLang="en-US" dirty="0"/>
                </a:p>
              </p:txBody>
            </p:sp>
          </mc:Choice>
          <mc:Fallback xmlns="">
            <p:sp>
              <p:nvSpPr>
                <p:cNvPr id="27" name="타원 26"/>
                <p:cNvSpPr>
                  <a:spLocks noRot="1" noChangeAspect="1" noMove="1" noResize="1" noEditPoints="1" noAdjustHandles="1" noChangeArrowheads="1" noChangeShapeType="1" noTextEdit="1"/>
                </p:cNvSpPr>
                <p:nvPr/>
              </p:nvSpPr>
              <p:spPr>
                <a:xfrm>
                  <a:off x="3034926" y="3645024"/>
                  <a:ext cx="429936" cy="429936"/>
                </a:xfrm>
                <a:prstGeom prst="ellipse">
                  <a:avLst/>
                </a:prstGeom>
                <a:blipFill rotWithShape="0">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8" name="타원 27"/>
                <p:cNvSpPr/>
                <p:nvPr/>
              </p:nvSpPr>
              <p:spPr>
                <a:xfrm>
                  <a:off x="3869892" y="3645024"/>
                  <a:ext cx="429936" cy="4299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𝑧</m:t>
                            </m:r>
                          </m:e>
                          <m:sub>
                            <m:r>
                              <a:rPr lang="en-US" altLang="ko-KR" b="0" i="1" smtClean="0">
                                <a:latin typeface="Cambria Math" panose="02040503050406030204" pitchFamily="18" charset="0"/>
                              </a:rPr>
                              <m:t>3</m:t>
                            </m:r>
                          </m:sub>
                        </m:sSub>
                      </m:oMath>
                    </m:oMathPara>
                  </a14:m>
                  <a:endParaRPr lang="ko-KR" altLang="en-US" dirty="0"/>
                </a:p>
              </p:txBody>
            </p:sp>
          </mc:Choice>
          <mc:Fallback xmlns="">
            <p:sp>
              <p:nvSpPr>
                <p:cNvPr id="28" name="타원 27"/>
                <p:cNvSpPr>
                  <a:spLocks noRot="1" noChangeAspect="1" noMove="1" noResize="1" noEditPoints="1" noAdjustHandles="1" noChangeArrowheads="1" noChangeShapeType="1" noTextEdit="1"/>
                </p:cNvSpPr>
                <p:nvPr/>
              </p:nvSpPr>
              <p:spPr>
                <a:xfrm>
                  <a:off x="3869892" y="3645024"/>
                  <a:ext cx="429936" cy="429936"/>
                </a:xfrm>
                <a:prstGeom prst="ellipse">
                  <a:avLst/>
                </a:prstGeom>
                <a:blipFill rotWithShape="0">
                  <a:blip r:embed="rId6"/>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9" name="타원 28"/>
                <p:cNvSpPr/>
                <p:nvPr/>
              </p:nvSpPr>
              <p:spPr>
                <a:xfrm>
                  <a:off x="4704859" y="3645024"/>
                  <a:ext cx="429936" cy="4299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𝑧</m:t>
                            </m:r>
                          </m:e>
                          <m:sub>
                            <m:r>
                              <a:rPr lang="en-US" altLang="ko-KR" b="0" i="1" smtClean="0">
                                <a:latin typeface="Cambria Math" panose="02040503050406030204" pitchFamily="18" charset="0"/>
                              </a:rPr>
                              <m:t>4</m:t>
                            </m:r>
                          </m:sub>
                        </m:sSub>
                      </m:oMath>
                    </m:oMathPara>
                  </a14:m>
                  <a:endParaRPr lang="ko-KR" altLang="en-US" dirty="0"/>
                </a:p>
              </p:txBody>
            </p:sp>
          </mc:Choice>
          <mc:Fallback xmlns="">
            <p:sp>
              <p:nvSpPr>
                <p:cNvPr id="29" name="타원 28"/>
                <p:cNvSpPr>
                  <a:spLocks noRot="1" noChangeAspect="1" noMove="1" noResize="1" noEditPoints="1" noAdjustHandles="1" noChangeArrowheads="1" noChangeShapeType="1" noTextEdit="1"/>
                </p:cNvSpPr>
                <p:nvPr/>
              </p:nvSpPr>
              <p:spPr>
                <a:xfrm>
                  <a:off x="4704859" y="3645024"/>
                  <a:ext cx="429936" cy="429936"/>
                </a:xfrm>
                <a:prstGeom prst="ellipse">
                  <a:avLst/>
                </a:prstGeom>
                <a:blipFill rotWithShape="0">
                  <a:blip r:embed="rId7"/>
                  <a:stretch>
                    <a:fillRect/>
                  </a:stretch>
                </a:blipFill>
              </p:spPr>
              <p:txBody>
                <a:bodyPr/>
                <a:lstStyle/>
                <a:p>
                  <a:r>
                    <a:rPr lang="ko-KR" altLang="en-US">
                      <a:noFill/>
                    </a:rPr>
                    <a:t> </a:t>
                  </a:r>
                </a:p>
              </p:txBody>
            </p:sp>
          </mc:Fallback>
        </mc:AlternateContent>
        <p:cxnSp>
          <p:nvCxnSpPr>
            <p:cNvPr id="30" name="직선 화살표 연결선 29"/>
            <p:cNvCxnSpPr>
              <a:stCxn id="26" idx="6"/>
              <a:endCxn id="27" idx="2"/>
            </p:cNvCxnSpPr>
            <p:nvPr/>
          </p:nvCxnSpPr>
          <p:spPr>
            <a:xfrm>
              <a:off x="2629896" y="3859992"/>
              <a:ext cx="40503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p:cNvCxnSpPr>
              <a:stCxn id="27" idx="6"/>
              <a:endCxn id="28" idx="2"/>
            </p:cNvCxnSpPr>
            <p:nvPr/>
          </p:nvCxnSpPr>
          <p:spPr>
            <a:xfrm>
              <a:off x="3464862" y="3859992"/>
              <a:ext cx="40503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2" name="직선 화살표 연결선 31"/>
            <p:cNvCxnSpPr>
              <a:stCxn id="28" idx="6"/>
              <a:endCxn id="29" idx="2"/>
            </p:cNvCxnSpPr>
            <p:nvPr/>
          </p:nvCxnSpPr>
          <p:spPr>
            <a:xfrm>
              <a:off x="4299828" y="3859992"/>
              <a:ext cx="40503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직선 화살표 연결선 32"/>
            <p:cNvCxnSpPr>
              <a:stCxn id="29" idx="6"/>
            </p:cNvCxnSpPr>
            <p:nvPr/>
          </p:nvCxnSpPr>
          <p:spPr>
            <a:xfrm>
              <a:off x="5134795" y="3859992"/>
              <a:ext cx="405031"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859236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6925" y="1720"/>
            <a:ext cx="8435280" cy="1138138"/>
          </a:xfrm>
        </p:spPr>
        <p:txBody>
          <a:bodyPr/>
          <a:lstStyle/>
          <a:p>
            <a:r>
              <a:rPr lang="en-US" altLang="ko-KR" dirty="0" smtClean="0"/>
              <a:t>Markov Chain of Z</a:t>
            </a:r>
            <a:endParaRPr lang="ko-KR" altLang="en-US" dirty="0"/>
          </a:p>
        </p:txBody>
      </p:sp>
      <p:sp>
        <p:nvSpPr>
          <p:cNvPr id="4" name="Slide Number Placeholder 3"/>
          <p:cNvSpPr>
            <a:spLocks noGrp="1"/>
          </p:cNvSpPr>
          <p:nvPr>
            <p:ph type="sldNum" sz="quarter" idx="12"/>
          </p:nvPr>
        </p:nvSpPr>
        <p:spPr/>
        <p:txBody>
          <a:bodyPr/>
          <a:lstStyle/>
          <a:p>
            <a:fld id="{85CD3E9B-A789-4DCF-960C-49E4EDB7DF3D}" type="slidenum">
              <a:rPr lang="ko-KR" altLang="en-US" smtClean="0"/>
              <a:t>10</a:t>
            </a:fld>
            <a:endParaRPr lang="ko-KR" altLang="en-US"/>
          </a:p>
        </p:txBody>
      </p:sp>
      <p:grpSp>
        <p:nvGrpSpPr>
          <p:cNvPr id="18" name="Group 17"/>
          <p:cNvGrpSpPr/>
          <p:nvPr/>
        </p:nvGrpSpPr>
        <p:grpSpPr>
          <a:xfrm>
            <a:off x="1024124" y="1340013"/>
            <a:ext cx="2868561" cy="2094271"/>
            <a:chOff x="1017638" y="1504335"/>
            <a:chExt cx="2868561" cy="2094271"/>
          </a:xfrm>
        </p:grpSpPr>
        <p:grpSp>
          <p:nvGrpSpPr>
            <p:cNvPr id="14" name="Group 13"/>
            <p:cNvGrpSpPr/>
            <p:nvPr/>
          </p:nvGrpSpPr>
          <p:grpSpPr>
            <a:xfrm>
              <a:off x="1130788" y="1637071"/>
              <a:ext cx="2615906" cy="1805572"/>
              <a:chOff x="4589284" y="1299304"/>
              <a:chExt cx="4539957" cy="2711152"/>
            </a:xfrm>
          </p:grpSpPr>
          <p:sp>
            <p:nvSpPr>
              <p:cNvPr id="5" name="Oval 4"/>
              <p:cNvSpPr/>
              <p:nvPr/>
            </p:nvSpPr>
            <p:spPr>
              <a:xfrm>
                <a:off x="5980931" y="2476451"/>
                <a:ext cx="1368152" cy="57606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smtClean="0"/>
                  <a:t>Alarm</a:t>
                </a:r>
                <a:endParaRPr lang="ko-KR" altLang="en-US" sz="1000" dirty="0"/>
              </a:p>
            </p:txBody>
          </p:sp>
          <p:cxnSp>
            <p:nvCxnSpPr>
              <p:cNvPr id="6" name="Straight Arrow Connector 5"/>
              <p:cNvCxnSpPr>
                <a:stCxn id="5" idx="3"/>
                <a:endCxn id="7" idx="0"/>
              </p:cNvCxnSpPr>
              <p:nvPr/>
            </p:nvCxnSpPr>
            <p:spPr>
              <a:xfrm flipH="1">
                <a:off x="5453380" y="2968152"/>
                <a:ext cx="727912" cy="466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4589284" y="3434392"/>
                <a:ext cx="1728192" cy="576064"/>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smtClean="0"/>
                  <a:t>JohnCalls</a:t>
                </a:r>
                <a:endParaRPr lang="ko-KR" altLang="en-US" sz="1000" baseline="-25000" dirty="0"/>
              </a:p>
            </p:txBody>
          </p:sp>
          <p:sp>
            <p:nvSpPr>
              <p:cNvPr id="8" name="Oval 7"/>
              <p:cNvSpPr/>
              <p:nvPr/>
            </p:nvSpPr>
            <p:spPr>
              <a:xfrm>
                <a:off x="7211951" y="3434392"/>
                <a:ext cx="1852251" cy="576064"/>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smtClean="0"/>
                  <a:t>MaryCalls</a:t>
                </a:r>
                <a:endParaRPr lang="ko-KR" altLang="en-US" sz="1000" baseline="-25000" dirty="0"/>
              </a:p>
            </p:txBody>
          </p:sp>
          <p:cxnSp>
            <p:nvCxnSpPr>
              <p:cNvPr id="9" name="Straight Arrow Connector 8"/>
              <p:cNvCxnSpPr>
                <a:stCxn id="5" idx="5"/>
                <a:endCxn id="8" idx="0"/>
              </p:cNvCxnSpPr>
              <p:nvPr/>
            </p:nvCxnSpPr>
            <p:spPr>
              <a:xfrm>
                <a:off x="7148723" y="2968152"/>
                <a:ext cx="989354" cy="4662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4717643" y="1356881"/>
                <a:ext cx="1728192" cy="576064"/>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smtClean="0"/>
                  <a:t>Buglary</a:t>
                </a:r>
                <a:endParaRPr lang="ko-KR" altLang="en-US" sz="1000" baseline="-25000" dirty="0"/>
              </a:p>
            </p:txBody>
          </p:sp>
          <p:sp>
            <p:nvSpPr>
              <p:cNvPr id="11" name="Oval 10"/>
              <p:cNvSpPr/>
              <p:nvPr/>
            </p:nvSpPr>
            <p:spPr>
              <a:xfrm>
                <a:off x="7276990" y="1299304"/>
                <a:ext cx="1852251" cy="576064"/>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900" dirty="0" smtClean="0"/>
                  <a:t>Earthquake</a:t>
                </a:r>
                <a:endParaRPr lang="ko-KR" altLang="en-US" sz="900" baseline="-25000" dirty="0"/>
              </a:p>
            </p:txBody>
          </p:sp>
          <p:cxnSp>
            <p:nvCxnSpPr>
              <p:cNvPr id="12" name="Straight Arrow Connector 11"/>
              <p:cNvCxnSpPr>
                <a:stCxn id="11" idx="3"/>
                <a:endCxn id="5" idx="7"/>
              </p:cNvCxnSpPr>
              <p:nvPr/>
            </p:nvCxnSpPr>
            <p:spPr>
              <a:xfrm flipH="1">
                <a:off x="7148723" y="1791005"/>
                <a:ext cx="399524" cy="7698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10" idx="4"/>
                <a:endCxn id="5" idx="1"/>
              </p:cNvCxnSpPr>
              <p:nvPr/>
            </p:nvCxnSpPr>
            <p:spPr>
              <a:xfrm>
                <a:off x="5581739" y="1932945"/>
                <a:ext cx="599553" cy="627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7" name="Rectangle 16"/>
            <p:cNvSpPr/>
            <p:nvPr/>
          </p:nvSpPr>
          <p:spPr>
            <a:xfrm>
              <a:off x="1017638" y="1504335"/>
              <a:ext cx="2868561" cy="209427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55" name="Group 54"/>
          <p:cNvGrpSpPr/>
          <p:nvPr/>
        </p:nvGrpSpPr>
        <p:grpSpPr>
          <a:xfrm>
            <a:off x="1024124" y="4336337"/>
            <a:ext cx="2868561" cy="2094271"/>
            <a:chOff x="1017638" y="1504335"/>
            <a:chExt cx="2868561" cy="2094271"/>
          </a:xfrm>
        </p:grpSpPr>
        <p:grpSp>
          <p:nvGrpSpPr>
            <p:cNvPr id="56" name="Group 55"/>
            <p:cNvGrpSpPr/>
            <p:nvPr/>
          </p:nvGrpSpPr>
          <p:grpSpPr>
            <a:xfrm>
              <a:off x="1130788" y="1637071"/>
              <a:ext cx="2615906" cy="1805572"/>
              <a:chOff x="4589284" y="1299304"/>
              <a:chExt cx="4539957" cy="2711152"/>
            </a:xfrm>
          </p:grpSpPr>
          <p:sp>
            <p:nvSpPr>
              <p:cNvPr id="58" name="Oval 57"/>
              <p:cNvSpPr/>
              <p:nvPr/>
            </p:nvSpPr>
            <p:spPr>
              <a:xfrm>
                <a:off x="5980931" y="2476451"/>
                <a:ext cx="1368152" cy="57606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smtClean="0"/>
                  <a:t>Alarm</a:t>
                </a:r>
                <a:endParaRPr lang="ko-KR" altLang="en-US" sz="1000" dirty="0"/>
              </a:p>
            </p:txBody>
          </p:sp>
          <p:cxnSp>
            <p:nvCxnSpPr>
              <p:cNvPr id="59" name="Straight Arrow Connector 58"/>
              <p:cNvCxnSpPr>
                <a:stCxn id="58" idx="3"/>
                <a:endCxn id="60" idx="0"/>
              </p:cNvCxnSpPr>
              <p:nvPr/>
            </p:nvCxnSpPr>
            <p:spPr>
              <a:xfrm flipH="1">
                <a:off x="5453380" y="2968152"/>
                <a:ext cx="727912" cy="466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Oval 59"/>
              <p:cNvSpPr/>
              <p:nvPr/>
            </p:nvSpPr>
            <p:spPr>
              <a:xfrm>
                <a:off x="4589284" y="3434392"/>
                <a:ext cx="1728192" cy="576064"/>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smtClean="0"/>
                  <a:t>JohnCalls</a:t>
                </a:r>
                <a:endParaRPr lang="ko-KR" altLang="en-US" sz="1000" baseline="-25000" dirty="0"/>
              </a:p>
            </p:txBody>
          </p:sp>
          <p:sp>
            <p:nvSpPr>
              <p:cNvPr id="61" name="Oval 60"/>
              <p:cNvSpPr/>
              <p:nvPr/>
            </p:nvSpPr>
            <p:spPr>
              <a:xfrm>
                <a:off x="7211951" y="3434392"/>
                <a:ext cx="1852251" cy="576064"/>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smtClean="0"/>
                  <a:t>MaryCalls</a:t>
                </a:r>
                <a:endParaRPr lang="ko-KR" altLang="en-US" sz="1000" baseline="-25000" dirty="0"/>
              </a:p>
            </p:txBody>
          </p:sp>
          <p:cxnSp>
            <p:nvCxnSpPr>
              <p:cNvPr id="62" name="Straight Arrow Connector 61"/>
              <p:cNvCxnSpPr>
                <a:stCxn id="58" idx="5"/>
                <a:endCxn id="61" idx="0"/>
              </p:cNvCxnSpPr>
              <p:nvPr/>
            </p:nvCxnSpPr>
            <p:spPr>
              <a:xfrm>
                <a:off x="7148723" y="2968152"/>
                <a:ext cx="989354" cy="4662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Oval 62"/>
              <p:cNvSpPr/>
              <p:nvPr/>
            </p:nvSpPr>
            <p:spPr>
              <a:xfrm>
                <a:off x="4717643" y="1356881"/>
                <a:ext cx="1728192" cy="576064"/>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smtClean="0"/>
                  <a:t>Buglary</a:t>
                </a:r>
                <a:endParaRPr lang="ko-KR" altLang="en-US" sz="1000" baseline="-25000" dirty="0"/>
              </a:p>
            </p:txBody>
          </p:sp>
          <p:sp>
            <p:nvSpPr>
              <p:cNvPr id="64" name="Oval 63"/>
              <p:cNvSpPr/>
              <p:nvPr/>
            </p:nvSpPr>
            <p:spPr>
              <a:xfrm>
                <a:off x="7276990" y="1299304"/>
                <a:ext cx="1852251" cy="576064"/>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900" dirty="0" smtClean="0"/>
                  <a:t>Earthquake</a:t>
                </a:r>
                <a:endParaRPr lang="ko-KR" altLang="en-US" sz="900" baseline="-25000" dirty="0"/>
              </a:p>
            </p:txBody>
          </p:sp>
          <p:cxnSp>
            <p:nvCxnSpPr>
              <p:cNvPr id="65" name="Straight Arrow Connector 64"/>
              <p:cNvCxnSpPr>
                <a:stCxn id="64" idx="3"/>
                <a:endCxn id="58" idx="7"/>
              </p:cNvCxnSpPr>
              <p:nvPr/>
            </p:nvCxnSpPr>
            <p:spPr>
              <a:xfrm flipH="1">
                <a:off x="7148723" y="1791005"/>
                <a:ext cx="399524" cy="7698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63" idx="4"/>
                <a:endCxn id="58" idx="1"/>
              </p:cNvCxnSpPr>
              <p:nvPr/>
            </p:nvCxnSpPr>
            <p:spPr>
              <a:xfrm>
                <a:off x="5581739" y="1932945"/>
                <a:ext cx="599553" cy="627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57" name="Rectangle 56"/>
            <p:cNvSpPr/>
            <p:nvPr/>
          </p:nvSpPr>
          <p:spPr>
            <a:xfrm>
              <a:off x="1017638" y="1504335"/>
              <a:ext cx="2868561" cy="209427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67" name="Group 66"/>
          <p:cNvGrpSpPr/>
          <p:nvPr/>
        </p:nvGrpSpPr>
        <p:grpSpPr>
          <a:xfrm>
            <a:off x="5373285" y="1340012"/>
            <a:ext cx="2868561" cy="2094271"/>
            <a:chOff x="1017638" y="1504335"/>
            <a:chExt cx="2868561" cy="2094271"/>
          </a:xfrm>
        </p:grpSpPr>
        <p:grpSp>
          <p:nvGrpSpPr>
            <p:cNvPr id="68" name="Group 67"/>
            <p:cNvGrpSpPr/>
            <p:nvPr/>
          </p:nvGrpSpPr>
          <p:grpSpPr>
            <a:xfrm>
              <a:off x="1130788" y="1637071"/>
              <a:ext cx="2615906" cy="1805572"/>
              <a:chOff x="4589284" y="1299304"/>
              <a:chExt cx="4539957" cy="2711152"/>
            </a:xfrm>
          </p:grpSpPr>
          <p:sp>
            <p:nvSpPr>
              <p:cNvPr id="70" name="Oval 69"/>
              <p:cNvSpPr/>
              <p:nvPr/>
            </p:nvSpPr>
            <p:spPr>
              <a:xfrm>
                <a:off x="5980931" y="2476451"/>
                <a:ext cx="1368152" cy="57606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smtClean="0"/>
                  <a:t>Alarm</a:t>
                </a:r>
                <a:endParaRPr lang="ko-KR" altLang="en-US" sz="1000" dirty="0"/>
              </a:p>
            </p:txBody>
          </p:sp>
          <p:cxnSp>
            <p:nvCxnSpPr>
              <p:cNvPr id="71" name="Straight Arrow Connector 70"/>
              <p:cNvCxnSpPr>
                <a:stCxn id="70" idx="3"/>
                <a:endCxn id="72" idx="0"/>
              </p:cNvCxnSpPr>
              <p:nvPr/>
            </p:nvCxnSpPr>
            <p:spPr>
              <a:xfrm flipH="1">
                <a:off x="5453380" y="2968152"/>
                <a:ext cx="727912" cy="466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Oval 71"/>
              <p:cNvSpPr/>
              <p:nvPr/>
            </p:nvSpPr>
            <p:spPr>
              <a:xfrm>
                <a:off x="4589284" y="3434392"/>
                <a:ext cx="1728192" cy="576064"/>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smtClean="0"/>
                  <a:t>JohnCalls</a:t>
                </a:r>
                <a:endParaRPr lang="ko-KR" altLang="en-US" sz="1000" baseline="-25000" dirty="0"/>
              </a:p>
            </p:txBody>
          </p:sp>
          <p:sp>
            <p:nvSpPr>
              <p:cNvPr id="73" name="Oval 72"/>
              <p:cNvSpPr/>
              <p:nvPr/>
            </p:nvSpPr>
            <p:spPr>
              <a:xfrm>
                <a:off x="7211951" y="3434392"/>
                <a:ext cx="1852251" cy="576064"/>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smtClean="0"/>
                  <a:t>MaryCalls</a:t>
                </a:r>
                <a:endParaRPr lang="ko-KR" altLang="en-US" sz="1000" baseline="-25000" dirty="0"/>
              </a:p>
            </p:txBody>
          </p:sp>
          <p:cxnSp>
            <p:nvCxnSpPr>
              <p:cNvPr id="74" name="Straight Arrow Connector 73"/>
              <p:cNvCxnSpPr>
                <a:stCxn id="70" idx="5"/>
                <a:endCxn id="73" idx="0"/>
              </p:cNvCxnSpPr>
              <p:nvPr/>
            </p:nvCxnSpPr>
            <p:spPr>
              <a:xfrm>
                <a:off x="7148723" y="2968152"/>
                <a:ext cx="989354" cy="4662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Oval 74"/>
              <p:cNvSpPr/>
              <p:nvPr/>
            </p:nvSpPr>
            <p:spPr>
              <a:xfrm>
                <a:off x="4717643" y="1356881"/>
                <a:ext cx="1728192" cy="576064"/>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smtClean="0"/>
                  <a:t>Buglary</a:t>
                </a:r>
                <a:endParaRPr lang="ko-KR" altLang="en-US" sz="1000" baseline="-25000" dirty="0"/>
              </a:p>
            </p:txBody>
          </p:sp>
          <p:sp>
            <p:nvSpPr>
              <p:cNvPr id="76" name="Oval 75"/>
              <p:cNvSpPr/>
              <p:nvPr/>
            </p:nvSpPr>
            <p:spPr>
              <a:xfrm>
                <a:off x="7276990" y="1299304"/>
                <a:ext cx="1852251" cy="576064"/>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900" dirty="0" smtClean="0"/>
                  <a:t>Earthquake</a:t>
                </a:r>
                <a:endParaRPr lang="ko-KR" altLang="en-US" sz="900" baseline="-25000" dirty="0"/>
              </a:p>
            </p:txBody>
          </p:sp>
          <p:cxnSp>
            <p:nvCxnSpPr>
              <p:cNvPr id="77" name="Straight Arrow Connector 76"/>
              <p:cNvCxnSpPr>
                <a:stCxn id="76" idx="3"/>
                <a:endCxn id="70" idx="7"/>
              </p:cNvCxnSpPr>
              <p:nvPr/>
            </p:nvCxnSpPr>
            <p:spPr>
              <a:xfrm flipH="1">
                <a:off x="7148723" y="1791005"/>
                <a:ext cx="399524" cy="7698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75" idx="4"/>
                <a:endCxn id="70" idx="1"/>
              </p:cNvCxnSpPr>
              <p:nvPr/>
            </p:nvCxnSpPr>
            <p:spPr>
              <a:xfrm>
                <a:off x="5581739" y="1932945"/>
                <a:ext cx="599553" cy="627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9" name="Rectangle 68"/>
            <p:cNvSpPr/>
            <p:nvPr/>
          </p:nvSpPr>
          <p:spPr>
            <a:xfrm>
              <a:off x="1017638" y="1504335"/>
              <a:ext cx="2868561" cy="209427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79" name="Group 78"/>
          <p:cNvGrpSpPr/>
          <p:nvPr/>
        </p:nvGrpSpPr>
        <p:grpSpPr>
          <a:xfrm>
            <a:off x="5373286" y="4330780"/>
            <a:ext cx="2868561" cy="2094271"/>
            <a:chOff x="1017638" y="1504335"/>
            <a:chExt cx="2868561" cy="2094271"/>
          </a:xfrm>
        </p:grpSpPr>
        <p:grpSp>
          <p:nvGrpSpPr>
            <p:cNvPr id="80" name="Group 79"/>
            <p:cNvGrpSpPr/>
            <p:nvPr/>
          </p:nvGrpSpPr>
          <p:grpSpPr>
            <a:xfrm>
              <a:off x="1130788" y="1637071"/>
              <a:ext cx="2615906" cy="1805572"/>
              <a:chOff x="4589284" y="1299304"/>
              <a:chExt cx="4539957" cy="2711152"/>
            </a:xfrm>
          </p:grpSpPr>
          <p:sp>
            <p:nvSpPr>
              <p:cNvPr id="82" name="Oval 81"/>
              <p:cNvSpPr/>
              <p:nvPr/>
            </p:nvSpPr>
            <p:spPr>
              <a:xfrm>
                <a:off x="5980931" y="2476451"/>
                <a:ext cx="1368152" cy="57606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smtClean="0"/>
                  <a:t>Alarm</a:t>
                </a:r>
                <a:endParaRPr lang="ko-KR" altLang="en-US" sz="1000" dirty="0"/>
              </a:p>
            </p:txBody>
          </p:sp>
          <p:cxnSp>
            <p:nvCxnSpPr>
              <p:cNvPr id="83" name="Straight Arrow Connector 82"/>
              <p:cNvCxnSpPr>
                <a:stCxn id="82" idx="3"/>
                <a:endCxn id="84" idx="0"/>
              </p:cNvCxnSpPr>
              <p:nvPr/>
            </p:nvCxnSpPr>
            <p:spPr>
              <a:xfrm flipH="1">
                <a:off x="5453380" y="2968152"/>
                <a:ext cx="727912" cy="466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Oval 83"/>
              <p:cNvSpPr/>
              <p:nvPr/>
            </p:nvSpPr>
            <p:spPr>
              <a:xfrm>
                <a:off x="4589284" y="3434392"/>
                <a:ext cx="1728192" cy="576064"/>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smtClean="0"/>
                  <a:t>JohnCalls</a:t>
                </a:r>
                <a:endParaRPr lang="ko-KR" altLang="en-US" sz="1000" baseline="-25000" dirty="0"/>
              </a:p>
            </p:txBody>
          </p:sp>
          <p:sp>
            <p:nvSpPr>
              <p:cNvPr id="85" name="Oval 84"/>
              <p:cNvSpPr/>
              <p:nvPr/>
            </p:nvSpPr>
            <p:spPr>
              <a:xfrm>
                <a:off x="7211951" y="3434392"/>
                <a:ext cx="1852251" cy="576064"/>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smtClean="0"/>
                  <a:t>MaryCalls</a:t>
                </a:r>
                <a:endParaRPr lang="ko-KR" altLang="en-US" sz="1000" baseline="-25000" dirty="0"/>
              </a:p>
            </p:txBody>
          </p:sp>
          <p:cxnSp>
            <p:nvCxnSpPr>
              <p:cNvPr id="86" name="Straight Arrow Connector 85"/>
              <p:cNvCxnSpPr>
                <a:stCxn id="82" idx="5"/>
                <a:endCxn id="85" idx="0"/>
              </p:cNvCxnSpPr>
              <p:nvPr/>
            </p:nvCxnSpPr>
            <p:spPr>
              <a:xfrm>
                <a:off x="7148723" y="2968152"/>
                <a:ext cx="989354" cy="4662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7" name="Oval 86"/>
              <p:cNvSpPr/>
              <p:nvPr/>
            </p:nvSpPr>
            <p:spPr>
              <a:xfrm>
                <a:off x="4717643" y="1356881"/>
                <a:ext cx="1728192" cy="576064"/>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000" dirty="0" err="1" smtClean="0"/>
                  <a:t>Buglary</a:t>
                </a:r>
                <a:endParaRPr lang="ko-KR" altLang="en-US" sz="1000" baseline="-25000" dirty="0"/>
              </a:p>
            </p:txBody>
          </p:sp>
          <p:sp>
            <p:nvSpPr>
              <p:cNvPr id="88" name="Oval 87"/>
              <p:cNvSpPr/>
              <p:nvPr/>
            </p:nvSpPr>
            <p:spPr>
              <a:xfrm>
                <a:off x="7276990" y="1299304"/>
                <a:ext cx="1852251" cy="576064"/>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900" dirty="0" smtClean="0"/>
                  <a:t>Earthquake</a:t>
                </a:r>
                <a:endParaRPr lang="ko-KR" altLang="en-US" sz="900" baseline="-25000" dirty="0"/>
              </a:p>
            </p:txBody>
          </p:sp>
          <p:cxnSp>
            <p:nvCxnSpPr>
              <p:cNvPr id="89" name="Straight Arrow Connector 88"/>
              <p:cNvCxnSpPr>
                <a:stCxn id="88" idx="3"/>
                <a:endCxn id="82" idx="7"/>
              </p:cNvCxnSpPr>
              <p:nvPr/>
            </p:nvCxnSpPr>
            <p:spPr>
              <a:xfrm flipH="1">
                <a:off x="7148723" y="1791005"/>
                <a:ext cx="399524" cy="7698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87" idx="4"/>
                <a:endCxn id="82" idx="1"/>
              </p:cNvCxnSpPr>
              <p:nvPr/>
            </p:nvCxnSpPr>
            <p:spPr>
              <a:xfrm>
                <a:off x="5581739" y="1932945"/>
                <a:ext cx="599553" cy="627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81" name="Rectangle 80"/>
            <p:cNvSpPr/>
            <p:nvPr/>
          </p:nvSpPr>
          <p:spPr>
            <a:xfrm>
              <a:off x="1017638" y="1504335"/>
              <a:ext cx="2868561" cy="209427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cxnSp>
        <p:nvCxnSpPr>
          <p:cNvPr id="92" name="Straight Arrow Connector 91"/>
          <p:cNvCxnSpPr>
            <a:stCxn id="17" idx="2"/>
            <a:endCxn id="57" idx="0"/>
          </p:cNvCxnSpPr>
          <p:nvPr/>
        </p:nvCxnSpPr>
        <p:spPr>
          <a:xfrm>
            <a:off x="2458405" y="3434284"/>
            <a:ext cx="0" cy="902053"/>
          </a:xfrm>
          <a:prstGeom prst="straightConnector1">
            <a:avLst/>
          </a:prstGeom>
          <a:ln w="53975">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a:stCxn id="57" idx="3"/>
            <a:endCxn id="81" idx="1"/>
          </p:cNvCxnSpPr>
          <p:nvPr/>
        </p:nvCxnSpPr>
        <p:spPr>
          <a:xfrm flipV="1">
            <a:off x="3892685" y="5377916"/>
            <a:ext cx="1480601" cy="5557"/>
          </a:xfrm>
          <a:prstGeom prst="straightConnector1">
            <a:avLst/>
          </a:prstGeom>
          <a:ln w="53975">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a:stCxn id="17" idx="3"/>
            <a:endCxn id="69" idx="1"/>
          </p:cNvCxnSpPr>
          <p:nvPr/>
        </p:nvCxnSpPr>
        <p:spPr>
          <a:xfrm flipV="1">
            <a:off x="3892685" y="2387148"/>
            <a:ext cx="1480600" cy="1"/>
          </a:xfrm>
          <a:prstGeom prst="straightConnector1">
            <a:avLst/>
          </a:prstGeom>
          <a:ln w="53975">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a:stCxn id="69" idx="2"/>
            <a:endCxn id="81" idx="0"/>
          </p:cNvCxnSpPr>
          <p:nvPr/>
        </p:nvCxnSpPr>
        <p:spPr>
          <a:xfrm>
            <a:off x="6807566" y="3434283"/>
            <a:ext cx="1" cy="896497"/>
          </a:xfrm>
          <a:prstGeom prst="straightConnector1">
            <a:avLst/>
          </a:prstGeom>
          <a:ln w="53975">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p:nvPr/>
        </p:nvCxnSpPr>
        <p:spPr>
          <a:xfrm>
            <a:off x="3915845" y="3209385"/>
            <a:ext cx="1457440" cy="1445954"/>
          </a:xfrm>
          <a:prstGeom prst="straightConnector1">
            <a:avLst/>
          </a:prstGeom>
          <a:ln w="53975">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flipV="1">
            <a:off x="3892685" y="3076576"/>
            <a:ext cx="1480600" cy="1578763"/>
          </a:xfrm>
          <a:prstGeom prst="straightConnector1">
            <a:avLst/>
          </a:prstGeom>
          <a:ln w="53975">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9" name="Freeform 108"/>
          <p:cNvSpPr/>
          <p:nvPr/>
        </p:nvSpPr>
        <p:spPr>
          <a:xfrm>
            <a:off x="7772400" y="1015607"/>
            <a:ext cx="914544" cy="636212"/>
          </a:xfrm>
          <a:custGeom>
            <a:avLst/>
            <a:gdLst>
              <a:gd name="connsiteX0" fmla="*/ 0 w 914544"/>
              <a:gd name="connsiteY0" fmla="*/ 304374 h 636212"/>
              <a:gd name="connsiteX1" fmla="*/ 449826 w 914544"/>
              <a:gd name="connsiteY1" fmla="*/ 2032 h 636212"/>
              <a:gd name="connsiteX2" fmla="*/ 914400 w 914544"/>
              <a:gd name="connsiteY2" fmla="*/ 437109 h 636212"/>
              <a:gd name="connsiteX3" fmla="*/ 501445 w 914544"/>
              <a:gd name="connsiteY3" fmla="*/ 636212 h 636212"/>
            </a:gdLst>
            <a:ahLst/>
            <a:cxnLst>
              <a:cxn ang="0">
                <a:pos x="connsiteX0" y="connsiteY0"/>
              </a:cxn>
              <a:cxn ang="0">
                <a:pos x="connsiteX1" y="connsiteY1"/>
              </a:cxn>
              <a:cxn ang="0">
                <a:pos x="connsiteX2" y="connsiteY2"/>
              </a:cxn>
              <a:cxn ang="0">
                <a:pos x="connsiteX3" y="connsiteY3"/>
              </a:cxn>
            </a:cxnLst>
            <a:rect l="l" t="t" r="r" b="b"/>
            <a:pathLst>
              <a:path w="914544" h="636212">
                <a:moveTo>
                  <a:pt x="0" y="304374"/>
                </a:moveTo>
                <a:cubicBezTo>
                  <a:pt x="148713" y="142142"/>
                  <a:pt x="297426" y="-20090"/>
                  <a:pt x="449826" y="2032"/>
                </a:cubicBezTo>
                <a:cubicBezTo>
                  <a:pt x="602226" y="24154"/>
                  <a:pt x="905797" y="331412"/>
                  <a:pt x="914400" y="437109"/>
                </a:cubicBezTo>
                <a:cubicBezTo>
                  <a:pt x="923003" y="542806"/>
                  <a:pt x="545690" y="603028"/>
                  <a:pt x="501445" y="636212"/>
                </a:cubicBezTo>
              </a:path>
            </a:pathLst>
          </a:custGeom>
          <a:noFill/>
          <a:ln w="53975">
            <a:solidFill>
              <a:schemeClr val="tx2"/>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Freeform 109"/>
          <p:cNvSpPr/>
          <p:nvPr/>
        </p:nvSpPr>
        <p:spPr>
          <a:xfrm>
            <a:off x="3387911" y="1030886"/>
            <a:ext cx="914544" cy="636212"/>
          </a:xfrm>
          <a:custGeom>
            <a:avLst/>
            <a:gdLst>
              <a:gd name="connsiteX0" fmla="*/ 0 w 914544"/>
              <a:gd name="connsiteY0" fmla="*/ 304374 h 636212"/>
              <a:gd name="connsiteX1" fmla="*/ 449826 w 914544"/>
              <a:gd name="connsiteY1" fmla="*/ 2032 h 636212"/>
              <a:gd name="connsiteX2" fmla="*/ 914400 w 914544"/>
              <a:gd name="connsiteY2" fmla="*/ 437109 h 636212"/>
              <a:gd name="connsiteX3" fmla="*/ 501445 w 914544"/>
              <a:gd name="connsiteY3" fmla="*/ 636212 h 636212"/>
            </a:gdLst>
            <a:ahLst/>
            <a:cxnLst>
              <a:cxn ang="0">
                <a:pos x="connsiteX0" y="connsiteY0"/>
              </a:cxn>
              <a:cxn ang="0">
                <a:pos x="connsiteX1" y="connsiteY1"/>
              </a:cxn>
              <a:cxn ang="0">
                <a:pos x="connsiteX2" y="connsiteY2"/>
              </a:cxn>
              <a:cxn ang="0">
                <a:pos x="connsiteX3" y="connsiteY3"/>
              </a:cxn>
            </a:cxnLst>
            <a:rect l="l" t="t" r="r" b="b"/>
            <a:pathLst>
              <a:path w="914544" h="636212">
                <a:moveTo>
                  <a:pt x="0" y="304374"/>
                </a:moveTo>
                <a:cubicBezTo>
                  <a:pt x="148713" y="142142"/>
                  <a:pt x="297426" y="-20090"/>
                  <a:pt x="449826" y="2032"/>
                </a:cubicBezTo>
                <a:cubicBezTo>
                  <a:pt x="602226" y="24154"/>
                  <a:pt x="905797" y="331412"/>
                  <a:pt x="914400" y="437109"/>
                </a:cubicBezTo>
                <a:cubicBezTo>
                  <a:pt x="923003" y="542806"/>
                  <a:pt x="545690" y="603028"/>
                  <a:pt x="501445" y="636212"/>
                </a:cubicBezTo>
              </a:path>
            </a:pathLst>
          </a:custGeom>
          <a:noFill/>
          <a:ln w="53975">
            <a:solidFill>
              <a:schemeClr val="tx2"/>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1" name="Freeform 110"/>
          <p:cNvSpPr/>
          <p:nvPr/>
        </p:nvSpPr>
        <p:spPr>
          <a:xfrm>
            <a:off x="3400180" y="4031180"/>
            <a:ext cx="914544" cy="636212"/>
          </a:xfrm>
          <a:custGeom>
            <a:avLst/>
            <a:gdLst>
              <a:gd name="connsiteX0" fmla="*/ 0 w 914544"/>
              <a:gd name="connsiteY0" fmla="*/ 304374 h 636212"/>
              <a:gd name="connsiteX1" fmla="*/ 449826 w 914544"/>
              <a:gd name="connsiteY1" fmla="*/ 2032 h 636212"/>
              <a:gd name="connsiteX2" fmla="*/ 914400 w 914544"/>
              <a:gd name="connsiteY2" fmla="*/ 437109 h 636212"/>
              <a:gd name="connsiteX3" fmla="*/ 501445 w 914544"/>
              <a:gd name="connsiteY3" fmla="*/ 636212 h 636212"/>
            </a:gdLst>
            <a:ahLst/>
            <a:cxnLst>
              <a:cxn ang="0">
                <a:pos x="connsiteX0" y="connsiteY0"/>
              </a:cxn>
              <a:cxn ang="0">
                <a:pos x="connsiteX1" y="connsiteY1"/>
              </a:cxn>
              <a:cxn ang="0">
                <a:pos x="connsiteX2" y="connsiteY2"/>
              </a:cxn>
              <a:cxn ang="0">
                <a:pos x="connsiteX3" y="connsiteY3"/>
              </a:cxn>
            </a:cxnLst>
            <a:rect l="l" t="t" r="r" b="b"/>
            <a:pathLst>
              <a:path w="914544" h="636212">
                <a:moveTo>
                  <a:pt x="0" y="304374"/>
                </a:moveTo>
                <a:cubicBezTo>
                  <a:pt x="148713" y="142142"/>
                  <a:pt x="297426" y="-20090"/>
                  <a:pt x="449826" y="2032"/>
                </a:cubicBezTo>
                <a:cubicBezTo>
                  <a:pt x="602226" y="24154"/>
                  <a:pt x="905797" y="331412"/>
                  <a:pt x="914400" y="437109"/>
                </a:cubicBezTo>
                <a:cubicBezTo>
                  <a:pt x="923003" y="542806"/>
                  <a:pt x="545690" y="603028"/>
                  <a:pt x="501445" y="636212"/>
                </a:cubicBezTo>
              </a:path>
            </a:pathLst>
          </a:custGeom>
          <a:noFill/>
          <a:ln w="53975">
            <a:solidFill>
              <a:schemeClr val="tx2"/>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Freeform 111"/>
          <p:cNvSpPr/>
          <p:nvPr/>
        </p:nvSpPr>
        <p:spPr>
          <a:xfrm>
            <a:off x="7760698" y="4021007"/>
            <a:ext cx="914544" cy="636212"/>
          </a:xfrm>
          <a:custGeom>
            <a:avLst/>
            <a:gdLst>
              <a:gd name="connsiteX0" fmla="*/ 0 w 914544"/>
              <a:gd name="connsiteY0" fmla="*/ 304374 h 636212"/>
              <a:gd name="connsiteX1" fmla="*/ 449826 w 914544"/>
              <a:gd name="connsiteY1" fmla="*/ 2032 h 636212"/>
              <a:gd name="connsiteX2" fmla="*/ 914400 w 914544"/>
              <a:gd name="connsiteY2" fmla="*/ 437109 h 636212"/>
              <a:gd name="connsiteX3" fmla="*/ 501445 w 914544"/>
              <a:gd name="connsiteY3" fmla="*/ 636212 h 636212"/>
            </a:gdLst>
            <a:ahLst/>
            <a:cxnLst>
              <a:cxn ang="0">
                <a:pos x="connsiteX0" y="connsiteY0"/>
              </a:cxn>
              <a:cxn ang="0">
                <a:pos x="connsiteX1" y="connsiteY1"/>
              </a:cxn>
              <a:cxn ang="0">
                <a:pos x="connsiteX2" y="connsiteY2"/>
              </a:cxn>
              <a:cxn ang="0">
                <a:pos x="connsiteX3" y="connsiteY3"/>
              </a:cxn>
            </a:cxnLst>
            <a:rect l="l" t="t" r="r" b="b"/>
            <a:pathLst>
              <a:path w="914544" h="636212">
                <a:moveTo>
                  <a:pt x="0" y="304374"/>
                </a:moveTo>
                <a:cubicBezTo>
                  <a:pt x="148713" y="142142"/>
                  <a:pt x="297426" y="-20090"/>
                  <a:pt x="449826" y="2032"/>
                </a:cubicBezTo>
                <a:cubicBezTo>
                  <a:pt x="602226" y="24154"/>
                  <a:pt x="905797" y="331412"/>
                  <a:pt x="914400" y="437109"/>
                </a:cubicBezTo>
                <a:cubicBezTo>
                  <a:pt x="923003" y="542806"/>
                  <a:pt x="545690" y="603028"/>
                  <a:pt x="501445" y="636212"/>
                </a:cubicBezTo>
              </a:path>
            </a:pathLst>
          </a:custGeom>
          <a:noFill/>
          <a:ln w="53975">
            <a:solidFill>
              <a:schemeClr val="tx2"/>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2444118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smtClean="0"/>
              <a:t>Metropolis-Hastings Algorithm</a:t>
            </a:r>
            <a:endParaRPr lang="ko-KR" alt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8857" y="1600200"/>
                <a:ext cx="8783623" cy="4925144"/>
              </a:xfrm>
            </p:spPr>
            <p:txBody>
              <a:bodyPr>
                <a:normAutofit fontScale="85000" lnSpcReduction="20000"/>
              </a:bodyPr>
              <a:lstStyle/>
              <a:p>
                <a:r>
                  <a:rPr lang="en-US" altLang="ko-KR" dirty="0" smtClean="0"/>
                  <a:t>General algorithm of MCMC</a:t>
                </a:r>
              </a:p>
              <a:p>
                <a:pPr lvl="1"/>
                <a:r>
                  <a:rPr lang="en-US" altLang="ko-KR" dirty="0" smtClean="0"/>
                  <a:t>Current value: </a:t>
                </a:r>
                <a14:m>
                  <m:oMath xmlns:m="http://schemas.openxmlformats.org/officeDocument/2006/math">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b="0" i="1" smtClean="0">
                            <a:latin typeface="Cambria Math" panose="02040503050406030204" pitchFamily="18" charset="0"/>
                          </a:rPr>
                          <m:t>𝑡</m:t>
                        </m:r>
                      </m:sup>
                    </m:sSup>
                  </m:oMath>
                </a14:m>
                <a:endParaRPr lang="en-US" altLang="ko-KR" dirty="0" smtClean="0"/>
              </a:p>
              <a:p>
                <a:pPr lvl="1"/>
                <a:r>
                  <a:rPr lang="en-US" altLang="ko-KR" dirty="0" smtClean="0"/>
                  <a:t>Propose a candidate </a:t>
                </a:r>
                <a14:m>
                  <m:oMath xmlns:m="http://schemas.openxmlformats.org/officeDocument/2006/math">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b="0" i="1" smtClean="0">
                            <a:latin typeface="Cambria Math" panose="02040503050406030204" pitchFamily="18" charset="0"/>
                          </a:rPr>
                          <m:t>∗</m:t>
                        </m:r>
                      </m:sup>
                    </m:sSup>
                    <m:r>
                      <a:rPr lang="en-US" altLang="ko-KR" b="0" i="1" smtClean="0">
                        <a:latin typeface="Cambria Math" panose="02040503050406030204" pitchFamily="18" charset="0"/>
                      </a:rPr>
                      <m:t>~</m:t>
                    </m:r>
                    <m:r>
                      <a:rPr lang="en-US" altLang="ko-KR" b="0" i="1" smtClean="0">
                        <a:latin typeface="Cambria Math" panose="02040503050406030204" pitchFamily="18" charset="0"/>
                      </a:rPr>
                      <m:t>𝑞</m:t>
                    </m:r>
                    <m:r>
                      <a:rPr lang="en-US" altLang="ko-KR" b="0" i="1" smtClean="0">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r>
                      <a:rPr lang="en-US" altLang="ko-KR" b="0" i="1" smtClean="0">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b="0" i="1" smtClean="0">
                            <a:latin typeface="Cambria Math" panose="02040503050406030204" pitchFamily="18" charset="0"/>
                          </a:rPr>
                          <m:t>𝑡</m:t>
                        </m:r>
                      </m:sup>
                    </m:sSup>
                    <m:r>
                      <a:rPr lang="en-US" altLang="ko-KR" b="0" i="1" smtClean="0">
                        <a:latin typeface="Cambria Math" panose="02040503050406030204" pitchFamily="18" charset="0"/>
                      </a:rPr>
                      <m:t>)</m:t>
                    </m:r>
                  </m:oMath>
                </a14:m>
                <a:r>
                  <a:rPr lang="ko-KR" altLang="en-US" dirty="0" smtClean="0"/>
                  <a:t> </a:t>
                </a:r>
                <a:r>
                  <a:rPr lang="en-US" altLang="ko-KR" dirty="0" smtClean="0"/>
                  <a:t>where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𝑞</m:t>
                        </m:r>
                      </m:e>
                      <m:sub>
                        <m:r>
                          <a:rPr lang="en-US" altLang="ko-KR" i="1">
                            <a:latin typeface="Cambria Math" panose="02040503050406030204" pitchFamily="18" charset="0"/>
                          </a:rPr>
                          <m:t>𝑡</m:t>
                        </m:r>
                      </m:sub>
                    </m:sSub>
                  </m:oMath>
                </a14:m>
                <a:r>
                  <a:rPr lang="ko-KR" altLang="en-US" dirty="0" smtClean="0"/>
                  <a:t> </a:t>
                </a:r>
                <a:r>
                  <a:rPr lang="en-US" altLang="ko-KR" dirty="0" smtClean="0"/>
                  <a:t>is a proposal distribution</a:t>
                </a:r>
              </a:p>
              <a:p>
                <a:pPr lvl="2"/>
                <a:r>
                  <a:rPr lang="en-US" altLang="ko-KR" dirty="0" smtClean="0"/>
                  <a:t>Same as importance and rejection samplings, yet the difference is the Markov property idea in the proposal distribution</a:t>
                </a:r>
              </a:p>
              <a:p>
                <a:pPr lvl="1"/>
                <a:r>
                  <a:rPr lang="en-US" altLang="ko-KR" dirty="0" smtClean="0"/>
                  <a:t>With an acceptance probability, </a:t>
                </a:r>
                <a14:m>
                  <m:oMath xmlns:m="http://schemas.openxmlformats.org/officeDocument/2006/math">
                    <m:r>
                      <a:rPr lang="ko-KR" altLang="en-US" i="1">
                        <a:latin typeface="Cambria Math" panose="02040503050406030204" pitchFamily="18" charset="0"/>
                        <a:ea typeface="Cambria Math" panose="02040503050406030204" pitchFamily="18" charset="0"/>
                      </a:rPr>
                      <m:t>𝛼</m:t>
                    </m:r>
                  </m:oMath>
                </a14:m>
                <a:endParaRPr lang="en-US" altLang="ko-KR" dirty="0" smtClean="0"/>
              </a:p>
              <a:p>
                <a:pPr lvl="2"/>
                <a:r>
                  <a:rPr lang="en-US" altLang="ko-KR" dirty="0" smtClean="0"/>
                  <a:t>Accept </a:t>
                </a:r>
                <a:r>
                  <a:rPr lang="en-US" altLang="ko-KR" dirty="0" smtClean="0">
                    <a:sym typeface="Wingdings" panose="05000000000000000000" pitchFamily="2" charset="2"/>
                  </a:rPr>
                  <a:t> </a:t>
                </a:r>
                <a14:m>
                  <m:oMath xmlns:m="http://schemas.openxmlformats.org/officeDocument/2006/math">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r>
                          <a:rPr lang="en-US" altLang="ko-KR" b="0" i="1" smtClean="0">
                            <a:latin typeface="Cambria Math" panose="02040503050406030204" pitchFamily="18" charset="0"/>
                          </a:rPr>
                          <m:t>+1</m:t>
                        </m:r>
                      </m:sup>
                    </m:sSup>
                    <m:r>
                      <a:rPr lang="en-US" altLang="ko-KR" b="0" i="1" smtClean="0">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b="0" i="1" smtClean="0">
                            <a:latin typeface="Cambria Math" panose="02040503050406030204" pitchFamily="18" charset="0"/>
                          </a:rPr>
                          <m:t>∗</m:t>
                        </m:r>
                      </m:sup>
                    </m:sSup>
                  </m:oMath>
                </a14:m>
                <a:endParaRPr lang="en-US" altLang="ko-KR" dirty="0" smtClean="0"/>
              </a:p>
              <a:p>
                <a:pPr lvl="2"/>
                <a:r>
                  <a:rPr lang="en-US" altLang="ko-KR" dirty="0" smtClean="0"/>
                  <a:t>Reject </a:t>
                </a:r>
                <a:r>
                  <a:rPr lang="en-US" altLang="ko-KR" dirty="0">
                    <a:sym typeface="Wingdings" panose="05000000000000000000" pitchFamily="2" charset="2"/>
                  </a:rPr>
                  <a:t> </a:t>
                </a:r>
                <a14:m>
                  <m:oMath xmlns:m="http://schemas.openxmlformats.org/officeDocument/2006/math">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r>
                          <a:rPr lang="en-US" altLang="ko-KR" i="1">
                            <a:latin typeface="Cambria Math" panose="02040503050406030204" pitchFamily="18" charset="0"/>
                          </a:rPr>
                          <m:t>+1</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b="0" i="1" smtClean="0">
                            <a:latin typeface="Cambria Math" panose="02040503050406030204" pitchFamily="18" charset="0"/>
                          </a:rPr>
                          <m:t>𝑡</m:t>
                        </m:r>
                      </m:sup>
                    </m:sSup>
                  </m:oMath>
                </a14:m>
                <a:endParaRPr lang="ko-KR" altLang="en-US" dirty="0"/>
              </a:p>
              <a:p>
                <a:r>
                  <a:rPr lang="en-US" altLang="ko-KR" dirty="0" smtClean="0"/>
                  <a:t>Metropolis-Hastings algorithm</a:t>
                </a:r>
              </a:p>
              <a:p>
                <a:pPr lvl="1"/>
                <a:r>
                  <a:rPr lang="en-US" altLang="ko-KR" dirty="0" smtClean="0"/>
                  <a:t>Given the general algorithm of MCMC</a:t>
                </a:r>
              </a:p>
              <a:p>
                <a:pPr lvl="1"/>
                <a:r>
                  <a:rPr lang="en-US" altLang="ko-KR" dirty="0"/>
                  <a:t>Consider a ratio, </a:t>
                </a:r>
                <a14:m>
                  <m:oMath xmlns:m="http://schemas.openxmlformats.org/officeDocument/2006/math">
                    <m:r>
                      <a:rPr lang="en-US" altLang="ko-KR" i="1">
                        <a:latin typeface="Cambria Math" panose="02040503050406030204" pitchFamily="18" charset="0"/>
                      </a:rPr>
                      <m:t>𝑟</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d>
                    <m:r>
                      <a:rPr lang="en-US" altLang="ko-KR" i="1">
                        <a:latin typeface="Cambria Math" panose="02040503050406030204" pitchFamily="18" charset="0"/>
                      </a:rPr>
                      <m:t>=</m:t>
                    </m:r>
                    <m:f>
                      <m:fPr>
                        <m:ctrlPr>
                          <a:rPr lang="en-US" altLang="ko-KR" i="1">
                            <a:latin typeface="Cambria Math" panose="02040503050406030204" pitchFamily="18" charset="0"/>
                          </a:rPr>
                        </m:ctrlPr>
                      </m:fPr>
                      <m:num>
                        <m:r>
                          <a:rPr lang="en-US" altLang="ko-KR" i="1">
                            <a:latin typeface="Cambria Math" panose="02040503050406030204" pitchFamily="18" charset="0"/>
                          </a:rPr>
                          <m:t>𝑞</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d>
                        <m:r>
                          <a:rPr lang="en-US" altLang="ko-KR" b="0" i="1" smtClean="0">
                            <a:latin typeface="Cambria Math" panose="02040503050406030204" pitchFamily="18" charset="0"/>
                          </a:rPr>
                          <m:t>𝑃</m:t>
                        </m:r>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r>
                          <a:rPr lang="en-US" altLang="ko-KR" i="1">
                            <a:latin typeface="Cambria Math" panose="02040503050406030204" pitchFamily="18" charset="0"/>
                          </a:rPr>
                          <m:t>) </m:t>
                        </m:r>
                      </m:num>
                      <m:den>
                        <m:r>
                          <a:rPr lang="en-US" altLang="ko-KR" i="1">
                            <a:latin typeface="Cambria Math" panose="02040503050406030204" pitchFamily="18" charset="0"/>
                          </a:rPr>
                          <m:t>𝑞</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d>
                        <m:r>
                          <a:rPr lang="en-US" altLang="ko-KR" b="0" i="1" smtClean="0">
                            <a:latin typeface="Cambria Math" panose="02040503050406030204" pitchFamily="18" charset="0"/>
                          </a:rPr>
                          <m:t>𝑃</m:t>
                        </m:r>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r>
                          <a:rPr lang="en-US" altLang="ko-KR" i="1">
                            <a:latin typeface="Cambria Math" panose="02040503050406030204" pitchFamily="18" charset="0"/>
                          </a:rPr>
                          <m:t>)</m:t>
                        </m:r>
                      </m:den>
                    </m:f>
                  </m:oMath>
                </a14:m>
                <a:r>
                  <a:rPr lang="en-US" altLang="ko-KR" dirty="0" smtClean="0">
                    <a:latin typeface="Cambria Math" panose="02040503050406030204" pitchFamily="18" charset="0"/>
                  </a:rPr>
                  <a:t>, we want this to be 1</a:t>
                </a:r>
              </a:p>
              <a:p>
                <a:pPr lvl="2"/>
                <a14:m>
                  <m:oMath xmlns:m="http://schemas.openxmlformats.org/officeDocument/2006/math">
                    <m:r>
                      <a:rPr lang="en-US" altLang="ko-KR" i="1">
                        <a:latin typeface="Cambria Math" panose="02040503050406030204" pitchFamily="18" charset="0"/>
                      </a:rPr>
                      <m:t>𝑞</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d>
                    <m:r>
                      <a:rPr lang="en-US" altLang="ko-KR" b="0" i="1" smtClean="0">
                        <a:latin typeface="Cambria Math" panose="02040503050406030204" pitchFamily="18" charset="0"/>
                      </a:rPr>
                      <m:t>𝑃</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d>
                    <m:sSub>
                      <m:sSubPr>
                        <m:ctrlPr>
                          <a:rPr lang="en-US" altLang="ko-KR" i="1">
                            <a:latin typeface="Cambria Math" panose="02040503050406030204" pitchFamily="18" charset="0"/>
                          </a:rPr>
                        </m:ctrlPr>
                      </m:sSubPr>
                      <m:e>
                        <m:r>
                          <a:rPr lang="en-US" altLang="ko-KR" i="1">
                            <a:latin typeface="Cambria Math" panose="02040503050406030204" pitchFamily="18" charset="0"/>
                          </a:rPr>
                          <m:t>𝑟</m:t>
                        </m:r>
                      </m:e>
                      <m:sub>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r>
                          <a:rPr lang="en-US" altLang="ko-KR" i="1">
                            <a:latin typeface="Cambria Math" panose="02040503050406030204" pitchFamily="18" charset="0"/>
                            <a:ea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sub>
                    </m:sSub>
                    <m:r>
                      <a:rPr lang="en-US" altLang="ko-KR" b="0" i="1" smtClean="0">
                        <a:latin typeface="Cambria Math" panose="02040503050406030204" pitchFamily="18" charset="0"/>
                      </a:rPr>
                      <m:t>=</m:t>
                    </m:r>
                    <m:r>
                      <a:rPr lang="en-US" altLang="ko-KR" i="1">
                        <a:latin typeface="Cambria Math" panose="02040503050406030204" pitchFamily="18" charset="0"/>
                      </a:rPr>
                      <m:t>𝑞</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d>
                    <m:r>
                      <a:rPr lang="en-US" altLang="ko-KR" b="0" i="1" smtClean="0">
                        <a:latin typeface="Cambria Math" panose="02040503050406030204" pitchFamily="18" charset="0"/>
                      </a:rPr>
                      <m:t>𝑃</m:t>
                    </m:r>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r>
                      <a:rPr lang="en-US" altLang="ko-KR" i="1">
                        <a:latin typeface="Cambria Math" panose="02040503050406030204" pitchFamily="18" charset="0"/>
                      </a:rPr>
                      <m:t>)</m:t>
                    </m:r>
                    <m:sSub>
                      <m:sSubPr>
                        <m:ctrlPr>
                          <a:rPr lang="en-US" altLang="ko-KR" i="1" smtClean="0">
                            <a:latin typeface="Cambria Math" panose="02040503050406030204" pitchFamily="18" charset="0"/>
                          </a:rPr>
                        </m:ctrlPr>
                      </m:sSubPr>
                      <m:e>
                        <m:r>
                          <a:rPr lang="en-US" altLang="ko-KR" b="0" i="1" smtClean="0">
                            <a:latin typeface="Cambria Math" panose="02040503050406030204" pitchFamily="18" charset="0"/>
                          </a:rPr>
                          <m:t>𝑟</m:t>
                        </m:r>
                      </m:e>
                      <m:sub>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r>
                          <a:rPr lang="en-US" altLang="ko-KR" i="1" smtClean="0">
                            <a:latin typeface="Cambria Math" panose="02040503050406030204" pitchFamily="18" charset="0"/>
                            <a:ea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sub>
                    </m:sSub>
                  </m:oMath>
                </a14:m>
                <a:endParaRPr lang="en-US" altLang="ko-KR" dirty="0"/>
              </a:p>
              <a:p>
                <a:pPr lvl="2"/>
                <a14:m>
                  <m:oMath xmlns:m="http://schemas.openxmlformats.org/officeDocument/2006/math">
                    <m:r>
                      <a:rPr lang="en-US" altLang="ko-KR" i="1">
                        <a:latin typeface="Cambria Math" panose="02040503050406030204" pitchFamily="18" charset="0"/>
                      </a:rPr>
                      <m:t>𝑟</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d>
                    <m:r>
                      <a:rPr lang="en-US" altLang="ko-KR" i="1">
                        <a:latin typeface="Cambria Math" panose="02040503050406030204" pitchFamily="18" charset="0"/>
                      </a:rPr>
                      <m:t>&lt;1</m:t>
                    </m:r>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rPr>
                      <m:t>𝑞</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d>
                    <m:r>
                      <a:rPr lang="en-US" altLang="ko-KR" b="0" i="1" smtClean="0">
                        <a:latin typeface="Cambria Math" panose="02040503050406030204" pitchFamily="18" charset="0"/>
                      </a:rPr>
                      <m:t>𝑃</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d>
                    <m:r>
                      <a:rPr lang="en-US" altLang="ko-KR" b="0" i="1" smtClean="0">
                        <a:latin typeface="Cambria Math" panose="02040503050406030204" pitchFamily="18" charset="0"/>
                      </a:rPr>
                      <m:t>&lt;</m:t>
                    </m:r>
                    <m:r>
                      <a:rPr lang="en-US" altLang="ko-KR" i="1">
                        <a:latin typeface="Cambria Math" panose="02040503050406030204" pitchFamily="18" charset="0"/>
                      </a:rPr>
                      <m:t>𝑞</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d>
                    <m:r>
                      <a:rPr lang="en-US" altLang="ko-KR" b="0" i="1" smtClean="0">
                        <a:latin typeface="Cambria Math" panose="02040503050406030204" pitchFamily="18" charset="0"/>
                      </a:rPr>
                      <m:t>𝑃</m:t>
                    </m:r>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r>
                      <a:rPr lang="en-US" altLang="ko-KR" i="1">
                        <a:latin typeface="Cambria Math" panose="02040503050406030204" pitchFamily="18" charset="0"/>
                      </a:rPr>
                      <m:t>)</m:t>
                    </m:r>
                  </m:oMath>
                </a14:m>
                <a:endParaRPr lang="en-US" altLang="ko-KR" dirty="0" smtClean="0"/>
              </a:p>
              <a:p>
                <a:pPr lvl="3"/>
                <a:r>
                  <a:rPr lang="en-US" altLang="ko-KR" dirty="0" smtClean="0"/>
                  <a:t>Increase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𝑟</m:t>
                        </m:r>
                      </m:e>
                      <m:sub>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r>
                          <a:rPr lang="en-US" altLang="ko-KR" i="1">
                            <a:latin typeface="Cambria Math" panose="02040503050406030204" pitchFamily="18" charset="0"/>
                            <a:ea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sub>
                    </m:sSub>
                  </m:oMath>
                </a14:m>
                <a:r>
                  <a:rPr lang="en-US" altLang="ko-KR" dirty="0" smtClean="0">
                    <a:latin typeface="Cambria Math" panose="02040503050406030204" pitchFamily="18" charset="0"/>
                  </a:rPr>
                  <a:t>=1</a:t>
                </a:r>
                <a:r>
                  <a:rPr lang="en-US" altLang="ko-KR" i="1" dirty="0" smtClean="0">
                    <a:latin typeface="Cambria Math" panose="02040503050406030204" pitchFamily="18" charset="0"/>
                  </a:rPr>
                  <a:t>, </a:t>
                </a:r>
                <a:r>
                  <a:rPr lang="en-US" altLang="ko-KR" dirty="0" smtClean="0">
                    <a:latin typeface="Cambria Math" panose="02040503050406030204" pitchFamily="18" charset="0"/>
                  </a:rPr>
                  <a:t>degrease</a:t>
                </a:r>
                <a:r>
                  <a:rPr lang="en-US" altLang="ko-KR" i="1" dirty="0" smtClean="0">
                    <a:latin typeface="Cambria Math" panose="02040503050406030204" pitchFamily="18" charset="0"/>
                  </a:rPr>
                  <a:t>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𝑟</m:t>
                        </m:r>
                      </m:e>
                      <m:sub>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r>
                          <a:rPr lang="en-US" altLang="ko-KR" i="1">
                            <a:latin typeface="Cambria Math" panose="02040503050406030204" pitchFamily="18" charset="0"/>
                            <a:ea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sub>
                    </m:sSub>
                    <m:r>
                      <a:rPr lang="en-US" altLang="ko-KR" b="0" i="1" smtClean="0">
                        <a:latin typeface="Cambria Math" panose="02040503050406030204" pitchFamily="18" charset="0"/>
                      </a:rPr>
                      <m:t>=</m:t>
                    </m:r>
                    <m:r>
                      <a:rPr lang="en-US" altLang="ko-KR" i="1">
                        <a:latin typeface="Cambria Math" panose="02040503050406030204" pitchFamily="18" charset="0"/>
                      </a:rPr>
                      <m:t>𝑟</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d>
                  </m:oMath>
                </a14:m>
                <a:endParaRPr lang="en-US" altLang="ko-KR" i="1" dirty="0" smtClean="0">
                  <a:latin typeface="Cambria Math" panose="02040503050406030204" pitchFamily="18" charset="0"/>
                </a:endParaRPr>
              </a:p>
              <a:p>
                <a:pPr lvl="2"/>
                <a14:m>
                  <m:oMath xmlns:m="http://schemas.openxmlformats.org/officeDocument/2006/math">
                    <m:r>
                      <a:rPr lang="en-US" altLang="ko-KR" i="1">
                        <a:latin typeface="Cambria Math" panose="02040503050406030204" pitchFamily="18" charset="0"/>
                      </a:rPr>
                      <m:t>𝑟</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d>
                    <m:r>
                      <a:rPr lang="en-US" altLang="ko-KR" i="1">
                        <a:latin typeface="Cambria Math" panose="02040503050406030204" pitchFamily="18" charset="0"/>
                      </a:rPr>
                      <m:t>&gt;1</m:t>
                    </m:r>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rPr>
                      <m:t>𝑞</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d>
                    <m:r>
                      <a:rPr lang="en-US" altLang="ko-KR" b="0" i="1" smtClean="0">
                        <a:latin typeface="Cambria Math" panose="02040503050406030204" pitchFamily="18" charset="0"/>
                      </a:rPr>
                      <m:t>𝑃</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d>
                    <m:r>
                      <a:rPr lang="en-US" altLang="ko-KR" b="0" i="1" smtClean="0">
                        <a:latin typeface="Cambria Math" panose="02040503050406030204" pitchFamily="18" charset="0"/>
                      </a:rPr>
                      <m:t>&gt;</m:t>
                    </m:r>
                    <m:r>
                      <a:rPr lang="en-US" altLang="ko-KR" i="1">
                        <a:latin typeface="Cambria Math" panose="02040503050406030204" pitchFamily="18" charset="0"/>
                      </a:rPr>
                      <m:t>𝑞</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d>
                    <m:r>
                      <a:rPr lang="en-US" altLang="ko-KR" b="0" i="1" smtClean="0">
                        <a:latin typeface="Cambria Math" panose="02040503050406030204" pitchFamily="18" charset="0"/>
                      </a:rPr>
                      <m:t>𝑃</m:t>
                    </m:r>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r>
                      <a:rPr lang="en-US" altLang="ko-KR" i="1">
                        <a:latin typeface="Cambria Math" panose="02040503050406030204" pitchFamily="18" charset="0"/>
                      </a:rPr>
                      <m:t>)</m:t>
                    </m:r>
                  </m:oMath>
                </a14:m>
                <a:endParaRPr lang="en-US" altLang="ko-KR" dirty="0" smtClean="0">
                  <a:ea typeface="Cambria Math" panose="02040503050406030204" pitchFamily="18" charset="0"/>
                </a:endParaRPr>
              </a:p>
              <a:p>
                <a:pPr lvl="3"/>
                <a:r>
                  <a:rPr lang="en-US" altLang="ko-KR" dirty="0" smtClean="0"/>
                  <a:t>Decrease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𝑟</m:t>
                        </m:r>
                      </m:e>
                      <m:sub>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r>
                          <a:rPr lang="en-US" altLang="ko-KR" i="1">
                            <a:latin typeface="Cambria Math" panose="02040503050406030204" pitchFamily="18" charset="0"/>
                            <a:ea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sub>
                    </m:sSub>
                  </m:oMath>
                </a14:m>
                <a:r>
                  <a:rPr lang="en-US" altLang="ko-KR" dirty="0">
                    <a:latin typeface="Cambria Math" panose="02040503050406030204" pitchFamily="18" charset="0"/>
                  </a:rPr>
                  <a:t>=</a:t>
                </a:r>
                <a14:m>
                  <m:oMath xmlns:m="http://schemas.openxmlformats.org/officeDocument/2006/math">
                    <m:r>
                      <a:rPr lang="en-US" altLang="ko-KR" i="1">
                        <a:latin typeface="Cambria Math" panose="02040503050406030204" pitchFamily="18" charset="0"/>
                      </a:rPr>
                      <m:t>𝑟</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d>
                  </m:oMath>
                </a14:m>
                <a:r>
                  <a:rPr lang="en-US" altLang="ko-KR" i="1" dirty="0">
                    <a:latin typeface="Cambria Math" panose="02040503050406030204" pitchFamily="18" charset="0"/>
                  </a:rPr>
                  <a:t>, </a:t>
                </a:r>
                <a:r>
                  <a:rPr lang="en-US" altLang="ko-KR" dirty="0" smtClean="0">
                    <a:latin typeface="Cambria Math" panose="02040503050406030204" pitchFamily="18" charset="0"/>
                  </a:rPr>
                  <a:t>increase</a:t>
                </a:r>
                <a:r>
                  <a:rPr lang="en-US" altLang="ko-KR" i="1" dirty="0" smtClean="0">
                    <a:latin typeface="Cambria Math" panose="02040503050406030204" pitchFamily="18" charset="0"/>
                  </a:rPr>
                  <a:t>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𝑟</m:t>
                        </m:r>
                      </m:e>
                      <m:sub>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r>
                          <a:rPr lang="en-US" altLang="ko-KR" i="1">
                            <a:latin typeface="Cambria Math" panose="02040503050406030204" pitchFamily="18" charset="0"/>
                            <a:ea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sub>
                    </m:sSub>
                    <m:r>
                      <a:rPr lang="en-US" altLang="ko-KR" i="1">
                        <a:latin typeface="Cambria Math" panose="02040503050406030204" pitchFamily="18" charset="0"/>
                      </a:rPr>
                      <m:t>=</m:t>
                    </m:r>
                    <m:r>
                      <a:rPr lang="en-US" altLang="ko-KR" b="0" i="1" smtClean="0">
                        <a:latin typeface="Cambria Math" panose="02040503050406030204" pitchFamily="18" charset="0"/>
                      </a:rPr>
                      <m:t>1</m:t>
                    </m:r>
                  </m:oMath>
                </a14:m>
                <a:endParaRPr lang="en-US" altLang="ko-KR" i="1" dirty="0">
                  <a:latin typeface="Cambria Math" panose="02040503050406030204" pitchFamily="18" charset="0"/>
                </a:endParaRPr>
              </a:p>
              <a:p>
                <a:pPr lvl="1"/>
                <a:r>
                  <a:rPr lang="en-US" altLang="ko-KR" dirty="0" smtClean="0"/>
                  <a:t>Acceptance probability </a:t>
                </a:r>
                <a14:m>
                  <m:oMath xmlns:m="http://schemas.openxmlformats.org/officeDocument/2006/math">
                    <m:r>
                      <a:rPr lang="ko-KR" altLang="en-US" i="1">
                        <a:latin typeface="Cambria Math" panose="02040503050406030204" pitchFamily="18" charset="0"/>
                        <a:ea typeface="Cambria Math" panose="02040503050406030204" pitchFamily="18" charset="0"/>
                      </a:rPr>
                      <m:t>𝛼</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d>
                    <m:r>
                      <a:rPr lang="en-US" altLang="ko-KR" b="0" i="1" smtClean="0">
                        <a:latin typeface="Cambria Math" panose="02040503050406030204" pitchFamily="18" charset="0"/>
                        <a:ea typeface="Cambria Math" panose="02040503050406030204" pitchFamily="18" charset="0"/>
                      </a:rPr>
                      <m:t>=</m:t>
                    </m:r>
                    <m:r>
                      <m:rPr>
                        <m:sty m:val="p"/>
                      </m:rPr>
                      <a:rPr lang="en-US" altLang="ko-KR" b="0" i="0" smtClean="0">
                        <a:latin typeface="Cambria Math" panose="02040503050406030204" pitchFamily="18" charset="0"/>
                        <a:ea typeface="Cambria Math" panose="02040503050406030204" pitchFamily="18" charset="0"/>
                      </a:rPr>
                      <m:t>min</m:t>
                    </m:r>
                    <m:r>
                      <a:rPr lang="en-US" altLang="ko-KR" b="0" i="1" smtClean="0">
                        <a:latin typeface="Cambria Math" panose="02040503050406030204" pitchFamily="18" charset="0"/>
                        <a:ea typeface="Cambria Math" panose="02040503050406030204" pitchFamily="18" charset="0"/>
                      </a:rPr>
                      <m:t>⁡{1,</m:t>
                    </m:r>
                    <m:r>
                      <a:rPr lang="en-US" altLang="ko-KR" i="1">
                        <a:latin typeface="Cambria Math" panose="02040503050406030204" pitchFamily="18" charset="0"/>
                      </a:rPr>
                      <m:t>𝑟</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d>
                    <m:r>
                      <a:rPr lang="en-US" altLang="ko-KR" b="0" i="1" smtClean="0">
                        <a:latin typeface="Cambria Math" panose="02040503050406030204" pitchFamily="18" charset="0"/>
                      </a:rPr>
                      <m:t>}</m:t>
                    </m:r>
                  </m:oMath>
                </a14:m>
                <a:endParaRPr lang="en-US" altLang="ko-KR" dirty="0"/>
              </a:p>
              <a:p>
                <a:pPr lvl="1"/>
                <a:endParaRPr lang="en-US" altLang="ko-KR" dirty="0" smtClean="0"/>
              </a:p>
              <a:p>
                <a:pPr lvl="2"/>
                <a:endParaRPr lang="en-US" altLang="ko-KR" dirty="0"/>
              </a:p>
              <a:p>
                <a:pPr lvl="1"/>
                <a:endParaRPr lang="ko-KR" alt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8857" y="1600200"/>
                <a:ext cx="8783623" cy="4925144"/>
              </a:xfrm>
              <a:blipFill rotWithShape="0">
                <a:blip r:embed="rId2"/>
                <a:stretch>
                  <a:fillRect t="-1859"/>
                </a:stretch>
              </a:blipFill>
            </p:spPr>
            <p:txBody>
              <a:bodyPr/>
              <a:lstStyle/>
              <a:p>
                <a:r>
                  <a:rPr lang="ko-KR" altLang="en-US">
                    <a:noFill/>
                  </a:rPr>
                  <a:t> </a:t>
                </a:r>
              </a:p>
            </p:txBody>
          </p:sp>
        </mc:Fallback>
      </mc:AlternateContent>
      <p:sp>
        <p:nvSpPr>
          <p:cNvPr id="4" name="Slide Number Placeholder 3"/>
          <p:cNvSpPr>
            <a:spLocks noGrp="1"/>
          </p:cNvSpPr>
          <p:nvPr>
            <p:ph type="sldNum" sz="quarter" idx="12"/>
          </p:nvPr>
        </p:nvSpPr>
        <p:spPr/>
        <p:txBody>
          <a:bodyPr/>
          <a:lstStyle/>
          <a:p>
            <a:fld id="{85CD3E9B-A789-4DCF-960C-49E4EDB7DF3D}" type="slidenum">
              <a:rPr lang="ko-KR" altLang="en-US" smtClean="0"/>
              <a:t>11</a:t>
            </a:fld>
            <a:endParaRPr lang="ko-KR" altLang="en-US"/>
          </a:p>
        </p:txBody>
      </p:sp>
      <mc:AlternateContent xmlns:mc="http://schemas.openxmlformats.org/markup-compatibility/2006" xmlns:a14="http://schemas.microsoft.com/office/drawing/2010/main">
        <mc:Choice Requires="a14">
          <p:sp>
            <p:nvSpPr>
              <p:cNvPr id="5" name="Rectangle 4"/>
              <p:cNvSpPr/>
              <p:nvPr/>
            </p:nvSpPr>
            <p:spPr>
              <a:xfrm>
                <a:off x="4929989" y="1412776"/>
                <a:ext cx="4088250" cy="6337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We want the stationary distribution, </a:t>
                </a:r>
                <a14:m>
                  <m:oMath xmlns:m="http://schemas.openxmlformats.org/officeDocument/2006/math">
                    <m:r>
                      <a:rPr lang="en-US" altLang="ko-KR" i="1">
                        <a:latin typeface="Cambria Math" panose="02040503050406030204" pitchFamily="18" charset="0"/>
                      </a:rPr>
                      <m:t>𝜋</m:t>
                    </m:r>
                    <m:r>
                      <a:rPr lang="en-US" altLang="ko-KR" b="0" i="1" smtClean="0">
                        <a:latin typeface="Cambria Math" panose="02040503050406030204" pitchFamily="18" charset="0"/>
                      </a:rPr>
                      <m:t>(</m:t>
                    </m:r>
                    <m:r>
                      <a:rPr lang="en-US" altLang="ko-KR" b="0" i="1" smtClean="0">
                        <a:latin typeface="Cambria Math" panose="02040503050406030204" pitchFamily="18" charset="0"/>
                      </a:rPr>
                      <m:t>𝑧</m:t>
                    </m:r>
                    <m:r>
                      <a:rPr lang="en-US" altLang="ko-KR" b="0" i="1" smtClean="0">
                        <a:latin typeface="Cambria Math" panose="02040503050406030204" pitchFamily="18" charset="0"/>
                      </a:rPr>
                      <m:t>)</m:t>
                    </m:r>
                  </m:oMath>
                </a14:m>
                <a:r>
                  <a:rPr lang="en-US" altLang="ko-KR" dirty="0" smtClean="0"/>
                  <a:t>, of our MCMC sampling to be </a:t>
                </a:r>
                <a14:m>
                  <m:oMath xmlns:m="http://schemas.openxmlformats.org/officeDocument/2006/math">
                    <m:r>
                      <m:rPr>
                        <m:sty m:val="p"/>
                      </m:rPr>
                      <a:rPr lang="en-US" altLang="ko-KR" b="0" i="0" smtClean="0">
                        <a:latin typeface="Cambria Math" panose="02040503050406030204" pitchFamily="18" charset="0"/>
                      </a:rPr>
                      <m:t>P</m:t>
                    </m:r>
                    <m:r>
                      <a:rPr lang="en-US" altLang="ko-KR" i="1">
                        <a:latin typeface="Cambria Math" panose="02040503050406030204" pitchFamily="18" charset="0"/>
                      </a:rPr>
                      <m:t>(</m:t>
                    </m:r>
                    <m:r>
                      <a:rPr lang="en-US" altLang="ko-KR" i="1">
                        <a:latin typeface="Cambria Math" panose="02040503050406030204" pitchFamily="18" charset="0"/>
                      </a:rPr>
                      <m:t>𝑧</m:t>
                    </m:r>
                    <m:r>
                      <a:rPr lang="en-US" altLang="ko-KR" i="1">
                        <a:latin typeface="Cambria Math" panose="02040503050406030204" pitchFamily="18" charset="0"/>
                      </a:rPr>
                      <m:t>)</m:t>
                    </m:r>
                  </m:oMath>
                </a14:m>
                <a:endParaRPr lang="ko-KR" altLang="en-US" b="1" i="1" dirty="0"/>
              </a:p>
            </p:txBody>
          </p:sp>
        </mc:Choice>
        <mc:Fallback xmlns="">
          <p:sp>
            <p:nvSpPr>
              <p:cNvPr id="5" name="Rectangle 4"/>
              <p:cNvSpPr>
                <a:spLocks noRot="1" noChangeAspect="1" noMove="1" noResize="1" noEditPoints="1" noAdjustHandles="1" noChangeArrowheads="1" noChangeShapeType="1" noTextEdit="1"/>
              </p:cNvSpPr>
              <p:nvPr/>
            </p:nvSpPr>
            <p:spPr>
              <a:xfrm>
                <a:off x="4929989" y="1412776"/>
                <a:ext cx="4088250" cy="633738"/>
              </a:xfrm>
              <a:prstGeom prst="rect">
                <a:avLst/>
              </a:prstGeom>
              <a:blipFill rotWithShape="0">
                <a:blip r:embed="rId3"/>
                <a:stretch>
                  <a:fillRect t="-6731" b="-14423"/>
                </a:stretch>
              </a:blipFill>
              <a:ln>
                <a:no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5798456" y="3059901"/>
                <a:ext cx="3219783" cy="6337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t>Reversible Markov </a:t>
                </a:r>
                <a:r>
                  <a:rPr lang="en-US" altLang="ko-KR" dirty="0" smtClean="0"/>
                  <a:t>chain</a:t>
                </a:r>
              </a:p>
              <a:p>
                <a:pPr algn="ctr"/>
                <a14:m>
                  <m:oMathPara xmlns:m="http://schemas.openxmlformats.org/officeDocument/2006/math">
                    <m:oMathParaPr>
                      <m:jc m:val="centerGroup"/>
                    </m:oMathParaPr>
                    <m:oMath xmlns:m="http://schemas.openxmlformats.org/officeDocument/2006/math">
                      <m:sSub>
                        <m:sSubPr>
                          <m:ctrlPr>
                            <a:rPr lang="en-US" altLang="ko-KR" i="1">
                              <a:latin typeface="Cambria Math" panose="02040503050406030204" pitchFamily="18" charset="0"/>
                              <a:ea typeface="Cambria Math" panose="02040503050406030204" pitchFamily="18" charset="0"/>
                            </a:rPr>
                          </m:ctrlPr>
                        </m:sSubPr>
                        <m:e>
                          <m:r>
                            <a:rPr lang="ko-KR" altLang="en-US" i="1">
                              <a:latin typeface="Cambria Math" panose="02040503050406030204" pitchFamily="18" charset="0"/>
                              <a:ea typeface="Cambria Math" panose="02040503050406030204" pitchFamily="18" charset="0"/>
                            </a:rPr>
                            <m:t>𝜋</m:t>
                          </m:r>
                        </m:e>
                        <m:sub>
                          <m:r>
                            <a:rPr lang="en-US" altLang="ko-KR" i="1">
                              <a:latin typeface="Cambria Math" panose="02040503050406030204" pitchFamily="18" charset="0"/>
                              <a:ea typeface="Cambria Math" panose="02040503050406030204" pitchFamily="18" charset="0"/>
                            </a:rPr>
                            <m:t>𝑖</m:t>
                          </m:r>
                        </m:sub>
                      </m:sSub>
                      <m:sSub>
                        <m:sSubPr>
                          <m:ctrlPr>
                            <a:rPr lang="en-US" altLang="ko-KR" i="1">
                              <a:latin typeface="Cambria Math" panose="02040503050406030204" pitchFamily="18" charset="0"/>
                              <a:ea typeface="Cambria Math" panose="02040503050406030204" pitchFamily="18" charset="0"/>
                            </a:rPr>
                          </m:ctrlPr>
                        </m:sSubPr>
                        <m:e>
                          <m:r>
                            <a:rPr lang="en-US" altLang="ko-KR" i="1">
                              <a:latin typeface="Cambria Math" panose="02040503050406030204" pitchFamily="18" charset="0"/>
                              <a:ea typeface="Cambria Math" panose="02040503050406030204" pitchFamily="18" charset="0"/>
                            </a:rPr>
                            <m:t>𝑇</m:t>
                          </m:r>
                        </m:e>
                        <m:sub>
                          <m:r>
                            <a:rPr lang="en-US" altLang="ko-KR" i="1">
                              <a:latin typeface="Cambria Math" panose="02040503050406030204" pitchFamily="18" charset="0"/>
                              <a:ea typeface="Cambria Math" panose="02040503050406030204" pitchFamily="18" charset="0"/>
                            </a:rPr>
                            <m:t>𝑖</m:t>
                          </m:r>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𝑗</m:t>
                          </m:r>
                        </m:sub>
                      </m:sSub>
                      <m:r>
                        <a:rPr lang="en-US" altLang="ko-KR" i="1">
                          <a:latin typeface="Cambria Math" panose="02040503050406030204" pitchFamily="18" charset="0"/>
                          <a:ea typeface="Cambria Math" panose="02040503050406030204" pitchFamily="18" charset="0"/>
                        </a:rPr>
                        <m:t>=</m:t>
                      </m:r>
                      <m:sSub>
                        <m:sSubPr>
                          <m:ctrlPr>
                            <a:rPr lang="en-US" altLang="ko-KR" i="1">
                              <a:latin typeface="Cambria Math" panose="02040503050406030204" pitchFamily="18" charset="0"/>
                              <a:ea typeface="Cambria Math" panose="02040503050406030204" pitchFamily="18" charset="0"/>
                            </a:rPr>
                          </m:ctrlPr>
                        </m:sSubPr>
                        <m:e>
                          <m:r>
                            <a:rPr lang="ko-KR" altLang="en-US" i="1">
                              <a:latin typeface="Cambria Math" panose="02040503050406030204" pitchFamily="18" charset="0"/>
                              <a:ea typeface="Cambria Math" panose="02040503050406030204" pitchFamily="18" charset="0"/>
                            </a:rPr>
                            <m:t>𝜋</m:t>
                          </m:r>
                        </m:e>
                        <m:sub>
                          <m:r>
                            <a:rPr lang="en-US" altLang="ko-KR" i="1">
                              <a:latin typeface="Cambria Math" panose="02040503050406030204" pitchFamily="18" charset="0"/>
                              <a:ea typeface="Cambria Math" panose="02040503050406030204" pitchFamily="18" charset="0"/>
                            </a:rPr>
                            <m:t>𝑗</m:t>
                          </m:r>
                        </m:sub>
                      </m:sSub>
                      <m:sSub>
                        <m:sSubPr>
                          <m:ctrlPr>
                            <a:rPr lang="en-US" altLang="ko-KR" i="1">
                              <a:latin typeface="Cambria Math" panose="02040503050406030204" pitchFamily="18" charset="0"/>
                              <a:ea typeface="Cambria Math" panose="02040503050406030204" pitchFamily="18" charset="0"/>
                            </a:rPr>
                          </m:ctrlPr>
                        </m:sSubPr>
                        <m:e>
                          <m:r>
                            <a:rPr lang="en-US" altLang="ko-KR" i="1">
                              <a:latin typeface="Cambria Math" panose="02040503050406030204" pitchFamily="18" charset="0"/>
                              <a:ea typeface="Cambria Math" panose="02040503050406030204" pitchFamily="18" charset="0"/>
                            </a:rPr>
                            <m:t>𝑇</m:t>
                          </m:r>
                        </m:e>
                        <m:sub>
                          <m:r>
                            <a:rPr lang="en-US" altLang="ko-KR" i="1">
                              <a:latin typeface="Cambria Math" panose="02040503050406030204" pitchFamily="18" charset="0"/>
                              <a:ea typeface="Cambria Math" panose="02040503050406030204" pitchFamily="18" charset="0"/>
                            </a:rPr>
                            <m:t>𝑗</m:t>
                          </m:r>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𝑖</m:t>
                          </m:r>
                        </m:sub>
                      </m:sSub>
                    </m:oMath>
                  </m:oMathPara>
                </a14:m>
                <a:endParaRPr lang="ko-KR" altLang="en-US" dirty="0"/>
              </a:p>
            </p:txBody>
          </p:sp>
        </mc:Choice>
        <mc:Fallback xmlns="">
          <p:sp>
            <p:nvSpPr>
              <p:cNvPr id="7" name="Rectangle 6"/>
              <p:cNvSpPr>
                <a:spLocks noRot="1" noChangeAspect="1" noMove="1" noResize="1" noEditPoints="1" noAdjustHandles="1" noChangeArrowheads="1" noChangeShapeType="1" noTextEdit="1"/>
              </p:cNvSpPr>
              <p:nvPr/>
            </p:nvSpPr>
            <p:spPr>
              <a:xfrm>
                <a:off x="5798456" y="3059901"/>
                <a:ext cx="3219783" cy="633738"/>
              </a:xfrm>
              <a:prstGeom prst="rect">
                <a:avLst/>
              </a:prstGeom>
              <a:blipFill rotWithShape="0">
                <a:blip r:embed="rId4"/>
                <a:stretch>
                  <a:fillRect t="-8654" b="-7692"/>
                </a:stretch>
              </a:blipFill>
              <a:ln>
                <a:noFill/>
              </a:ln>
            </p:spPr>
            <p:txBody>
              <a:bodyPr/>
              <a:lstStyle/>
              <a:p>
                <a:r>
                  <a:rPr lang="ko-KR" altLang="en-US">
                    <a:noFill/>
                  </a:rPr>
                  <a:t> </a:t>
                </a:r>
              </a:p>
            </p:txBody>
          </p:sp>
        </mc:Fallback>
      </mc:AlternateContent>
      <p:sp>
        <p:nvSpPr>
          <p:cNvPr id="8" name="Down Arrow 7"/>
          <p:cNvSpPr/>
          <p:nvPr/>
        </p:nvSpPr>
        <p:spPr>
          <a:xfrm>
            <a:off x="8672286" y="2046514"/>
            <a:ext cx="345953" cy="1013387"/>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Down Arrow 8"/>
          <p:cNvSpPr/>
          <p:nvPr/>
        </p:nvSpPr>
        <p:spPr>
          <a:xfrm>
            <a:off x="8107222" y="3693639"/>
            <a:ext cx="345953" cy="1451675"/>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ular Callout 9"/>
          <p:cNvSpPr/>
          <p:nvPr/>
        </p:nvSpPr>
        <p:spPr>
          <a:xfrm>
            <a:off x="6188381" y="5143993"/>
            <a:ext cx="2893210" cy="858693"/>
          </a:xfrm>
          <a:prstGeom prst="wedgeRectCallout">
            <a:avLst>
              <a:gd name="adj1" fmla="val -77786"/>
              <a:gd name="adj2" fmla="val -4596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b="1" i="1" dirty="0" smtClean="0"/>
              <a:t>q</a:t>
            </a:r>
            <a:r>
              <a:rPr lang="en-US" altLang="ko-KR" dirty="0" smtClean="0"/>
              <a:t> is not well-designed to be the reversible MC, so we adjust by </a:t>
            </a:r>
            <a:r>
              <a:rPr lang="en-US" altLang="ko-KR" b="1" i="1" dirty="0" smtClean="0"/>
              <a:t>r</a:t>
            </a:r>
            <a:endParaRPr lang="ko-KR" altLang="en-US" b="1" i="1" dirty="0"/>
          </a:p>
        </p:txBody>
      </p:sp>
      <mc:AlternateContent xmlns:mc="http://schemas.openxmlformats.org/markup-compatibility/2006" xmlns:a14="http://schemas.microsoft.com/office/drawing/2010/main">
        <mc:Choice Requires="a14">
          <p:sp>
            <p:nvSpPr>
              <p:cNvPr id="6" name="직사각형 5"/>
              <p:cNvSpPr/>
              <p:nvPr/>
            </p:nvSpPr>
            <p:spPr>
              <a:xfrm>
                <a:off x="1209199" y="-15508"/>
                <a:ext cx="7934801" cy="369332"/>
              </a:xfrm>
              <a:prstGeom prst="rect">
                <a:avLst/>
              </a:prstGeom>
            </p:spPr>
            <p:txBody>
              <a:bodyPr wrap="none">
                <a:spAutoFit/>
              </a:bodyPr>
              <a:lstStyle/>
              <a:p>
                <a:pPr lvl="2"/>
                <a14:m>
                  <m:oMath xmlns:m="http://schemas.openxmlformats.org/officeDocument/2006/math">
                    <m:r>
                      <a:rPr lang="en-US" altLang="ko-KR" i="1">
                        <a:latin typeface="Cambria Math" panose="02040503050406030204" pitchFamily="18" charset="0"/>
                      </a:rPr>
                      <m:t>𝑞</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d>
                    <m:r>
                      <a:rPr lang="en-US" altLang="ko-KR" i="1">
                        <a:latin typeface="Cambria Math" panose="02040503050406030204" pitchFamily="18" charset="0"/>
                      </a:rPr>
                      <m:t>𝑃</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d>
                    <m:r>
                      <a:rPr lang="en-US" altLang="ko-KR" i="1">
                        <a:latin typeface="Cambria Math" panose="02040503050406030204" pitchFamily="18" charset="0"/>
                      </a:rPr>
                      <m:t>&lt;</m:t>
                    </m:r>
                    <m:r>
                      <a:rPr lang="en-US" altLang="ko-KR" i="1">
                        <a:latin typeface="Cambria Math" panose="02040503050406030204" pitchFamily="18" charset="0"/>
                      </a:rPr>
                      <m:t>𝑞</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d>
                    <m:r>
                      <a:rPr lang="en-US" altLang="ko-KR" i="1">
                        <a:latin typeface="Cambria Math" panose="02040503050406030204" pitchFamily="18" charset="0"/>
                      </a:rPr>
                      <m:t>𝑃</m:t>
                    </m:r>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r>
                      <a:rPr lang="en-US" altLang="ko-KR" i="1">
                        <a:latin typeface="Cambria Math" panose="02040503050406030204" pitchFamily="18" charset="0"/>
                      </a:rPr>
                      <m:t>)</m:t>
                    </m:r>
                  </m:oMath>
                </a14:m>
                <a:r>
                  <a:rPr lang="en-US" altLang="ko-KR" dirty="0" smtClean="0">
                    <a:sym typeface="Wingdings" panose="05000000000000000000" pitchFamily="2" charset="2"/>
                  </a:rPr>
                  <a:t>Movement from </a:t>
                </a:r>
                <a14:m>
                  <m:oMath xmlns:m="http://schemas.openxmlformats.org/officeDocument/2006/math">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oMath>
                </a14:m>
                <a:r>
                  <a:rPr lang="en-US" altLang="ko-KR" dirty="0" smtClean="0">
                    <a:sym typeface="Wingdings" panose="05000000000000000000" pitchFamily="2" charset="2"/>
                  </a:rPr>
                  <a:t> to  </a:t>
                </a:r>
                <a14:m>
                  <m:oMath xmlns:m="http://schemas.openxmlformats.org/officeDocument/2006/math">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oMath>
                </a14:m>
                <a:r>
                  <a:rPr lang="en-US" altLang="ko-KR" dirty="0" smtClean="0"/>
                  <a:t> is too often</a:t>
                </a:r>
                <a:endParaRPr lang="en-US" altLang="ko-KR" dirty="0"/>
              </a:p>
            </p:txBody>
          </p:sp>
        </mc:Choice>
        <mc:Fallback xmlns="">
          <p:sp>
            <p:nvSpPr>
              <p:cNvPr id="6" name="직사각형 5"/>
              <p:cNvSpPr>
                <a:spLocks noRot="1" noChangeAspect="1" noMove="1" noResize="1" noEditPoints="1" noAdjustHandles="1" noChangeArrowheads="1" noChangeShapeType="1" noTextEdit="1"/>
              </p:cNvSpPr>
              <p:nvPr/>
            </p:nvSpPr>
            <p:spPr>
              <a:xfrm>
                <a:off x="1209199" y="-15508"/>
                <a:ext cx="7934801" cy="369332"/>
              </a:xfrm>
              <a:prstGeom prst="rect">
                <a:avLst/>
              </a:prstGeom>
              <a:blipFill rotWithShape="0">
                <a:blip r:embed="rId5"/>
                <a:stretch>
                  <a:fillRect t="-9836" b="-24590"/>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1981502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smtClean="0"/>
              <a:t>Random Walk M-H Algorithm</a:t>
            </a:r>
            <a:endParaRPr lang="ko-KR" alt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342900" lvl="1">
                  <a:buClr>
                    <a:schemeClr val="accent1"/>
                  </a:buClr>
                </a:pPr>
                <a14:m>
                  <m:oMath xmlns:m="http://schemas.openxmlformats.org/officeDocument/2006/math">
                    <m:sSubSup>
                      <m:sSubSupPr>
                        <m:ctrlPr>
                          <a:rPr lang="en-US" altLang="ko-KR" i="1" smtClean="0">
                            <a:latin typeface="Cambria Math" panose="02040503050406030204" pitchFamily="18" charset="0"/>
                            <a:ea typeface="Cambria Math" panose="02040503050406030204" pitchFamily="18" charset="0"/>
                          </a:rPr>
                        </m:ctrlPr>
                      </m:sSubSupPr>
                      <m:e>
                        <m:r>
                          <a:rPr lang="en-US" altLang="ko-KR" b="0" i="1" smtClean="0">
                            <a:latin typeface="Cambria Math" panose="02040503050406030204" pitchFamily="18" charset="0"/>
                            <a:ea typeface="Cambria Math" panose="02040503050406030204" pitchFamily="18" charset="0"/>
                          </a:rPr>
                          <m:t>𝑇</m:t>
                        </m:r>
                      </m:e>
                      <m:sub>
                        <m:r>
                          <a:rPr lang="en-US" altLang="ko-KR" b="0" i="1" smtClean="0">
                            <a:latin typeface="Cambria Math" panose="02040503050406030204" pitchFamily="18" charset="0"/>
                            <a:ea typeface="Cambria Math" panose="02040503050406030204" pitchFamily="18" charset="0"/>
                          </a:rPr>
                          <m:t>𝑡</m:t>
                        </m:r>
                        <m:r>
                          <a:rPr lang="en-US" altLang="ko-KR" b="0" i="1" smtClean="0">
                            <a:latin typeface="Cambria Math" panose="02040503050406030204" pitchFamily="18" charset="0"/>
                            <a:ea typeface="Cambria Math" panose="02040503050406030204" pitchFamily="18" charset="0"/>
                          </a:rPr>
                          <m:t>,∗</m:t>
                        </m:r>
                      </m:sub>
                      <m:sup>
                        <m:r>
                          <a:rPr lang="en-US" altLang="ko-KR" b="0" i="1" smtClean="0">
                            <a:latin typeface="Cambria Math" panose="02040503050406030204" pitchFamily="18" charset="0"/>
                            <a:ea typeface="Cambria Math" panose="02040503050406030204" pitchFamily="18" charset="0"/>
                          </a:rPr>
                          <m:t>𝑀𝐻</m:t>
                        </m:r>
                      </m:sup>
                    </m:sSubSup>
                    <m:r>
                      <a:rPr lang="en-US" altLang="ko-KR" b="0" i="1" smtClean="0">
                        <a:latin typeface="Cambria Math" panose="02040503050406030204" pitchFamily="18" charset="0"/>
                        <a:ea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𝑞</m:t>
                    </m:r>
                    <m:r>
                      <a:rPr lang="en-US" altLang="ko-KR" b="0" i="1" smtClean="0">
                        <a:latin typeface="Cambria Math" panose="02040503050406030204" pitchFamily="18" charset="0"/>
                        <a:ea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b="0" i="1" smtClean="0">
                            <a:latin typeface="Cambria Math" panose="02040503050406030204" pitchFamily="18" charset="0"/>
                          </a:rPr>
                          <m:t>∗</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r>
                      <a:rPr lang="en-US" altLang="ko-KR" b="0" i="1" smtClean="0">
                        <a:latin typeface="Cambria Math" panose="02040503050406030204" pitchFamily="18" charset="0"/>
                      </a:rPr>
                      <m:t>)</m:t>
                    </m:r>
                    <m:r>
                      <a:rPr lang="ko-KR" altLang="en-US" i="1">
                        <a:latin typeface="Cambria Math" panose="02040503050406030204" pitchFamily="18" charset="0"/>
                        <a:ea typeface="Cambria Math" panose="02040503050406030204" pitchFamily="18" charset="0"/>
                      </a:rPr>
                      <m:t>𝛼</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r>
                          <a:rPr lang="en-US" altLang="ko-KR" i="1">
                            <a:latin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d>
                  </m:oMath>
                </a14:m>
                <a:endParaRPr lang="en-US" altLang="ko-KR" dirty="0" smtClean="0">
                  <a:sym typeface="Wingdings" panose="05000000000000000000" pitchFamily="2" charset="2"/>
                </a:endParaRPr>
              </a:p>
              <a:p>
                <a:pPr marL="708660" lvl="2">
                  <a:buClr>
                    <a:schemeClr val="accent1"/>
                  </a:buClr>
                </a:pPr>
                <a:r>
                  <a:rPr lang="en-US" altLang="ko-KR" sz="1700" dirty="0">
                    <a:sym typeface="Wingdings" panose="05000000000000000000" pitchFamily="2" charset="2"/>
                  </a:rPr>
                  <a:t>Transition probability to satisfy the balance equation with </a:t>
                </a:r>
                <a14:m>
                  <m:oMath xmlns:m="http://schemas.openxmlformats.org/officeDocument/2006/math">
                    <m:r>
                      <m:rPr>
                        <m:sty m:val="p"/>
                      </m:rPr>
                      <a:rPr lang="en-US" altLang="ko-KR" sz="1700">
                        <a:latin typeface="Cambria Math" panose="02040503050406030204" pitchFamily="18" charset="0"/>
                      </a:rPr>
                      <m:t>P</m:t>
                    </m:r>
                    <m:d>
                      <m:dPr>
                        <m:ctrlPr>
                          <a:rPr lang="en-US" altLang="ko-KR" sz="1700" i="1">
                            <a:latin typeface="Cambria Math" panose="02040503050406030204" pitchFamily="18" charset="0"/>
                          </a:rPr>
                        </m:ctrlPr>
                      </m:dPr>
                      <m:e>
                        <m:r>
                          <a:rPr lang="en-US" altLang="ko-KR" sz="1700">
                            <a:latin typeface="Cambria Math" panose="02040503050406030204" pitchFamily="18" charset="0"/>
                          </a:rPr>
                          <m:t>𝑧</m:t>
                        </m:r>
                      </m:e>
                    </m:d>
                  </m:oMath>
                </a14:m>
                <a:r>
                  <a:rPr lang="ko-KR" altLang="en-US" sz="1700" dirty="0"/>
                  <a:t> </a:t>
                </a:r>
                <a:r>
                  <a:rPr lang="en-US" altLang="ko-KR" sz="1700" dirty="0"/>
                  <a:t>as the stationary </a:t>
                </a:r>
                <a:r>
                  <a:rPr lang="en-US" altLang="ko-KR" sz="1700" dirty="0" smtClean="0"/>
                  <a:t>distribution</a:t>
                </a:r>
              </a:p>
              <a:p>
                <a:pPr marL="708660" lvl="2">
                  <a:buClr>
                    <a:schemeClr val="accent1"/>
                  </a:buClr>
                </a:pPr>
                <a14:m>
                  <m:oMath xmlns:m="http://schemas.openxmlformats.org/officeDocument/2006/math">
                    <m:r>
                      <a:rPr lang="ko-KR" altLang="en-US" sz="1600" i="1">
                        <a:latin typeface="Cambria Math" panose="02040503050406030204" pitchFamily="18" charset="0"/>
                        <a:ea typeface="Cambria Math" panose="02040503050406030204" pitchFamily="18" charset="0"/>
                      </a:rPr>
                      <m:t>𝛼</m:t>
                    </m:r>
                    <m:d>
                      <m:dPr>
                        <m:ctrlPr>
                          <a:rPr lang="en-US" altLang="ko-KR" sz="1600" i="1">
                            <a:latin typeface="Cambria Math" panose="02040503050406030204" pitchFamily="18" charset="0"/>
                          </a:rPr>
                        </m:ctrlPr>
                      </m:dPr>
                      <m:e>
                        <m:sSup>
                          <m:sSupPr>
                            <m:ctrlPr>
                              <a:rPr lang="en-US" altLang="ko-KR" sz="1600" i="1">
                                <a:latin typeface="Cambria Math" panose="02040503050406030204" pitchFamily="18" charset="0"/>
                              </a:rPr>
                            </m:ctrlPr>
                          </m:sSupPr>
                          <m:e>
                            <m:r>
                              <a:rPr lang="en-US" altLang="ko-KR" sz="1600" i="1">
                                <a:latin typeface="Cambria Math" panose="02040503050406030204" pitchFamily="18" charset="0"/>
                              </a:rPr>
                              <m:t>𝑧</m:t>
                            </m:r>
                          </m:e>
                          <m:sup>
                            <m:r>
                              <a:rPr lang="en-US" altLang="ko-KR" sz="1600" i="1">
                                <a:latin typeface="Cambria Math" panose="02040503050406030204" pitchFamily="18" charset="0"/>
                              </a:rPr>
                              <m:t>∗</m:t>
                            </m:r>
                          </m:sup>
                        </m:sSup>
                        <m:r>
                          <a:rPr lang="en-US" altLang="ko-KR" sz="1600" i="1">
                            <a:latin typeface="Cambria Math" panose="02040503050406030204" pitchFamily="18" charset="0"/>
                          </a:rPr>
                          <m:t>|</m:t>
                        </m:r>
                        <m:sSup>
                          <m:sSupPr>
                            <m:ctrlPr>
                              <a:rPr lang="en-US" altLang="ko-KR" sz="1600" i="1">
                                <a:latin typeface="Cambria Math" panose="02040503050406030204" pitchFamily="18" charset="0"/>
                              </a:rPr>
                            </m:ctrlPr>
                          </m:sSupPr>
                          <m:e>
                            <m:r>
                              <a:rPr lang="en-US" altLang="ko-KR" sz="1600" i="1">
                                <a:latin typeface="Cambria Math" panose="02040503050406030204" pitchFamily="18" charset="0"/>
                              </a:rPr>
                              <m:t>𝑧</m:t>
                            </m:r>
                          </m:e>
                          <m:sup>
                            <m:r>
                              <a:rPr lang="en-US" altLang="ko-KR" sz="1600" i="1">
                                <a:latin typeface="Cambria Math" panose="02040503050406030204" pitchFamily="18" charset="0"/>
                              </a:rPr>
                              <m:t>𝑡</m:t>
                            </m:r>
                          </m:sup>
                        </m:sSup>
                      </m:e>
                    </m:d>
                    <m:r>
                      <a:rPr lang="en-US" altLang="ko-KR" sz="1600" i="1">
                        <a:latin typeface="Cambria Math" panose="02040503050406030204" pitchFamily="18" charset="0"/>
                        <a:ea typeface="Cambria Math" panose="02040503050406030204" pitchFamily="18" charset="0"/>
                      </a:rPr>
                      <m:t>=</m:t>
                    </m:r>
                    <m:r>
                      <m:rPr>
                        <m:sty m:val="p"/>
                      </m:rPr>
                      <a:rPr lang="en-US" altLang="ko-KR" sz="1600">
                        <a:latin typeface="Cambria Math" panose="02040503050406030204" pitchFamily="18" charset="0"/>
                        <a:ea typeface="Cambria Math" panose="02040503050406030204" pitchFamily="18" charset="0"/>
                      </a:rPr>
                      <m:t>min</m:t>
                    </m:r>
                    <m:r>
                      <a:rPr lang="en-US" altLang="ko-KR" sz="1600" i="1">
                        <a:latin typeface="Cambria Math" panose="02040503050406030204" pitchFamily="18" charset="0"/>
                        <a:ea typeface="Cambria Math" panose="02040503050406030204" pitchFamily="18" charset="0"/>
                      </a:rPr>
                      <m:t>⁡{1,</m:t>
                    </m:r>
                    <m:f>
                      <m:fPr>
                        <m:ctrlPr>
                          <a:rPr lang="en-US" altLang="ko-KR" sz="1900" i="1">
                            <a:solidFill>
                              <a:srgbClr val="2F2B20"/>
                            </a:solidFill>
                            <a:latin typeface="Cambria Math" panose="02040503050406030204" pitchFamily="18" charset="0"/>
                          </a:rPr>
                        </m:ctrlPr>
                      </m:fPr>
                      <m:num>
                        <m:r>
                          <a:rPr lang="en-US" altLang="ko-KR" sz="1900" i="1">
                            <a:solidFill>
                              <a:srgbClr val="2F2B20"/>
                            </a:solidFill>
                            <a:latin typeface="Cambria Math" panose="02040503050406030204" pitchFamily="18" charset="0"/>
                          </a:rPr>
                          <m:t>𝑞</m:t>
                        </m:r>
                        <m:d>
                          <m:dPr>
                            <m:ctrlPr>
                              <a:rPr lang="en-US" altLang="ko-KR" sz="1900" i="1">
                                <a:solidFill>
                                  <a:srgbClr val="2F2B20"/>
                                </a:solidFill>
                                <a:latin typeface="Cambria Math" panose="02040503050406030204" pitchFamily="18" charset="0"/>
                              </a:rPr>
                            </m:ctrlPr>
                          </m:dPr>
                          <m:e>
                            <m:sSup>
                              <m:sSupPr>
                                <m:ctrlPr>
                                  <a:rPr lang="en-US" altLang="ko-KR" sz="1900" i="1">
                                    <a:solidFill>
                                      <a:srgbClr val="2F2B20"/>
                                    </a:solidFill>
                                    <a:latin typeface="Cambria Math" panose="02040503050406030204" pitchFamily="18" charset="0"/>
                                  </a:rPr>
                                </m:ctrlPr>
                              </m:sSupPr>
                              <m:e>
                                <m:r>
                                  <a:rPr lang="en-US" altLang="ko-KR" sz="1900" i="1">
                                    <a:solidFill>
                                      <a:srgbClr val="2F2B20"/>
                                    </a:solidFill>
                                    <a:latin typeface="Cambria Math" panose="02040503050406030204" pitchFamily="18" charset="0"/>
                                  </a:rPr>
                                  <m:t>𝑧</m:t>
                                </m:r>
                              </m:e>
                              <m:sup>
                                <m:r>
                                  <a:rPr lang="en-US" altLang="ko-KR" sz="1900" i="1">
                                    <a:solidFill>
                                      <a:srgbClr val="2F2B20"/>
                                    </a:solidFill>
                                    <a:latin typeface="Cambria Math" panose="02040503050406030204" pitchFamily="18" charset="0"/>
                                  </a:rPr>
                                  <m:t>𝑡</m:t>
                                </m:r>
                              </m:sup>
                            </m:sSup>
                          </m:e>
                          <m:e>
                            <m:sSup>
                              <m:sSupPr>
                                <m:ctrlPr>
                                  <a:rPr lang="en-US" altLang="ko-KR" sz="1900" i="1">
                                    <a:solidFill>
                                      <a:srgbClr val="2F2B20"/>
                                    </a:solidFill>
                                    <a:latin typeface="Cambria Math" panose="02040503050406030204" pitchFamily="18" charset="0"/>
                                  </a:rPr>
                                </m:ctrlPr>
                              </m:sSupPr>
                              <m:e>
                                <m:r>
                                  <a:rPr lang="en-US" altLang="ko-KR" sz="1900" i="1">
                                    <a:solidFill>
                                      <a:srgbClr val="2F2B20"/>
                                    </a:solidFill>
                                    <a:latin typeface="Cambria Math" panose="02040503050406030204" pitchFamily="18" charset="0"/>
                                  </a:rPr>
                                  <m:t>𝑧</m:t>
                                </m:r>
                              </m:e>
                              <m:sup>
                                <m:r>
                                  <a:rPr lang="en-US" altLang="ko-KR" sz="1900" i="1">
                                    <a:solidFill>
                                      <a:srgbClr val="2F2B20"/>
                                    </a:solidFill>
                                    <a:latin typeface="Cambria Math" panose="02040503050406030204" pitchFamily="18" charset="0"/>
                                  </a:rPr>
                                  <m:t>∗</m:t>
                                </m:r>
                              </m:sup>
                            </m:sSup>
                          </m:e>
                        </m:d>
                        <m:r>
                          <a:rPr lang="en-US" altLang="ko-KR" sz="1900" i="1">
                            <a:solidFill>
                              <a:srgbClr val="2F2B20"/>
                            </a:solidFill>
                            <a:latin typeface="Cambria Math" panose="02040503050406030204" pitchFamily="18" charset="0"/>
                          </a:rPr>
                          <m:t>𝑃</m:t>
                        </m:r>
                        <m:r>
                          <a:rPr lang="en-US" altLang="ko-KR" sz="1900" i="1">
                            <a:solidFill>
                              <a:srgbClr val="2F2B20"/>
                            </a:solidFill>
                            <a:latin typeface="Cambria Math" panose="02040503050406030204" pitchFamily="18" charset="0"/>
                          </a:rPr>
                          <m:t>(</m:t>
                        </m:r>
                        <m:sSup>
                          <m:sSupPr>
                            <m:ctrlPr>
                              <a:rPr lang="en-US" altLang="ko-KR" sz="1900" i="1">
                                <a:solidFill>
                                  <a:srgbClr val="2F2B20"/>
                                </a:solidFill>
                                <a:latin typeface="Cambria Math" panose="02040503050406030204" pitchFamily="18" charset="0"/>
                              </a:rPr>
                            </m:ctrlPr>
                          </m:sSupPr>
                          <m:e>
                            <m:r>
                              <a:rPr lang="en-US" altLang="ko-KR" sz="1900" i="1">
                                <a:solidFill>
                                  <a:srgbClr val="2F2B20"/>
                                </a:solidFill>
                                <a:latin typeface="Cambria Math" panose="02040503050406030204" pitchFamily="18" charset="0"/>
                              </a:rPr>
                              <m:t>𝑧</m:t>
                            </m:r>
                          </m:e>
                          <m:sup>
                            <m:r>
                              <a:rPr lang="en-US" altLang="ko-KR" sz="1900" i="1">
                                <a:solidFill>
                                  <a:srgbClr val="2F2B20"/>
                                </a:solidFill>
                                <a:latin typeface="Cambria Math" panose="02040503050406030204" pitchFamily="18" charset="0"/>
                              </a:rPr>
                              <m:t>∗</m:t>
                            </m:r>
                          </m:sup>
                        </m:sSup>
                        <m:r>
                          <a:rPr lang="en-US" altLang="ko-KR" sz="1900" i="1">
                            <a:solidFill>
                              <a:srgbClr val="2F2B20"/>
                            </a:solidFill>
                            <a:latin typeface="Cambria Math" panose="02040503050406030204" pitchFamily="18" charset="0"/>
                          </a:rPr>
                          <m:t>) </m:t>
                        </m:r>
                      </m:num>
                      <m:den>
                        <m:r>
                          <a:rPr lang="en-US" altLang="ko-KR" sz="1900" i="1">
                            <a:solidFill>
                              <a:srgbClr val="2F2B20"/>
                            </a:solidFill>
                            <a:latin typeface="Cambria Math" panose="02040503050406030204" pitchFamily="18" charset="0"/>
                          </a:rPr>
                          <m:t>𝑞</m:t>
                        </m:r>
                        <m:d>
                          <m:dPr>
                            <m:ctrlPr>
                              <a:rPr lang="en-US" altLang="ko-KR" sz="1900" i="1">
                                <a:solidFill>
                                  <a:srgbClr val="2F2B20"/>
                                </a:solidFill>
                                <a:latin typeface="Cambria Math" panose="02040503050406030204" pitchFamily="18" charset="0"/>
                              </a:rPr>
                            </m:ctrlPr>
                          </m:dPr>
                          <m:e>
                            <m:sSup>
                              <m:sSupPr>
                                <m:ctrlPr>
                                  <a:rPr lang="en-US" altLang="ko-KR" sz="1900" i="1">
                                    <a:solidFill>
                                      <a:srgbClr val="2F2B20"/>
                                    </a:solidFill>
                                    <a:latin typeface="Cambria Math" panose="02040503050406030204" pitchFamily="18" charset="0"/>
                                  </a:rPr>
                                </m:ctrlPr>
                              </m:sSupPr>
                              <m:e>
                                <m:r>
                                  <a:rPr lang="en-US" altLang="ko-KR" sz="1900" i="1">
                                    <a:solidFill>
                                      <a:srgbClr val="2F2B20"/>
                                    </a:solidFill>
                                    <a:latin typeface="Cambria Math" panose="02040503050406030204" pitchFamily="18" charset="0"/>
                                  </a:rPr>
                                  <m:t>𝑧</m:t>
                                </m:r>
                              </m:e>
                              <m:sup>
                                <m:r>
                                  <a:rPr lang="en-US" altLang="ko-KR" sz="1900" i="1">
                                    <a:solidFill>
                                      <a:srgbClr val="2F2B20"/>
                                    </a:solidFill>
                                    <a:latin typeface="Cambria Math" panose="02040503050406030204" pitchFamily="18" charset="0"/>
                                  </a:rPr>
                                  <m:t>∗</m:t>
                                </m:r>
                              </m:sup>
                            </m:sSup>
                          </m:e>
                          <m:e>
                            <m:sSup>
                              <m:sSupPr>
                                <m:ctrlPr>
                                  <a:rPr lang="en-US" altLang="ko-KR" sz="1900" i="1">
                                    <a:solidFill>
                                      <a:srgbClr val="2F2B20"/>
                                    </a:solidFill>
                                    <a:latin typeface="Cambria Math" panose="02040503050406030204" pitchFamily="18" charset="0"/>
                                  </a:rPr>
                                </m:ctrlPr>
                              </m:sSupPr>
                              <m:e>
                                <m:r>
                                  <a:rPr lang="en-US" altLang="ko-KR" sz="1900" i="1">
                                    <a:solidFill>
                                      <a:srgbClr val="2F2B20"/>
                                    </a:solidFill>
                                    <a:latin typeface="Cambria Math" panose="02040503050406030204" pitchFamily="18" charset="0"/>
                                  </a:rPr>
                                  <m:t>𝑧</m:t>
                                </m:r>
                              </m:e>
                              <m:sup>
                                <m:r>
                                  <a:rPr lang="en-US" altLang="ko-KR" sz="1900" i="1">
                                    <a:solidFill>
                                      <a:srgbClr val="2F2B20"/>
                                    </a:solidFill>
                                    <a:latin typeface="Cambria Math" panose="02040503050406030204" pitchFamily="18" charset="0"/>
                                  </a:rPr>
                                  <m:t>𝑡</m:t>
                                </m:r>
                              </m:sup>
                            </m:sSup>
                          </m:e>
                        </m:d>
                        <m:r>
                          <a:rPr lang="en-US" altLang="ko-KR" sz="1900" i="1">
                            <a:solidFill>
                              <a:srgbClr val="2F2B20"/>
                            </a:solidFill>
                            <a:latin typeface="Cambria Math" panose="02040503050406030204" pitchFamily="18" charset="0"/>
                          </a:rPr>
                          <m:t>𝑃</m:t>
                        </m:r>
                        <m:r>
                          <a:rPr lang="en-US" altLang="ko-KR" sz="1900" i="1">
                            <a:solidFill>
                              <a:srgbClr val="2F2B20"/>
                            </a:solidFill>
                            <a:latin typeface="Cambria Math" panose="02040503050406030204" pitchFamily="18" charset="0"/>
                          </a:rPr>
                          <m:t>(</m:t>
                        </m:r>
                        <m:sSup>
                          <m:sSupPr>
                            <m:ctrlPr>
                              <a:rPr lang="en-US" altLang="ko-KR" sz="1900" i="1">
                                <a:solidFill>
                                  <a:srgbClr val="2F2B20"/>
                                </a:solidFill>
                                <a:latin typeface="Cambria Math" panose="02040503050406030204" pitchFamily="18" charset="0"/>
                              </a:rPr>
                            </m:ctrlPr>
                          </m:sSupPr>
                          <m:e>
                            <m:r>
                              <a:rPr lang="en-US" altLang="ko-KR" sz="1900" i="1">
                                <a:solidFill>
                                  <a:srgbClr val="2F2B20"/>
                                </a:solidFill>
                                <a:latin typeface="Cambria Math" panose="02040503050406030204" pitchFamily="18" charset="0"/>
                              </a:rPr>
                              <m:t>𝑧</m:t>
                            </m:r>
                          </m:e>
                          <m:sup>
                            <m:r>
                              <a:rPr lang="en-US" altLang="ko-KR" sz="1900" i="1">
                                <a:solidFill>
                                  <a:srgbClr val="2F2B20"/>
                                </a:solidFill>
                                <a:latin typeface="Cambria Math" panose="02040503050406030204" pitchFamily="18" charset="0"/>
                              </a:rPr>
                              <m:t>𝑡</m:t>
                            </m:r>
                          </m:sup>
                        </m:sSup>
                        <m:r>
                          <a:rPr lang="en-US" altLang="ko-KR" sz="1900" i="1">
                            <a:solidFill>
                              <a:srgbClr val="2F2B20"/>
                            </a:solidFill>
                            <a:latin typeface="Cambria Math" panose="02040503050406030204" pitchFamily="18" charset="0"/>
                          </a:rPr>
                          <m:t>)</m:t>
                        </m:r>
                      </m:den>
                    </m:f>
                    <m:r>
                      <a:rPr lang="en-US" altLang="ko-KR" sz="1600" i="1">
                        <a:latin typeface="Cambria Math" panose="02040503050406030204" pitchFamily="18" charset="0"/>
                      </a:rPr>
                      <m:t>}</m:t>
                    </m:r>
                  </m:oMath>
                </a14:m>
                <a:endParaRPr lang="en-US" altLang="ko-KR" sz="1600" dirty="0" smtClean="0"/>
              </a:p>
              <a:p>
                <a:pPr marL="708660" lvl="2">
                  <a:buClr>
                    <a:schemeClr val="accent1"/>
                  </a:buClr>
                </a:pPr>
                <a:r>
                  <a:rPr lang="en-US" altLang="ko-KR" sz="1600" dirty="0" smtClean="0"/>
                  <a:t>Here, we already assumed, so far, the easy calculation of </a:t>
                </a:r>
                <a14:m>
                  <m:oMath xmlns:m="http://schemas.openxmlformats.org/officeDocument/2006/math">
                    <m:r>
                      <a:rPr lang="en-US" altLang="ko-KR" sz="1600" i="1">
                        <a:solidFill>
                          <a:srgbClr val="2F2B20"/>
                        </a:solidFill>
                        <a:latin typeface="Cambria Math" panose="02040503050406030204" pitchFamily="18" charset="0"/>
                      </a:rPr>
                      <m:t>𝑃</m:t>
                    </m:r>
                    <m:r>
                      <a:rPr lang="en-US" altLang="ko-KR" sz="1600" i="1">
                        <a:solidFill>
                          <a:srgbClr val="2F2B20"/>
                        </a:solidFill>
                        <a:latin typeface="Cambria Math" panose="02040503050406030204" pitchFamily="18" charset="0"/>
                      </a:rPr>
                      <m:t>(</m:t>
                    </m:r>
                    <m:r>
                      <a:rPr lang="en-US" altLang="ko-KR" sz="1600" b="0" i="1" smtClean="0">
                        <a:solidFill>
                          <a:srgbClr val="2F2B20"/>
                        </a:solidFill>
                        <a:latin typeface="Cambria Math" panose="02040503050406030204" pitchFamily="18" charset="0"/>
                      </a:rPr>
                      <m:t>𝑧</m:t>
                    </m:r>
                    <m:r>
                      <a:rPr lang="en-US" altLang="ko-KR" sz="1600" i="1">
                        <a:solidFill>
                          <a:srgbClr val="2F2B20"/>
                        </a:solidFill>
                        <a:latin typeface="Cambria Math" panose="02040503050406030204" pitchFamily="18" charset="0"/>
                      </a:rPr>
                      <m:t>)</m:t>
                    </m:r>
                  </m:oMath>
                </a14:m>
                <a:endParaRPr lang="en-US" altLang="ko-KR" sz="1600" dirty="0" smtClean="0"/>
              </a:p>
              <a:p>
                <a:pPr marL="708660" lvl="2">
                  <a:buClr>
                    <a:schemeClr val="accent1"/>
                  </a:buClr>
                </a:pPr>
                <a:r>
                  <a:rPr lang="en-US" altLang="ko-KR" sz="1600" dirty="0" smtClean="0"/>
                  <a:t>What we miss is the definition of </a:t>
                </a:r>
                <a14:m>
                  <m:oMath xmlns:m="http://schemas.openxmlformats.org/officeDocument/2006/math">
                    <m:r>
                      <a:rPr lang="en-US" altLang="ko-KR" sz="1600" i="1">
                        <a:solidFill>
                          <a:srgbClr val="2F2B20"/>
                        </a:solidFill>
                        <a:latin typeface="Cambria Math" panose="02040503050406030204" pitchFamily="18" charset="0"/>
                      </a:rPr>
                      <m:t>𝑞</m:t>
                    </m:r>
                    <m:d>
                      <m:dPr>
                        <m:ctrlPr>
                          <a:rPr lang="en-US" altLang="ko-KR" sz="1600" i="1">
                            <a:solidFill>
                              <a:srgbClr val="2F2B20"/>
                            </a:solidFill>
                            <a:latin typeface="Cambria Math" panose="02040503050406030204" pitchFamily="18" charset="0"/>
                          </a:rPr>
                        </m:ctrlPr>
                      </m:dPr>
                      <m:e>
                        <m:sSup>
                          <m:sSupPr>
                            <m:ctrlPr>
                              <a:rPr lang="en-US" altLang="ko-KR" sz="1600" i="1">
                                <a:solidFill>
                                  <a:srgbClr val="2F2B20"/>
                                </a:solidFill>
                                <a:latin typeface="Cambria Math" panose="02040503050406030204" pitchFamily="18" charset="0"/>
                              </a:rPr>
                            </m:ctrlPr>
                          </m:sSupPr>
                          <m:e>
                            <m:r>
                              <a:rPr lang="en-US" altLang="ko-KR" sz="1600" i="1">
                                <a:solidFill>
                                  <a:srgbClr val="2F2B20"/>
                                </a:solidFill>
                                <a:latin typeface="Cambria Math" panose="02040503050406030204" pitchFamily="18" charset="0"/>
                              </a:rPr>
                              <m:t>𝑧</m:t>
                            </m:r>
                          </m:e>
                          <m:sup>
                            <m:r>
                              <a:rPr lang="en-US" altLang="ko-KR" sz="1600" i="1">
                                <a:solidFill>
                                  <a:srgbClr val="2F2B20"/>
                                </a:solidFill>
                                <a:latin typeface="Cambria Math" panose="02040503050406030204" pitchFamily="18" charset="0"/>
                              </a:rPr>
                              <m:t>∗</m:t>
                            </m:r>
                          </m:sup>
                        </m:sSup>
                      </m:e>
                      <m:e>
                        <m:sSup>
                          <m:sSupPr>
                            <m:ctrlPr>
                              <a:rPr lang="en-US" altLang="ko-KR" sz="1600" i="1">
                                <a:solidFill>
                                  <a:srgbClr val="2F2B20"/>
                                </a:solidFill>
                                <a:latin typeface="Cambria Math" panose="02040503050406030204" pitchFamily="18" charset="0"/>
                              </a:rPr>
                            </m:ctrlPr>
                          </m:sSupPr>
                          <m:e>
                            <m:r>
                              <a:rPr lang="en-US" altLang="ko-KR" sz="1600" i="1">
                                <a:solidFill>
                                  <a:srgbClr val="2F2B20"/>
                                </a:solidFill>
                                <a:latin typeface="Cambria Math" panose="02040503050406030204" pitchFamily="18" charset="0"/>
                              </a:rPr>
                              <m:t>𝑧</m:t>
                            </m:r>
                          </m:e>
                          <m:sup>
                            <m:r>
                              <a:rPr lang="en-US" altLang="ko-KR" sz="1600" i="1">
                                <a:solidFill>
                                  <a:srgbClr val="2F2B20"/>
                                </a:solidFill>
                                <a:latin typeface="Cambria Math" panose="02040503050406030204" pitchFamily="18" charset="0"/>
                              </a:rPr>
                              <m:t>𝑡</m:t>
                            </m:r>
                          </m:sup>
                        </m:sSup>
                      </m:e>
                    </m:d>
                  </m:oMath>
                </a14:m>
                <a:r>
                  <a:rPr lang="en-US" altLang="ko-KR" sz="1600" dirty="0" smtClean="0"/>
                  <a:t>, but this is a proposal </a:t>
                </a:r>
                <a:br>
                  <a:rPr lang="en-US" altLang="ko-KR" sz="1600" dirty="0" smtClean="0"/>
                </a:br>
                <a:r>
                  <a:rPr lang="en-US" altLang="ko-KR" sz="1600" dirty="0" smtClean="0"/>
                  <a:t>that any probability distribution can be</a:t>
                </a:r>
              </a:p>
              <a:p>
                <a:pPr marL="982980" lvl="3">
                  <a:buClr>
                    <a:schemeClr val="accent1"/>
                  </a:buClr>
                </a:pPr>
                <a:r>
                  <a:rPr lang="en-US" altLang="ko-KR" sz="1400" dirty="0" smtClean="0"/>
                  <a:t>Surely, there are better and worse proposal probability distributions.</a:t>
                </a:r>
              </a:p>
              <a:p>
                <a:pPr marL="982980" lvl="3">
                  <a:buClr>
                    <a:schemeClr val="accent1"/>
                  </a:buClr>
                </a:pPr>
                <a:r>
                  <a:rPr lang="en-US" altLang="ko-KR" sz="1400" dirty="0" smtClean="0"/>
                  <a:t>Choosing </a:t>
                </a:r>
                <a14:m>
                  <m:oMath xmlns:m="http://schemas.openxmlformats.org/officeDocument/2006/math">
                    <m:r>
                      <a:rPr lang="en-US" altLang="ko-KR" sz="1400" i="1">
                        <a:solidFill>
                          <a:srgbClr val="2F2B20"/>
                        </a:solidFill>
                        <a:latin typeface="Cambria Math" panose="02040503050406030204" pitchFamily="18" charset="0"/>
                      </a:rPr>
                      <m:t>𝑞</m:t>
                    </m:r>
                    <m:d>
                      <m:dPr>
                        <m:ctrlPr>
                          <a:rPr lang="en-US" altLang="ko-KR" sz="1400" i="1">
                            <a:solidFill>
                              <a:srgbClr val="2F2B20"/>
                            </a:solidFill>
                            <a:latin typeface="Cambria Math" panose="02040503050406030204" pitchFamily="18" charset="0"/>
                          </a:rPr>
                        </m:ctrlPr>
                      </m:dPr>
                      <m:e>
                        <m:sSup>
                          <m:sSupPr>
                            <m:ctrlPr>
                              <a:rPr lang="en-US" altLang="ko-KR" sz="1400" i="1">
                                <a:solidFill>
                                  <a:srgbClr val="2F2B20"/>
                                </a:solidFill>
                                <a:latin typeface="Cambria Math" panose="02040503050406030204" pitchFamily="18" charset="0"/>
                              </a:rPr>
                            </m:ctrlPr>
                          </m:sSupPr>
                          <m:e>
                            <m:r>
                              <a:rPr lang="en-US" altLang="ko-KR" sz="1400" i="1">
                                <a:solidFill>
                                  <a:srgbClr val="2F2B20"/>
                                </a:solidFill>
                                <a:latin typeface="Cambria Math" panose="02040503050406030204" pitchFamily="18" charset="0"/>
                              </a:rPr>
                              <m:t>𝑧</m:t>
                            </m:r>
                          </m:e>
                          <m:sup>
                            <m:r>
                              <a:rPr lang="en-US" altLang="ko-KR" sz="1400" i="1">
                                <a:solidFill>
                                  <a:srgbClr val="2F2B20"/>
                                </a:solidFill>
                                <a:latin typeface="Cambria Math" panose="02040503050406030204" pitchFamily="18" charset="0"/>
                              </a:rPr>
                              <m:t>∗</m:t>
                            </m:r>
                          </m:sup>
                        </m:sSup>
                      </m:e>
                      <m:e>
                        <m:sSup>
                          <m:sSupPr>
                            <m:ctrlPr>
                              <a:rPr lang="en-US" altLang="ko-KR" sz="1400" i="1">
                                <a:solidFill>
                                  <a:srgbClr val="2F2B20"/>
                                </a:solidFill>
                                <a:latin typeface="Cambria Math" panose="02040503050406030204" pitchFamily="18" charset="0"/>
                              </a:rPr>
                            </m:ctrlPr>
                          </m:sSupPr>
                          <m:e>
                            <m:r>
                              <a:rPr lang="en-US" altLang="ko-KR" sz="1400" i="1">
                                <a:solidFill>
                                  <a:srgbClr val="2F2B20"/>
                                </a:solidFill>
                                <a:latin typeface="Cambria Math" panose="02040503050406030204" pitchFamily="18" charset="0"/>
                              </a:rPr>
                              <m:t>𝑧</m:t>
                            </m:r>
                          </m:e>
                          <m:sup>
                            <m:r>
                              <a:rPr lang="en-US" altLang="ko-KR" sz="1400" i="1">
                                <a:solidFill>
                                  <a:srgbClr val="2F2B20"/>
                                </a:solidFill>
                                <a:latin typeface="Cambria Math" panose="02040503050406030204" pitchFamily="18" charset="0"/>
                              </a:rPr>
                              <m:t>𝑡</m:t>
                            </m:r>
                          </m:sup>
                        </m:sSup>
                      </m:e>
                    </m:d>
                  </m:oMath>
                </a14:m>
                <a:r>
                  <a:rPr lang="en-US" altLang="ko-KR" sz="1400" dirty="0" smtClean="0"/>
                  <a:t> determines the type of M-H algorithm</a:t>
                </a:r>
                <a:endParaRPr lang="en-US" altLang="ko-KR" sz="1400" dirty="0"/>
              </a:p>
              <a:p>
                <a:pPr marL="342900" lvl="1">
                  <a:buClr>
                    <a:schemeClr val="accent1"/>
                  </a:buClr>
                </a:pPr>
                <a:r>
                  <a:rPr lang="en-US" altLang="ko-KR" sz="1900" dirty="0" smtClean="0"/>
                  <a:t>Random walk M-H algorithm</a:t>
                </a:r>
              </a:p>
              <a:p>
                <a:pPr marL="708660" lvl="2">
                  <a:buClr>
                    <a:schemeClr val="accent1"/>
                  </a:buClr>
                </a:pPr>
                <a14:m>
                  <m:oMath xmlns:m="http://schemas.openxmlformats.org/officeDocument/2006/math">
                    <m:sSubSup>
                      <m:sSubSupPr>
                        <m:ctrlPr>
                          <a:rPr lang="en-US" altLang="ko-KR" sz="1600" i="1">
                            <a:latin typeface="Cambria Math" panose="02040503050406030204" pitchFamily="18" charset="0"/>
                            <a:ea typeface="Cambria Math" panose="02040503050406030204" pitchFamily="18" charset="0"/>
                          </a:rPr>
                        </m:ctrlPr>
                      </m:sSubSupPr>
                      <m:e>
                        <m:r>
                          <a:rPr lang="en-US" altLang="ko-KR" sz="1600" i="1">
                            <a:latin typeface="Cambria Math" panose="02040503050406030204" pitchFamily="18" charset="0"/>
                            <a:ea typeface="Cambria Math" panose="02040503050406030204" pitchFamily="18" charset="0"/>
                          </a:rPr>
                          <m:t>𝑇</m:t>
                        </m:r>
                      </m:e>
                      <m:sub>
                        <m:r>
                          <a:rPr lang="en-US" altLang="ko-KR" sz="1600" b="0" i="1" smtClean="0">
                            <a:latin typeface="Cambria Math" panose="02040503050406030204" pitchFamily="18" charset="0"/>
                            <a:ea typeface="Cambria Math" panose="02040503050406030204" pitchFamily="18" charset="0"/>
                          </a:rPr>
                          <m:t>𝑡</m:t>
                        </m:r>
                        <m:r>
                          <a:rPr lang="en-US" altLang="ko-KR" sz="1600" b="0" i="1" smtClean="0">
                            <a:latin typeface="Cambria Math" panose="02040503050406030204" pitchFamily="18" charset="0"/>
                            <a:ea typeface="Cambria Math" panose="02040503050406030204" pitchFamily="18" charset="0"/>
                          </a:rPr>
                          <m:t>,∗</m:t>
                        </m:r>
                      </m:sub>
                      <m:sup>
                        <m:r>
                          <a:rPr lang="en-US" altLang="ko-KR" sz="1600" i="1">
                            <a:latin typeface="Cambria Math" panose="02040503050406030204" pitchFamily="18" charset="0"/>
                            <a:ea typeface="Cambria Math" panose="02040503050406030204" pitchFamily="18" charset="0"/>
                          </a:rPr>
                          <m:t>𝑀𝐻</m:t>
                        </m:r>
                      </m:sup>
                    </m:sSubSup>
                    <m:r>
                      <a:rPr lang="en-US" altLang="ko-KR" sz="1600" i="1">
                        <a:latin typeface="Cambria Math" panose="02040503050406030204" pitchFamily="18" charset="0"/>
                        <a:ea typeface="Cambria Math" panose="02040503050406030204" pitchFamily="18" charset="0"/>
                      </a:rPr>
                      <m:t>=</m:t>
                    </m:r>
                    <m:r>
                      <a:rPr lang="en-US" altLang="ko-KR" sz="1600" i="1">
                        <a:latin typeface="Cambria Math" panose="02040503050406030204" pitchFamily="18" charset="0"/>
                        <a:ea typeface="Cambria Math" panose="02040503050406030204" pitchFamily="18" charset="0"/>
                      </a:rPr>
                      <m:t>𝑞</m:t>
                    </m:r>
                    <m:r>
                      <a:rPr lang="en-US" altLang="ko-KR" sz="1600" i="1">
                        <a:latin typeface="Cambria Math" panose="02040503050406030204" pitchFamily="18" charset="0"/>
                        <a:ea typeface="Cambria Math" panose="02040503050406030204" pitchFamily="18" charset="0"/>
                      </a:rPr>
                      <m:t>(</m:t>
                    </m:r>
                    <m:sSup>
                      <m:sSupPr>
                        <m:ctrlPr>
                          <a:rPr lang="en-US" altLang="ko-KR" sz="1600" i="1">
                            <a:latin typeface="Cambria Math" panose="02040503050406030204" pitchFamily="18" charset="0"/>
                          </a:rPr>
                        </m:ctrlPr>
                      </m:sSupPr>
                      <m:e>
                        <m:r>
                          <a:rPr lang="en-US" altLang="ko-KR" sz="1600" i="1">
                            <a:latin typeface="Cambria Math" panose="02040503050406030204" pitchFamily="18" charset="0"/>
                          </a:rPr>
                          <m:t>𝑧</m:t>
                        </m:r>
                      </m:e>
                      <m:sup>
                        <m:r>
                          <a:rPr lang="en-US" altLang="ko-KR" sz="1600" i="1">
                            <a:latin typeface="Cambria Math" panose="02040503050406030204" pitchFamily="18" charset="0"/>
                          </a:rPr>
                          <m:t>∗</m:t>
                        </m:r>
                      </m:sup>
                    </m:sSup>
                    <m:r>
                      <a:rPr lang="en-US" altLang="ko-KR" sz="1600" i="1">
                        <a:latin typeface="Cambria Math" panose="02040503050406030204" pitchFamily="18" charset="0"/>
                      </a:rPr>
                      <m:t>|</m:t>
                    </m:r>
                    <m:sSup>
                      <m:sSupPr>
                        <m:ctrlPr>
                          <a:rPr lang="en-US" altLang="ko-KR" sz="1600" i="1">
                            <a:latin typeface="Cambria Math" panose="02040503050406030204" pitchFamily="18" charset="0"/>
                          </a:rPr>
                        </m:ctrlPr>
                      </m:sSupPr>
                      <m:e>
                        <m:r>
                          <a:rPr lang="en-US" altLang="ko-KR" sz="1600" i="1">
                            <a:latin typeface="Cambria Math" panose="02040503050406030204" pitchFamily="18" charset="0"/>
                          </a:rPr>
                          <m:t>𝑧</m:t>
                        </m:r>
                      </m:e>
                      <m:sup>
                        <m:r>
                          <a:rPr lang="en-US" altLang="ko-KR" sz="1600" i="1">
                            <a:latin typeface="Cambria Math" panose="02040503050406030204" pitchFamily="18" charset="0"/>
                          </a:rPr>
                          <m:t>𝑡</m:t>
                        </m:r>
                      </m:sup>
                    </m:sSup>
                    <m:r>
                      <a:rPr lang="en-US" altLang="ko-KR" sz="1600" i="1">
                        <a:latin typeface="Cambria Math" panose="02040503050406030204" pitchFamily="18" charset="0"/>
                      </a:rPr>
                      <m:t>)</m:t>
                    </m:r>
                    <m:r>
                      <a:rPr lang="ko-KR" altLang="en-US" sz="1600" i="1" smtClean="0">
                        <a:latin typeface="Cambria Math" panose="02040503050406030204" pitchFamily="18" charset="0"/>
                        <a:ea typeface="Cambria Math" panose="02040503050406030204" pitchFamily="18" charset="0"/>
                      </a:rPr>
                      <m:t>𝛼</m:t>
                    </m:r>
                    <m:r>
                      <a:rPr lang="en-US" altLang="ko-KR" sz="1600" i="1">
                        <a:latin typeface="Cambria Math" panose="02040503050406030204" pitchFamily="18" charset="0"/>
                        <a:ea typeface="Cambria Math" panose="02040503050406030204" pitchFamily="18" charset="0"/>
                      </a:rPr>
                      <m:t>(</m:t>
                    </m:r>
                    <m:sSup>
                      <m:sSupPr>
                        <m:ctrlPr>
                          <a:rPr lang="en-US" altLang="ko-KR" sz="1600" i="1">
                            <a:latin typeface="Cambria Math" panose="02040503050406030204" pitchFamily="18" charset="0"/>
                          </a:rPr>
                        </m:ctrlPr>
                      </m:sSupPr>
                      <m:e>
                        <m:r>
                          <a:rPr lang="en-US" altLang="ko-KR" sz="1600" i="1">
                            <a:latin typeface="Cambria Math" panose="02040503050406030204" pitchFamily="18" charset="0"/>
                          </a:rPr>
                          <m:t>𝑧</m:t>
                        </m:r>
                      </m:e>
                      <m:sup>
                        <m:r>
                          <a:rPr lang="en-US" altLang="ko-KR" sz="1600" i="1">
                            <a:latin typeface="Cambria Math" panose="02040503050406030204" pitchFamily="18" charset="0"/>
                          </a:rPr>
                          <m:t>∗</m:t>
                        </m:r>
                      </m:sup>
                    </m:sSup>
                    <m:r>
                      <a:rPr lang="en-US" altLang="ko-KR" sz="1600" b="0" i="1" smtClean="0">
                        <a:latin typeface="Cambria Math" panose="02040503050406030204" pitchFamily="18" charset="0"/>
                      </a:rPr>
                      <m:t>|</m:t>
                    </m:r>
                    <m:sSup>
                      <m:sSupPr>
                        <m:ctrlPr>
                          <a:rPr lang="en-US" altLang="ko-KR" sz="1600" i="1">
                            <a:latin typeface="Cambria Math" panose="02040503050406030204" pitchFamily="18" charset="0"/>
                          </a:rPr>
                        </m:ctrlPr>
                      </m:sSupPr>
                      <m:e>
                        <m:r>
                          <a:rPr lang="en-US" altLang="ko-KR" sz="1600" i="1">
                            <a:latin typeface="Cambria Math" panose="02040503050406030204" pitchFamily="18" charset="0"/>
                          </a:rPr>
                          <m:t>𝑧</m:t>
                        </m:r>
                      </m:e>
                      <m:sup>
                        <m:r>
                          <a:rPr lang="en-US" altLang="ko-KR" sz="1600" i="1">
                            <a:latin typeface="Cambria Math" panose="02040503050406030204" pitchFamily="18" charset="0"/>
                          </a:rPr>
                          <m:t>𝑡</m:t>
                        </m:r>
                      </m:sup>
                    </m:sSup>
                    <m:r>
                      <a:rPr lang="en-US" altLang="ko-KR" sz="1600" i="1">
                        <a:latin typeface="Cambria Math" panose="02040503050406030204" pitchFamily="18" charset="0"/>
                      </a:rPr>
                      <m:t>)</m:t>
                    </m:r>
                  </m:oMath>
                </a14:m>
                <a:endParaRPr lang="en-US" altLang="ko-KR" sz="1600" dirty="0">
                  <a:sym typeface="Wingdings" panose="05000000000000000000" pitchFamily="2" charset="2"/>
                </a:endParaRPr>
              </a:p>
              <a:p>
                <a:pPr marL="708660" lvl="2">
                  <a:buClr>
                    <a:schemeClr val="accent1"/>
                  </a:buClr>
                </a:pPr>
                <a14:m>
                  <m:oMath xmlns:m="http://schemas.openxmlformats.org/officeDocument/2006/math">
                    <m:sSup>
                      <m:sSupPr>
                        <m:ctrlPr>
                          <a:rPr lang="en-US" altLang="ko-KR" sz="1600" i="1">
                            <a:latin typeface="Cambria Math" panose="02040503050406030204" pitchFamily="18" charset="0"/>
                          </a:rPr>
                        </m:ctrlPr>
                      </m:sSupPr>
                      <m:e>
                        <m:r>
                          <a:rPr lang="en-US" altLang="ko-KR" sz="1600" i="1">
                            <a:latin typeface="Cambria Math" panose="02040503050406030204" pitchFamily="18" charset="0"/>
                          </a:rPr>
                          <m:t>𝑧</m:t>
                        </m:r>
                      </m:e>
                      <m:sup>
                        <m:r>
                          <a:rPr lang="en-US" altLang="ko-KR" sz="1600" i="1">
                            <a:latin typeface="Cambria Math" panose="02040503050406030204" pitchFamily="18" charset="0"/>
                          </a:rPr>
                          <m:t>∗</m:t>
                        </m:r>
                      </m:sup>
                    </m:sSup>
                    <m:r>
                      <a:rPr lang="en-US" altLang="ko-KR" sz="1600" b="0" i="1" smtClean="0">
                        <a:latin typeface="Cambria Math" panose="02040503050406030204" pitchFamily="18" charset="0"/>
                      </a:rPr>
                      <m:t>~</m:t>
                    </m:r>
                    <m:r>
                      <a:rPr lang="en-US" altLang="ko-KR" sz="1600" b="0" i="1" smtClean="0">
                        <a:latin typeface="Cambria Math" panose="02040503050406030204" pitchFamily="18" charset="0"/>
                      </a:rPr>
                      <m:t>𝑁</m:t>
                    </m:r>
                    <m:r>
                      <a:rPr lang="en-US" altLang="ko-KR" sz="1600" b="0" i="1" smtClean="0">
                        <a:latin typeface="Cambria Math" panose="02040503050406030204" pitchFamily="18" charset="0"/>
                      </a:rPr>
                      <m:t>(</m:t>
                    </m:r>
                    <m:sSup>
                      <m:sSupPr>
                        <m:ctrlPr>
                          <a:rPr lang="en-US" altLang="ko-KR" sz="1600" i="1">
                            <a:latin typeface="Cambria Math" panose="02040503050406030204" pitchFamily="18" charset="0"/>
                          </a:rPr>
                        </m:ctrlPr>
                      </m:sSupPr>
                      <m:e>
                        <m:r>
                          <a:rPr lang="en-US" altLang="ko-KR" sz="1600" i="1">
                            <a:latin typeface="Cambria Math" panose="02040503050406030204" pitchFamily="18" charset="0"/>
                          </a:rPr>
                          <m:t>𝑧</m:t>
                        </m:r>
                      </m:e>
                      <m:sup>
                        <m:r>
                          <a:rPr lang="en-US" altLang="ko-KR" sz="1600" i="1">
                            <a:latin typeface="Cambria Math" panose="02040503050406030204" pitchFamily="18" charset="0"/>
                          </a:rPr>
                          <m:t>𝑡</m:t>
                        </m:r>
                      </m:sup>
                    </m:sSup>
                    <m:r>
                      <a:rPr lang="en-US" altLang="ko-KR" sz="1600" b="0" i="1" smtClean="0">
                        <a:latin typeface="Cambria Math" panose="02040503050406030204" pitchFamily="18" charset="0"/>
                      </a:rPr>
                      <m:t>,</m:t>
                    </m:r>
                    <m:sSup>
                      <m:sSupPr>
                        <m:ctrlPr>
                          <a:rPr lang="en-US" altLang="ko-KR" sz="1600" b="0" i="1" smtClean="0">
                            <a:latin typeface="Cambria Math" panose="02040503050406030204" pitchFamily="18" charset="0"/>
                          </a:rPr>
                        </m:ctrlPr>
                      </m:sSupPr>
                      <m:e>
                        <m:r>
                          <a:rPr lang="ko-KR" altLang="en-US" sz="1600" b="0" i="1" smtClean="0">
                            <a:latin typeface="Cambria Math" panose="02040503050406030204" pitchFamily="18" charset="0"/>
                          </a:rPr>
                          <m:t>𝜎</m:t>
                        </m:r>
                      </m:e>
                      <m:sup>
                        <m:r>
                          <a:rPr lang="en-US" altLang="ko-KR" sz="1600" b="0" i="1" smtClean="0">
                            <a:latin typeface="Cambria Math" panose="02040503050406030204" pitchFamily="18" charset="0"/>
                          </a:rPr>
                          <m:t>2</m:t>
                        </m:r>
                      </m:sup>
                    </m:sSup>
                    <m:r>
                      <a:rPr lang="en-US" altLang="ko-KR" sz="1600" b="0" i="1" smtClean="0">
                        <a:latin typeface="Cambria Math" panose="02040503050406030204" pitchFamily="18" charset="0"/>
                      </a:rPr>
                      <m:t>)</m:t>
                    </m:r>
                  </m:oMath>
                </a14:m>
                <a:endParaRPr lang="en-US" altLang="ko-KR" sz="1600" i="1" dirty="0" smtClean="0">
                  <a:latin typeface="Cambria Math" panose="02040503050406030204" pitchFamily="18" charset="0"/>
                  <a:ea typeface="Cambria Math" panose="02040503050406030204" pitchFamily="18" charset="0"/>
                </a:endParaRPr>
              </a:p>
              <a:p>
                <a:pPr marL="708660" lvl="2">
                  <a:buClr>
                    <a:schemeClr val="accent1"/>
                  </a:buClr>
                </a:pPr>
                <a14:m>
                  <m:oMath xmlns:m="http://schemas.openxmlformats.org/officeDocument/2006/math">
                    <m:r>
                      <a:rPr lang="en-US" altLang="ko-KR" sz="1600" i="1">
                        <a:latin typeface="Cambria Math" panose="02040503050406030204" pitchFamily="18" charset="0"/>
                        <a:ea typeface="Cambria Math" panose="02040503050406030204" pitchFamily="18" charset="0"/>
                      </a:rPr>
                      <m:t>𝑞</m:t>
                    </m:r>
                    <m:d>
                      <m:dPr>
                        <m:ctrlPr>
                          <a:rPr lang="en-US" altLang="ko-KR" sz="1600" i="1">
                            <a:latin typeface="Cambria Math" panose="02040503050406030204" pitchFamily="18" charset="0"/>
                            <a:ea typeface="Cambria Math" panose="02040503050406030204" pitchFamily="18" charset="0"/>
                          </a:rPr>
                        </m:ctrlPr>
                      </m:dPr>
                      <m:e>
                        <m:sSup>
                          <m:sSupPr>
                            <m:ctrlPr>
                              <a:rPr lang="en-US" altLang="ko-KR" sz="1600" i="1">
                                <a:latin typeface="Cambria Math" panose="02040503050406030204" pitchFamily="18" charset="0"/>
                              </a:rPr>
                            </m:ctrlPr>
                          </m:sSupPr>
                          <m:e>
                            <m:r>
                              <a:rPr lang="en-US" altLang="ko-KR" sz="1600" i="1">
                                <a:latin typeface="Cambria Math" panose="02040503050406030204" pitchFamily="18" charset="0"/>
                              </a:rPr>
                              <m:t>𝑧</m:t>
                            </m:r>
                          </m:e>
                          <m:sup>
                            <m:r>
                              <a:rPr lang="en-US" altLang="ko-KR" sz="1600" i="1">
                                <a:latin typeface="Cambria Math" panose="02040503050406030204" pitchFamily="18" charset="0"/>
                              </a:rPr>
                              <m:t>∗</m:t>
                            </m:r>
                          </m:sup>
                        </m:sSup>
                      </m:e>
                      <m:e>
                        <m:sSup>
                          <m:sSupPr>
                            <m:ctrlPr>
                              <a:rPr lang="en-US" altLang="ko-KR" sz="1600" i="1">
                                <a:latin typeface="Cambria Math" panose="02040503050406030204" pitchFamily="18" charset="0"/>
                              </a:rPr>
                            </m:ctrlPr>
                          </m:sSupPr>
                          <m:e>
                            <m:r>
                              <a:rPr lang="en-US" altLang="ko-KR" sz="1600" i="1">
                                <a:latin typeface="Cambria Math" panose="02040503050406030204" pitchFamily="18" charset="0"/>
                              </a:rPr>
                              <m:t>𝑧</m:t>
                            </m:r>
                          </m:e>
                          <m:sup>
                            <m:r>
                              <a:rPr lang="en-US" altLang="ko-KR" sz="1600" i="1">
                                <a:latin typeface="Cambria Math" panose="02040503050406030204" pitchFamily="18" charset="0"/>
                              </a:rPr>
                              <m:t>𝑡</m:t>
                            </m:r>
                          </m:sup>
                        </m:sSup>
                      </m:e>
                    </m:d>
                    <m:r>
                      <a:rPr lang="en-US" altLang="ko-KR" sz="1600" b="0" i="0" smtClean="0">
                        <a:latin typeface="Cambria Math" panose="02040503050406030204" pitchFamily="18" charset="0"/>
                      </a:rPr>
                      <m:t>=</m:t>
                    </m:r>
                    <m:f>
                      <m:fPr>
                        <m:ctrlPr>
                          <a:rPr lang="en-US" altLang="ko-KR" sz="1600" b="0" i="1" smtClean="0">
                            <a:latin typeface="Cambria Math" panose="02040503050406030204" pitchFamily="18" charset="0"/>
                          </a:rPr>
                        </m:ctrlPr>
                      </m:fPr>
                      <m:num>
                        <m:r>
                          <a:rPr lang="en-US" altLang="ko-KR" sz="1600" b="0" i="1" smtClean="0">
                            <a:latin typeface="Cambria Math" panose="02040503050406030204" pitchFamily="18" charset="0"/>
                          </a:rPr>
                          <m:t>1</m:t>
                        </m:r>
                      </m:num>
                      <m:den>
                        <m:r>
                          <a:rPr lang="ko-KR" altLang="en-US" sz="1600" b="0" i="1" smtClean="0">
                            <a:latin typeface="Cambria Math" panose="02040503050406030204" pitchFamily="18" charset="0"/>
                          </a:rPr>
                          <m:t>𝜎</m:t>
                        </m:r>
                        <m:rad>
                          <m:radPr>
                            <m:degHide m:val="on"/>
                            <m:ctrlPr>
                              <a:rPr lang="ko-KR" altLang="en-US" sz="1600" b="0" i="1" smtClean="0">
                                <a:latin typeface="Cambria Math" panose="02040503050406030204" pitchFamily="18" charset="0"/>
                              </a:rPr>
                            </m:ctrlPr>
                          </m:radPr>
                          <m:deg/>
                          <m:e>
                            <m:r>
                              <a:rPr lang="en-US" altLang="ko-KR" sz="1600" b="0" i="1" smtClean="0">
                                <a:latin typeface="Cambria Math" panose="02040503050406030204" pitchFamily="18" charset="0"/>
                              </a:rPr>
                              <m:t>2</m:t>
                            </m:r>
                            <m:r>
                              <a:rPr lang="ko-KR" altLang="en-US" sz="1600" b="0" i="1" smtClean="0">
                                <a:latin typeface="Cambria Math" panose="02040503050406030204" pitchFamily="18" charset="0"/>
                              </a:rPr>
                              <m:t>𝜋</m:t>
                            </m:r>
                          </m:e>
                        </m:rad>
                      </m:den>
                    </m:f>
                    <m:r>
                      <m:rPr>
                        <m:sty m:val="p"/>
                      </m:rPr>
                      <a:rPr lang="en-US" altLang="ko-KR" sz="1600" b="0" i="0" smtClean="0">
                        <a:latin typeface="Cambria Math" panose="02040503050406030204" pitchFamily="18" charset="0"/>
                      </a:rPr>
                      <m:t>exp</m:t>
                    </m:r>
                    <m:r>
                      <a:rPr lang="en-US" altLang="ko-KR" sz="1600" b="0" i="1" smtClean="0">
                        <a:latin typeface="Cambria Math" panose="02040503050406030204" pitchFamily="18" charset="0"/>
                      </a:rPr>
                      <m:t>⁡(−</m:t>
                    </m:r>
                    <m:f>
                      <m:fPr>
                        <m:ctrlPr>
                          <a:rPr lang="en-US" altLang="ko-KR" sz="1600" b="0" i="1" smtClean="0">
                            <a:latin typeface="Cambria Math" panose="02040503050406030204" pitchFamily="18" charset="0"/>
                          </a:rPr>
                        </m:ctrlPr>
                      </m:fPr>
                      <m:num>
                        <m:sSup>
                          <m:sSupPr>
                            <m:ctrlPr>
                              <a:rPr lang="en-US" altLang="ko-KR" sz="1600" b="0" i="1" smtClean="0">
                                <a:latin typeface="Cambria Math" panose="02040503050406030204" pitchFamily="18" charset="0"/>
                              </a:rPr>
                            </m:ctrlPr>
                          </m:sSupPr>
                          <m:e>
                            <m:d>
                              <m:dPr>
                                <m:ctrlPr>
                                  <a:rPr lang="en-US" altLang="ko-KR" sz="1600" i="1">
                                    <a:latin typeface="Cambria Math" panose="02040503050406030204" pitchFamily="18" charset="0"/>
                                  </a:rPr>
                                </m:ctrlPr>
                              </m:dPr>
                              <m:e>
                                <m:sSup>
                                  <m:sSupPr>
                                    <m:ctrlPr>
                                      <a:rPr lang="en-US" altLang="ko-KR" sz="1600" i="1">
                                        <a:latin typeface="Cambria Math" panose="02040503050406030204" pitchFamily="18" charset="0"/>
                                      </a:rPr>
                                    </m:ctrlPr>
                                  </m:sSupPr>
                                  <m:e>
                                    <m:r>
                                      <a:rPr lang="en-US" altLang="ko-KR" sz="1600" i="1">
                                        <a:latin typeface="Cambria Math" panose="02040503050406030204" pitchFamily="18" charset="0"/>
                                      </a:rPr>
                                      <m:t>𝑧</m:t>
                                    </m:r>
                                  </m:e>
                                  <m:sup>
                                    <m:r>
                                      <a:rPr lang="en-US" altLang="ko-KR" sz="1600" i="1">
                                        <a:latin typeface="Cambria Math" panose="02040503050406030204" pitchFamily="18" charset="0"/>
                                      </a:rPr>
                                      <m:t>∗</m:t>
                                    </m:r>
                                  </m:sup>
                                </m:sSup>
                                <m:r>
                                  <a:rPr lang="en-US" altLang="ko-KR" sz="1600" i="1">
                                    <a:latin typeface="Cambria Math" panose="02040503050406030204" pitchFamily="18" charset="0"/>
                                  </a:rPr>
                                  <m:t>−</m:t>
                                </m:r>
                                <m:sSup>
                                  <m:sSupPr>
                                    <m:ctrlPr>
                                      <a:rPr lang="en-US" altLang="ko-KR" sz="1600" i="1">
                                        <a:latin typeface="Cambria Math" panose="02040503050406030204" pitchFamily="18" charset="0"/>
                                      </a:rPr>
                                    </m:ctrlPr>
                                  </m:sSupPr>
                                  <m:e>
                                    <m:r>
                                      <a:rPr lang="en-US" altLang="ko-KR" sz="1600" i="1">
                                        <a:latin typeface="Cambria Math" panose="02040503050406030204" pitchFamily="18" charset="0"/>
                                      </a:rPr>
                                      <m:t>𝑧</m:t>
                                    </m:r>
                                  </m:e>
                                  <m:sup>
                                    <m:r>
                                      <a:rPr lang="en-US" altLang="ko-KR" sz="1600" i="1">
                                        <a:latin typeface="Cambria Math" panose="02040503050406030204" pitchFamily="18" charset="0"/>
                                      </a:rPr>
                                      <m:t>𝑡</m:t>
                                    </m:r>
                                  </m:sup>
                                </m:sSup>
                              </m:e>
                            </m:d>
                          </m:e>
                          <m:sup>
                            <m:r>
                              <a:rPr lang="en-US" altLang="ko-KR" sz="1600" b="0" i="1" smtClean="0">
                                <a:latin typeface="Cambria Math" panose="02040503050406030204" pitchFamily="18" charset="0"/>
                              </a:rPr>
                              <m:t>2</m:t>
                            </m:r>
                          </m:sup>
                        </m:sSup>
                      </m:num>
                      <m:den>
                        <m:r>
                          <a:rPr lang="en-US" altLang="ko-KR" sz="1600" b="0" i="1" smtClean="0">
                            <a:latin typeface="Cambria Math" panose="02040503050406030204" pitchFamily="18" charset="0"/>
                          </a:rPr>
                          <m:t>2</m:t>
                        </m:r>
                        <m:sSup>
                          <m:sSupPr>
                            <m:ctrlPr>
                              <a:rPr lang="en-US" altLang="ko-KR" sz="1600" i="1">
                                <a:latin typeface="Cambria Math" panose="02040503050406030204" pitchFamily="18" charset="0"/>
                              </a:rPr>
                            </m:ctrlPr>
                          </m:sSupPr>
                          <m:e>
                            <m:r>
                              <a:rPr lang="ko-KR" altLang="en-US" sz="1600" i="1">
                                <a:latin typeface="Cambria Math" panose="02040503050406030204" pitchFamily="18" charset="0"/>
                              </a:rPr>
                              <m:t>𝜎</m:t>
                            </m:r>
                          </m:e>
                          <m:sup>
                            <m:r>
                              <a:rPr lang="en-US" altLang="ko-KR" sz="1600" i="1">
                                <a:latin typeface="Cambria Math" panose="02040503050406030204" pitchFamily="18" charset="0"/>
                              </a:rPr>
                              <m:t>2</m:t>
                            </m:r>
                          </m:sup>
                        </m:sSup>
                      </m:den>
                    </m:f>
                    <m:r>
                      <a:rPr lang="en-US" altLang="ko-KR" sz="1600" b="0" i="1" smtClean="0">
                        <a:latin typeface="Cambria Math" panose="02040503050406030204" pitchFamily="18" charset="0"/>
                      </a:rPr>
                      <m:t>)</m:t>
                    </m:r>
                  </m:oMath>
                </a14:m>
                <a:endParaRPr lang="en-US" altLang="ko-KR" sz="1700" dirty="0" smtClean="0"/>
              </a:p>
              <a:p>
                <a:pPr marL="708660" lvl="2">
                  <a:buClr>
                    <a:schemeClr val="accent1"/>
                  </a:buClr>
                </a:pPr>
                <a:endParaRPr lang="ko-KR" altLang="en-US" sz="1700" dirty="0"/>
              </a:p>
              <a:p>
                <a:pPr marL="342900" lvl="1">
                  <a:buClr>
                    <a:schemeClr val="accent1"/>
                  </a:buClr>
                </a:pPr>
                <a:endParaRPr lang="en-US" altLang="ko-KR"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t="-248"/>
                </a:stretch>
              </a:blipFill>
            </p:spPr>
            <p:txBody>
              <a:bodyPr/>
              <a:lstStyle/>
              <a:p>
                <a:r>
                  <a:rPr lang="ko-KR" altLang="en-US">
                    <a:noFill/>
                  </a:rPr>
                  <a:t> </a:t>
                </a:r>
              </a:p>
            </p:txBody>
          </p:sp>
        </mc:Fallback>
      </mc:AlternateContent>
      <p:sp>
        <p:nvSpPr>
          <p:cNvPr id="4" name="Slide Number Placeholder 3"/>
          <p:cNvSpPr>
            <a:spLocks noGrp="1"/>
          </p:cNvSpPr>
          <p:nvPr>
            <p:ph type="sldNum" sz="quarter" idx="12"/>
          </p:nvPr>
        </p:nvSpPr>
        <p:spPr/>
        <p:txBody>
          <a:bodyPr/>
          <a:lstStyle/>
          <a:p>
            <a:fld id="{85CD3E9B-A789-4DCF-960C-49E4EDB7DF3D}" type="slidenum">
              <a:rPr lang="ko-KR" altLang="en-US" smtClean="0"/>
              <a:t>12</a:t>
            </a:fld>
            <a:endParaRPr lang="ko-KR" altLang="en-US"/>
          </a:p>
        </p:txBody>
      </p:sp>
      <p:cxnSp>
        <p:nvCxnSpPr>
          <p:cNvPr id="6" name="직선 화살표 연결선 5"/>
          <p:cNvCxnSpPr/>
          <p:nvPr/>
        </p:nvCxnSpPr>
        <p:spPr>
          <a:xfrm>
            <a:off x="7002150" y="4066338"/>
            <a:ext cx="198706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 name="자유형 6"/>
          <p:cNvSpPr/>
          <p:nvPr/>
        </p:nvSpPr>
        <p:spPr>
          <a:xfrm>
            <a:off x="7016665" y="3115650"/>
            <a:ext cx="1872343" cy="820059"/>
          </a:xfrm>
          <a:custGeom>
            <a:avLst/>
            <a:gdLst>
              <a:gd name="connsiteX0" fmla="*/ 0 w 1872343"/>
              <a:gd name="connsiteY0" fmla="*/ 820059 h 820059"/>
              <a:gd name="connsiteX1" fmla="*/ 464457 w 1872343"/>
              <a:gd name="connsiteY1" fmla="*/ 674916 h 820059"/>
              <a:gd name="connsiteX2" fmla="*/ 856343 w 1872343"/>
              <a:gd name="connsiteY2" fmla="*/ 2 h 820059"/>
              <a:gd name="connsiteX3" fmla="*/ 1255485 w 1872343"/>
              <a:gd name="connsiteY3" fmla="*/ 667659 h 820059"/>
              <a:gd name="connsiteX4" fmla="*/ 1872343 w 1872343"/>
              <a:gd name="connsiteY4" fmla="*/ 798288 h 8200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2343" h="820059">
                <a:moveTo>
                  <a:pt x="0" y="820059"/>
                </a:moveTo>
                <a:cubicBezTo>
                  <a:pt x="160866" y="815825"/>
                  <a:pt x="321733" y="811592"/>
                  <a:pt x="464457" y="674916"/>
                </a:cubicBezTo>
                <a:cubicBezTo>
                  <a:pt x="607181" y="538240"/>
                  <a:pt x="724505" y="1211"/>
                  <a:pt x="856343" y="2"/>
                </a:cubicBezTo>
                <a:cubicBezTo>
                  <a:pt x="988181" y="-1207"/>
                  <a:pt x="1086152" y="534611"/>
                  <a:pt x="1255485" y="667659"/>
                </a:cubicBezTo>
                <a:cubicBezTo>
                  <a:pt x="1424818" y="800707"/>
                  <a:pt x="1648580" y="799497"/>
                  <a:pt x="1872343" y="79828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9" name="직선 연결선 8"/>
          <p:cNvCxnSpPr/>
          <p:nvPr/>
        </p:nvCxnSpPr>
        <p:spPr>
          <a:xfrm>
            <a:off x="7865750" y="2977766"/>
            <a:ext cx="0" cy="1088572"/>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직사각형 9"/>
              <p:cNvSpPr/>
              <p:nvPr/>
            </p:nvSpPr>
            <p:spPr>
              <a:xfrm>
                <a:off x="7642131" y="4066338"/>
                <a:ext cx="44723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ko-KR" b="1" i="1">
                              <a:latin typeface="Cambria Math" panose="02040503050406030204" pitchFamily="18" charset="0"/>
                            </a:rPr>
                          </m:ctrlPr>
                        </m:sSupPr>
                        <m:e>
                          <m:r>
                            <a:rPr lang="en-US" altLang="ko-KR" b="1" i="1">
                              <a:latin typeface="Cambria Math" panose="02040503050406030204" pitchFamily="18" charset="0"/>
                            </a:rPr>
                            <m:t>𝒛</m:t>
                          </m:r>
                        </m:e>
                        <m:sup>
                          <m:r>
                            <a:rPr lang="en-US" altLang="ko-KR" b="1" i="1">
                              <a:latin typeface="Cambria Math" panose="02040503050406030204" pitchFamily="18" charset="0"/>
                            </a:rPr>
                            <m:t>𝒕</m:t>
                          </m:r>
                        </m:sup>
                      </m:sSup>
                    </m:oMath>
                  </m:oMathPara>
                </a14:m>
                <a:endParaRPr lang="ko-KR" altLang="en-US" b="1" dirty="0"/>
              </a:p>
            </p:txBody>
          </p:sp>
        </mc:Choice>
        <mc:Fallback xmlns="">
          <p:sp>
            <p:nvSpPr>
              <p:cNvPr id="10" name="직사각형 9"/>
              <p:cNvSpPr>
                <a:spLocks noRot="1" noChangeAspect="1" noMove="1" noResize="1" noEditPoints="1" noAdjustHandles="1" noChangeArrowheads="1" noChangeShapeType="1" noTextEdit="1"/>
              </p:cNvSpPr>
              <p:nvPr/>
            </p:nvSpPr>
            <p:spPr>
              <a:xfrm>
                <a:off x="7642131" y="4066338"/>
                <a:ext cx="447238" cy="369332"/>
              </a:xfrm>
              <a:prstGeom prst="rect">
                <a:avLst/>
              </a:prstGeom>
              <a:blipFill rotWithShape="0">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 name="직사각형 10"/>
              <p:cNvSpPr/>
              <p:nvPr/>
            </p:nvSpPr>
            <p:spPr>
              <a:xfrm>
                <a:off x="8163181" y="4066338"/>
                <a:ext cx="45076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ko-KR" b="1" i="1">
                              <a:latin typeface="Cambria Math" panose="02040503050406030204" pitchFamily="18" charset="0"/>
                            </a:rPr>
                          </m:ctrlPr>
                        </m:sSupPr>
                        <m:e>
                          <m:r>
                            <a:rPr lang="en-US" altLang="ko-KR" b="1" i="1">
                              <a:latin typeface="Cambria Math" panose="02040503050406030204" pitchFamily="18" charset="0"/>
                            </a:rPr>
                            <m:t>𝒛</m:t>
                          </m:r>
                        </m:e>
                        <m:sup>
                          <m:r>
                            <a:rPr lang="en-US" altLang="ko-KR" b="1" i="1">
                              <a:latin typeface="Cambria Math" panose="02040503050406030204" pitchFamily="18" charset="0"/>
                            </a:rPr>
                            <m:t>∗</m:t>
                          </m:r>
                        </m:sup>
                      </m:sSup>
                    </m:oMath>
                  </m:oMathPara>
                </a14:m>
                <a:endParaRPr lang="ko-KR" altLang="en-US" b="1" dirty="0"/>
              </a:p>
            </p:txBody>
          </p:sp>
        </mc:Choice>
        <mc:Fallback xmlns="">
          <p:sp>
            <p:nvSpPr>
              <p:cNvPr id="11" name="직사각형 10"/>
              <p:cNvSpPr>
                <a:spLocks noRot="1" noChangeAspect="1" noMove="1" noResize="1" noEditPoints="1" noAdjustHandles="1" noChangeArrowheads="1" noChangeShapeType="1" noTextEdit="1"/>
              </p:cNvSpPr>
              <p:nvPr/>
            </p:nvSpPr>
            <p:spPr>
              <a:xfrm>
                <a:off x="8163181" y="4066338"/>
                <a:ext cx="450764" cy="369332"/>
              </a:xfrm>
              <a:prstGeom prst="rect">
                <a:avLst/>
              </a:prstGeom>
              <a:blipFill rotWithShape="0">
                <a:blip r:embed="rId4"/>
                <a:stretch>
                  <a:fillRect/>
                </a:stretch>
              </a:blipFill>
            </p:spPr>
            <p:txBody>
              <a:bodyPr/>
              <a:lstStyle/>
              <a:p>
                <a:r>
                  <a:rPr lang="ko-KR" altLang="en-US">
                    <a:noFill/>
                  </a:rPr>
                  <a:t> </a:t>
                </a:r>
              </a:p>
            </p:txBody>
          </p:sp>
        </mc:Fallback>
      </mc:AlternateContent>
      <p:sp>
        <p:nvSpPr>
          <p:cNvPr id="12" name="오른쪽 화살표 11"/>
          <p:cNvSpPr/>
          <p:nvPr/>
        </p:nvSpPr>
        <p:spPr>
          <a:xfrm>
            <a:off x="7987769" y="4165896"/>
            <a:ext cx="226303" cy="17417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3" name="직선 화살표 연결선 12"/>
          <p:cNvCxnSpPr/>
          <p:nvPr/>
        </p:nvCxnSpPr>
        <p:spPr>
          <a:xfrm>
            <a:off x="7005622" y="5767364"/>
            <a:ext cx="198706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자유형 13"/>
          <p:cNvSpPr/>
          <p:nvPr/>
        </p:nvSpPr>
        <p:spPr>
          <a:xfrm>
            <a:off x="7513623" y="4816675"/>
            <a:ext cx="1872343" cy="820059"/>
          </a:xfrm>
          <a:custGeom>
            <a:avLst/>
            <a:gdLst>
              <a:gd name="connsiteX0" fmla="*/ 0 w 1872343"/>
              <a:gd name="connsiteY0" fmla="*/ 820059 h 820059"/>
              <a:gd name="connsiteX1" fmla="*/ 464457 w 1872343"/>
              <a:gd name="connsiteY1" fmla="*/ 674916 h 820059"/>
              <a:gd name="connsiteX2" fmla="*/ 856343 w 1872343"/>
              <a:gd name="connsiteY2" fmla="*/ 2 h 820059"/>
              <a:gd name="connsiteX3" fmla="*/ 1255485 w 1872343"/>
              <a:gd name="connsiteY3" fmla="*/ 667659 h 820059"/>
              <a:gd name="connsiteX4" fmla="*/ 1872343 w 1872343"/>
              <a:gd name="connsiteY4" fmla="*/ 798288 h 8200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2343" h="820059">
                <a:moveTo>
                  <a:pt x="0" y="820059"/>
                </a:moveTo>
                <a:cubicBezTo>
                  <a:pt x="160866" y="815825"/>
                  <a:pt x="321733" y="811592"/>
                  <a:pt x="464457" y="674916"/>
                </a:cubicBezTo>
                <a:cubicBezTo>
                  <a:pt x="607181" y="538240"/>
                  <a:pt x="724505" y="1211"/>
                  <a:pt x="856343" y="2"/>
                </a:cubicBezTo>
                <a:cubicBezTo>
                  <a:pt x="988181" y="-1207"/>
                  <a:pt x="1086152" y="534611"/>
                  <a:pt x="1255485" y="667659"/>
                </a:cubicBezTo>
                <a:cubicBezTo>
                  <a:pt x="1424818" y="800707"/>
                  <a:pt x="1648580" y="799497"/>
                  <a:pt x="1872343" y="79828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 name="직선 연결선 14"/>
          <p:cNvCxnSpPr/>
          <p:nvPr/>
        </p:nvCxnSpPr>
        <p:spPr>
          <a:xfrm>
            <a:off x="8350891" y="4435670"/>
            <a:ext cx="11817" cy="1331693"/>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직사각형 15"/>
              <p:cNvSpPr/>
              <p:nvPr/>
            </p:nvSpPr>
            <p:spPr>
              <a:xfrm>
                <a:off x="8168127" y="5749587"/>
                <a:ext cx="44723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ko-KR" b="1" i="1">
                              <a:latin typeface="Cambria Math" panose="02040503050406030204" pitchFamily="18" charset="0"/>
                            </a:rPr>
                          </m:ctrlPr>
                        </m:sSupPr>
                        <m:e>
                          <m:r>
                            <a:rPr lang="en-US" altLang="ko-KR" b="1" i="1">
                              <a:latin typeface="Cambria Math" panose="02040503050406030204" pitchFamily="18" charset="0"/>
                            </a:rPr>
                            <m:t>𝒛</m:t>
                          </m:r>
                        </m:e>
                        <m:sup>
                          <m:r>
                            <a:rPr lang="en-US" altLang="ko-KR" b="1" i="1">
                              <a:latin typeface="Cambria Math" panose="02040503050406030204" pitchFamily="18" charset="0"/>
                            </a:rPr>
                            <m:t>𝒕</m:t>
                          </m:r>
                        </m:sup>
                      </m:sSup>
                    </m:oMath>
                  </m:oMathPara>
                </a14:m>
                <a:endParaRPr lang="ko-KR" altLang="en-US" b="1" dirty="0"/>
              </a:p>
            </p:txBody>
          </p:sp>
        </mc:Choice>
        <mc:Fallback xmlns="">
          <p:sp>
            <p:nvSpPr>
              <p:cNvPr id="16" name="직사각형 15"/>
              <p:cNvSpPr>
                <a:spLocks noRot="1" noChangeAspect="1" noMove="1" noResize="1" noEditPoints="1" noAdjustHandles="1" noChangeArrowheads="1" noChangeShapeType="1" noTextEdit="1"/>
              </p:cNvSpPr>
              <p:nvPr/>
            </p:nvSpPr>
            <p:spPr>
              <a:xfrm>
                <a:off x="8168127" y="5749587"/>
                <a:ext cx="447238" cy="369332"/>
              </a:xfrm>
              <a:prstGeom prst="rect">
                <a:avLst/>
              </a:prstGeom>
              <a:blipFill rotWithShape="0">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7" name="직사각형 16"/>
              <p:cNvSpPr/>
              <p:nvPr/>
            </p:nvSpPr>
            <p:spPr>
              <a:xfrm>
                <a:off x="7621192" y="5747925"/>
                <a:ext cx="45076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ko-KR" b="1" i="1">
                              <a:latin typeface="Cambria Math" panose="02040503050406030204" pitchFamily="18" charset="0"/>
                            </a:rPr>
                          </m:ctrlPr>
                        </m:sSupPr>
                        <m:e>
                          <m:r>
                            <a:rPr lang="en-US" altLang="ko-KR" b="1" i="1">
                              <a:latin typeface="Cambria Math" panose="02040503050406030204" pitchFamily="18" charset="0"/>
                            </a:rPr>
                            <m:t>𝒛</m:t>
                          </m:r>
                        </m:e>
                        <m:sup>
                          <m:r>
                            <a:rPr lang="en-US" altLang="ko-KR" b="1" i="1">
                              <a:latin typeface="Cambria Math" panose="02040503050406030204" pitchFamily="18" charset="0"/>
                            </a:rPr>
                            <m:t>∗</m:t>
                          </m:r>
                        </m:sup>
                      </m:sSup>
                    </m:oMath>
                  </m:oMathPara>
                </a14:m>
                <a:endParaRPr lang="ko-KR" altLang="en-US" b="1" dirty="0"/>
              </a:p>
            </p:txBody>
          </p:sp>
        </mc:Choice>
        <mc:Fallback xmlns="">
          <p:sp>
            <p:nvSpPr>
              <p:cNvPr id="17" name="직사각형 16"/>
              <p:cNvSpPr>
                <a:spLocks noRot="1" noChangeAspect="1" noMove="1" noResize="1" noEditPoints="1" noAdjustHandles="1" noChangeArrowheads="1" noChangeShapeType="1" noTextEdit="1"/>
              </p:cNvSpPr>
              <p:nvPr/>
            </p:nvSpPr>
            <p:spPr>
              <a:xfrm>
                <a:off x="7621192" y="5747925"/>
                <a:ext cx="450764" cy="369332"/>
              </a:xfrm>
              <a:prstGeom prst="rect">
                <a:avLst/>
              </a:prstGeom>
              <a:blipFill rotWithShape="0">
                <a:blip r:embed="rId6"/>
                <a:stretch>
                  <a:fillRect/>
                </a:stretch>
              </a:blipFill>
            </p:spPr>
            <p:txBody>
              <a:bodyPr/>
              <a:lstStyle/>
              <a:p>
                <a:r>
                  <a:rPr lang="ko-KR" altLang="en-US">
                    <a:noFill/>
                  </a:rPr>
                  <a:t> </a:t>
                </a:r>
              </a:p>
            </p:txBody>
          </p:sp>
        </mc:Fallback>
      </mc:AlternateContent>
      <p:sp>
        <p:nvSpPr>
          <p:cNvPr id="18" name="오른쪽 화살표 17"/>
          <p:cNvSpPr/>
          <p:nvPr/>
        </p:nvSpPr>
        <p:spPr>
          <a:xfrm rot="10800000">
            <a:off x="7991241" y="5866922"/>
            <a:ext cx="226303" cy="17417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TextBox 18"/>
          <p:cNvSpPr txBox="1"/>
          <p:nvPr/>
        </p:nvSpPr>
        <p:spPr>
          <a:xfrm>
            <a:off x="6746528" y="2563180"/>
            <a:ext cx="1100045" cy="369332"/>
          </a:xfrm>
          <a:prstGeom prst="rect">
            <a:avLst/>
          </a:prstGeom>
          <a:noFill/>
        </p:spPr>
        <p:txBody>
          <a:bodyPr wrap="none" rtlCol="0">
            <a:spAutoFit/>
          </a:bodyPr>
          <a:lstStyle/>
          <a:p>
            <a:r>
              <a:rPr lang="en-US" altLang="ko-KR" b="1" dirty="0" smtClean="0"/>
              <a:t>Sample t</a:t>
            </a:r>
            <a:endParaRPr lang="ko-KR" altLang="en-US" b="1" dirty="0"/>
          </a:p>
        </p:txBody>
      </p:sp>
      <p:sp>
        <p:nvSpPr>
          <p:cNvPr id="20" name="TextBox 19"/>
          <p:cNvSpPr txBox="1"/>
          <p:nvPr/>
        </p:nvSpPr>
        <p:spPr>
          <a:xfrm>
            <a:off x="6746528" y="4781649"/>
            <a:ext cx="1372555" cy="369332"/>
          </a:xfrm>
          <a:prstGeom prst="rect">
            <a:avLst/>
          </a:prstGeom>
          <a:noFill/>
        </p:spPr>
        <p:txBody>
          <a:bodyPr wrap="none" rtlCol="0">
            <a:spAutoFit/>
          </a:bodyPr>
          <a:lstStyle/>
          <a:p>
            <a:r>
              <a:rPr lang="en-US" altLang="ko-KR" b="1" dirty="0" smtClean="0"/>
              <a:t>Sample t+1</a:t>
            </a:r>
            <a:endParaRPr lang="ko-KR" altLang="en-US" b="1" dirty="0"/>
          </a:p>
        </p:txBody>
      </p:sp>
      <p:sp>
        <p:nvSpPr>
          <p:cNvPr id="21" name="아래쪽 화살표 20"/>
          <p:cNvSpPr/>
          <p:nvPr/>
        </p:nvSpPr>
        <p:spPr>
          <a:xfrm>
            <a:off x="6762127" y="2956480"/>
            <a:ext cx="704198" cy="1860195"/>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smtClean="0"/>
              <a:t>Accept</a:t>
            </a:r>
            <a:endParaRPr lang="ko-KR" altLang="en-US" sz="1600" dirty="0"/>
          </a:p>
        </p:txBody>
      </p:sp>
      <p:sp>
        <p:nvSpPr>
          <p:cNvPr id="24" name="직사각형 23"/>
          <p:cNvSpPr/>
          <p:nvPr/>
        </p:nvSpPr>
        <p:spPr>
          <a:xfrm>
            <a:off x="6666271" y="6117257"/>
            <a:ext cx="2415320" cy="4080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Random Walk Process</a:t>
            </a:r>
            <a:endParaRPr lang="ko-KR" altLang="en-US" dirty="0"/>
          </a:p>
        </p:txBody>
      </p:sp>
    </p:spTree>
    <p:extLst>
      <p:ext uri="{BB962C8B-B14F-4D97-AF65-F5344CB8AC3E}">
        <p14:creationId xmlns:p14="http://schemas.microsoft.com/office/powerpoint/2010/main" val="34215090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2299" y="0"/>
            <a:ext cx="2721077" cy="2067927"/>
          </a:xfrm>
        </p:spPr>
        <p:txBody>
          <a:bodyPr/>
          <a:lstStyle/>
          <a:p>
            <a:r>
              <a:rPr lang="en-US" altLang="ko-KR" dirty="0" smtClean="0"/>
              <a:t>Result of </a:t>
            </a:r>
            <a:br>
              <a:rPr lang="en-US" altLang="ko-KR" dirty="0" smtClean="0"/>
            </a:br>
            <a:r>
              <a:rPr lang="en-US" altLang="ko-KR" dirty="0" smtClean="0"/>
              <a:t>Random </a:t>
            </a:r>
            <a:br>
              <a:rPr lang="en-US" altLang="ko-KR" dirty="0" smtClean="0"/>
            </a:br>
            <a:r>
              <a:rPr lang="en-US" altLang="ko-KR" dirty="0" smtClean="0"/>
              <a:t>Walk M-H</a:t>
            </a:r>
            <a:endParaRPr lang="ko-KR" altLang="en-US" dirty="0"/>
          </a:p>
        </p:txBody>
      </p:sp>
      <p:sp>
        <p:nvSpPr>
          <p:cNvPr id="4" name="슬라이드 번호 개체 틀 3"/>
          <p:cNvSpPr>
            <a:spLocks noGrp="1"/>
          </p:cNvSpPr>
          <p:nvPr>
            <p:ph type="sldNum" sz="quarter" idx="12"/>
          </p:nvPr>
        </p:nvSpPr>
        <p:spPr/>
        <p:txBody>
          <a:bodyPr/>
          <a:lstStyle/>
          <a:p>
            <a:fld id="{85CD3E9B-A789-4DCF-960C-49E4EDB7DF3D}" type="slidenum">
              <a:rPr lang="ko-KR" altLang="en-US" smtClean="0"/>
              <a:t>13</a:t>
            </a:fld>
            <a:endParaRPr lang="ko-KR" altLang="en-US"/>
          </a:p>
        </p:txBody>
      </p:sp>
      <p:grpSp>
        <p:nvGrpSpPr>
          <p:cNvPr id="30" name="그룹 29"/>
          <p:cNvGrpSpPr/>
          <p:nvPr/>
        </p:nvGrpSpPr>
        <p:grpSpPr>
          <a:xfrm>
            <a:off x="177063" y="5250426"/>
            <a:ext cx="1297775" cy="998920"/>
            <a:chOff x="154858" y="1543119"/>
            <a:chExt cx="2558845" cy="2565465"/>
          </a:xfrm>
        </p:grpSpPr>
        <p:pic>
          <p:nvPicPr>
            <p:cNvPr id="5" name="그림 4"/>
            <p:cNvPicPr>
              <a:picLocks noChangeAspect="1"/>
            </p:cNvPicPr>
            <p:nvPr/>
          </p:nvPicPr>
          <p:blipFill>
            <a:blip r:embed="rId2"/>
            <a:stretch>
              <a:fillRect/>
            </a:stretch>
          </p:blipFill>
          <p:spPr>
            <a:xfrm>
              <a:off x="154858" y="1543119"/>
              <a:ext cx="2558845" cy="1919134"/>
            </a:xfrm>
            <a:prstGeom prst="rect">
              <a:avLst/>
            </a:prstGeom>
          </p:spPr>
        </p:pic>
        <p:sp>
          <p:nvSpPr>
            <p:cNvPr id="13" name="TextBox 12"/>
            <p:cNvSpPr txBox="1"/>
            <p:nvPr/>
          </p:nvSpPr>
          <p:spPr>
            <a:xfrm>
              <a:off x="555962" y="3462253"/>
              <a:ext cx="1756635" cy="646331"/>
            </a:xfrm>
            <a:prstGeom prst="rect">
              <a:avLst/>
            </a:prstGeom>
            <a:noFill/>
          </p:spPr>
          <p:txBody>
            <a:bodyPr wrap="none" rtlCol="0">
              <a:spAutoFit/>
            </a:bodyPr>
            <a:lstStyle/>
            <a:p>
              <a:pPr algn="ctr"/>
              <a:r>
                <a:rPr lang="en-US" altLang="ko-KR" b="1" dirty="0" smtClean="0"/>
                <a:t>Target Mixture</a:t>
              </a:r>
            </a:p>
            <a:p>
              <a:pPr algn="ctr"/>
              <a:r>
                <a:rPr lang="en-US" altLang="ko-KR" b="1" dirty="0" smtClean="0"/>
                <a:t>Distribution</a:t>
              </a:r>
              <a:endParaRPr lang="ko-KR" altLang="en-US" b="1" dirty="0"/>
            </a:p>
          </p:txBody>
        </p:sp>
      </p:grpSp>
      <p:grpSp>
        <p:nvGrpSpPr>
          <p:cNvPr id="29" name="그룹 28"/>
          <p:cNvGrpSpPr/>
          <p:nvPr/>
        </p:nvGrpSpPr>
        <p:grpSpPr>
          <a:xfrm>
            <a:off x="2664000" y="4890"/>
            <a:ext cx="6480000" cy="6853110"/>
            <a:chOff x="2562396" y="-16278"/>
            <a:chExt cx="6480000" cy="6853110"/>
          </a:xfrm>
        </p:grpSpPr>
        <p:grpSp>
          <p:nvGrpSpPr>
            <p:cNvPr id="27" name="그룹 26"/>
            <p:cNvGrpSpPr/>
            <p:nvPr/>
          </p:nvGrpSpPr>
          <p:grpSpPr>
            <a:xfrm>
              <a:off x="2562396" y="-16278"/>
              <a:ext cx="6480000" cy="6853110"/>
              <a:chOff x="2562396" y="-16278"/>
              <a:chExt cx="6480000" cy="6853110"/>
            </a:xfrm>
          </p:grpSpPr>
          <p:grpSp>
            <p:nvGrpSpPr>
              <p:cNvPr id="20" name="그룹 19"/>
              <p:cNvGrpSpPr/>
              <p:nvPr/>
            </p:nvGrpSpPr>
            <p:grpSpPr>
              <a:xfrm>
                <a:off x="2562396" y="-16278"/>
                <a:ext cx="4320000" cy="6853110"/>
                <a:chOff x="2562396" y="-16278"/>
                <a:chExt cx="4320000" cy="6853110"/>
              </a:xfrm>
            </p:grpSpPr>
            <p:pic>
              <p:nvPicPr>
                <p:cNvPr id="6" name="그림 5"/>
                <p:cNvPicPr>
                  <a:picLocks noChangeAspect="1"/>
                </p:cNvPicPr>
                <p:nvPr/>
              </p:nvPicPr>
              <p:blipFill>
                <a:blip r:embed="rId3"/>
                <a:stretch>
                  <a:fillRect/>
                </a:stretch>
              </p:blipFill>
              <p:spPr>
                <a:xfrm>
                  <a:off x="4722396" y="-16278"/>
                  <a:ext cx="2160000" cy="1620000"/>
                </a:xfrm>
                <a:prstGeom prst="rect">
                  <a:avLst/>
                </a:prstGeom>
              </p:spPr>
            </p:pic>
            <p:pic>
              <p:nvPicPr>
                <p:cNvPr id="8" name="그림 7"/>
                <p:cNvPicPr>
                  <a:picLocks noChangeAspect="1"/>
                </p:cNvPicPr>
                <p:nvPr/>
              </p:nvPicPr>
              <p:blipFill>
                <a:blip r:embed="rId4"/>
                <a:stretch>
                  <a:fillRect/>
                </a:stretch>
              </p:blipFill>
              <p:spPr>
                <a:xfrm rot="5400000">
                  <a:off x="4362396" y="1927911"/>
                  <a:ext cx="2880000" cy="2160000"/>
                </a:xfrm>
                <a:prstGeom prst="rect">
                  <a:avLst/>
                </a:prstGeom>
              </p:spPr>
            </p:pic>
            <p:pic>
              <p:nvPicPr>
                <p:cNvPr id="7" name="그림 6"/>
                <p:cNvPicPr>
                  <a:picLocks noChangeAspect="1"/>
                </p:cNvPicPr>
                <p:nvPr/>
              </p:nvPicPr>
              <p:blipFill>
                <a:blip r:embed="rId5"/>
                <a:stretch>
                  <a:fillRect/>
                </a:stretch>
              </p:blipFill>
              <p:spPr>
                <a:xfrm rot="5400000">
                  <a:off x="4362396" y="4316832"/>
                  <a:ext cx="2880000" cy="2160000"/>
                </a:xfrm>
                <a:prstGeom prst="rect">
                  <a:avLst/>
                </a:prstGeom>
              </p:spPr>
            </p:pic>
            <mc:AlternateContent xmlns:mc="http://schemas.openxmlformats.org/markup-compatibility/2006" xmlns:a14="http://schemas.microsoft.com/office/drawing/2010/main">
              <mc:Choice Requires="a14">
                <p:sp>
                  <p:nvSpPr>
                    <p:cNvPr id="15" name="직사각형 14"/>
                    <p:cNvSpPr/>
                    <p:nvPr/>
                  </p:nvSpPr>
                  <p:spPr>
                    <a:xfrm>
                      <a:off x="6061213" y="65493"/>
                      <a:ext cx="713593" cy="375552"/>
                    </a:xfrm>
                    <a:prstGeom prst="rect">
                      <a:avLst/>
                    </a:prstGeom>
                  </p:spPr>
                  <p:txBody>
                    <a:bodyPr wrap="none">
                      <a:spAutoFit/>
                    </a:bodyPr>
                    <a:lstStyle/>
                    <a:p>
                      <a14:m>
                        <m:oMath xmlns:m="http://schemas.openxmlformats.org/officeDocument/2006/math">
                          <m:sSup>
                            <m:sSupPr>
                              <m:ctrlPr>
                                <a:rPr lang="en-US" altLang="ko-KR" b="1" i="1">
                                  <a:latin typeface="Cambria Math" panose="02040503050406030204" pitchFamily="18" charset="0"/>
                                </a:rPr>
                              </m:ctrlPr>
                            </m:sSupPr>
                            <m:e>
                              <m:r>
                                <a:rPr lang="ko-KR" altLang="en-US" b="1" i="1">
                                  <a:latin typeface="Cambria Math" panose="02040503050406030204" pitchFamily="18" charset="0"/>
                                </a:rPr>
                                <m:t>𝝈</m:t>
                              </m:r>
                            </m:e>
                            <m:sup>
                              <m:r>
                                <a:rPr lang="en-US" altLang="ko-KR" b="1" i="1">
                                  <a:latin typeface="Cambria Math" panose="02040503050406030204" pitchFamily="18" charset="0"/>
                                </a:rPr>
                                <m:t>𝟐</m:t>
                              </m:r>
                            </m:sup>
                          </m:sSup>
                        </m:oMath>
                      </a14:m>
                      <a:r>
                        <a:rPr lang="en-US" altLang="ko-KR" b="1" dirty="0" smtClean="0"/>
                        <a:t>=1</a:t>
                      </a:r>
                      <a:endParaRPr lang="ko-KR" altLang="en-US" b="1" dirty="0"/>
                    </a:p>
                  </p:txBody>
                </p:sp>
              </mc:Choice>
              <mc:Fallback xmlns="">
                <p:sp>
                  <p:nvSpPr>
                    <p:cNvPr id="15" name="직사각형 14"/>
                    <p:cNvSpPr>
                      <a:spLocks noRot="1" noChangeAspect="1" noMove="1" noResize="1" noEditPoints="1" noAdjustHandles="1" noChangeArrowheads="1" noChangeShapeType="1" noTextEdit="1"/>
                    </p:cNvSpPr>
                    <p:nvPr/>
                  </p:nvSpPr>
                  <p:spPr>
                    <a:xfrm>
                      <a:off x="6061213" y="65493"/>
                      <a:ext cx="713593" cy="375552"/>
                    </a:xfrm>
                    <a:prstGeom prst="rect">
                      <a:avLst/>
                    </a:prstGeom>
                    <a:blipFill rotWithShape="0">
                      <a:blip r:embed="rId6"/>
                      <a:stretch>
                        <a:fillRect t="-6452" r="-7692" b="-24194"/>
                      </a:stretch>
                    </a:blipFill>
                  </p:spPr>
                  <p:txBody>
                    <a:bodyPr/>
                    <a:lstStyle/>
                    <a:p>
                      <a:r>
                        <a:rPr lang="ko-KR" altLang="en-US">
                          <a:noFill/>
                        </a:rPr>
                        <a:t> </a:t>
                      </a:r>
                    </a:p>
                  </p:txBody>
                </p:sp>
              </mc:Fallback>
            </mc:AlternateContent>
            <p:pic>
              <p:nvPicPr>
                <p:cNvPr id="16" name="그림 15"/>
                <p:cNvPicPr>
                  <a:picLocks noChangeAspect="1"/>
                </p:cNvPicPr>
                <p:nvPr/>
              </p:nvPicPr>
              <p:blipFill>
                <a:blip r:embed="rId7"/>
                <a:stretch>
                  <a:fillRect/>
                </a:stretch>
              </p:blipFill>
              <p:spPr>
                <a:xfrm>
                  <a:off x="2562396" y="-16278"/>
                  <a:ext cx="2160000" cy="1620000"/>
                </a:xfrm>
                <a:prstGeom prst="rect">
                  <a:avLst/>
                </a:prstGeom>
              </p:spPr>
            </p:pic>
            <p:pic>
              <p:nvPicPr>
                <p:cNvPr id="18" name="그림 17"/>
                <p:cNvPicPr>
                  <a:picLocks noChangeAspect="1"/>
                </p:cNvPicPr>
                <p:nvPr/>
              </p:nvPicPr>
              <p:blipFill>
                <a:blip r:embed="rId8"/>
                <a:stretch>
                  <a:fillRect/>
                </a:stretch>
              </p:blipFill>
              <p:spPr>
                <a:xfrm rot="5400000">
                  <a:off x="2207824" y="1927911"/>
                  <a:ext cx="2880000" cy="2160000"/>
                </a:xfrm>
                <a:prstGeom prst="rect">
                  <a:avLst/>
                </a:prstGeom>
              </p:spPr>
            </p:pic>
            <mc:AlternateContent xmlns:mc="http://schemas.openxmlformats.org/markup-compatibility/2006" xmlns:a14="http://schemas.microsoft.com/office/drawing/2010/main">
              <mc:Choice Requires="a14">
                <p:sp>
                  <p:nvSpPr>
                    <p:cNvPr id="19" name="직사각형 18"/>
                    <p:cNvSpPr/>
                    <p:nvPr/>
                  </p:nvSpPr>
                  <p:spPr>
                    <a:xfrm>
                      <a:off x="3819648" y="65493"/>
                      <a:ext cx="902748" cy="375552"/>
                    </a:xfrm>
                    <a:prstGeom prst="rect">
                      <a:avLst/>
                    </a:prstGeom>
                  </p:spPr>
                  <p:txBody>
                    <a:bodyPr wrap="none">
                      <a:spAutoFit/>
                    </a:bodyPr>
                    <a:lstStyle/>
                    <a:p>
                      <a14:m>
                        <m:oMath xmlns:m="http://schemas.openxmlformats.org/officeDocument/2006/math">
                          <m:sSup>
                            <m:sSupPr>
                              <m:ctrlPr>
                                <a:rPr lang="en-US" altLang="ko-KR" b="1" i="1">
                                  <a:latin typeface="Cambria Math" panose="02040503050406030204" pitchFamily="18" charset="0"/>
                                </a:rPr>
                              </m:ctrlPr>
                            </m:sSupPr>
                            <m:e>
                              <m:r>
                                <a:rPr lang="ko-KR" altLang="en-US" b="1" i="1">
                                  <a:latin typeface="Cambria Math" panose="02040503050406030204" pitchFamily="18" charset="0"/>
                                </a:rPr>
                                <m:t>𝝈</m:t>
                              </m:r>
                            </m:e>
                            <m:sup>
                              <m:r>
                                <a:rPr lang="en-US" altLang="ko-KR" b="1" i="1">
                                  <a:latin typeface="Cambria Math" panose="02040503050406030204" pitchFamily="18" charset="0"/>
                                </a:rPr>
                                <m:t>𝟐</m:t>
                              </m:r>
                            </m:sup>
                          </m:sSup>
                        </m:oMath>
                      </a14:m>
                      <a:r>
                        <a:rPr lang="en-US" altLang="ko-KR" b="1" dirty="0" smtClean="0"/>
                        <a:t>=0.1</a:t>
                      </a:r>
                      <a:endParaRPr lang="ko-KR" altLang="en-US" b="1" dirty="0"/>
                    </a:p>
                  </p:txBody>
                </p:sp>
              </mc:Choice>
              <mc:Fallback xmlns="">
                <p:sp>
                  <p:nvSpPr>
                    <p:cNvPr id="19" name="직사각형 18"/>
                    <p:cNvSpPr>
                      <a:spLocks noRot="1" noChangeAspect="1" noMove="1" noResize="1" noEditPoints="1" noAdjustHandles="1" noChangeArrowheads="1" noChangeShapeType="1" noTextEdit="1"/>
                    </p:cNvSpPr>
                    <p:nvPr/>
                  </p:nvSpPr>
                  <p:spPr>
                    <a:xfrm>
                      <a:off x="3819648" y="65493"/>
                      <a:ext cx="902748" cy="375552"/>
                    </a:xfrm>
                    <a:prstGeom prst="rect">
                      <a:avLst/>
                    </a:prstGeom>
                    <a:blipFill rotWithShape="0">
                      <a:blip r:embed="rId9"/>
                      <a:stretch>
                        <a:fillRect t="-6452" r="-7432" b="-24194"/>
                      </a:stretch>
                    </a:blipFill>
                  </p:spPr>
                  <p:txBody>
                    <a:bodyPr/>
                    <a:lstStyle/>
                    <a:p>
                      <a:r>
                        <a:rPr lang="ko-KR" altLang="en-US">
                          <a:noFill/>
                        </a:rPr>
                        <a:t> </a:t>
                      </a:r>
                    </a:p>
                  </p:txBody>
                </p:sp>
              </mc:Fallback>
            </mc:AlternateContent>
            <p:pic>
              <p:nvPicPr>
                <p:cNvPr id="17" name="그림 16"/>
                <p:cNvPicPr>
                  <a:picLocks noChangeAspect="1"/>
                </p:cNvPicPr>
                <p:nvPr/>
              </p:nvPicPr>
              <p:blipFill>
                <a:blip r:embed="rId10"/>
                <a:stretch>
                  <a:fillRect/>
                </a:stretch>
              </p:blipFill>
              <p:spPr>
                <a:xfrm rot="5400000">
                  <a:off x="2202396" y="4316832"/>
                  <a:ext cx="2880000" cy="2160000"/>
                </a:xfrm>
                <a:prstGeom prst="rect">
                  <a:avLst/>
                </a:prstGeom>
              </p:spPr>
            </p:pic>
          </p:grpSp>
          <p:pic>
            <p:nvPicPr>
              <p:cNvPr id="24" name="그림 23"/>
              <p:cNvPicPr>
                <a:picLocks noChangeAspect="1"/>
              </p:cNvPicPr>
              <p:nvPr/>
            </p:nvPicPr>
            <p:blipFill>
              <a:blip r:embed="rId11"/>
              <a:stretch>
                <a:fillRect/>
              </a:stretch>
            </p:blipFill>
            <p:spPr>
              <a:xfrm>
                <a:off x="6882396" y="-16278"/>
                <a:ext cx="2160000" cy="1620000"/>
              </a:xfrm>
              <a:prstGeom prst="rect">
                <a:avLst/>
              </a:prstGeom>
            </p:spPr>
          </p:pic>
          <p:pic>
            <p:nvPicPr>
              <p:cNvPr id="26" name="그림 25"/>
              <p:cNvPicPr>
                <a:picLocks noChangeAspect="1"/>
              </p:cNvPicPr>
              <p:nvPr/>
            </p:nvPicPr>
            <p:blipFill>
              <a:blip r:embed="rId12"/>
              <a:stretch>
                <a:fillRect/>
              </a:stretch>
            </p:blipFill>
            <p:spPr>
              <a:xfrm rot="5400000">
                <a:off x="6522396" y="1927911"/>
                <a:ext cx="2880000" cy="2160000"/>
              </a:xfrm>
              <a:prstGeom prst="rect">
                <a:avLst/>
              </a:prstGeom>
            </p:spPr>
          </p:pic>
          <p:pic>
            <p:nvPicPr>
              <p:cNvPr id="25" name="그림 24"/>
              <p:cNvPicPr>
                <a:picLocks noChangeAspect="1"/>
              </p:cNvPicPr>
              <p:nvPr/>
            </p:nvPicPr>
            <p:blipFill>
              <a:blip r:embed="rId13"/>
              <a:stretch>
                <a:fillRect/>
              </a:stretch>
            </p:blipFill>
            <p:spPr>
              <a:xfrm rot="5400000">
                <a:off x="6522396" y="4316832"/>
                <a:ext cx="2880000" cy="2160000"/>
              </a:xfrm>
              <a:prstGeom prst="rect">
                <a:avLst/>
              </a:prstGeom>
            </p:spPr>
          </p:pic>
        </p:grpSp>
        <mc:AlternateContent xmlns:mc="http://schemas.openxmlformats.org/markup-compatibility/2006" xmlns:a14="http://schemas.microsoft.com/office/drawing/2010/main">
          <mc:Choice Requires="a14">
            <p:sp>
              <p:nvSpPr>
                <p:cNvPr id="28" name="직사각형 27"/>
                <p:cNvSpPr/>
                <p:nvPr/>
              </p:nvSpPr>
              <p:spPr>
                <a:xfrm>
                  <a:off x="8084958" y="65493"/>
                  <a:ext cx="849848" cy="375552"/>
                </a:xfrm>
                <a:prstGeom prst="rect">
                  <a:avLst/>
                </a:prstGeom>
              </p:spPr>
              <p:txBody>
                <a:bodyPr wrap="none">
                  <a:spAutoFit/>
                </a:bodyPr>
                <a:lstStyle/>
                <a:p>
                  <a14:m>
                    <m:oMath xmlns:m="http://schemas.openxmlformats.org/officeDocument/2006/math">
                      <m:sSup>
                        <m:sSupPr>
                          <m:ctrlPr>
                            <a:rPr lang="en-US" altLang="ko-KR" b="1" i="1">
                              <a:latin typeface="Cambria Math" panose="02040503050406030204" pitchFamily="18" charset="0"/>
                            </a:rPr>
                          </m:ctrlPr>
                        </m:sSupPr>
                        <m:e>
                          <m:r>
                            <a:rPr lang="ko-KR" altLang="en-US" b="1" i="1">
                              <a:latin typeface="Cambria Math" panose="02040503050406030204" pitchFamily="18" charset="0"/>
                            </a:rPr>
                            <m:t>𝝈</m:t>
                          </m:r>
                        </m:e>
                        <m:sup>
                          <m:r>
                            <a:rPr lang="en-US" altLang="ko-KR" b="1" i="1">
                              <a:latin typeface="Cambria Math" panose="02040503050406030204" pitchFamily="18" charset="0"/>
                            </a:rPr>
                            <m:t>𝟐</m:t>
                          </m:r>
                        </m:sup>
                      </m:sSup>
                    </m:oMath>
                  </a14:m>
                  <a:r>
                    <a:rPr lang="en-US" altLang="ko-KR" b="1" dirty="0" smtClean="0"/>
                    <a:t>=40</a:t>
                  </a:r>
                  <a:endParaRPr lang="ko-KR" altLang="en-US" b="1" dirty="0"/>
                </a:p>
              </p:txBody>
            </p:sp>
          </mc:Choice>
          <mc:Fallback xmlns="">
            <p:sp>
              <p:nvSpPr>
                <p:cNvPr id="28" name="직사각형 27"/>
                <p:cNvSpPr>
                  <a:spLocks noRot="1" noChangeAspect="1" noMove="1" noResize="1" noEditPoints="1" noAdjustHandles="1" noChangeArrowheads="1" noChangeShapeType="1" noTextEdit="1"/>
                </p:cNvSpPr>
                <p:nvPr/>
              </p:nvSpPr>
              <p:spPr>
                <a:xfrm>
                  <a:off x="8084958" y="65493"/>
                  <a:ext cx="849848" cy="375552"/>
                </a:xfrm>
                <a:prstGeom prst="rect">
                  <a:avLst/>
                </a:prstGeom>
                <a:blipFill rotWithShape="0">
                  <a:blip r:embed="rId14"/>
                  <a:stretch>
                    <a:fillRect t="-6452" r="-7194" b="-24194"/>
                  </a:stretch>
                </a:blipFill>
              </p:spPr>
              <p:txBody>
                <a:bodyPr/>
                <a:lstStyle/>
                <a:p>
                  <a:r>
                    <a:rPr lang="ko-KR" altLang="en-US">
                      <a:noFill/>
                    </a:rPr>
                    <a:t> </a:t>
                  </a:r>
                </a:p>
              </p:txBody>
            </p:sp>
          </mc:Fallback>
        </mc:AlternateContent>
      </p:grpSp>
      <p:sp>
        <p:nvSpPr>
          <p:cNvPr id="9" name="직사각형 8"/>
          <p:cNvSpPr/>
          <p:nvPr/>
        </p:nvSpPr>
        <p:spPr>
          <a:xfrm>
            <a:off x="47344" y="2822828"/>
            <a:ext cx="1174997" cy="14058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Sampling Result of</a:t>
            </a:r>
          </a:p>
          <a:p>
            <a:pPr algn="ctr"/>
            <a:r>
              <a:rPr lang="en-US" altLang="ko-KR" dirty="0" smtClean="0"/>
              <a:t>Random Walk M-H</a:t>
            </a:r>
            <a:endParaRPr lang="ko-KR" altLang="en-US" dirty="0"/>
          </a:p>
        </p:txBody>
      </p:sp>
      <p:sp>
        <p:nvSpPr>
          <p:cNvPr id="10" name="TextBox 9"/>
          <p:cNvSpPr txBox="1"/>
          <p:nvPr/>
        </p:nvSpPr>
        <p:spPr>
          <a:xfrm>
            <a:off x="1540708" y="2053467"/>
            <a:ext cx="1173783" cy="646331"/>
          </a:xfrm>
          <a:prstGeom prst="rect">
            <a:avLst/>
          </a:prstGeom>
          <a:noFill/>
        </p:spPr>
        <p:txBody>
          <a:bodyPr wrap="none" rtlCol="0">
            <a:spAutoFit/>
          </a:bodyPr>
          <a:lstStyle/>
          <a:p>
            <a:r>
              <a:rPr lang="en-US" altLang="ko-KR" b="1" dirty="0" smtClean="0"/>
              <a:t>Overall</a:t>
            </a:r>
            <a:br>
              <a:rPr lang="en-US" altLang="ko-KR" b="1" dirty="0" smtClean="0"/>
            </a:br>
            <a:r>
              <a:rPr lang="en-US" altLang="ko-KR" b="1" dirty="0" smtClean="0"/>
              <a:t>Sampling</a:t>
            </a:r>
            <a:endParaRPr lang="ko-KR" altLang="en-US" b="1" dirty="0"/>
          </a:p>
        </p:txBody>
      </p:sp>
      <p:sp>
        <p:nvSpPr>
          <p:cNvPr id="11" name="TextBox 10"/>
          <p:cNvSpPr txBox="1"/>
          <p:nvPr/>
        </p:nvSpPr>
        <p:spPr>
          <a:xfrm>
            <a:off x="1540707" y="2925566"/>
            <a:ext cx="1173783" cy="1200329"/>
          </a:xfrm>
          <a:prstGeom prst="rect">
            <a:avLst/>
          </a:prstGeom>
          <a:noFill/>
        </p:spPr>
        <p:txBody>
          <a:bodyPr wrap="none" rtlCol="0">
            <a:spAutoFit/>
          </a:bodyPr>
          <a:lstStyle/>
          <a:p>
            <a:r>
              <a:rPr lang="en-US" altLang="ko-KR" b="1" dirty="0" smtClean="0"/>
              <a:t>Latent</a:t>
            </a:r>
          </a:p>
          <a:p>
            <a:r>
              <a:rPr lang="en-US" altLang="ko-KR" b="1" dirty="0" smtClean="0"/>
              <a:t>Mode</a:t>
            </a:r>
            <a:br>
              <a:rPr lang="en-US" altLang="ko-KR" b="1" dirty="0" smtClean="0"/>
            </a:br>
            <a:r>
              <a:rPr lang="en-US" altLang="ko-KR" b="1" dirty="0" smtClean="0"/>
              <a:t>Selection</a:t>
            </a:r>
          </a:p>
          <a:p>
            <a:r>
              <a:rPr lang="en-US" altLang="ko-KR" b="1" dirty="0" smtClean="0"/>
              <a:t>Sampling</a:t>
            </a:r>
            <a:endParaRPr lang="ko-KR" altLang="en-US" b="1" dirty="0"/>
          </a:p>
        </p:txBody>
      </p:sp>
      <p:sp>
        <p:nvSpPr>
          <p:cNvPr id="12" name="TextBox 11"/>
          <p:cNvSpPr txBox="1"/>
          <p:nvPr/>
        </p:nvSpPr>
        <p:spPr>
          <a:xfrm>
            <a:off x="1542833" y="4457971"/>
            <a:ext cx="1189621" cy="923330"/>
          </a:xfrm>
          <a:prstGeom prst="rect">
            <a:avLst/>
          </a:prstGeom>
          <a:noFill/>
        </p:spPr>
        <p:txBody>
          <a:bodyPr wrap="none" rtlCol="0">
            <a:spAutoFit/>
          </a:bodyPr>
          <a:lstStyle/>
          <a:p>
            <a:r>
              <a:rPr lang="en-US" altLang="ko-KR" b="1" dirty="0" smtClean="0"/>
              <a:t>Observed</a:t>
            </a:r>
            <a:br>
              <a:rPr lang="en-US" altLang="ko-KR" b="1" dirty="0" smtClean="0"/>
            </a:br>
            <a:r>
              <a:rPr lang="en-US" altLang="ko-KR" b="1" dirty="0" smtClean="0"/>
              <a:t>Variable</a:t>
            </a:r>
          </a:p>
          <a:p>
            <a:r>
              <a:rPr lang="en-US" altLang="ko-KR" b="1" dirty="0" smtClean="0"/>
              <a:t>Sampling</a:t>
            </a:r>
            <a:endParaRPr lang="ko-KR" altLang="en-US" b="1" dirty="0"/>
          </a:p>
        </p:txBody>
      </p:sp>
      <p:cxnSp>
        <p:nvCxnSpPr>
          <p:cNvPr id="33" name="직선 화살표 연결선 32"/>
          <p:cNvCxnSpPr>
            <a:stCxn id="9" idx="3"/>
            <a:endCxn id="10" idx="1"/>
          </p:cNvCxnSpPr>
          <p:nvPr/>
        </p:nvCxnSpPr>
        <p:spPr>
          <a:xfrm flipV="1">
            <a:off x="1222341" y="2376633"/>
            <a:ext cx="318367" cy="114909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 name="직선 화살표 연결선 33"/>
          <p:cNvCxnSpPr>
            <a:stCxn id="9" idx="3"/>
            <a:endCxn id="11" idx="1"/>
          </p:cNvCxnSpPr>
          <p:nvPr/>
        </p:nvCxnSpPr>
        <p:spPr>
          <a:xfrm>
            <a:off x="1222341" y="3525730"/>
            <a:ext cx="318366"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7" name="직선 화살표 연결선 36"/>
          <p:cNvCxnSpPr>
            <a:stCxn id="9" idx="3"/>
            <a:endCxn id="12" idx="1"/>
          </p:cNvCxnSpPr>
          <p:nvPr/>
        </p:nvCxnSpPr>
        <p:spPr>
          <a:xfrm>
            <a:off x="1222341" y="3525730"/>
            <a:ext cx="320492" cy="139390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0" name="직선 화살표 연결선 39"/>
          <p:cNvCxnSpPr>
            <a:stCxn id="10" idx="3"/>
          </p:cNvCxnSpPr>
          <p:nvPr/>
        </p:nvCxnSpPr>
        <p:spPr>
          <a:xfrm flipV="1">
            <a:off x="2714491" y="986662"/>
            <a:ext cx="553045" cy="1389971"/>
          </a:xfrm>
          <a:prstGeom prst="straightConnector1">
            <a:avLst/>
          </a:prstGeom>
          <a:ln w="88900">
            <a:tailEnd type="triangle"/>
          </a:ln>
        </p:spPr>
        <p:style>
          <a:lnRef idx="1">
            <a:schemeClr val="accent1"/>
          </a:lnRef>
          <a:fillRef idx="0">
            <a:schemeClr val="accent1"/>
          </a:fillRef>
          <a:effectRef idx="0">
            <a:schemeClr val="accent1"/>
          </a:effectRef>
          <a:fontRef idx="minor">
            <a:schemeClr val="tx1"/>
          </a:fontRef>
        </p:style>
      </p:cxnSp>
      <p:cxnSp>
        <p:nvCxnSpPr>
          <p:cNvPr id="43" name="직선 화살표 연결선 42"/>
          <p:cNvCxnSpPr>
            <a:stCxn id="11" idx="3"/>
          </p:cNvCxnSpPr>
          <p:nvPr/>
        </p:nvCxnSpPr>
        <p:spPr>
          <a:xfrm flipV="1">
            <a:off x="2714490" y="3194793"/>
            <a:ext cx="474395" cy="330938"/>
          </a:xfrm>
          <a:prstGeom prst="straightConnector1">
            <a:avLst/>
          </a:prstGeom>
          <a:ln w="88900">
            <a:tailEnd type="triangle"/>
          </a:ln>
        </p:spPr>
        <p:style>
          <a:lnRef idx="1">
            <a:schemeClr val="accent1"/>
          </a:lnRef>
          <a:fillRef idx="0">
            <a:schemeClr val="accent1"/>
          </a:fillRef>
          <a:effectRef idx="0">
            <a:schemeClr val="accent1"/>
          </a:effectRef>
          <a:fontRef idx="minor">
            <a:schemeClr val="tx1"/>
          </a:fontRef>
        </p:style>
      </p:cxnSp>
      <p:cxnSp>
        <p:nvCxnSpPr>
          <p:cNvPr id="46" name="직선 화살표 연결선 45"/>
          <p:cNvCxnSpPr>
            <a:stCxn id="12" idx="3"/>
          </p:cNvCxnSpPr>
          <p:nvPr/>
        </p:nvCxnSpPr>
        <p:spPr>
          <a:xfrm>
            <a:off x="2732454" y="4919636"/>
            <a:ext cx="644459" cy="676309"/>
          </a:xfrm>
          <a:prstGeom prst="straightConnector1">
            <a:avLst/>
          </a:prstGeom>
          <a:ln w="889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직사각형 48"/>
              <p:cNvSpPr/>
              <p:nvPr/>
            </p:nvSpPr>
            <p:spPr>
              <a:xfrm>
                <a:off x="884552" y="6009219"/>
                <a:ext cx="3016045" cy="638508"/>
              </a:xfrm>
              <a:prstGeom prst="rect">
                <a:avLst/>
              </a:prstGeom>
            </p:spPr>
            <p:txBody>
              <a:bodyPr wrap="square">
                <a:spAutoFit/>
              </a:bodyPr>
              <a:lstStyle/>
              <a:p>
                <a:pPr marL="708660" lvl="2">
                  <a:buClr>
                    <a:schemeClr val="accent1"/>
                  </a:buClr>
                </a:pPr>
                <a14:m>
                  <m:oMathPara xmlns:m="http://schemas.openxmlformats.org/officeDocument/2006/math">
                    <m:oMathParaPr>
                      <m:jc m:val="centerGroup"/>
                    </m:oMathParaPr>
                    <m:oMath xmlns:m="http://schemas.openxmlformats.org/officeDocument/2006/math">
                      <m:sSubSup>
                        <m:sSubSupPr>
                          <m:ctrlPr>
                            <a:rPr lang="en-US" altLang="ko-KR" sz="1600" b="1" i="1" smtClean="0">
                              <a:latin typeface="Cambria Math" panose="02040503050406030204" pitchFamily="18" charset="0"/>
                              <a:ea typeface="Cambria Math" panose="02040503050406030204" pitchFamily="18" charset="0"/>
                            </a:rPr>
                          </m:ctrlPr>
                        </m:sSubSupPr>
                        <m:e>
                          <m:r>
                            <a:rPr lang="en-US" altLang="ko-KR" sz="1600" b="1" i="1">
                              <a:latin typeface="Cambria Math" panose="02040503050406030204" pitchFamily="18" charset="0"/>
                              <a:ea typeface="Cambria Math" panose="02040503050406030204" pitchFamily="18" charset="0"/>
                            </a:rPr>
                            <m:t>𝑻</m:t>
                          </m:r>
                        </m:e>
                        <m:sub>
                          <m:r>
                            <a:rPr lang="en-US" altLang="ko-KR" sz="1600" b="1" i="1" smtClean="0">
                              <a:latin typeface="Cambria Math" panose="02040503050406030204" pitchFamily="18" charset="0"/>
                              <a:ea typeface="Cambria Math" panose="02040503050406030204" pitchFamily="18" charset="0"/>
                            </a:rPr>
                            <m:t>𝒕</m:t>
                          </m:r>
                          <m:r>
                            <a:rPr lang="en-US" altLang="ko-KR" sz="1600" b="1" i="1" smtClean="0">
                              <a:latin typeface="Cambria Math" panose="02040503050406030204" pitchFamily="18" charset="0"/>
                              <a:ea typeface="Cambria Math" panose="02040503050406030204" pitchFamily="18" charset="0"/>
                            </a:rPr>
                            <m:t>,∗</m:t>
                          </m:r>
                        </m:sub>
                        <m:sup>
                          <m:r>
                            <a:rPr lang="en-US" altLang="ko-KR" sz="1600" b="1" i="1">
                              <a:latin typeface="Cambria Math" panose="02040503050406030204" pitchFamily="18" charset="0"/>
                              <a:ea typeface="Cambria Math" panose="02040503050406030204" pitchFamily="18" charset="0"/>
                            </a:rPr>
                            <m:t>𝑴𝑯</m:t>
                          </m:r>
                        </m:sup>
                      </m:sSubSup>
                      <m:r>
                        <a:rPr lang="en-US" altLang="ko-KR" sz="1600" b="1" i="1">
                          <a:latin typeface="Cambria Math" panose="02040503050406030204" pitchFamily="18" charset="0"/>
                          <a:ea typeface="Cambria Math" panose="02040503050406030204" pitchFamily="18" charset="0"/>
                        </a:rPr>
                        <m:t>=</m:t>
                      </m:r>
                      <m:r>
                        <a:rPr lang="en-US" altLang="ko-KR" sz="1600" b="1" i="1">
                          <a:latin typeface="Cambria Math" panose="02040503050406030204" pitchFamily="18" charset="0"/>
                          <a:ea typeface="Cambria Math" panose="02040503050406030204" pitchFamily="18" charset="0"/>
                        </a:rPr>
                        <m:t>𝒒</m:t>
                      </m:r>
                      <m:r>
                        <a:rPr lang="en-US" altLang="ko-KR" sz="1600" b="1" i="1">
                          <a:latin typeface="Cambria Math" panose="02040503050406030204" pitchFamily="18" charset="0"/>
                          <a:ea typeface="Cambria Math" panose="02040503050406030204" pitchFamily="18" charset="0"/>
                        </a:rPr>
                        <m:t>(</m:t>
                      </m:r>
                      <m:sSup>
                        <m:sSupPr>
                          <m:ctrlPr>
                            <a:rPr lang="en-US" altLang="ko-KR" sz="1600" b="1" i="1">
                              <a:latin typeface="Cambria Math" panose="02040503050406030204" pitchFamily="18" charset="0"/>
                            </a:rPr>
                          </m:ctrlPr>
                        </m:sSupPr>
                        <m:e>
                          <m:r>
                            <a:rPr lang="en-US" altLang="ko-KR" sz="1600" b="1" i="1">
                              <a:latin typeface="Cambria Math" panose="02040503050406030204" pitchFamily="18" charset="0"/>
                            </a:rPr>
                            <m:t>𝒛</m:t>
                          </m:r>
                        </m:e>
                        <m:sup>
                          <m:r>
                            <a:rPr lang="en-US" altLang="ko-KR" sz="1600" b="1" i="1">
                              <a:latin typeface="Cambria Math" panose="02040503050406030204" pitchFamily="18" charset="0"/>
                            </a:rPr>
                            <m:t>∗</m:t>
                          </m:r>
                        </m:sup>
                      </m:sSup>
                      <m:r>
                        <a:rPr lang="en-US" altLang="ko-KR" sz="1600" b="1" i="1">
                          <a:latin typeface="Cambria Math" panose="02040503050406030204" pitchFamily="18" charset="0"/>
                        </a:rPr>
                        <m:t>|</m:t>
                      </m:r>
                      <m:sSup>
                        <m:sSupPr>
                          <m:ctrlPr>
                            <a:rPr lang="en-US" altLang="ko-KR" sz="1600" b="1" i="1">
                              <a:latin typeface="Cambria Math" panose="02040503050406030204" pitchFamily="18" charset="0"/>
                            </a:rPr>
                          </m:ctrlPr>
                        </m:sSupPr>
                        <m:e>
                          <m:r>
                            <a:rPr lang="en-US" altLang="ko-KR" sz="1600" b="1" i="1">
                              <a:latin typeface="Cambria Math" panose="02040503050406030204" pitchFamily="18" charset="0"/>
                            </a:rPr>
                            <m:t>𝒛</m:t>
                          </m:r>
                        </m:e>
                        <m:sup>
                          <m:r>
                            <a:rPr lang="en-US" altLang="ko-KR" sz="1600" b="1" i="1">
                              <a:latin typeface="Cambria Math" panose="02040503050406030204" pitchFamily="18" charset="0"/>
                            </a:rPr>
                            <m:t>𝒕</m:t>
                          </m:r>
                        </m:sup>
                      </m:sSup>
                      <m:r>
                        <a:rPr lang="en-US" altLang="ko-KR" sz="1600" b="1" i="1">
                          <a:latin typeface="Cambria Math" panose="02040503050406030204" pitchFamily="18" charset="0"/>
                        </a:rPr>
                        <m:t>)</m:t>
                      </m:r>
                      <m:r>
                        <a:rPr lang="ko-KR" altLang="en-US" sz="1600" b="1" i="1">
                          <a:latin typeface="Cambria Math" panose="02040503050406030204" pitchFamily="18" charset="0"/>
                          <a:ea typeface="Cambria Math" panose="02040503050406030204" pitchFamily="18" charset="0"/>
                        </a:rPr>
                        <m:t>𝜶</m:t>
                      </m:r>
                      <m:r>
                        <a:rPr lang="en-US" altLang="ko-KR" sz="1600" b="1" i="1">
                          <a:latin typeface="Cambria Math" panose="02040503050406030204" pitchFamily="18" charset="0"/>
                          <a:ea typeface="Cambria Math" panose="02040503050406030204" pitchFamily="18" charset="0"/>
                        </a:rPr>
                        <m:t>(</m:t>
                      </m:r>
                      <m:sSup>
                        <m:sSupPr>
                          <m:ctrlPr>
                            <a:rPr lang="en-US" altLang="ko-KR" sz="1600" b="1" i="1">
                              <a:latin typeface="Cambria Math" panose="02040503050406030204" pitchFamily="18" charset="0"/>
                            </a:rPr>
                          </m:ctrlPr>
                        </m:sSupPr>
                        <m:e>
                          <m:r>
                            <a:rPr lang="en-US" altLang="ko-KR" sz="1600" b="1" i="1">
                              <a:latin typeface="Cambria Math" panose="02040503050406030204" pitchFamily="18" charset="0"/>
                            </a:rPr>
                            <m:t>𝒛</m:t>
                          </m:r>
                        </m:e>
                        <m:sup>
                          <m:r>
                            <a:rPr lang="en-US" altLang="ko-KR" sz="1600" b="1" i="1">
                              <a:latin typeface="Cambria Math" panose="02040503050406030204" pitchFamily="18" charset="0"/>
                            </a:rPr>
                            <m:t>∗</m:t>
                          </m:r>
                        </m:sup>
                      </m:sSup>
                      <m:r>
                        <a:rPr lang="en-US" altLang="ko-KR" sz="1600" b="1" i="1">
                          <a:latin typeface="Cambria Math" panose="02040503050406030204" pitchFamily="18" charset="0"/>
                        </a:rPr>
                        <m:t>|</m:t>
                      </m:r>
                      <m:sSup>
                        <m:sSupPr>
                          <m:ctrlPr>
                            <a:rPr lang="en-US" altLang="ko-KR" sz="1600" b="1" i="1">
                              <a:latin typeface="Cambria Math" panose="02040503050406030204" pitchFamily="18" charset="0"/>
                            </a:rPr>
                          </m:ctrlPr>
                        </m:sSupPr>
                        <m:e>
                          <m:r>
                            <a:rPr lang="en-US" altLang="ko-KR" sz="1600" b="1" i="1">
                              <a:latin typeface="Cambria Math" panose="02040503050406030204" pitchFamily="18" charset="0"/>
                            </a:rPr>
                            <m:t>𝒛</m:t>
                          </m:r>
                        </m:e>
                        <m:sup>
                          <m:r>
                            <a:rPr lang="en-US" altLang="ko-KR" sz="1600" b="1" i="1">
                              <a:latin typeface="Cambria Math" panose="02040503050406030204" pitchFamily="18" charset="0"/>
                            </a:rPr>
                            <m:t>𝒕</m:t>
                          </m:r>
                        </m:sup>
                      </m:sSup>
                      <m:r>
                        <a:rPr lang="en-US" altLang="ko-KR" sz="1600" b="1" i="1">
                          <a:latin typeface="Cambria Math" panose="02040503050406030204" pitchFamily="18" charset="0"/>
                        </a:rPr>
                        <m:t>)</m:t>
                      </m:r>
                    </m:oMath>
                  </m:oMathPara>
                </a14:m>
                <a:endParaRPr lang="en-US" altLang="ko-KR" sz="1600" b="1" dirty="0">
                  <a:sym typeface="Wingdings" panose="05000000000000000000" pitchFamily="2" charset="2"/>
                </a:endParaRPr>
              </a:p>
              <a:p>
                <a:pPr marL="708660" lvl="2">
                  <a:buClr>
                    <a:schemeClr val="accent1"/>
                  </a:buClr>
                </a:pPr>
                <a14:m>
                  <m:oMathPara xmlns:m="http://schemas.openxmlformats.org/officeDocument/2006/math">
                    <m:oMathParaPr>
                      <m:jc m:val="centerGroup"/>
                    </m:oMathParaPr>
                    <m:oMath xmlns:m="http://schemas.openxmlformats.org/officeDocument/2006/math">
                      <m:sSup>
                        <m:sSupPr>
                          <m:ctrlPr>
                            <a:rPr lang="en-US" altLang="ko-KR" sz="1600" b="1" i="1">
                              <a:latin typeface="Cambria Math" panose="02040503050406030204" pitchFamily="18" charset="0"/>
                            </a:rPr>
                          </m:ctrlPr>
                        </m:sSupPr>
                        <m:e>
                          <m:r>
                            <a:rPr lang="en-US" altLang="ko-KR" sz="1600" b="1" i="1">
                              <a:latin typeface="Cambria Math" panose="02040503050406030204" pitchFamily="18" charset="0"/>
                            </a:rPr>
                            <m:t>𝒛</m:t>
                          </m:r>
                        </m:e>
                        <m:sup>
                          <m:r>
                            <a:rPr lang="en-US" altLang="ko-KR" sz="1600" b="1" i="1">
                              <a:latin typeface="Cambria Math" panose="02040503050406030204" pitchFamily="18" charset="0"/>
                            </a:rPr>
                            <m:t>∗</m:t>
                          </m:r>
                        </m:sup>
                      </m:sSup>
                      <m:r>
                        <a:rPr lang="en-US" altLang="ko-KR" sz="1600" b="1" i="1">
                          <a:latin typeface="Cambria Math" panose="02040503050406030204" pitchFamily="18" charset="0"/>
                        </a:rPr>
                        <m:t>~</m:t>
                      </m:r>
                      <m:r>
                        <a:rPr lang="en-US" altLang="ko-KR" sz="1600" b="1" i="1">
                          <a:latin typeface="Cambria Math" panose="02040503050406030204" pitchFamily="18" charset="0"/>
                        </a:rPr>
                        <m:t>𝑵</m:t>
                      </m:r>
                      <m:r>
                        <a:rPr lang="en-US" altLang="ko-KR" sz="1600" b="1" i="1">
                          <a:latin typeface="Cambria Math" panose="02040503050406030204" pitchFamily="18" charset="0"/>
                        </a:rPr>
                        <m:t>(</m:t>
                      </m:r>
                      <m:sSup>
                        <m:sSupPr>
                          <m:ctrlPr>
                            <a:rPr lang="en-US" altLang="ko-KR" sz="1600" b="1" i="1">
                              <a:latin typeface="Cambria Math" panose="02040503050406030204" pitchFamily="18" charset="0"/>
                            </a:rPr>
                          </m:ctrlPr>
                        </m:sSupPr>
                        <m:e>
                          <m:r>
                            <a:rPr lang="en-US" altLang="ko-KR" sz="1600" b="1" i="1">
                              <a:latin typeface="Cambria Math" panose="02040503050406030204" pitchFamily="18" charset="0"/>
                            </a:rPr>
                            <m:t>𝒛</m:t>
                          </m:r>
                        </m:e>
                        <m:sup>
                          <m:r>
                            <a:rPr lang="en-US" altLang="ko-KR" sz="1600" b="1" i="1">
                              <a:latin typeface="Cambria Math" panose="02040503050406030204" pitchFamily="18" charset="0"/>
                            </a:rPr>
                            <m:t>𝒕</m:t>
                          </m:r>
                        </m:sup>
                      </m:sSup>
                      <m:r>
                        <a:rPr lang="en-US" altLang="ko-KR" sz="1600" b="1" i="1">
                          <a:latin typeface="Cambria Math" panose="02040503050406030204" pitchFamily="18" charset="0"/>
                        </a:rPr>
                        <m:t>,</m:t>
                      </m:r>
                      <m:sSup>
                        <m:sSupPr>
                          <m:ctrlPr>
                            <a:rPr lang="en-US" altLang="ko-KR" sz="1600" b="1" i="1">
                              <a:latin typeface="Cambria Math" panose="02040503050406030204" pitchFamily="18" charset="0"/>
                            </a:rPr>
                          </m:ctrlPr>
                        </m:sSupPr>
                        <m:e>
                          <m:r>
                            <a:rPr lang="ko-KR" altLang="en-US" sz="1600" b="1" i="1">
                              <a:latin typeface="Cambria Math" panose="02040503050406030204" pitchFamily="18" charset="0"/>
                            </a:rPr>
                            <m:t>𝝈</m:t>
                          </m:r>
                        </m:e>
                        <m:sup>
                          <m:r>
                            <a:rPr lang="en-US" altLang="ko-KR" sz="1600" b="1" i="1">
                              <a:latin typeface="Cambria Math" panose="02040503050406030204" pitchFamily="18" charset="0"/>
                            </a:rPr>
                            <m:t>𝟐</m:t>
                          </m:r>
                        </m:sup>
                      </m:sSup>
                      <m:r>
                        <a:rPr lang="en-US" altLang="ko-KR" sz="1600" b="1" i="1">
                          <a:latin typeface="Cambria Math" panose="02040503050406030204" pitchFamily="18" charset="0"/>
                        </a:rPr>
                        <m:t>)</m:t>
                      </m:r>
                    </m:oMath>
                  </m:oMathPara>
                </a14:m>
                <a:endParaRPr lang="en-US" altLang="ko-KR" sz="1600" b="1" i="1" dirty="0">
                  <a:latin typeface="Cambria Math" panose="02040503050406030204" pitchFamily="18" charset="0"/>
                  <a:ea typeface="Cambria Math" panose="02040503050406030204" pitchFamily="18" charset="0"/>
                </a:endParaRPr>
              </a:p>
            </p:txBody>
          </p:sp>
        </mc:Choice>
        <mc:Fallback xmlns="">
          <p:sp>
            <p:nvSpPr>
              <p:cNvPr id="49" name="직사각형 48"/>
              <p:cNvSpPr>
                <a:spLocks noRot="1" noChangeAspect="1" noMove="1" noResize="1" noEditPoints="1" noAdjustHandles="1" noChangeArrowheads="1" noChangeShapeType="1" noTextEdit="1"/>
              </p:cNvSpPr>
              <p:nvPr/>
            </p:nvSpPr>
            <p:spPr>
              <a:xfrm>
                <a:off x="884552" y="6009219"/>
                <a:ext cx="3016045" cy="638508"/>
              </a:xfrm>
              <a:prstGeom prst="rect">
                <a:avLst/>
              </a:prstGeom>
              <a:blipFill rotWithShape="0">
                <a:blip r:embed="rId15"/>
                <a:stretch>
                  <a:fillRect b="-1905"/>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4673080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181429" y="31832"/>
            <a:ext cx="8435280" cy="624082"/>
          </a:xfrm>
        </p:spPr>
        <p:txBody>
          <a:bodyPr/>
          <a:lstStyle/>
          <a:p>
            <a:r>
              <a:rPr lang="en-US" altLang="ko-KR" dirty="0" smtClean="0"/>
              <a:t>Gibbs Sampling</a:t>
            </a:r>
            <a:endParaRPr lang="ko-KR" altLang="en-US" dirty="0"/>
          </a:p>
        </p:txBody>
      </p:sp>
      <mc:AlternateContent xmlns:mc="http://schemas.openxmlformats.org/markup-compatibility/2006">
        <mc:Choice xmlns:a14="http://schemas.microsoft.com/office/drawing/2010/main" Requires="a14">
          <p:sp>
            <p:nvSpPr>
              <p:cNvPr id="3" name="내용 개체 틀 2"/>
              <p:cNvSpPr>
                <a:spLocks noGrp="1"/>
              </p:cNvSpPr>
              <p:nvPr>
                <p:ph idx="1"/>
              </p:nvPr>
            </p:nvSpPr>
            <p:spPr>
              <a:xfrm>
                <a:off x="335731" y="907143"/>
                <a:ext cx="5723634" cy="5607596"/>
              </a:xfrm>
            </p:spPr>
            <p:txBody>
              <a:bodyPr>
                <a:normAutofit fontScale="77500" lnSpcReduction="20000"/>
              </a:bodyPr>
              <a:lstStyle/>
              <a:p>
                <a:r>
                  <a:rPr lang="en-US" altLang="ko-KR" dirty="0" smtClean="0"/>
                  <a:t>Gibbs Sampling: A special case of M-H algorithm</a:t>
                </a:r>
              </a:p>
              <a:p>
                <a:pPr lvl="1"/>
                <a:r>
                  <a:rPr lang="en-US" altLang="ko-KR" dirty="0" smtClean="0"/>
                  <a:t>Let’s suppose</a:t>
                </a:r>
                <a14:m>
                  <m:oMath xmlns:m="http://schemas.openxmlformats.org/officeDocument/2006/math">
                    <m:r>
                      <a:rPr lang="en-US" altLang="ko-KR" b="0" i="0" smtClean="0">
                        <a:latin typeface="Cambria Math" panose="02040503050406030204" pitchFamily="18" charset="0"/>
                      </a:rPr>
                      <m:t> </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r>
                      <a:rPr lang="en-US" altLang="ko-KR" b="0" i="1" smtClean="0">
                        <a:latin typeface="Cambria Math" panose="02040503050406030204" pitchFamily="18" charset="0"/>
                      </a:rPr>
                      <m:t>=</m:t>
                    </m:r>
                    <m:d>
                      <m:dPr>
                        <m:ctrlPr>
                          <a:rPr lang="en-US" altLang="ko-KR" b="0" i="1" smtClean="0">
                            <a:latin typeface="Cambria Math" panose="02040503050406030204" pitchFamily="18" charset="0"/>
                            <a:ea typeface="Cambria Math" panose="02040503050406030204" pitchFamily="18" charset="0"/>
                          </a:rPr>
                        </m:ctrlPr>
                      </m:dPr>
                      <m:e>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𝑘</m:t>
                            </m:r>
                          </m:sub>
                          <m:sup>
                            <m:r>
                              <a:rPr lang="en-US" altLang="ko-KR" b="0" i="1" smtClean="0">
                                <a:latin typeface="Cambria Math" panose="02040503050406030204" pitchFamily="18" charset="0"/>
                                <a:ea typeface="Cambria Math" panose="02040503050406030204" pitchFamily="18" charset="0"/>
                              </a:rPr>
                              <m:t>𝑡</m:t>
                            </m:r>
                          </m:sup>
                        </m:sSubSup>
                        <m:r>
                          <a:rPr lang="en-US" altLang="ko-KR" i="1">
                            <a:latin typeface="Cambria Math" panose="02040503050406030204" pitchFamily="18" charset="0"/>
                            <a:ea typeface="Cambria Math" panose="02040503050406030204" pitchFamily="18" charset="0"/>
                          </a:rPr>
                          <m:t>,</m:t>
                        </m:r>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𝑡</m:t>
                            </m:r>
                          </m:sup>
                        </m:sSubSup>
                      </m:e>
                    </m:d>
                    <m:r>
                      <a:rPr lang="en-US" altLang="ko-KR" i="1" smtClean="0">
                        <a:latin typeface="Cambria Math" panose="02040503050406030204" pitchFamily="18" charset="0"/>
                        <a:ea typeface="Cambria Math" panose="02040503050406030204" pitchFamily="18" charset="0"/>
                      </a:rPr>
                      <m:t>→</m:t>
                    </m:r>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r>
                      <a:rPr lang="en-US" altLang="ko-KR" b="0" i="1" smtClean="0">
                        <a:latin typeface="Cambria Math" panose="02040503050406030204" pitchFamily="18" charset="0"/>
                      </a:rPr>
                      <m:t>=(</m:t>
                    </m:r>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m:t>
                        </m:r>
                      </m:sup>
                    </m:sSubSup>
                    <m:r>
                      <a:rPr lang="en-US" altLang="ko-KR" b="0" i="1" smtClean="0">
                        <a:latin typeface="Cambria Math" panose="02040503050406030204" pitchFamily="18" charset="0"/>
                        <a:ea typeface="Cambria Math" panose="02040503050406030204" pitchFamily="18" charset="0"/>
                      </a:rPr>
                      <m:t>,</m:t>
                    </m:r>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𝑡</m:t>
                        </m:r>
                      </m:sup>
                    </m:sSubSup>
                    <m:r>
                      <a:rPr lang="en-US" altLang="ko-KR" b="0" i="1" smtClean="0">
                        <a:latin typeface="Cambria Math" panose="02040503050406030204" pitchFamily="18" charset="0"/>
                        <a:ea typeface="Cambria Math" panose="02040503050406030204" pitchFamily="18" charset="0"/>
                      </a:rPr>
                      <m:t>)</m:t>
                    </m:r>
                  </m:oMath>
                </a14:m>
                <a:endParaRPr lang="en-US" altLang="ko-KR" i="1" dirty="0" smtClean="0">
                  <a:latin typeface="Cambria Math" panose="02040503050406030204" pitchFamily="18" charset="0"/>
                  <a:ea typeface="Cambria Math" panose="02040503050406030204" pitchFamily="18" charset="0"/>
                </a:endParaRPr>
              </a:p>
              <a:p>
                <a:pPr lvl="2"/>
                <a14:m>
                  <m:oMath xmlns:m="http://schemas.openxmlformats.org/officeDocument/2006/math">
                    <m:sSubSup>
                      <m:sSubSupPr>
                        <m:ctrlPr>
                          <a:rPr lang="en-US" altLang="ko-KR" i="1">
                            <a:latin typeface="Cambria Math" panose="02040503050406030204" pitchFamily="18" charset="0"/>
                            <a:ea typeface="Cambria Math" panose="02040503050406030204" pitchFamily="18" charset="0"/>
                          </a:rPr>
                        </m:ctrlPr>
                      </m:sSubSupPr>
                      <m:e>
                        <m:r>
                          <a:rPr lang="en-US" altLang="ko-KR" b="0" i="1">
                            <a:latin typeface="Cambria Math" panose="02040503050406030204" pitchFamily="18" charset="0"/>
                            <a:ea typeface="Cambria Math" panose="02040503050406030204" pitchFamily="18" charset="0"/>
                          </a:rPr>
                          <m:t>𝑇</m:t>
                        </m:r>
                      </m:e>
                      <m:sub>
                        <m:r>
                          <a:rPr lang="en-US" altLang="ko-KR" b="0" i="1">
                            <a:latin typeface="Cambria Math" panose="02040503050406030204" pitchFamily="18" charset="0"/>
                            <a:ea typeface="Cambria Math" panose="02040503050406030204" pitchFamily="18" charset="0"/>
                          </a:rPr>
                          <m:t>𝑡</m:t>
                        </m:r>
                        <m:r>
                          <a:rPr lang="en-US" altLang="ko-KR" b="0" i="1">
                            <a:latin typeface="Cambria Math" panose="02040503050406030204" pitchFamily="18" charset="0"/>
                            <a:ea typeface="Cambria Math" panose="02040503050406030204" pitchFamily="18" charset="0"/>
                          </a:rPr>
                          <m:t>,∗</m:t>
                        </m:r>
                      </m:sub>
                      <m:sup>
                        <m:r>
                          <a:rPr lang="en-US" altLang="ko-KR" b="0" i="1">
                            <a:latin typeface="Cambria Math" panose="02040503050406030204" pitchFamily="18" charset="0"/>
                            <a:ea typeface="Cambria Math" panose="02040503050406030204" pitchFamily="18" charset="0"/>
                          </a:rPr>
                          <m:t>𝑀𝐻</m:t>
                        </m:r>
                      </m:sup>
                    </m:sSubSup>
                    <m:r>
                      <a:rPr lang="en-US" altLang="ko-KR" b="0" i="1">
                        <a:latin typeface="Cambria Math" panose="02040503050406030204" pitchFamily="18" charset="0"/>
                        <a:ea typeface="Cambria Math" panose="02040503050406030204" pitchFamily="18" charset="0"/>
                      </a:rPr>
                      <m:t>=</m:t>
                    </m:r>
                    <m:r>
                      <a:rPr lang="en-US" altLang="ko-KR" b="0" i="1">
                        <a:latin typeface="Cambria Math" panose="02040503050406030204" pitchFamily="18" charset="0"/>
                        <a:ea typeface="Cambria Math" panose="02040503050406030204" pitchFamily="18" charset="0"/>
                      </a:rPr>
                      <m:t>𝑞</m:t>
                    </m:r>
                    <m:r>
                      <a:rPr lang="en-US" altLang="ko-KR" b="0" i="1">
                        <a:latin typeface="Cambria Math" panose="02040503050406030204" pitchFamily="18" charset="0"/>
                        <a:ea typeface="Cambria Math" panose="02040503050406030204" pitchFamily="18" charset="0"/>
                      </a:rPr>
                      <m:t>(</m:t>
                    </m:r>
                    <m:sSup>
                      <m:sSupPr>
                        <m:ctrlPr>
                          <a:rPr lang="en-US" altLang="ko-KR" i="1">
                            <a:latin typeface="Cambria Math" panose="02040503050406030204" pitchFamily="18" charset="0"/>
                          </a:rPr>
                        </m:ctrlPr>
                      </m:sSupPr>
                      <m:e>
                        <m:r>
                          <a:rPr lang="en-US" altLang="ko-KR" b="0" i="1">
                            <a:latin typeface="Cambria Math" panose="02040503050406030204" pitchFamily="18" charset="0"/>
                          </a:rPr>
                          <m:t>𝑧</m:t>
                        </m:r>
                      </m:e>
                      <m:sup>
                        <m:r>
                          <a:rPr lang="en-US" altLang="ko-KR" b="0" i="1">
                            <a:latin typeface="Cambria Math" panose="02040503050406030204" pitchFamily="18" charset="0"/>
                          </a:rPr>
                          <m:t>∗</m:t>
                        </m:r>
                      </m:sup>
                    </m:sSup>
                    <m:r>
                      <a:rPr lang="en-US" altLang="ko-KR" b="0" i="1">
                        <a:latin typeface="Cambria Math" panose="02040503050406030204" pitchFamily="18" charset="0"/>
                      </a:rPr>
                      <m:t>|</m:t>
                    </m:r>
                    <m:sSup>
                      <m:sSupPr>
                        <m:ctrlPr>
                          <a:rPr lang="en-US" altLang="ko-KR" i="1">
                            <a:latin typeface="Cambria Math" panose="02040503050406030204" pitchFamily="18" charset="0"/>
                          </a:rPr>
                        </m:ctrlPr>
                      </m:sSupPr>
                      <m:e>
                        <m:r>
                          <a:rPr lang="en-US" altLang="ko-KR" b="0" i="1">
                            <a:latin typeface="Cambria Math" panose="02040503050406030204" pitchFamily="18" charset="0"/>
                          </a:rPr>
                          <m:t>𝑧</m:t>
                        </m:r>
                      </m:e>
                      <m:sup>
                        <m:r>
                          <a:rPr lang="en-US" altLang="ko-KR" b="0" i="1">
                            <a:latin typeface="Cambria Math" panose="02040503050406030204" pitchFamily="18" charset="0"/>
                          </a:rPr>
                          <m:t>𝑡</m:t>
                        </m:r>
                      </m:sup>
                    </m:sSup>
                    <m:r>
                      <a:rPr lang="en-US" altLang="ko-KR" b="0" i="1">
                        <a:latin typeface="Cambria Math" panose="02040503050406030204" pitchFamily="18" charset="0"/>
                      </a:rPr>
                      <m:t>)</m:t>
                    </m:r>
                    <m:r>
                      <a:rPr lang="ko-KR" altLang="en-US" b="0" i="1">
                        <a:latin typeface="Cambria Math" panose="02040503050406030204" pitchFamily="18" charset="0"/>
                        <a:ea typeface="Cambria Math" panose="02040503050406030204" pitchFamily="18" charset="0"/>
                      </a:rPr>
                      <m:t>𝛼</m:t>
                    </m:r>
                    <m:r>
                      <a:rPr lang="en-US" altLang="ko-KR" b="0" i="1">
                        <a:latin typeface="Cambria Math" panose="02040503050406030204" pitchFamily="18" charset="0"/>
                        <a:ea typeface="Cambria Math" panose="02040503050406030204" pitchFamily="18" charset="0"/>
                      </a:rPr>
                      <m:t>(</m:t>
                    </m:r>
                    <m:sSup>
                      <m:sSupPr>
                        <m:ctrlPr>
                          <a:rPr lang="en-US" altLang="ko-KR" i="1">
                            <a:latin typeface="Cambria Math" panose="02040503050406030204" pitchFamily="18" charset="0"/>
                          </a:rPr>
                        </m:ctrlPr>
                      </m:sSupPr>
                      <m:e>
                        <m:r>
                          <a:rPr lang="en-US" altLang="ko-KR" b="0" i="1">
                            <a:latin typeface="Cambria Math" panose="02040503050406030204" pitchFamily="18" charset="0"/>
                          </a:rPr>
                          <m:t>𝑧</m:t>
                        </m:r>
                      </m:e>
                      <m:sup>
                        <m:r>
                          <a:rPr lang="en-US" altLang="ko-KR" b="0" i="1">
                            <a:latin typeface="Cambria Math" panose="02040503050406030204" pitchFamily="18" charset="0"/>
                          </a:rPr>
                          <m:t>∗</m:t>
                        </m:r>
                      </m:sup>
                    </m:sSup>
                    <m:r>
                      <a:rPr lang="en-US" altLang="ko-KR" b="0" i="1">
                        <a:latin typeface="Cambria Math" panose="02040503050406030204" pitchFamily="18" charset="0"/>
                      </a:rPr>
                      <m:t>|</m:t>
                    </m:r>
                    <m:sSup>
                      <m:sSupPr>
                        <m:ctrlPr>
                          <a:rPr lang="en-US" altLang="ko-KR" i="1">
                            <a:latin typeface="Cambria Math" panose="02040503050406030204" pitchFamily="18" charset="0"/>
                          </a:rPr>
                        </m:ctrlPr>
                      </m:sSupPr>
                      <m:e>
                        <m:r>
                          <a:rPr lang="en-US" altLang="ko-KR" b="0" i="1">
                            <a:latin typeface="Cambria Math" panose="02040503050406030204" pitchFamily="18" charset="0"/>
                          </a:rPr>
                          <m:t>𝑧</m:t>
                        </m:r>
                      </m:e>
                      <m:sup>
                        <m:r>
                          <a:rPr lang="en-US" altLang="ko-KR" b="0" i="1">
                            <a:latin typeface="Cambria Math" panose="02040503050406030204" pitchFamily="18" charset="0"/>
                          </a:rPr>
                          <m:t>𝑡</m:t>
                        </m:r>
                      </m:sup>
                    </m:sSup>
                    <m:r>
                      <a:rPr lang="en-US" altLang="ko-KR" b="0" i="1">
                        <a:latin typeface="Cambria Math" panose="02040503050406030204" pitchFamily="18" charset="0"/>
                      </a:rPr>
                      <m:t>)</m:t>
                    </m:r>
                  </m:oMath>
                </a14:m>
                <a:endParaRPr lang="en-US" altLang="ko-KR" dirty="0" smtClean="0"/>
              </a:p>
              <a:p>
                <a:pPr lvl="2"/>
                <a14:m>
                  <m:oMath xmlns:m="http://schemas.openxmlformats.org/officeDocument/2006/math">
                    <m:r>
                      <a:rPr lang="en-US" altLang="ko-KR" i="1">
                        <a:latin typeface="Cambria Math" panose="02040503050406030204" pitchFamily="18" charset="0"/>
                        <a:ea typeface="Cambria Math" panose="02040503050406030204" pitchFamily="18" charset="0"/>
                      </a:rPr>
                      <m:t>𝑞</m:t>
                    </m:r>
                    <m:d>
                      <m:dPr>
                        <m:ctrlPr>
                          <a:rPr lang="en-US" altLang="ko-KR" i="1">
                            <a:latin typeface="Cambria Math" panose="02040503050406030204" pitchFamily="18" charset="0"/>
                            <a:ea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d>
                    <m:r>
                      <a:rPr lang="en-US" altLang="ko-KR" b="0" i="1" smtClean="0">
                        <a:latin typeface="Cambria Math" panose="02040503050406030204" pitchFamily="18" charset="0"/>
                      </a:rPr>
                      <m:t>=</m:t>
                    </m:r>
                    <m:r>
                      <a:rPr lang="en-US" altLang="ko-KR" b="0" i="1" smtClean="0">
                        <a:latin typeface="Cambria Math" panose="02040503050406030204" pitchFamily="18" charset="0"/>
                      </a:rPr>
                      <m:t>𝑃</m:t>
                    </m:r>
                    <m:d>
                      <m:dPr>
                        <m:ctrlPr>
                          <a:rPr lang="en-US" altLang="ko-KR" i="1">
                            <a:latin typeface="Cambria Math" panose="02040503050406030204" pitchFamily="18" charset="0"/>
                            <a:ea typeface="Cambria Math" panose="02040503050406030204" pitchFamily="18" charset="0"/>
                          </a:rPr>
                        </m:ctrlPr>
                      </m:dPr>
                      <m:e>
                        <m:sSubSup>
                          <m:sSubSupPr>
                            <m:ctrlPr>
                              <a:rPr lang="en-US" altLang="ko-KR" i="1" smtClean="0">
                                <a:latin typeface="Cambria Math" panose="02040503050406030204" pitchFamily="18" charset="0"/>
                                <a:ea typeface="Cambria Math" panose="02040503050406030204" pitchFamily="18" charset="0"/>
                              </a:rPr>
                            </m:ctrlPr>
                          </m:sSubSupPr>
                          <m:e>
                            <m:r>
                              <a:rPr lang="en-US" altLang="ko-KR" b="0" i="1" smtClean="0">
                                <a:latin typeface="Cambria Math" panose="02040503050406030204" pitchFamily="18" charset="0"/>
                                <a:ea typeface="Cambria Math" panose="02040503050406030204" pitchFamily="18" charset="0"/>
                              </a:rPr>
                              <m:t>𝑧</m:t>
                            </m:r>
                          </m:e>
                          <m:sub>
                            <m:r>
                              <a:rPr lang="en-US" altLang="ko-KR" b="0" i="1" smtClean="0">
                                <a:latin typeface="Cambria Math" panose="02040503050406030204" pitchFamily="18" charset="0"/>
                                <a:ea typeface="Cambria Math" panose="02040503050406030204" pitchFamily="18" charset="0"/>
                              </a:rPr>
                              <m:t>𝑘</m:t>
                            </m:r>
                          </m:sub>
                          <m:sup>
                            <m:r>
                              <a:rPr lang="en-US" altLang="ko-KR" b="0" i="1" smtClean="0">
                                <a:latin typeface="Cambria Math" panose="02040503050406030204" pitchFamily="18" charset="0"/>
                                <a:ea typeface="Cambria Math" panose="02040503050406030204" pitchFamily="18" charset="0"/>
                              </a:rPr>
                              <m:t>∗</m:t>
                            </m:r>
                          </m:sup>
                        </m:sSubSup>
                        <m:r>
                          <a:rPr lang="en-US" altLang="ko-KR" b="0" i="1" smtClean="0">
                            <a:latin typeface="Cambria Math" panose="02040503050406030204" pitchFamily="18" charset="0"/>
                            <a:ea typeface="Cambria Math" panose="02040503050406030204" pitchFamily="18" charset="0"/>
                          </a:rPr>
                          <m:t>,</m:t>
                        </m:r>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b="0" i="1" smtClean="0">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𝑘</m:t>
                            </m:r>
                          </m:sub>
                          <m:sup>
                            <m:r>
                              <a:rPr lang="en-US" altLang="ko-KR" b="0" i="1" smtClean="0">
                                <a:latin typeface="Cambria Math" panose="02040503050406030204" pitchFamily="18" charset="0"/>
                                <a:ea typeface="Cambria Math" panose="02040503050406030204" pitchFamily="18" charset="0"/>
                              </a:rPr>
                              <m:t>𝑡</m:t>
                            </m:r>
                          </m:sup>
                        </m:sSubSup>
                      </m:e>
                      <m:e>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𝑡</m:t>
                            </m:r>
                          </m:sup>
                        </m:sSubSup>
                      </m:e>
                    </m:d>
                    <m:r>
                      <a:rPr lang="en-US" altLang="ko-KR" i="1">
                        <a:latin typeface="Cambria Math" panose="02040503050406030204" pitchFamily="18" charset="0"/>
                      </a:rPr>
                      <m:t>=</m:t>
                    </m:r>
                    <m:r>
                      <a:rPr lang="en-US" altLang="ko-KR" b="0" i="1" smtClean="0">
                        <a:latin typeface="Cambria Math" panose="02040503050406030204" pitchFamily="18" charset="0"/>
                      </a:rPr>
                      <m:t>𝑃</m:t>
                    </m:r>
                    <m:d>
                      <m:dPr>
                        <m:ctrlPr>
                          <a:rPr lang="en-US" altLang="ko-KR" i="1">
                            <a:latin typeface="Cambria Math" panose="02040503050406030204" pitchFamily="18" charset="0"/>
                            <a:ea typeface="Cambria Math" panose="02040503050406030204" pitchFamily="18" charset="0"/>
                          </a:rPr>
                        </m:ctrlPr>
                      </m:dPr>
                      <m:e>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m:t>
                            </m:r>
                          </m:sup>
                        </m:sSubSup>
                      </m:e>
                      <m:e>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𝑡</m:t>
                            </m:r>
                          </m:sup>
                        </m:sSubSup>
                      </m:e>
                    </m:d>
                  </m:oMath>
                </a14:m>
                <a:endParaRPr lang="en-US" altLang="ko-KR" dirty="0" smtClean="0"/>
              </a:p>
              <a:p>
                <a:pPr lvl="1"/>
                <a:r>
                  <a:rPr lang="en-US" altLang="ko-KR" dirty="0" smtClean="0"/>
                  <a:t>Let’s observe the balance equation</a:t>
                </a:r>
              </a:p>
              <a:p>
                <a:pPr lvl="2"/>
                <a:r>
                  <a:rPr lang="en-US" altLang="ko-KR" dirty="0" smtClean="0"/>
                  <a:t>Should hold </a:t>
                </a:r>
                <a14:m>
                  <m:oMath xmlns:m="http://schemas.openxmlformats.org/officeDocument/2006/math">
                    <m:r>
                      <m:rPr>
                        <m:sty m:val="p"/>
                      </m:rPr>
                      <a:rPr lang="en-US" altLang="ko-KR">
                        <a:latin typeface="Cambria Math" panose="02040503050406030204" pitchFamily="18" charset="0"/>
                      </a:rPr>
                      <m:t>P</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b="0" i="1" smtClean="0">
                                <a:latin typeface="Cambria Math" panose="02040503050406030204" pitchFamily="18" charset="0"/>
                              </a:rPr>
                              <m:t>𝑡</m:t>
                            </m:r>
                          </m:sup>
                        </m:sSup>
                      </m:e>
                    </m:d>
                    <m:r>
                      <a:rPr lang="en-US" altLang="ko-KR" i="1">
                        <a:latin typeface="Cambria Math" panose="02040503050406030204" pitchFamily="18" charset="0"/>
                        <a:ea typeface="Cambria Math" panose="02040503050406030204" pitchFamily="18" charset="0"/>
                      </a:rPr>
                      <m:t>𝑞</m:t>
                    </m:r>
                    <m:d>
                      <m:dPr>
                        <m:ctrlPr>
                          <a:rPr lang="en-US" altLang="ko-KR" i="1">
                            <a:latin typeface="Cambria Math" panose="02040503050406030204" pitchFamily="18" charset="0"/>
                            <a:ea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d>
                    <m:r>
                      <a:rPr lang="en-US" altLang="ko-KR" b="0" i="1" smtClean="0">
                        <a:latin typeface="Cambria Math" panose="02040503050406030204" pitchFamily="18" charset="0"/>
                      </a:rPr>
                      <m:t>=</m:t>
                    </m:r>
                    <m:r>
                      <m:rPr>
                        <m:sty m:val="p"/>
                      </m:rPr>
                      <a:rPr lang="en-US" altLang="ko-KR">
                        <a:latin typeface="Cambria Math" panose="02040503050406030204" pitchFamily="18" charset="0"/>
                      </a:rPr>
                      <m:t>P</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b="0" i="1" smtClean="0">
                                <a:latin typeface="Cambria Math" panose="02040503050406030204" pitchFamily="18" charset="0"/>
                              </a:rPr>
                              <m:t>∗</m:t>
                            </m:r>
                          </m:sup>
                        </m:sSup>
                      </m:e>
                    </m:d>
                    <m:r>
                      <a:rPr lang="en-US" altLang="ko-KR" i="1">
                        <a:latin typeface="Cambria Math" panose="02040503050406030204" pitchFamily="18" charset="0"/>
                        <a:ea typeface="Cambria Math" panose="02040503050406030204" pitchFamily="18" charset="0"/>
                      </a:rPr>
                      <m:t>𝑞</m:t>
                    </m:r>
                    <m:d>
                      <m:dPr>
                        <m:ctrlPr>
                          <a:rPr lang="en-US" altLang="ko-KR" i="1">
                            <a:latin typeface="Cambria Math" panose="02040503050406030204" pitchFamily="18" charset="0"/>
                            <a:ea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b="0" i="1" smtClean="0">
                                <a:latin typeface="Cambria Math" panose="02040503050406030204" pitchFamily="18" charset="0"/>
                              </a:rPr>
                              <m:t>𝑡</m:t>
                            </m:r>
                          </m:sup>
                        </m:sSup>
                      </m:e>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b="0" i="1" smtClean="0">
                                <a:latin typeface="Cambria Math" panose="02040503050406030204" pitchFamily="18" charset="0"/>
                              </a:rPr>
                              <m:t>∗</m:t>
                            </m:r>
                          </m:sup>
                        </m:sSup>
                      </m:e>
                    </m:d>
                  </m:oMath>
                </a14:m>
                <a:endParaRPr lang="en-US" altLang="ko-KR" dirty="0" smtClean="0"/>
              </a:p>
              <a:p>
                <a:pPr lvl="2"/>
                <a14:m>
                  <m:oMath xmlns:m="http://schemas.openxmlformats.org/officeDocument/2006/math">
                    <m:r>
                      <m:rPr>
                        <m:sty m:val="p"/>
                      </m:rPr>
                      <a:rPr lang="en-US" altLang="ko-KR">
                        <a:latin typeface="Cambria Math" panose="02040503050406030204" pitchFamily="18" charset="0"/>
                      </a:rPr>
                      <m:t>P</m:t>
                    </m:r>
                    <m:d>
                      <m:dPr>
                        <m:ctrlPr>
                          <a:rPr lang="en-US" altLang="ko-KR" i="1">
                            <a:latin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b="0" i="1" smtClean="0">
                                <a:latin typeface="Cambria Math" panose="02040503050406030204" pitchFamily="18" charset="0"/>
                              </a:rPr>
                              <m:t>𝑡</m:t>
                            </m:r>
                          </m:sup>
                        </m:sSup>
                      </m:e>
                    </m:d>
                    <m:r>
                      <a:rPr lang="en-US" altLang="ko-KR" i="1">
                        <a:latin typeface="Cambria Math" panose="02040503050406030204" pitchFamily="18" charset="0"/>
                        <a:ea typeface="Cambria Math" panose="02040503050406030204" pitchFamily="18" charset="0"/>
                      </a:rPr>
                      <m:t>𝑞</m:t>
                    </m:r>
                    <m:d>
                      <m:dPr>
                        <m:ctrlPr>
                          <a:rPr lang="en-US" altLang="ko-KR" i="1">
                            <a:latin typeface="Cambria Math" panose="02040503050406030204" pitchFamily="18" charset="0"/>
                            <a:ea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d>
                    <m:r>
                      <a:rPr lang="en-US" altLang="ko-KR" i="1">
                        <a:latin typeface="Cambria Math" panose="02040503050406030204" pitchFamily="18" charset="0"/>
                      </a:rPr>
                      <m:t>=</m:t>
                    </m:r>
                    <m:r>
                      <m:rPr>
                        <m:sty m:val="p"/>
                      </m:rPr>
                      <a:rPr lang="en-US" altLang="ko-KR">
                        <a:latin typeface="Cambria Math" panose="02040503050406030204" pitchFamily="18" charset="0"/>
                      </a:rPr>
                      <m:t>P</m:t>
                    </m:r>
                    <m:d>
                      <m:dPr>
                        <m:ctrlPr>
                          <a:rPr lang="en-US" altLang="ko-KR" i="1">
                            <a:latin typeface="Cambria Math" panose="02040503050406030204" pitchFamily="18" charset="0"/>
                          </a:rPr>
                        </m:ctrlPr>
                      </m:dPr>
                      <m:e>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𝑡</m:t>
                            </m:r>
                          </m:sup>
                        </m:sSubSup>
                        <m:r>
                          <a:rPr lang="en-US" altLang="ko-KR" i="1">
                            <a:latin typeface="Cambria Math" panose="02040503050406030204" pitchFamily="18" charset="0"/>
                            <a:ea typeface="Cambria Math" panose="02040503050406030204" pitchFamily="18" charset="0"/>
                          </a:rPr>
                          <m:t>,</m:t>
                        </m:r>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𝑡</m:t>
                            </m:r>
                          </m:sup>
                        </m:sSubSup>
                      </m:e>
                    </m:d>
                    <m:r>
                      <a:rPr lang="en-US" altLang="ko-KR" i="1">
                        <a:latin typeface="Cambria Math" panose="02040503050406030204" pitchFamily="18" charset="0"/>
                      </a:rPr>
                      <m:t>𝑃</m:t>
                    </m:r>
                    <m:d>
                      <m:dPr>
                        <m:ctrlPr>
                          <a:rPr lang="en-US" altLang="ko-KR" i="1">
                            <a:latin typeface="Cambria Math" panose="02040503050406030204" pitchFamily="18" charset="0"/>
                            <a:ea typeface="Cambria Math" panose="02040503050406030204" pitchFamily="18" charset="0"/>
                          </a:rPr>
                        </m:ctrlPr>
                      </m:dPr>
                      <m:e>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m:t>
                            </m:r>
                          </m:sup>
                        </m:sSubSup>
                      </m:e>
                      <m:e>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𝑡</m:t>
                            </m:r>
                          </m:sup>
                        </m:sSubSup>
                      </m:e>
                    </m:d>
                    <m:r>
                      <a:rPr lang="en-US" altLang="ko-KR" b="0" i="1" smtClean="0">
                        <a:latin typeface="Cambria Math" panose="02040503050406030204" pitchFamily="18" charset="0"/>
                        <a:ea typeface="Cambria Math" panose="02040503050406030204" pitchFamily="18" charset="0"/>
                      </a:rPr>
                      <m:t>=</m:t>
                    </m:r>
                    <m:r>
                      <m:rPr>
                        <m:sty m:val="p"/>
                      </m:rPr>
                      <a:rPr lang="en-US" altLang="ko-KR">
                        <a:latin typeface="Cambria Math" panose="02040503050406030204" pitchFamily="18" charset="0"/>
                      </a:rPr>
                      <m:t>P</m:t>
                    </m:r>
                    <m:d>
                      <m:dPr>
                        <m:ctrlPr>
                          <a:rPr lang="en-US" altLang="ko-KR" i="1">
                            <a:latin typeface="Cambria Math" panose="02040503050406030204" pitchFamily="18" charset="0"/>
                          </a:rPr>
                        </m:ctrlPr>
                      </m:dPr>
                      <m:e>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𝑡</m:t>
                            </m:r>
                          </m:sup>
                        </m:sSubSup>
                        <m:r>
                          <a:rPr lang="en-US" altLang="ko-KR" b="0" i="1" smtClean="0">
                            <a:latin typeface="Cambria Math" panose="02040503050406030204" pitchFamily="18" charset="0"/>
                            <a:ea typeface="Cambria Math" panose="02040503050406030204" pitchFamily="18" charset="0"/>
                          </a:rPr>
                          <m:t>|</m:t>
                        </m:r>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𝑡</m:t>
                            </m:r>
                          </m:sup>
                        </m:sSubSup>
                      </m:e>
                    </m:d>
                    <m:r>
                      <a:rPr lang="en-US" altLang="ko-KR" b="0" i="1" smtClean="0">
                        <a:latin typeface="Cambria Math" panose="02040503050406030204" pitchFamily="18" charset="0"/>
                        <a:ea typeface="Cambria Math" panose="02040503050406030204" pitchFamily="18" charset="0"/>
                      </a:rPr>
                      <m:t>𝑃</m:t>
                    </m:r>
                    <m:d>
                      <m:dPr>
                        <m:ctrlPr>
                          <a:rPr lang="en-US" altLang="ko-KR" b="0" i="1" smtClean="0">
                            <a:latin typeface="Cambria Math" panose="02040503050406030204" pitchFamily="18" charset="0"/>
                            <a:ea typeface="Cambria Math" panose="02040503050406030204" pitchFamily="18" charset="0"/>
                          </a:rPr>
                        </m:ctrlPr>
                      </m:dPr>
                      <m:e>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𝑡</m:t>
                            </m:r>
                          </m:sup>
                        </m:sSubSup>
                      </m:e>
                    </m:d>
                    <m:r>
                      <a:rPr lang="en-US" altLang="ko-KR" i="1">
                        <a:latin typeface="Cambria Math" panose="02040503050406030204" pitchFamily="18" charset="0"/>
                      </a:rPr>
                      <m:t>𝑃</m:t>
                    </m:r>
                    <m:d>
                      <m:dPr>
                        <m:ctrlPr>
                          <a:rPr lang="en-US" altLang="ko-KR" i="1">
                            <a:latin typeface="Cambria Math" panose="02040503050406030204" pitchFamily="18" charset="0"/>
                            <a:ea typeface="Cambria Math" panose="02040503050406030204" pitchFamily="18" charset="0"/>
                          </a:rPr>
                        </m:ctrlPr>
                      </m:dPr>
                      <m:e>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m:t>
                            </m:r>
                          </m:sup>
                        </m:sSubSup>
                      </m:e>
                      <m:e>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𝑡</m:t>
                            </m:r>
                          </m:sup>
                        </m:sSubSup>
                      </m:e>
                    </m:d>
                  </m:oMath>
                </a14:m>
                <a:r>
                  <a:rPr lang="en-US" altLang="ko-KR" dirty="0" smtClean="0">
                    <a:ea typeface="Cambria Math" panose="02040503050406030204" pitchFamily="18" charset="0"/>
                  </a:rPr>
                  <a:t/>
                </a:r>
                <a:br>
                  <a:rPr lang="en-US" altLang="ko-KR" dirty="0" smtClean="0">
                    <a:ea typeface="Cambria Math" panose="02040503050406030204" pitchFamily="18" charset="0"/>
                  </a:rPr>
                </a:br>
                <a14:m>
                  <m:oMath xmlns:m="http://schemas.openxmlformats.org/officeDocument/2006/math">
                    <m:r>
                      <a:rPr lang="en-US" altLang="ko-KR" i="1">
                        <a:latin typeface="Cambria Math" panose="02040503050406030204" pitchFamily="18" charset="0"/>
                        <a:ea typeface="Cambria Math" panose="02040503050406030204" pitchFamily="18" charset="0"/>
                      </a:rPr>
                      <m:t>=</m:t>
                    </m:r>
                    <m:r>
                      <m:rPr>
                        <m:sty m:val="p"/>
                      </m:rPr>
                      <a:rPr lang="en-US" altLang="ko-KR">
                        <a:latin typeface="Cambria Math" panose="02040503050406030204" pitchFamily="18" charset="0"/>
                      </a:rPr>
                      <m:t>P</m:t>
                    </m:r>
                    <m:d>
                      <m:dPr>
                        <m:ctrlPr>
                          <a:rPr lang="en-US" altLang="ko-KR" i="1">
                            <a:latin typeface="Cambria Math" panose="02040503050406030204" pitchFamily="18" charset="0"/>
                          </a:rPr>
                        </m:ctrlPr>
                      </m:dPr>
                      <m:e>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𝑡</m:t>
                            </m:r>
                          </m:sup>
                        </m:sSubSup>
                        <m:r>
                          <a:rPr lang="en-US" altLang="ko-KR" i="1">
                            <a:latin typeface="Cambria Math" panose="02040503050406030204" pitchFamily="18" charset="0"/>
                            <a:ea typeface="Cambria Math" panose="02040503050406030204" pitchFamily="18" charset="0"/>
                          </a:rPr>
                          <m:t>|</m:t>
                        </m:r>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𝑡</m:t>
                            </m:r>
                          </m:sup>
                        </m:sSubSup>
                      </m:e>
                    </m:d>
                    <m:r>
                      <a:rPr lang="en-US" altLang="ko-KR" i="1">
                        <a:latin typeface="Cambria Math" panose="02040503050406030204" pitchFamily="18" charset="0"/>
                        <a:ea typeface="Cambria Math" panose="02040503050406030204" pitchFamily="18" charset="0"/>
                      </a:rPr>
                      <m:t>𝑃</m:t>
                    </m:r>
                    <m:d>
                      <m:dPr>
                        <m:ctrlPr>
                          <a:rPr lang="en-US" altLang="ko-KR" i="1">
                            <a:latin typeface="Cambria Math" panose="02040503050406030204" pitchFamily="18" charset="0"/>
                            <a:ea typeface="Cambria Math" panose="02040503050406030204" pitchFamily="18" charset="0"/>
                          </a:rPr>
                        </m:ctrlPr>
                      </m:dPr>
                      <m:e>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m:t>
                            </m:r>
                          </m:sup>
                        </m:sSubSup>
                        <m:r>
                          <a:rPr lang="en-US" altLang="ko-KR" b="0" i="1" smtClean="0">
                            <a:latin typeface="Cambria Math" panose="02040503050406030204" pitchFamily="18" charset="0"/>
                            <a:ea typeface="Cambria Math" panose="02040503050406030204" pitchFamily="18" charset="0"/>
                          </a:rPr>
                          <m:t>,</m:t>
                        </m:r>
                        <m:sSubSup>
                          <m:sSubSupPr>
                            <m:ctrlPr>
                              <a:rPr lang="en-US" altLang="ko-KR" i="1">
                                <a:latin typeface="Cambria Math" panose="02040503050406030204" pitchFamily="18" charset="0"/>
                                <a:ea typeface="Cambria Math" panose="02040503050406030204" pitchFamily="18" charset="0"/>
                              </a:rPr>
                            </m:ctrlPr>
                          </m:sSubSupPr>
                          <m:e>
                            <m:r>
                              <a:rPr lang="en-US" altLang="ko-KR" i="1">
                                <a:latin typeface="Cambria Math" panose="02040503050406030204" pitchFamily="18" charset="0"/>
                                <a:ea typeface="Cambria Math" panose="02040503050406030204" pitchFamily="18" charset="0"/>
                              </a:rPr>
                              <m:t>𝑧</m:t>
                            </m:r>
                          </m:e>
                          <m:sub>
                            <m:r>
                              <a:rPr lang="en-US" altLang="ko-KR" i="1">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𝑘</m:t>
                            </m:r>
                          </m:sub>
                          <m:sup>
                            <m:r>
                              <a:rPr lang="en-US" altLang="ko-KR" i="1">
                                <a:latin typeface="Cambria Math" panose="02040503050406030204" pitchFamily="18" charset="0"/>
                                <a:ea typeface="Cambria Math" panose="02040503050406030204" pitchFamily="18" charset="0"/>
                              </a:rPr>
                              <m:t>𝑡</m:t>
                            </m:r>
                          </m:sup>
                        </m:sSubSup>
                      </m:e>
                    </m:d>
                    <m:r>
                      <a:rPr lang="en-US" altLang="ko-KR" b="0" i="1" smtClean="0">
                        <a:latin typeface="Cambria Math" panose="02040503050406030204" pitchFamily="18" charset="0"/>
                        <a:ea typeface="Cambria Math" panose="02040503050406030204" pitchFamily="18" charset="0"/>
                      </a:rPr>
                      <m:t>=</m:t>
                    </m:r>
                    <m:r>
                      <a:rPr lang="en-US" altLang="ko-KR" i="1">
                        <a:latin typeface="Cambria Math" panose="02040503050406030204" pitchFamily="18" charset="0"/>
                        <a:ea typeface="Cambria Math" panose="02040503050406030204" pitchFamily="18" charset="0"/>
                      </a:rPr>
                      <m:t>𝑞</m:t>
                    </m:r>
                    <m:d>
                      <m:dPr>
                        <m:ctrlPr>
                          <a:rPr lang="en-US" altLang="ko-KR" i="1">
                            <a:latin typeface="Cambria Math" panose="02040503050406030204" pitchFamily="18" charset="0"/>
                            <a:ea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d>
                    <m:r>
                      <a:rPr lang="en-US" altLang="ko-KR" i="1">
                        <a:latin typeface="Cambria Math" panose="02040503050406030204" pitchFamily="18" charset="0"/>
                        <a:ea typeface="Cambria Math" panose="02040503050406030204" pitchFamily="18" charset="0"/>
                      </a:rPr>
                      <m:t>𝑃</m:t>
                    </m:r>
                    <m:d>
                      <m:dPr>
                        <m:ctrlPr>
                          <a:rPr lang="en-US" altLang="ko-KR" i="1">
                            <a:latin typeface="Cambria Math" panose="02040503050406030204" pitchFamily="18" charset="0"/>
                            <a:ea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d>
                  </m:oMath>
                </a14:m>
                <a:endParaRPr lang="en-US" altLang="ko-KR" dirty="0" smtClean="0"/>
              </a:p>
              <a:p>
                <a:pPr lvl="2"/>
                <a:r>
                  <a:rPr lang="en-US" altLang="ko-KR" dirty="0" smtClean="0"/>
                  <a:t>Always hold the balance equation!</a:t>
                </a:r>
              </a:p>
              <a:p>
                <a:pPr lvl="1"/>
                <a:r>
                  <a:rPr lang="en-US" altLang="ko-KR" dirty="0" smtClean="0"/>
                  <a:t>Then, the acceptance probability becomes </a:t>
                </a:r>
                <a14:m>
                  <m:oMath xmlns:m="http://schemas.openxmlformats.org/officeDocument/2006/math">
                    <m:r>
                      <a:rPr lang="ko-KR" altLang="en-US" i="1">
                        <a:latin typeface="Cambria Math" panose="02040503050406030204" pitchFamily="18" charset="0"/>
                        <a:ea typeface="Cambria Math" panose="02040503050406030204" pitchFamily="18" charset="0"/>
                      </a:rPr>
                      <m:t>𝛼</m:t>
                    </m:r>
                    <m:d>
                      <m:dPr>
                        <m:ctrlPr>
                          <a:rPr lang="en-US" altLang="ko-KR" i="1">
                            <a:latin typeface="Cambria Math" panose="02040503050406030204" pitchFamily="18" charset="0"/>
                            <a:ea typeface="Cambria Math" panose="02040503050406030204" pitchFamily="18" charset="0"/>
                          </a:rPr>
                        </m:ctrlPr>
                      </m:dPr>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m:t>
                            </m:r>
                          </m:sup>
                        </m:sSup>
                      </m:e>
                      <m:e>
                        <m:sSup>
                          <m:sSupPr>
                            <m:ctrlPr>
                              <a:rPr lang="en-US" altLang="ko-KR" i="1">
                                <a:latin typeface="Cambria Math" panose="02040503050406030204" pitchFamily="18" charset="0"/>
                              </a:rPr>
                            </m:ctrlPr>
                          </m:sSupPr>
                          <m:e>
                            <m:r>
                              <a:rPr lang="en-US" altLang="ko-KR" i="1">
                                <a:latin typeface="Cambria Math" panose="02040503050406030204" pitchFamily="18" charset="0"/>
                              </a:rPr>
                              <m:t>𝑧</m:t>
                            </m:r>
                          </m:e>
                          <m:sup>
                            <m:r>
                              <a:rPr lang="en-US" altLang="ko-KR" i="1">
                                <a:latin typeface="Cambria Math" panose="02040503050406030204" pitchFamily="18" charset="0"/>
                              </a:rPr>
                              <m:t>𝑡</m:t>
                            </m:r>
                          </m:sup>
                        </m:sSup>
                      </m:e>
                    </m:d>
                    <m:r>
                      <a:rPr lang="en-US" altLang="ko-KR" i="1">
                        <a:latin typeface="Cambria Math" panose="02040503050406030204" pitchFamily="18" charset="0"/>
                        <a:ea typeface="Cambria Math" panose="02040503050406030204" pitchFamily="18" charset="0"/>
                      </a:rPr>
                      <m:t>=</m:t>
                    </m:r>
                    <m:r>
                      <a:rPr lang="en-US" altLang="ko-KR" b="0" i="1" smtClean="0">
                        <a:latin typeface="Cambria Math" panose="02040503050406030204" pitchFamily="18" charset="0"/>
                        <a:ea typeface="Cambria Math" panose="02040503050406030204" pitchFamily="18" charset="0"/>
                      </a:rPr>
                      <m:t>1</m:t>
                    </m:r>
                  </m:oMath>
                </a14:m>
                <a:endParaRPr lang="en-US" altLang="ko-KR" dirty="0"/>
              </a:p>
              <a:p>
                <a:pPr lvl="2"/>
                <a:endParaRPr lang="en-US" altLang="ko-KR" dirty="0" smtClean="0"/>
              </a:p>
              <a:p>
                <a:r>
                  <a:rPr lang="en-US" altLang="ko-KR" dirty="0" smtClean="0"/>
                  <a:t>Example of Gibbs sampling</a:t>
                </a:r>
              </a:p>
              <a:p>
                <a:pPr lvl="1"/>
                <a:r>
                  <a:rPr lang="en-US" altLang="ko-KR" dirty="0" smtClean="0"/>
                  <a:t>When the </a:t>
                </a:r>
                <a:r>
                  <a:rPr lang="en-US" altLang="ko-KR" dirty="0"/>
                  <a:t>joint distribution is not known explicitly or is </a:t>
                </a:r>
                <a:r>
                  <a:rPr lang="en-US" altLang="ko-KR" dirty="0" smtClean="0"/>
                  <a:t>difficult </a:t>
                </a:r>
                <a:r>
                  <a:rPr lang="en-US" altLang="ko-KR" dirty="0"/>
                  <a:t>to sample from directly, but the conditional distribution of each variable is known and is </a:t>
                </a:r>
                <a:r>
                  <a:rPr lang="en-US" altLang="ko-KR" dirty="0" smtClean="0"/>
                  <a:t>easy</a:t>
                </a:r>
              </a:p>
              <a:p>
                <a:pPr lvl="2"/>
                <a:r>
                  <a:rPr lang="en-US" altLang="ko-KR" dirty="0" smtClean="0"/>
                  <a:t>P(E,JC,B|A=F,MC=T)=?</a:t>
                </a:r>
              </a:p>
              <a:p>
                <a:pPr lvl="3"/>
                <a:r>
                  <a:rPr lang="en-US" altLang="ko-KR" dirty="0" smtClean="0"/>
                  <a:t>Hard to sample directly. Why?</a:t>
                </a:r>
              </a:p>
              <a:p>
                <a:pPr lvl="2"/>
                <a:r>
                  <a:rPr lang="en-US" altLang="ko-KR" dirty="0" smtClean="0"/>
                  <a:t>Consider a </a:t>
                </a:r>
                <a:r>
                  <a:rPr lang="en-US" altLang="ko-KR" dirty="0"/>
                  <a:t>conditional distribution </a:t>
                </a:r>
                <a14:m>
                  <m:oMath xmlns:m="http://schemas.openxmlformats.org/officeDocument/2006/math">
                    <m:r>
                      <a:rPr lang="en-US" altLang="ko-KR" i="1">
                        <a:latin typeface="Cambria Math" panose="02040503050406030204" pitchFamily="18" charset="0"/>
                      </a:rPr>
                      <m:t>𝑝</m:t>
                    </m:r>
                    <m:d>
                      <m:dPr>
                        <m:ctrlPr>
                          <a:rPr lang="en-US" altLang="ko-KR" i="1">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b="0" i="1">
                                <a:latin typeface="Cambria Math" panose="02040503050406030204" pitchFamily="18" charset="0"/>
                              </a:rPr>
                              <m:t>𝑧</m:t>
                            </m:r>
                          </m:e>
                          <m:sub>
                            <m:r>
                              <a:rPr lang="en-US" altLang="ko-KR" b="0" i="1">
                                <a:latin typeface="Cambria Math" panose="02040503050406030204" pitchFamily="18" charset="0"/>
                              </a:rPr>
                              <m:t>𝑖</m:t>
                            </m:r>
                          </m:sub>
                        </m:sSub>
                        <m:r>
                          <a:rPr lang="en-US" altLang="ko-KR" b="0" i="1">
                            <a:latin typeface="Cambria Math" panose="02040503050406030204" pitchFamily="18" charset="0"/>
                          </a:rPr>
                          <m:t>|</m:t>
                        </m:r>
                        <m:sSub>
                          <m:sSubPr>
                            <m:ctrlPr>
                              <a:rPr lang="en-US" altLang="ko-KR" i="1">
                                <a:latin typeface="Cambria Math" panose="02040503050406030204" pitchFamily="18" charset="0"/>
                              </a:rPr>
                            </m:ctrlPr>
                          </m:sSubPr>
                          <m:e>
                            <m:r>
                              <a:rPr lang="en-US" altLang="ko-KR" b="0" i="1">
                                <a:latin typeface="Cambria Math" panose="02040503050406030204" pitchFamily="18" charset="0"/>
                              </a:rPr>
                              <m:t>𝑧</m:t>
                            </m:r>
                          </m:e>
                          <m:sub>
                            <m:r>
                              <a:rPr lang="en-US" altLang="ko-KR" b="0" i="1">
                                <a:latin typeface="Cambria Math" panose="02040503050406030204" pitchFamily="18" charset="0"/>
                              </a:rPr>
                              <m:t>−</m:t>
                            </m:r>
                            <m:r>
                              <a:rPr lang="en-US" altLang="ko-KR" b="0" i="1">
                                <a:latin typeface="Cambria Math" panose="02040503050406030204" pitchFamily="18" charset="0"/>
                              </a:rPr>
                              <m:t>𝑖</m:t>
                            </m:r>
                          </m:sub>
                        </m:sSub>
                        <m:r>
                          <a:rPr lang="en-US" altLang="ko-KR" b="0" i="1">
                            <a:latin typeface="Cambria Math" panose="02040503050406030204" pitchFamily="18" charset="0"/>
                          </a:rPr>
                          <m:t>, </m:t>
                        </m:r>
                        <m:r>
                          <a:rPr lang="en-US" altLang="ko-KR" b="0" i="1" smtClean="0">
                            <a:latin typeface="Cambria Math" panose="02040503050406030204" pitchFamily="18" charset="0"/>
                          </a:rPr>
                          <m:t>𝑒</m:t>
                        </m:r>
                      </m:e>
                    </m:d>
                  </m:oMath>
                </a14:m>
                <a:endParaRPr lang="en-US" altLang="ko-KR" dirty="0"/>
              </a:p>
              <a:p>
                <a:pPr lvl="3"/>
                <a:r>
                  <a:rPr lang="en-US" altLang="ko-KR" dirty="0" smtClean="0"/>
                  <a:t>P(E|B,A,JC,MC</a:t>
                </a:r>
                <a:r>
                  <a:rPr lang="en-US" altLang="ko-KR" smtClean="0"/>
                  <a:t>)=</a:t>
                </a:r>
                <a:r>
                  <a:rPr lang="en-US" altLang="ko-KR" smtClean="0"/>
                  <a:t>P(E|A,B)</a:t>
                </a:r>
                <a:endParaRPr lang="en-US" altLang="ko-KR" dirty="0" smtClean="0"/>
              </a:p>
              <a:p>
                <a:pPr lvl="3"/>
                <a:r>
                  <a:rPr lang="en-US" altLang="ko-KR" dirty="0" smtClean="0"/>
                  <a:t>P(JC|B,E,A,MC)=P(JC|A)</a:t>
                </a:r>
              </a:p>
              <a:p>
                <a:pPr lvl="3"/>
                <a:r>
                  <a:rPr lang="en-US" altLang="ko-KR" dirty="0" smtClean="0"/>
                  <a:t>P(B|E,A,JC,MC)=P(B|A,E)</a:t>
                </a:r>
              </a:p>
              <a:p>
                <a:pPr lvl="1"/>
                <a:r>
                  <a:rPr lang="en-US" altLang="ko-KR" dirty="0" smtClean="0"/>
                  <a:t>Update one random variable at a time</a:t>
                </a:r>
                <a:endParaRPr lang="ko-KR" altLang="en-US" dirty="0"/>
              </a:p>
            </p:txBody>
          </p:sp>
        </mc:Choice>
        <mc:Fallback>
          <p:sp>
            <p:nvSpPr>
              <p:cNvPr id="3" name="내용 개체 틀 2"/>
              <p:cNvSpPr>
                <a:spLocks noGrp="1" noRot="1" noChangeAspect="1" noMove="1" noResize="1" noEditPoints="1" noAdjustHandles="1" noChangeArrowheads="1" noChangeShapeType="1" noTextEdit="1"/>
              </p:cNvSpPr>
              <p:nvPr>
                <p:ph idx="1"/>
              </p:nvPr>
            </p:nvSpPr>
            <p:spPr>
              <a:xfrm>
                <a:off x="335731" y="907143"/>
                <a:ext cx="5723634" cy="5607596"/>
              </a:xfrm>
              <a:blipFill rotWithShape="0">
                <a:blip r:embed="rId3"/>
                <a:stretch>
                  <a:fillRect t="-1304"/>
                </a:stretch>
              </a:blipFill>
            </p:spPr>
            <p:txBody>
              <a:bodyPr/>
              <a:lstStyle/>
              <a:p>
                <a:r>
                  <a:rPr lang="ko-KR" altLang="en-US">
                    <a:noFill/>
                  </a:rPr>
                  <a:t> </a:t>
                </a:r>
              </a:p>
            </p:txBody>
          </p:sp>
        </mc:Fallback>
      </mc:AlternateContent>
      <p:sp>
        <p:nvSpPr>
          <p:cNvPr id="4" name="슬라이드 번호 개체 틀 3"/>
          <p:cNvSpPr>
            <a:spLocks noGrp="1"/>
          </p:cNvSpPr>
          <p:nvPr>
            <p:ph type="sldNum" sz="quarter" idx="12"/>
          </p:nvPr>
        </p:nvSpPr>
        <p:spPr/>
        <p:txBody>
          <a:bodyPr/>
          <a:lstStyle/>
          <a:p>
            <a:fld id="{E4E48515-694B-44C7-A9EB-D2CB2C6423BC}" type="slidenum">
              <a:rPr lang="ko-KR" altLang="en-US" smtClean="0"/>
              <a:t>14</a:t>
            </a:fld>
            <a:endParaRPr lang="ko-KR" altLang="en-US" dirty="0"/>
          </a:p>
        </p:txBody>
      </p:sp>
      <p:grpSp>
        <p:nvGrpSpPr>
          <p:cNvPr id="7" name="그룹 6"/>
          <p:cNvGrpSpPr/>
          <p:nvPr/>
        </p:nvGrpSpPr>
        <p:grpSpPr>
          <a:xfrm>
            <a:off x="5508542" y="44624"/>
            <a:ext cx="3527954" cy="1866553"/>
            <a:chOff x="5364526" y="1533872"/>
            <a:chExt cx="3527954" cy="1866553"/>
          </a:xfrm>
        </p:grpSpPr>
        <p:pic>
          <p:nvPicPr>
            <p:cNvPr id="5" name="그림 4"/>
            <p:cNvPicPr>
              <a:picLocks noChangeAspect="1"/>
            </p:cNvPicPr>
            <p:nvPr/>
          </p:nvPicPr>
          <p:blipFill>
            <a:blip r:embed="rId4"/>
            <a:stretch>
              <a:fillRect/>
            </a:stretch>
          </p:blipFill>
          <p:spPr>
            <a:xfrm>
              <a:off x="7539930" y="1600200"/>
              <a:ext cx="1352550" cy="1800225"/>
            </a:xfrm>
            <a:prstGeom prst="rect">
              <a:avLst/>
            </a:prstGeom>
          </p:spPr>
        </p:pic>
        <p:sp>
          <p:nvSpPr>
            <p:cNvPr id="6" name="직사각형 5"/>
            <p:cNvSpPr/>
            <p:nvPr/>
          </p:nvSpPr>
          <p:spPr>
            <a:xfrm>
              <a:off x="5364526" y="1533872"/>
              <a:ext cx="2175404" cy="923330"/>
            </a:xfrm>
            <a:prstGeom prst="rect">
              <a:avLst/>
            </a:prstGeom>
          </p:spPr>
          <p:txBody>
            <a:bodyPr wrap="none">
              <a:spAutoFit/>
            </a:bodyPr>
            <a:lstStyle/>
            <a:p>
              <a:pPr algn="r"/>
              <a:r>
                <a:rPr lang="ko-KR" altLang="en-US" dirty="0"/>
                <a:t>Josiah Willard </a:t>
              </a:r>
              <a:r>
                <a:rPr lang="ko-KR" altLang="en-US" dirty="0" smtClean="0"/>
                <a:t>Gibbs</a:t>
              </a:r>
              <a:endParaRPr lang="en-US" altLang="ko-KR" dirty="0" smtClean="0"/>
            </a:p>
            <a:p>
              <a:pPr algn="r"/>
              <a:r>
                <a:rPr lang="en-US" altLang="ko-KR" dirty="0" smtClean="0"/>
                <a:t>(1839 - 1903)</a:t>
              </a:r>
            </a:p>
            <a:p>
              <a:pPr algn="r"/>
              <a:r>
                <a:rPr lang="en-US" altLang="ko-KR" dirty="0" smtClean="0"/>
                <a:t>- physicist</a:t>
              </a:r>
            </a:p>
          </p:txBody>
        </p:sp>
      </p:grpSp>
      <p:grpSp>
        <p:nvGrpSpPr>
          <p:cNvPr id="17" name="Group 16"/>
          <p:cNvGrpSpPr/>
          <p:nvPr/>
        </p:nvGrpSpPr>
        <p:grpSpPr>
          <a:xfrm>
            <a:off x="6173494" y="4415459"/>
            <a:ext cx="2863001" cy="2099280"/>
            <a:chOff x="4717643" y="1299304"/>
            <a:chExt cx="4192984" cy="2711153"/>
          </a:xfrm>
        </p:grpSpPr>
        <p:sp>
          <p:nvSpPr>
            <p:cNvPr id="8" name="Oval 7"/>
            <p:cNvSpPr/>
            <p:nvPr/>
          </p:nvSpPr>
          <p:spPr>
            <a:xfrm>
              <a:off x="5980931" y="2476451"/>
              <a:ext cx="1368152"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100" dirty="0" smtClean="0"/>
                <a:t>Alarm</a:t>
              </a:r>
              <a:endParaRPr lang="ko-KR" altLang="en-US" sz="1100" dirty="0"/>
            </a:p>
          </p:txBody>
        </p:sp>
        <p:cxnSp>
          <p:nvCxnSpPr>
            <p:cNvPr id="9" name="Straight Arrow Connector 8"/>
            <p:cNvCxnSpPr>
              <a:stCxn id="8" idx="3"/>
              <a:endCxn id="10" idx="0"/>
            </p:cNvCxnSpPr>
            <p:nvPr/>
          </p:nvCxnSpPr>
          <p:spPr>
            <a:xfrm flipH="1">
              <a:off x="5737214" y="2968153"/>
              <a:ext cx="444078" cy="4662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4873119" y="3434393"/>
              <a:ext cx="1728192"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100" dirty="0" err="1" smtClean="0"/>
                <a:t>JohnCalls</a:t>
              </a:r>
              <a:endParaRPr lang="ko-KR" altLang="en-US" sz="1100" baseline="-25000" dirty="0"/>
            </a:p>
          </p:txBody>
        </p:sp>
        <p:sp>
          <p:nvSpPr>
            <p:cNvPr id="11" name="Oval 10"/>
            <p:cNvSpPr/>
            <p:nvPr/>
          </p:nvSpPr>
          <p:spPr>
            <a:xfrm>
              <a:off x="7211949" y="3434392"/>
              <a:ext cx="1633637" cy="5760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100" dirty="0" err="1" smtClean="0"/>
                <a:t>MaryCalls</a:t>
              </a:r>
              <a:endParaRPr lang="ko-KR" altLang="en-US" sz="1100" baseline="-25000" dirty="0"/>
            </a:p>
          </p:txBody>
        </p:sp>
        <p:cxnSp>
          <p:nvCxnSpPr>
            <p:cNvPr id="12" name="Straight Arrow Connector 11"/>
            <p:cNvCxnSpPr>
              <a:stCxn id="8" idx="5"/>
              <a:endCxn id="11" idx="0"/>
            </p:cNvCxnSpPr>
            <p:nvPr/>
          </p:nvCxnSpPr>
          <p:spPr>
            <a:xfrm>
              <a:off x="7148722" y="2968152"/>
              <a:ext cx="880047" cy="466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4717643" y="1356881"/>
              <a:ext cx="1728192"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100" dirty="0" err="1" smtClean="0"/>
                <a:t>Buglary</a:t>
              </a:r>
              <a:endParaRPr lang="ko-KR" altLang="en-US" sz="1100" baseline="-25000" dirty="0"/>
            </a:p>
          </p:txBody>
        </p:sp>
        <p:sp>
          <p:nvSpPr>
            <p:cNvPr id="14" name="Oval 13"/>
            <p:cNvSpPr/>
            <p:nvPr/>
          </p:nvSpPr>
          <p:spPr>
            <a:xfrm>
              <a:off x="7276990" y="1299304"/>
              <a:ext cx="1633637" cy="5760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900" dirty="0" smtClean="0"/>
                <a:t>Earthquake</a:t>
              </a:r>
              <a:endParaRPr lang="ko-KR" altLang="en-US" sz="900" baseline="-25000" dirty="0"/>
            </a:p>
          </p:txBody>
        </p:sp>
        <p:cxnSp>
          <p:nvCxnSpPr>
            <p:cNvPr id="15" name="Straight Arrow Connector 14"/>
            <p:cNvCxnSpPr>
              <a:stCxn id="14" idx="3"/>
              <a:endCxn id="8" idx="7"/>
            </p:cNvCxnSpPr>
            <p:nvPr/>
          </p:nvCxnSpPr>
          <p:spPr>
            <a:xfrm flipH="1">
              <a:off x="7148722" y="1791005"/>
              <a:ext cx="367509" cy="7698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3" idx="4"/>
              <a:endCxn id="8" idx="1"/>
            </p:cNvCxnSpPr>
            <p:nvPr/>
          </p:nvCxnSpPr>
          <p:spPr>
            <a:xfrm>
              <a:off x="5581739" y="1932945"/>
              <a:ext cx="599553" cy="627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19" name="Picture 2" descr="http://upload.wikimedia.org/wikipedia/commons/thumb/e/eb/Diagram_of_a_Markov_blanket.svg/240px-Diagram_of_a_Markov_blanket.svg.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14492" y="2077125"/>
            <a:ext cx="1745940" cy="1993282"/>
          </a:xfrm>
          <a:prstGeom prst="rect">
            <a:avLst/>
          </a:prstGeom>
          <a:noFill/>
          <a:extLst>
            <a:ext uri="{909E8E84-426E-40DD-AFC4-6F175D3DCCD1}">
              <a14:hiddenFill xmlns:a14="http://schemas.microsoft.com/office/drawing/2010/main">
                <a:solidFill>
                  <a:srgbClr val="FFFFFF"/>
                </a:solidFill>
              </a14:hiddenFill>
            </a:ext>
          </a:extLst>
        </p:spPr>
      </p:pic>
      <p:sp>
        <p:nvSpPr>
          <p:cNvPr id="18" name="사각형 설명선 17"/>
          <p:cNvSpPr/>
          <p:nvPr/>
        </p:nvSpPr>
        <p:spPr>
          <a:xfrm>
            <a:off x="4399069" y="5549966"/>
            <a:ext cx="1806708" cy="964773"/>
          </a:xfrm>
          <a:prstGeom prst="wedgeRectCallout">
            <a:avLst>
              <a:gd name="adj1" fmla="val -25251"/>
              <a:gd name="adj2" fmla="val -6818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smtClean="0"/>
              <a:t>Can simplify using the Markov blanket</a:t>
            </a:r>
            <a:endParaRPr lang="ko-KR" altLang="en-US" dirty="0"/>
          </a:p>
        </p:txBody>
      </p:sp>
      <p:sp>
        <p:nvSpPr>
          <p:cNvPr id="20" name="TextBox 19"/>
          <p:cNvSpPr txBox="1"/>
          <p:nvPr/>
        </p:nvSpPr>
        <p:spPr>
          <a:xfrm>
            <a:off x="6173494" y="894314"/>
            <a:ext cx="1439818" cy="369332"/>
          </a:xfrm>
          <a:prstGeom prst="rect">
            <a:avLst/>
          </a:prstGeom>
          <a:noFill/>
        </p:spPr>
        <p:txBody>
          <a:bodyPr wrap="none" rtlCol="0">
            <a:spAutoFit/>
          </a:bodyPr>
          <a:lstStyle/>
          <a:p>
            <a:r>
              <a:rPr lang="en-US" altLang="ko-KR" dirty="0" smtClean="0"/>
              <a:t>© Wikipedia</a:t>
            </a:r>
            <a:endParaRPr lang="ko-KR" altLang="en-US" dirty="0"/>
          </a:p>
        </p:txBody>
      </p:sp>
      <p:sp>
        <p:nvSpPr>
          <p:cNvPr id="21" name="TextBox 20"/>
          <p:cNvSpPr txBox="1"/>
          <p:nvPr/>
        </p:nvSpPr>
        <p:spPr>
          <a:xfrm>
            <a:off x="7704182" y="3711226"/>
            <a:ext cx="1439818" cy="369332"/>
          </a:xfrm>
          <a:prstGeom prst="rect">
            <a:avLst/>
          </a:prstGeom>
          <a:noFill/>
        </p:spPr>
        <p:txBody>
          <a:bodyPr wrap="none" rtlCol="0">
            <a:spAutoFit/>
          </a:bodyPr>
          <a:lstStyle/>
          <a:p>
            <a:r>
              <a:rPr lang="en-US" altLang="ko-KR" dirty="0" smtClean="0"/>
              <a:t>© Wikipedia</a:t>
            </a:r>
            <a:endParaRPr lang="ko-KR" altLang="en-US" dirty="0"/>
          </a:p>
        </p:txBody>
      </p:sp>
    </p:spTree>
    <p:extLst>
      <p:ext uri="{BB962C8B-B14F-4D97-AF65-F5344CB8AC3E}">
        <p14:creationId xmlns:p14="http://schemas.microsoft.com/office/powerpoint/2010/main" val="13591066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Concept of Gibbs Sampling</a:t>
            </a:r>
            <a:endParaRPr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a:xfrm>
                <a:off x="457200" y="1600200"/>
                <a:ext cx="8435280" cy="4080778"/>
              </a:xfrm>
            </p:spPr>
            <p:txBody>
              <a:bodyPr>
                <a:normAutofit fontScale="92500" lnSpcReduction="10000"/>
              </a:bodyPr>
              <a:lstStyle/>
              <a:p>
                <a:r>
                  <a:rPr lang="en-US" altLang="ko-KR" dirty="0" smtClean="0"/>
                  <a:t>Each step involves </a:t>
                </a:r>
                <a:r>
                  <a:rPr lang="en-US" altLang="ko-KR" b="1" dirty="0" smtClean="0"/>
                  <a:t>replacing</a:t>
                </a:r>
                <a:r>
                  <a:rPr lang="en-US" altLang="ko-KR" dirty="0" smtClean="0"/>
                  <a:t> the value of one of the variables by a value drawn from the distribution of that variable conditioned on the values of the remaining variables</a:t>
                </a:r>
              </a:p>
              <a:p>
                <a:r>
                  <a:rPr lang="en-US" altLang="ko-KR" dirty="0" smtClean="0"/>
                  <a:t>Repeated either by cycling through the variables in some particular order or by choosing the variable to be updated at each step at random from some distribution</a:t>
                </a:r>
              </a:p>
              <a:p>
                <a:r>
                  <a:rPr lang="en-US" altLang="ko-KR" dirty="0" smtClean="0"/>
                  <a:t>Example</a:t>
                </a:r>
              </a:p>
              <a:p>
                <a:pPr marL="868680" lvl="1" indent="-457200">
                  <a:buFont typeface="+mj-lt"/>
                  <a:buAutoNum type="arabicPeriod"/>
                </a:pPr>
                <a:r>
                  <a:rPr lang="en-US" altLang="ko-KR" dirty="0" smtClean="0"/>
                  <a:t>Full joint probability : </a:t>
                </a:r>
                <a14:m>
                  <m:oMath xmlns:m="http://schemas.openxmlformats.org/officeDocument/2006/math">
                    <m:r>
                      <a:rPr lang="en-US" altLang="ko-KR" b="0" i="1" smtClean="0">
                        <a:latin typeface="Cambria Math" panose="02040503050406030204" pitchFamily="18" charset="0"/>
                      </a:rPr>
                      <m:t>𝑝</m:t>
                    </m:r>
                    <m:d>
                      <m:dPr>
                        <m:ctrlPr>
                          <a:rPr lang="en-US" altLang="ko-KR" b="0" i="1" smtClean="0">
                            <a:latin typeface="Cambria Math" panose="02040503050406030204" pitchFamily="18" charset="0"/>
                          </a:rPr>
                        </m:ctrlPr>
                      </m:dPr>
                      <m:e>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𝑧</m:t>
                            </m:r>
                          </m:e>
                          <m:sub>
                            <m:r>
                              <a:rPr lang="en-US" altLang="ko-KR" b="0" i="1" smtClean="0">
                                <a:latin typeface="Cambria Math" panose="02040503050406030204" pitchFamily="18" charset="0"/>
                              </a:rPr>
                              <m:t>1</m:t>
                            </m:r>
                          </m:sub>
                        </m:sSub>
                        <m:r>
                          <a:rPr lang="en-US" altLang="ko-KR" b="0" i="1" smtClean="0">
                            <a:latin typeface="Cambria Math" panose="02040503050406030204" pitchFamily="18" charset="0"/>
                          </a:rPr>
                          <m:t>,</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𝑧</m:t>
                            </m:r>
                          </m:e>
                          <m:sub>
                            <m:r>
                              <a:rPr lang="en-US" altLang="ko-KR" b="0" i="1" smtClean="0">
                                <a:latin typeface="Cambria Math" panose="02040503050406030204" pitchFamily="18" charset="0"/>
                              </a:rPr>
                              <m:t>2</m:t>
                            </m:r>
                          </m:sub>
                        </m:sSub>
                        <m:r>
                          <a:rPr lang="en-US" altLang="ko-KR" b="0" i="1" smtClean="0">
                            <a:latin typeface="Cambria Math" panose="02040503050406030204" pitchFamily="18" charset="0"/>
                          </a:rPr>
                          <m:t>,</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𝑧</m:t>
                            </m:r>
                          </m:e>
                          <m:sub>
                            <m:r>
                              <a:rPr lang="en-US" altLang="ko-KR" b="0" i="1" smtClean="0">
                                <a:latin typeface="Cambria Math" panose="02040503050406030204" pitchFamily="18" charset="0"/>
                              </a:rPr>
                              <m:t>3</m:t>
                            </m:r>
                          </m:sub>
                        </m:sSub>
                      </m:e>
                    </m:d>
                  </m:oMath>
                </a14:m>
                <a:endParaRPr lang="en-US" altLang="ko-KR" b="0" dirty="0" smtClean="0"/>
              </a:p>
              <a:p>
                <a:pPr marL="868680" lvl="1" indent="-457200">
                  <a:buFont typeface="+mj-lt"/>
                  <a:buAutoNum type="arabicPeriod"/>
                </a:pPr>
                <a:r>
                  <a:rPr lang="en-US" altLang="ko-KR" dirty="0"/>
                  <a:t>Sample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i="1">
                            <a:latin typeface="Cambria Math" panose="02040503050406030204" pitchFamily="18" charset="0"/>
                          </a:rPr>
                          <m:t>1</m:t>
                        </m:r>
                      </m:sub>
                    </m:sSub>
                    <m:r>
                      <a:rPr lang="en-US" altLang="ko-KR" i="1">
                        <a:latin typeface="Cambria Math" panose="02040503050406030204" pitchFamily="18" charset="0"/>
                      </a:rPr>
                      <m:t> ~ </m:t>
                    </m:r>
                    <m:r>
                      <a:rPr lang="en-US" altLang="ko-KR" i="1">
                        <a:latin typeface="Cambria Math" panose="02040503050406030204" pitchFamily="18" charset="0"/>
                      </a:rPr>
                      <m:t>𝑝</m:t>
                    </m:r>
                    <m:d>
                      <m:dPr>
                        <m:ctrlPr>
                          <a:rPr lang="en-US" altLang="ko-KR" i="1">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i="1">
                                <a:latin typeface="Cambria Math" panose="02040503050406030204" pitchFamily="18" charset="0"/>
                              </a:rPr>
                              <m:t>1</m:t>
                            </m:r>
                          </m:sub>
                        </m:sSub>
                        <m:r>
                          <a:rPr lang="en-US" altLang="ko-KR" i="1">
                            <a:latin typeface="Cambria Math" panose="02040503050406030204" pitchFamily="18" charset="0"/>
                          </a:rPr>
                          <m:t> | </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2</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e>
                            </m:d>
                          </m:sup>
                        </m:sSubSup>
                        <m:r>
                          <a:rPr lang="en-US" altLang="ko-KR" i="1">
                            <a:latin typeface="Cambria Math" panose="02040503050406030204" pitchFamily="18" charset="0"/>
                          </a:rPr>
                          <m: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3</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e>
                            </m:d>
                          </m:sup>
                        </m:sSubSup>
                      </m:e>
                    </m:d>
                  </m:oMath>
                </a14:m>
                <a:r>
                  <a:rPr lang="en-US" altLang="ko-KR" dirty="0" smtClean="0"/>
                  <a:t> </a:t>
                </a:r>
                <a:r>
                  <a:rPr lang="ko-KR" altLang="en-US" dirty="0" smtClean="0"/>
                  <a:t>→ </a:t>
                </a:r>
                <a:r>
                  <a:rPr lang="en-US" altLang="ko-KR" dirty="0" smtClean="0"/>
                  <a:t>Obtain a value </a:t>
                </a:r>
                <a14:m>
                  <m:oMath xmlns:m="http://schemas.openxmlformats.org/officeDocument/2006/math">
                    <m:sSubSup>
                      <m:sSubSupPr>
                        <m:ctrlPr>
                          <a:rPr lang="en-US" altLang="ko-KR" b="0" i="1" smtClean="0">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1</m:t>
                        </m:r>
                      </m:sub>
                      <m:sup>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𝜏</m:t>
                            </m:r>
                            <m:r>
                              <a:rPr lang="en-US" altLang="ko-KR" b="0" i="1" smtClean="0">
                                <a:latin typeface="Cambria Math" panose="02040503050406030204" pitchFamily="18" charset="0"/>
                              </a:rPr>
                              <m:t>+1</m:t>
                            </m:r>
                          </m:e>
                        </m:d>
                      </m:sup>
                    </m:sSubSup>
                  </m:oMath>
                </a14:m>
                <a:endParaRPr lang="en-US" altLang="ko-KR" dirty="0"/>
              </a:p>
              <a:p>
                <a:pPr marL="868680" lvl="1" indent="-457200">
                  <a:buFont typeface="+mj-lt"/>
                  <a:buAutoNum type="arabicPeriod"/>
                </a:pPr>
                <a:r>
                  <a:rPr lang="en-US" altLang="ko-KR" dirty="0"/>
                  <a:t>Sample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b="0" i="1" smtClean="0">
                            <a:latin typeface="Cambria Math" panose="02040503050406030204" pitchFamily="18" charset="0"/>
                          </a:rPr>
                          <m:t>2</m:t>
                        </m:r>
                      </m:sub>
                    </m:sSub>
                    <m:r>
                      <a:rPr lang="en-US" altLang="ko-KR" i="1">
                        <a:latin typeface="Cambria Math" panose="02040503050406030204" pitchFamily="18" charset="0"/>
                      </a:rPr>
                      <m:t> ~ </m:t>
                    </m:r>
                    <m:r>
                      <a:rPr lang="en-US" altLang="ko-KR" i="1">
                        <a:latin typeface="Cambria Math" panose="02040503050406030204" pitchFamily="18" charset="0"/>
                      </a:rPr>
                      <m:t>𝑝</m:t>
                    </m:r>
                    <m:d>
                      <m:dPr>
                        <m:ctrlPr>
                          <a:rPr lang="en-US" altLang="ko-KR" i="1">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b="0" i="1" smtClean="0">
                                <a:latin typeface="Cambria Math" panose="02040503050406030204" pitchFamily="18" charset="0"/>
                              </a:rPr>
                              <m:t>2</m:t>
                            </m:r>
                          </m:sub>
                        </m:sSub>
                        <m:r>
                          <a:rPr lang="en-US" altLang="ko-KR" i="1">
                            <a:latin typeface="Cambria Math" panose="02040503050406030204" pitchFamily="18" charset="0"/>
                          </a:rPr>
                          <m:t> |</m:t>
                        </m:r>
                        <m:r>
                          <a:rPr lang="en-US" altLang="ko-KR" b="0" i="1" smtClean="0">
                            <a:latin typeface="Cambria Math" panose="02040503050406030204" pitchFamily="18" charset="0"/>
                          </a:rPr>
                          <m:t> </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1</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r>
                                  <a:rPr lang="en-US" altLang="ko-KR" i="1">
                                    <a:latin typeface="Cambria Math" panose="02040503050406030204" pitchFamily="18" charset="0"/>
                                  </a:rPr>
                                  <m:t>+1</m:t>
                                </m:r>
                              </m:e>
                            </m:d>
                          </m:sup>
                        </m:sSubSup>
                        <m:r>
                          <a:rPr lang="en-US" altLang="ko-KR" i="1">
                            <a:latin typeface="Cambria Math" panose="02040503050406030204" pitchFamily="18" charset="0"/>
                          </a:rPr>
                          <m: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3</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e>
                            </m:d>
                          </m:sup>
                        </m:sSubSup>
                      </m:e>
                    </m:d>
                  </m:oMath>
                </a14:m>
                <a:r>
                  <a:rPr lang="en-US" altLang="ko-KR" dirty="0"/>
                  <a:t> </a:t>
                </a:r>
                <a:r>
                  <a:rPr lang="ko-KR" altLang="en-US" dirty="0"/>
                  <a:t>→ </a:t>
                </a:r>
                <a:r>
                  <a:rPr lang="en-US" altLang="ko-KR" dirty="0"/>
                  <a:t>Obtain a value </a:t>
                </a:r>
                <a14:m>
                  <m:oMath xmlns:m="http://schemas.openxmlformats.org/officeDocument/2006/math">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b="0" i="1" smtClean="0">
                            <a:latin typeface="Cambria Math" panose="02040503050406030204" pitchFamily="18" charset="0"/>
                          </a:rPr>
                          <m:t>2</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r>
                              <a:rPr lang="en-US" altLang="ko-KR" i="1">
                                <a:latin typeface="Cambria Math" panose="02040503050406030204" pitchFamily="18" charset="0"/>
                              </a:rPr>
                              <m:t>+1</m:t>
                            </m:r>
                          </m:e>
                        </m:d>
                      </m:sup>
                    </m:sSubSup>
                  </m:oMath>
                </a14:m>
                <a:endParaRPr lang="en-US" altLang="ko-KR" dirty="0"/>
              </a:p>
              <a:p>
                <a:pPr marL="868680" lvl="1" indent="-457200">
                  <a:buFont typeface="+mj-lt"/>
                  <a:buAutoNum type="arabicPeriod"/>
                </a:pPr>
                <a:r>
                  <a:rPr lang="en-US" altLang="ko-KR" dirty="0"/>
                  <a:t>Sample </a:t>
                </a:r>
                <a14:m>
                  <m:oMath xmlns:m="http://schemas.openxmlformats.org/officeDocument/2006/math">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b="0" i="1" smtClean="0">
                            <a:latin typeface="Cambria Math" panose="02040503050406030204" pitchFamily="18" charset="0"/>
                          </a:rPr>
                          <m:t>3</m:t>
                        </m:r>
                      </m:sub>
                    </m:sSub>
                    <m:r>
                      <a:rPr lang="en-US" altLang="ko-KR" i="1">
                        <a:latin typeface="Cambria Math" panose="02040503050406030204" pitchFamily="18" charset="0"/>
                      </a:rPr>
                      <m:t> ~ </m:t>
                    </m:r>
                    <m:r>
                      <a:rPr lang="en-US" altLang="ko-KR" i="1">
                        <a:latin typeface="Cambria Math" panose="02040503050406030204" pitchFamily="18" charset="0"/>
                      </a:rPr>
                      <m:t>𝑝</m:t>
                    </m:r>
                    <m:d>
                      <m:dPr>
                        <m:ctrlPr>
                          <a:rPr lang="en-US" altLang="ko-KR" i="1">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b="0" i="1" smtClean="0">
                                <a:latin typeface="Cambria Math" panose="02040503050406030204" pitchFamily="18" charset="0"/>
                              </a:rPr>
                              <m:t>3</m:t>
                            </m:r>
                          </m:sub>
                        </m:sSub>
                        <m:r>
                          <a:rPr lang="en-US" altLang="ko-KR" i="1">
                            <a:latin typeface="Cambria Math" panose="02040503050406030204" pitchFamily="18" charset="0"/>
                          </a:rPr>
                          <m:t> |</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1</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r>
                                  <a:rPr lang="en-US" altLang="ko-KR" i="1">
                                    <a:latin typeface="Cambria Math" panose="02040503050406030204" pitchFamily="18" charset="0"/>
                                  </a:rPr>
                                  <m:t>+1</m:t>
                                </m:r>
                              </m:e>
                            </m:d>
                          </m:sup>
                        </m:sSubSup>
                        <m:r>
                          <a:rPr lang="en-US" altLang="ko-KR" i="1">
                            <a:latin typeface="Cambria Math" panose="02040503050406030204" pitchFamily="18" charset="0"/>
                          </a:rPr>
                          <m: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b="0" i="1" smtClean="0">
                                <a:latin typeface="Cambria Math" panose="02040503050406030204" pitchFamily="18" charset="0"/>
                              </a:rPr>
                              <m:t>2</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r>
                                  <a:rPr lang="en-US" altLang="ko-KR" i="1">
                                    <a:latin typeface="Cambria Math" panose="02040503050406030204" pitchFamily="18" charset="0"/>
                                  </a:rPr>
                                  <m:t>+1</m:t>
                                </m:r>
                              </m:e>
                            </m:d>
                          </m:sup>
                        </m:sSubSup>
                      </m:e>
                    </m:d>
                  </m:oMath>
                </a14:m>
                <a:r>
                  <a:rPr lang="en-US" altLang="ko-KR" dirty="0"/>
                  <a:t> </a:t>
                </a:r>
                <a:r>
                  <a:rPr lang="ko-KR" altLang="en-US" dirty="0"/>
                  <a:t>→ </a:t>
                </a:r>
                <a:r>
                  <a:rPr lang="en-US" altLang="ko-KR" dirty="0"/>
                  <a:t>Obtain a value </a:t>
                </a:r>
                <a14:m>
                  <m:oMath xmlns:m="http://schemas.openxmlformats.org/officeDocument/2006/math">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b="0" i="1" smtClean="0">
                            <a:latin typeface="Cambria Math" panose="02040503050406030204" pitchFamily="18" charset="0"/>
                          </a:rPr>
                          <m:t>3</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r>
                              <a:rPr lang="en-US" altLang="ko-KR" i="1">
                                <a:latin typeface="Cambria Math" panose="02040503050406030204" pitchFamily="18" charset="0"/>
                              </a:rPr>
                              <m:t>+1</m:t>
                            </m:r>
                          </m:e>
                        </m:d>
                      </m:sup>
                    </m:sSubSup>
                  </m:oMath>
                </a14:m>
                <a:endParaRPr lang="en-US" altLang="ko-KR" b="0" dirty="0" smtClean="0"/>
              </a:p>
              <a:p>
                <a:pPr marL="868680" lvl="1" indent="-457200">
                  <a:buFont typeface="+mj-lt"/>
                  <a:buAutoNum type="arabicPeriod"/>
                </a:pPr>
                <a:endParaRPr lang="en-US" altLang="ko-KR" b="0" dirty="0" smtClean="0"/>
              </a:p>
              <a:p>
                <a:pPr marL="868680" lvl="1" indent="-457200">
                  <a:buFont typeface="+mj-lt"/>
                  <a:buAutoNum type="arabicPeriod"/>
                </a:pPr>
                <a:endParaRPr lang="en-US" altLang="ko-KR" dirty="0" smtClean="0"/>
              </a:p>
              <a:p>
                <a:pPr marL="777240" lvl="2" indent="0">
                  <a:buNone/>
                </a:pPr>
                <a:endParaRPr lang="en-US" altLang="ko-KR" dirty="0" smtClean="0">
                  <a:ea typeface="Cambria Math" panose="02040503050406030204" pitchFamily="18" charset="0"/>
                </a:endParaRPr>
              </a:p>
              <a:p>
                <a:pPr marL="868680" lvl="1" indent="-457200">
                  <a:buFont typeface="+mj-lt"/>
                  <a:buAutoNum type="arabicPeriod"/>
                </a:pPr>
                <a:endParaRPr lang="en-US" altLang="ko-KR" dirty="0" smtClean="0"/>
              </a:p>
              <a:p>
                <a:pPr marL="571500" indent="-457200">
                  <a:buFont typeface="+mj-lt"/>
                  <a:buAutoNum type="arabicPeriod"/>
                </a:pPr>
                <a:endParaRPr lang="en-US" altLang="ko-KR" dirty="0"/>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xfrm>
                <a:off x="457200" y="1600200"/>
                <a:ext cx="8435280" cy="4080778"/>
              </a:xfrm>
              <a:blipFill rotWithShape="0">
                <a:blip r:embed="rId2"/>
                <a:stretch>
                  <a:fillRect t="-1644" r="-1301"/>
                </a:stretch>
              </a:blipFill>
            </p:spPr>
            <p:txBody>
              <a:bodyPr/>
              <a:lstStyle/>
              <a:p>
                <a:r>
                  <a:rPr lang="ko-KR" altLang="en-US">
                    <a:noFill/>
                  </a:rPr>
                  <a:t> </a:t>
                </a:r>
              </a:p>
            </p:txBody>
          </p:sp>
        </mc:Fallback>
      </mc:AlternateContent>
      <p:sp>
        <p:nvSpPr>
          <p:cNvPr id="4" name="슬라이드 번호 개체 틀 3"/>
          <p:cNvSpPr>
            <a:spLocks noGrp="1"/>
          </p:cNvSpPr>
          <p:nvPr>
            <p:ph type="sldNum" sz="quarter" idx="12"/>
          </p:nvPr>
        </p:nvSpPr>
        <p:spPr/>
        <p:txBody>
          <a:bodyPr/>
          <a:lstStyle/>
          <a:p>
            <a:fld id="{E4E48515-694B-44C7-A9EB-D2CB2C6423BC}" type="slidenum">
              <a:rPr lang="ko-KR" altLang="en-US" smtClean="0"/>
              <a:t>15</a:t>
            </a:fld>
            <a:endParaRPr lang="ko-KR" altLang="en-US" dirty="0"/>
          </a:p>
        </p:txBody>
      </p:sp>
      <p:grpSp>
        <p:nvGrpSpPr>
          <p:cNvPr id="26" name="그룹 25"/>
          <p:cNvGrpSpPr/>
          <p:nvPr/>
        </p:nvGrpSpPr>
        <p:grpSpPr>
          <a:xfrm>
            <a:off x="406149" y="5608970"/>
            <a:ext cx="8342315" cy="772358"/>
            <a:chOff x="464096" y="5301208"/>
            <a:chExt cx="8342315" cy="772358"/>
          </a:xfrm>
        </p:grpSpPr>
        <p:sp>
          <p:nvSpPr>
            <p:cNvPr id="7" name="타원 6"/>
            <p:cNvSpPr/>
            <p:nvPr/>
          </p:nvSpPr>
          <p:spPr>
            <a:xfrm>
              <a:off x="1187624" y="5301208"/>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타원 7"/>
            <p:cNvSpPr/>
            <p:nvPr/>
          </p:nvSpPr>
          <p:spPr>
            <a:xfrm>
              <a:off x="3299859" y="5301208"/>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타원 8"/>
            <p:cNvSpPr/>
            <p:nvPr/>
          </p:nvSpPr>
          <p:spPr>
            <a:xfrm>
              <a:off x="5412094" y="5301208"/>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타원 9"/>
            <p:cNvSpPr/>
            <p:nvPr/>
          </p:nvSpPr>
          <p:spPr>
            <a:xfrm>
              <a:off x="7524328" y="5301208"/>
              <a:ext cx="216024" cy="216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2" name="직선 화살표 연결선 11"/>
            <p:cNvCxnSpPr>
              <a:stCxn id="7" idx="6"/>
              <a:endCxn id="8" idx="2"/>
            </p:cNvCxnSpPr>
            <p:nvPr/>
          </p:nvCxnSpPr>
          <p:spPr>
            <a:xfrm>
              <a:off x="1403648" y="5409220"/>
              <a:ext cx="1896211" cy="0"/>
            </a:xfrm>
            <a:prstGeom prst="straightConnector1">
              <a:avLst/>
            </a:prstGeom>
            <a:ln w="28575">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 name="직선 화살표 연결선 12"/>
            <p:cNvCxnSpPr>
              <a:stCxn id="8" idx="6"/>
              <a:endCxn id="9" idx="2"/>
            </p:cNvCxnSpPr>
            <p:nvPr/>
          </p:nvCxnSpPr>
          <p:spPr>
            <a:xfrm>
              <a:off x="3515883" y="5409220"/>
              <a:ext cx="1896211" cy="0"/>
            </a:xfrm>
            <a:prstGeom prst="straightConnector1">
              <a:avLst/>
            </a:prstGeom>
            <a:ln w="28575">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6" name="직선 화살표 연결선 15"/>
            <p:cNvCxnSpPr>
              <a:stCxn id="9" idx="6"/>
              <a:endCxn id="10" idx="2"/>
            </p:cNvCxnSpPr>
            <p:nvPr/>
          </p:nvCxnSpPr>
          <p:spPr>
            <a:xfrm>
              <a:off x="5628118" y="5409220"/>
              <a:ext cx="1896210" cy="0"/>
            </a:xfrm>
            <a:prstGeom prst="straightConnector1">
              <a:avLst/>
            </a:prstGeom>
            <a:ln w="28575">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직선 화살표 연결선 19"/>
            <p:cNvCxnSpPr>
              <a:stCxn id="10" idx="6"/>
            </p:cNvCxnSpPr>
            <p:nvPr/>
          </p:nvCxnSpPr>
          <p:spPr>
            <a:xfrm>
              <a:off x="7740352" y="5409220"/>
              <a:ext cx="840539" cy="0"/>
            </a:xfrm>
            <a:prstGeom prst="straightConnector1">
              <a:avLst/>
            </a:prstGeom>
            <a:ln w="28575">
              <a:prstDash val="sys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직사각형 21"/>
                <p:cNvSpPr/>
                <p:nvPr/>
              </p:nvSpPr>
              <p:spPr>
                <a:xfrm>
                  <a:off x="464096" y="5569197"/>
                  <a:ext cx="1689309" cy="5043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ko-KR" b="0" i="1" smtClean="0">
                                <a:latin typeface="Cambria Math" panose="02040503050406030204" pitchFamily="18" charset="0"/>
                              </a:rPr>
                            </m:ctrlPr>
                          </m:dPr>
                          <m:e>
                            <m:sSubSup>
                              <m:sSubSupPr>
                                <m:ctrlPr>
                                  <a:rPr lang="en-US" altLang="ko-KR" b="0" i="1" smtClean="0">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1</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e>
                                </m:d>
                              </m:sup>
                            </m:sSubSup>
                            <m:r>
                              <a:rPr lang="en-US" altLang="ko-KR" i="1">
                                <a:latin typeface="Cambria Math" panose="02040503050406030204" pitchFamily="18" charset="0"/>
                              </a:rPr>
                              <m:t>,</m:t>
                            </m:r>
                            <m:sSubSup>
                              <m:sSubSupPr>
                                <m:ctrlPr>
                                  <a:rPr lang="en-US" altLang="ko-KR" b="0" i="1" smtClean="0">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2</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e>
                                </m:d>
                              </m:sup>
                            </m:sSubSup>
                            <m:r>
                              <a:rPr lang="en-US" altLang="ko-KR" i="1">
                                <a:latin typeface="Cambria Math" panose="02040503050406030204" pitchFamily="18" charset="0"/>
                              </a:rPr>
                              <m:t>,</m:t>
                            </m:r>
                            <m:sSubSup>
                              <m:sSubSupPr>
                                <m:ctrlPr>
                                  <a:rPr lang="en-US" altLang="ko-KR" b="0" i="1" smtClean="0">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3</m:t>
                                </m:r>
                              </m:sub>
                              <m:sup>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𝜏</m:t>
                                    </m:r>
                                  </m:e>
                                </m:d>
                              </m:sup>
                            </m:sSubSup>
                          </m:e>
                        </m:d>
                      </m:oMath>
                    </m:oMathPara>
                  </a14:m>
                  <a:endParaRPr lang="ko-KR" altLang="en-US" dirty="0"/>
                </a:p>
              </p:txBody>
            </p:sp>
          </mc:Choice>
          <mc:Fallback xmlns="">
            <p:sp>
              <p:nvSpPr>
                <p:cNvPr id="22" name="직사각형 21"/>
                <p:cNvSpPr>
                  <a:spLocks noRot="1" noChangeAspect="1" noMove="1" noResize="1" noEditPoints="1" noAdjustHandles="1" noChangeArrowheads="1" noChangeShapeType="1" noTextEdit="1"/>
                </p:cNvSpPr>
                <p:nvPr/>
              </p:nvSpPr>
              <p:spPr>
                <a:xfrm>
                  <a:off x="464096" y="5569197"/>
                  <a:ext cx="1689309" cy="504369"/>
                </a:xfrm>
                <a:prstGeom prst="rect">
                  <a:avLst/>
                </a:prstGeom>
                <a:blipFill rotWithShape="0">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3" name="직사각형 22"/>
                <p:cNvSpPr/>
                <p:nvPr/>
              </p:nvSpPr>
              <p:spPr>
                <a:xfrm>
                  <a:off x="2453410" y="5569197"/>
                  <a:ext cx="1908921" cy="5043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ko-KR" b="0" i="1" smtClean="0">
                                <a:latin typeface="Cambria Math" panose="02040503050406030204" pitchFamily="18" charset="0"/>
                              </a:rPr>
                            </m:ctrlPr>
                          </m:dPr>
                          <m:e>
                            <m:sSubSup>
                              <m:sSubSupPr>
                                <m:ctrlPr>
                                  <a:rPr lang="en-US" altLang="ko-KR" b="0" i="1" smtClean="0">
                                    <a:solidFill>
                                      <a:srgbClr val="FF0000"/>
                                    </a:solidFill>
                                    <a:latin typeface="Cambria Math" panose="02040503050406030204" pitchFamily="18" charset="0"/>
                                  </a:rPr>
                                </m:ctrlPr>
                              </m:sSubSupPr>
                              <m:e>
                                <m:r>
                                  <a:rPr lang="en-US" altLang="ko-KR" i="1">
                                    <a:solidFill>
                                      <a:srgbClr val="FF0000"/>
                                    </a:solidFill>
                                    <a:latin typeface="Cambria Math" panose="02040503050406030204" pitchFamily="18" charset="0"/>
                                  </a:rPr>
                                  <m:t>𝑧</m:t>
                                </m:r>
                              </m:e>
                              <m:sub>
                                <m:r>
                                  <a:rPr lang="en-US" altLang="ko-KR" i="1">
                                    <a:solidFill>
                                      <a:srgbClr val="FF0000"/>
                                    </a:solidFill>
                                    <a:latin typeface="Cambria Math" panose="02040503050406030204" pitchFamily="18" charset="0"/>
                                  </a:rPr>
                                  <m:t>1</m:t>
                                </m:r>
                              </m:sub>
                              <m:sup>
                                <m:d>
                                  <m:dPr>
                                    <m:ctrlPr>
                                      <a:rPr lang="en-US" altLang="ko-KR" i="1">
                                        <a:solidFill>
                                          <a:srgbClr val="FF0000"/>
                                        </a:solidFill>
                                        <a:latin typeface="Cambria Math" panose="02040503050406030204" pitchFamily="18" charset="0"/>
                                      </a:rPr>
                                    </m:ctrlPr>
                                  </m:dPr>
                                  <m:e>
                                    <m:r>
                                      <a:rPr lang="en-US" altLang="ko-KR" i="1">
                                        <a:solidFill>
                                          <a:srgbClr val="FF0000"/>
                                        </a:solidFill>
                                        <a:latin typeface="Cambria Math" panose="02040503050406030204" pitchFamily="18" charset="0"/>
                                      </a:rPr>
                                      <m:t>𝜏</m:t>
                                    </m:r>
                                    <m:r>
                                      <a:rPr lang="en-US" altLang="ko-KR" b="0" i="1" smtClean="0">
                                        <a:solidFill>
                                          <a:srgbClr val="FF0000"/>
                                        </a:solidFill>
                                        <a:latin typeface="Cambria Math" panose="02040503050406030204" pitchFamily="18" charset="0"/>
                                      </a:rPr>
                                      <m:t>+1</m:t>
                                    </m:r>
                                  </m:e>
                                </m:d>
                              </m:sup>
                            </m:sSubSup>
                            <m:r>
                              <a:rPr lang="en-US" altLang="ko-KR" i="1">
                                <a:latin typeface="Cambria Math" panose="02040503050406030204" pitchFamily="18" charset="0"/>
                              </a:rPr>
                              <m:t>,</m:t>
                            </m:r>
                            <m:sSubSup>
                              <m:sSubSupPr>
                                <m:ctrlPr>
                                  <a:rPr lang="en-US" altLang="ko-KR" b="0" i="1" smtClean="0">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2</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e>
                                </m:d>
                              </m:sup>
                            </m:sSubSup>
                            <m:r>
                              <a:rPr lang="en-US" altLang="ko-KR" i="1">
                                <a:latin typeface="Cambria Math" panose="02040503050406030204" pitchFamily="18" charset="0"/>
                              </a:rPr>
                              <m:t>,</m:t>
                            </m:r>
                            <m:sSubSup>
                              <m:sSubSupPr>
                                <m:ctrlPr>
                                  <a:rPr lang="en-US" altLang="ko-KR" b="0" i="1" smtClean="0">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3</m:t>
                                </m:r>
                              </m:sub>
                              <m:sup>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𝜏</m:t>
                                    </m:r>
                                  </m:e>
                                </m:d>
                              </m:sup>
                            </m:sSubSup>
                          </m:e>
                        </m:d>
                      </m:oMath>
                    </m:oMathPara>
                  </a14:m>
                  <a:endParaRPr lang="ko-KR" altLang="en-US" dirty="0"/>
                </a:p>
              </p:txBody>
            </p:sp>
          </mc:Choice>
          <mc:Fallback xmlns="">
            <p:sp>
              <p:nvSpPr>
                <p:cNvPr id="23" name="직사각형 22"/>
                <p:cNvSpPr>
                  <a:spLocks noRot="1" noChangeAspect="1" noMove="1" noResize="1" noEditPoints="1" noAdjustHandles="1" noChangeArrowheads="1" noChangeShapeType="1" noTextEdit="1"/>
                </p:cNvSpPr>
                <p:nvPr/>
              </p:nvSpPr>
              <p:spPr>
                <a:xfrm>
                  <a:off x="2453410" y="5569197"/>
                  <a:ext cx="1908921" cy="504369"/>
                </a:xfrm>
                <a:prstGeom prst="rect">
                  <a:avLst/>
                </a:prstGeom>
                <a:blipFill rotWithShape="0">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4" name="직사각형 23"/>
                <p:cNvSpPr/>
                <p:nvPr/>
              </p:nvSpPr>
              <p:spPr>
                <a:xfrm>
                  <a:off x="4455840" y="5569197"/>
                  <a:ext cx="2128531" cy="5043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ko-KR" b="0" i="1" smtClean="0">
                                <a:latin typeface="Cambria Math" panose="02040503050406030204" pitchFamily="18" charset="0"/>
                              </a:rPr>
                            </m:ctrlPr>
                          </m:dPr>
                          <m:e>
                            <m:sSubSup>
                              <m:sSubSupPr>
                                <m:ctrlPr>
                                  <a:rPr lang="en-US" altLang="ko-KR" b="0" i="1" smtClean="0">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1</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r>
                                      <a:rPr lang="en-US" altLang="ko-KR" b="0" i="1" smtClean="0">
                                        <a:latin typeface="Cambria Math" panose="02040503050406030204" pitchFamily="18" charset="0"/>
                                      </a:rPr>
                                      <m:t>+1</m:t>
                                    </m:r>
                                  </m:e>
                                </m:d>
                              </m:sup>
                            </m:sSubSup>
                            <m:r>
                              <a:rPr lang="en-US" altLang="ko-KR" i="1">
                                <a:latin typeface="Cambria Math" panose="02040503050406030204" pitchFamily="18" charset="0"/>
                              </a:rPr>
                              <m:t>,</m:t>
                            </m:r>
                            <m:sSubSup>
                              <m:sSubSupPr>
                                <m:ctrlPr>
                                  <a:rPr lang="en-US" altLang="ko-KR" b="0" i="1" smtClean="0">
                                    <a:solidFill>
                                      <a:srgbClr val="FF0000"/>
                                    </a:solidFill>
                                    <a:latin typeface="Cambria Math" panose="02040503050406030204" pitchFamily="18" charset="0"/>
                                  </a:rPr>
                                </m:ctrlPr>
                              </m:sSubSupPr>
                              <m:e>
                                <m:r>
                                  <a:rPr lang="en-US" altLang="ko-KR" i="1">
                                    <a:solidFill>
                                      <a:srgbClr val="FF0000"/>
                                    </a:solidFill>
                                    <a:latin typeface="Cambria Math" panose="02040503050406030204" pitchFamily="18" charset="0"/>
                                  </a:rPr>
                                  <m:t>𝑧</m:t>
                                </m:r>
                              </m:e>
                              <m:sub>
                                <m:r>
                                  <a:rPr lang="en-US" altLang="ko-KR" i="1">
                                    <a:solidFill>
                                      <a:srgbClr val="FF0000"/>
                                    </a:solidFill>
                                    <a:latin typeface="Cambria Math" panose="02040503050406030204" pitchFamily="18" charset="0"/>
                                  </a:rPr>
                                  <m:t>2</m:t>
                                </m:r>
                              </m:sub>
                              <m:sup>
                                <m:d>
                                  <m:dPr>
                                    <m:ctrlPr>
                                      <a:rPr lang="en-US" altLang="ko-KR" i="1">
                                        <a:solidFill>
                                          <a:srgbClr val="FF0000"/>
                                        </a:solidFill>
                                        <a:latin typeface="Cambria Math" panose="02040503050406030204" pitchFamily="18" charset="0"/>
                                      </a:rPr>
                                    </m:ctrlPr>
                                  </m:dPr>
                                  <m:e>
                                    <m:r>
                                      <a:rPr lang="en-US" altLang="ko-KR" i="1">
                                        <a:solidFill>
                                          <a:srgbClr val="FF0000"/>
                                        </a:solidFill>
                                        <a:latin typeface="Cambria Math" panose="02040503050406030204" pitchFamily="18" charset="0"/>
                                      </a:rPr>
                                      <m:t>𝜏</m:t>
                                    </m:r>
                                    <m:r>
                                      <a:rPr lang="en-US" altLang="ko-KR" b="0" i="1" smtClean="0">
                                        <a:solidFill>
                                          <a:srgbClr val="FF0000"/>
                                        </a:solidFill>
                                        <a:latin typeface="Cambria Math" panose="02040503050406030204" pitchFamily="18" charset="0"/>
                                      </a:rPr>
                                      <m:t>+1</m:t>
                                    </m:r>
                                  </m:e>
                                </m:d>
                              </m:sup>
                            </m:sSubSup>
                            <m:r>
                              <a:rPr lang="en-US" altLang="ko-KR" i="1">
                                <a:latin typeface="Cambria Math" panose="02040503050406030204" pitchFamily="18" charset="0"/>
                              </a:rPr>
                              <m:t>,</m:t>
                            </m:r>
                            <m:sSubSup>
                              <m:sSubSupPr>
                                <m:ctrlPr>
                                  <a:rPr lang="en-US" altLang="ko-KR" b="0" i="1" smtClean="0">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3</m:t>
                                </m:r>
                              </m:sub>
                              <m:sup>
                                <m:d>
                                  <m:dPr>
                                    <m:ctrlPr>
                                      <a:rPr lang="en-US" altLang="ko-KR" b="0" i="1" smtClean="0">
                                        <a:latin typeface="Cambria Math" panose="02040503050406030204" pitchFamily="18" charset="0"/>
                                      </a:rPr>
                                    </m:ctrlPr>
                                  </m:dPr>
                                  <m:e>
                                    <m:r>
                                      <a:rPr lang="en-US" altLang="ko-KR" b="0" i="1" smtClean="0">
                                        <a:latin typeface="Cambria Math" panose="02040503050406030204" pitchFamily="18" charset="0"/>
                                      </a:rPr>
                                      <m:t>𝜏</m:t>
                                    </m:r>
                                  </m:e>
                                </m:d>
                              </m:sup>
                            </m:sSubSup>
                          </m:e>
                        </m:d>
                      </m:oMath>
                    </m:oMathPara>
                  </a14:m>
                  <a:endParaRPr lang="ko-KR" altLang="en-US" dirty="0"/>
                </a:p>
              </p:txBody>
            </p:sp>
          </mc:Choice>
          <mc:Fallback xmlns="">
            <p:sp>
              <p:nvSpPr>
                <p:cNvPr id="24" name="직사각형 23"/>
                <p:cNvSpPr>
                  <a:spLocks noRot="1" noChangeAspect="1" noMove="1" noResize="1" noEditPoints="1" noAdjustHandles="1" noChangeArrowheads="1" noChangeShapeType="1" noTextEdit="1"/>
                </p:cNvSpPr>
                <p:nvPr/>
              </p:nvSpPr>
              <p:spPr>
                <a:xfrm>
                  <a:off x="4455840" y="5569197"/>
                  <a:ext cx="2128531" cy="504369"/>
                </a:xfrm>
                <a:prstGeom prst="rect">
                  <a:avLst/>
                </a:prstGeom>
                <a:blipFill rotWithShape="0">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25" name="직사각형 24"/>
                <p:cNvSpPr/>
                <p:nvPr/>
              </p:nvSpPr>
              <p:spPr>
                <a:xfrm>
                  <a:off x="6458268" y="5569197"/>
                  <a:ext cx="2348143" cy="5043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ko-KR" b="0" i="1" smtClean="0">
                                <a:latin typeface="Cambria Math" panose="02040503050406030204" pitchFamily="18" charset="0"/>
                              </a:rPr>
                            </m:ctrlPr>
                          </m:dPr>
                          <m:e>
                            <m:sSubSup>
                              <m:sSubSupPr>
                                <m:ctrlPr>
                                  <a:rPr lang="en-US" altLang="ko-KR" b="0" i="1" smtClean="0">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1</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r>
                                      <a:rPr lang="en-US" altLang="ko-KR" b="0" i="1" smtClean="0">
                                        <a:latin typeface="Cambria Math" panose="02040503050406030204" pitchFamily="18" charset="0"/>
                                      </a:rPr>
                                      <m:t>+1</m:t>
                                    </m:r>
                                  </m:e>
                                </m:d>
                              </m:sup>
                            </m:sSubSup>
                            <m:r>
                              <a:rPr lang="en-US" altLang="ko-KR" i="1">
                                <a:latin typeface="Cambria Math" panose="02040503050406030204" pitchFamily="18" charset="0"/>
                              </a:rPr>
                              <m:t>,</m:t>
                            </m:r>
                            <m:sSubSup>
                              <m:sSubSupPr>
                                <m:ctrlPr>
                                  <a:rPr lang="en-US" altLang="ko-KR" b="0" i="1" smtClean="0">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2</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r>
                                      <a:rPr lang="en-US" altLang="ko-KR" b="0" i="1" smtClean="0">
                                        <a:latin typeface="Cambria Math" panose="02040503050406030204" pitchFamily="18" charset="0"/>
                                      </a:rPr>
                                      <m:t>+1</m:t>
                                    </m:r>
                                  </m:e>
                                </m:d>
                              </m:sup>
                            </m:sSubSup>
                            <m:r>
                              <a:rPr lang="en-US" altLang="ko-KR" i="1">
                                <a:latin typeface="Cambria Math" panose="02040503050406030204" pitchFamily="18" charset="0"/>
                              </a:rPr>
                              <m:t>,</m:t>
                            </m:r>
                            <m:sSubSup>
                              <m:sSubSupPr>
                                <m:ctrlPr>
                                  <a:rPr lang="en-US" altLang="ko-KR" b="0" i="1" smtClean="0">
                                    <a:solidFill>
                                      <a:srgbClr val="FF0000"/>
                                    </a:solidFill>
                                    <a:latin typeface="Cambria Math" panose="02040503050406030204" pitchFamily="18" charset="0"/>
                                  </a:rPr>
                                </m:ctrlPr>
                              </m:sSubSupPr>
                              <m:e>
                                <m:r>
                                  <a:rPr lang="en-US" altLang="ko-KR" i="1">
                                    <a:solidFill>
                                      <a:srgbClr val="FF0000"/>
                                    </a:solidFill>
                                    <a:latin typeface="Cambria Math" panose="02040503050406030204" pitchFamily="18" charset="0"/>
                                  </a:rPr>
                                  <m:t>𝑧</m:t>
                                </m:r>
                              </m:e>
                              <m:sub>
                                <m:r>
                                  <a:rPr lang="en-US" altLang="ko-KR" i="1">
                                    <a:solidFill>
                                      <a:srgbClr val="FF0000"/>
                                    </a:solidFill>
                                    <a:latin typeface="Cambria Math" panose="02040503050406030204" pitchFamily="18" charset="0"/>
                                  </a:rPr>
                                  <m:t>3</m:t>
                                </m:r>
                              </m:sub>
                              <m:sup>
                                <m:d>
                                  <m:dPr>
                                    <m:ctrlPr>
                                      <a:rPr lang="en-US" altLang="ko-KR" b="0" i="1" smtClean="0">
                                        <a:solidFill>
                                          <a:srgbClr val="FF0000"/>
                                        </a:solidFill>
                                        <a:latin typeface="Cambria Math" panose="02040503050406030204" pitchFamily="18" charset="0"/>
                                      </a:rPr>
                                    </m:ctrlPr>
                                  </m:dPr>
                                  <m:e>
                                    <m:r>
                                      <a:rPr lang="en-US" altLang="ko-KR" b="0" i="1" smtClean="0">
                                        <a:solidFill>
                                          <a:srgbClr val="FF0000"/>
                                        </a:solidFill>
                                        <a:latin typeface="Cambria Math" panose="02040503050406030204" pitchFamily="18" charset="0"/>
                                      </a:rPr>
                                      <m:t>𝜏</m:t>
                                    </m:r>
                                    <m:r>
                                      <a:rPr lang="en-US" altLang="ko-KR" b="0" i="1" smtClean="0">
                                        <a:solidFill>
                                          <a:srgbClr val="FF0000"/>
                                        </a:solidFill>
                                        <a:latin typeface="Cambria Math" panose="02040503050406030204" pitchFamily="18" charset="0"/>
                                      </a:rPr>
                                      <m:t>+1</m:t>
                                    </m:r>
                                  </m:e>
                                </m:d>
                              </m:sup>
                            </m:sSubSup>
                          </m:e>
                        </m:d>
                      </m:oMath>
                    </m:oMathPara>
                  </a14:m>
                  <a:endParaRPr lang="ko-KR" altLang="en-US" dirty="0"/>
                </a:p>
              </p:txBody>
            </p:sp>
          </mc:Choice>
          <mc:Fallback xmlns="">
            <p:sp>
              <p:nvSpPr>
                <p:cNvPr id="25" name="직사각형 24"/>
                <p:cNvSpPr>
                  <a:spLocks noRot="1" noChangeAspect="1" noMove="1" noResize="1" noEditPoints="1" noAdjustHandles="1" noChangeArrowheads="1" noChangeShapeType="1" noTextEdit="1"/>
                </p:cNvSpPr>
                <p:nvPr/>
              </p:nvSpPr>
              <p:spPr>
                <a:xfrm>
                  <a:off x="6458268" y="5569197"/>
                  <a:ext cx="2348143" cy="504369"/>
                </a:xfrm>
                <a:prstGeom prst="rect">
                  <a:avLst/>
                </a:prstGeom>
                <a:blipFill rotWithShape="0">
                  <a:blip r:embed="rId6"/>
                  <a:stretch>
                    <a:fillRect/>
                  </a:stretch>
                </a:blipFill>
              </p:spPr>
              <p:txBody>
                <a:bodyPr/>
                <a:lstStyle/>
                <a:p>
                  <a:r>
                    <a:rPr lang="ko-KR" altLang="en-US">
                      <a:noFill/>
                    </a:rPr>
                    <a:t> </a:t>
                  </a:r>
                </a:p>
              </p:txBody>
            </p:sp>
          </mc:Fallback>
        </mc:AlternateContent>
      </p:grpSp>
    </p:spTree>
    <p:extLst>
      <p:ext uri="{BB962C8B-B14F-4D97-AF65-F5344CB8AC3E}">
        <p14:creationId xmlns:p14="http://schemas.microsoft.com/office/powerpoint/2010/main" val="27677096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Gibbs Sampling Algorithm</a:t>
            </a:r>
            <a:endParaRPr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p:txBody>
              <a:bodyPr>
                <a:normAutofit/>
              </a:bodyPr>
              <a:lstStyle/>
              <a:p>
                <a:r>
                  <a:rPr lang="en-US" altLang="ko-KR" dirty="0" smtClean="0"/>
                  <a:t>Full joint distribution, </a:t>
                </a:r>
                <a14:m>
                  <m:oMath xmlns:m="http://schemas.openxmlformats.org/officeDocument/2006/math">
                    <m:r>
                      <a:rPr lang="en-US" altLang="ko-KR" b="0" i="1" smtClean="0">
                        <a:latin typeface="Cambria Math" panose="02040503050406030204" pitchFamily="18" charset="0"/>
                      </a:rPr>
                      <m:t>𝑝</m:t>
                    </m:r>
                    <m:d>
                      <m:dPr>
                        <m:ctrlPr>
                          <a:rPr lang="en-US" altLang="ko-KR" b="0" i="1" smtClean="0">
                            <a:latin typeface="Cambria Math" panose="02040503050406030204" pitchFamily="18" charset="0"/>
                          </a:rPr>
                        </m:ctrlPr>
                      </m:dPr>
                      <m:e>
                        <m:r>
                          <a:rPr lang="en-US" altLang="ko-KR" b="1" i="1" smtClean="0">
                            <a:latin typeface="Cambria Math" panose="02040503050406030204" pitchFamily="18" charset="0"/>
                          </a:rPr>
                          <m:t>𝒛</m:t>
                        </m:r>
                      </m:e>
                    </m:d>
                    <m:r>
                      <a:rPr lang="en-US" altLang="ko-KR" b="0" i="1" smtClean="0">
                        <a:latin typeface="Cambria Math" panose="02040503050406030204" pitchFamily="18" charset="0"/>
                      </a:rPr>
                      <m:t>=</m:t>
                    </m:r>
                    <m:r>
                      <a:rPr lang="en-US" altLang="ko-KR" b="0" i="1" smtClean="0">
                        <a:latin typeface="Cambria Math" panose="02040503050406030204" pitchFamily="18" charset="0"/>
                      </a:rPr>
                      <m:t>𝑝</m:t>
                    </m:r>
                    <m:d>
                      <m:dPr>
                        <m:ctrlPr>
                          <a:rPr lang="en-US" altLang="ko-KR" b="0" i="1" smtClean="0">
                            <a:latin typeface="Cambria Math" panose="02040503050406030204" pitchFamily="18" charset="0"/>
                          </a:rPr>
                        </m:ctrlPr>
                      </m:dPr>
                      <m:e>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𝑧</m:t>
                            </m:r>
                          </m:e>
                          <m:sub>
                            <m:r>
                              <a:rPr lang="en-US" altLang="ko-KR" b="0" i="1" smtClean="0">
                                <a:latin typeface="Cambria Math" panose="02040503050406030204" pitchFamily="18" charset="0"/>
                              </a:rPr>
                              <m:t>1</m:t>
                            </m:r>
                          </m:sub>
                        </m:sSub>
                        <m:r>
                          <a:rPr lang="en-US" altLang="ko-KR" b="0" i="1" smtClean="0">
                            <a:latin typeface="Cambria Math" panose="02040503050406030204" pitchFamily="18" charset="0"/>
                          </a:rPr>
                          <m:t>,…,</m:t>
                        </m:r>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b="0" i="1" smtClean="0">
                                <a:latin typeface="Cambria Math" panose="02040503050406030204" pitchFamily="18" charset="0"/>
                              </a:rPr>
                              <m:t>𝑀</m:t>
                            </m:r>
                          </m:sub>
                        </m:sSub>
                      </m:e>
                    </m:d>
                  </m:oMath>
                </a14:m>
                <a:endParaRPr lang="en-US" altLang="ko-KR" b="0" dirty="0" smtClean="0"/>
              </a:p>
              <a:p>
                <a:r>
                  <a:rPr lang="en-US" altLang="ko-KR" dirty="0" smtClean="0"/>
                  <a:t>State = </a:t>
                </a:r>
                <a14:m>
                  <m:oMath xmlns:m="http://schemas.openxmlformats.org/officeDocument/2006/math">
                    <m:d>
                      <m:dPr>
                        <m:begChr m:val="{"/>
                        <m:endChr m:val="}"/>
                        <m:ctrlPr>
                          <a:rPr lang="en-US" altLang="ko-KR" i="1">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i="1">
                                <a:latin typeface="Cambria Math" panose="02040503050406030204" pitchFamily="18" charset="0"/>
                              </a:rPr>
                              <m:t>𝑖</m:t>
                            </m:r>
                          </m:sub>
                        </m:sSub>
                        <m:r>
                          <a:rPr lang="en-US" altLang="ko-KR" i="1">
                            <a:latin typeface="Cambria Math" panose="02040503050406030204" pitchFamily="18" charset="0"/>
                          </a:rPr>
                          <m:t>:</m:t>
                        </m:r>
                        <m:r>
                          <a:rPr lang="en-US" altLang="ko-KR" i="1">
                            <a:latin typeface="Cambria Math" panose="02040503050406030204" pitchFamily="18" charset="0"/>
                          </a:rPr>
                          <m:t>𝑖</m:t>
                        </m:r>
                        <m:r>
                          <a:rPr lang="en-US" altLang="ko-KR" i="1">
                            <a:latin typeface="Cambria Math" panose="02040503050406030204" pitchFamily="18" charset="0"/>
                          </a:rPr>
                          <m:t>=1,…,</m:t>
                        </m:r>
                        <m:r>
                          <a:rPr lang="en-US" altLang="ko-KR" i="1">
                            <a:latin typeface="Cambria Math" panose="02040503050406030204" pitchFamily="18" charset="0"/>
                          </a:rPr>
                          <m:t>𝑀</m:t>
                        </m:r>
                      </m:e>
                    </m:d>
                  </m:oMath>
                </a14:m>
                <a:endParaRPr lang="en-US" altLang="ko-KR" dirty="0" smtClean="0"/>
              </a:p>
              <a:p>
                <a:r>
                  <a:rPr lang="en-US" altLang="ko-KR" dirty="0" smtClean="0"/>
                  <a:t>Algorithm</a:t>
                </a:r>
              </a:p>
              <a:p>
                <a:pPr marL="868680" lvl="1" indent="-457200">
                  <a:buFont typeface="+mj-lt"/>
                  <a:buAutoNum type="arabicPeriod"/>
                </a:pPr>
                <a:r>
                  <a:rPr lang="en-US" altLang="ko-KR" dirty="0" smtClean="0"/>
                  <a:t>Initialize </a:t>
                </a:r>
                <a14:m>
                  <m:oMath xmlns:m="http://schemas.openxmlformats.org/officeDocument/2006/math">
                    <m:d>
                      <m:dPr>
                        <m:begChr m:val="{"/>
                        <m:endChr m:val="}"/>
                        <m:ctrlPr>
                          <a:rPr lang="en-US" altLang="ko-KR" b="0" i="1" smtClean="0">
                            <a:latin typeface="Cambria Math" panose="02040503050406030204" pitchFamily="18" charset="0"/>
                          </a:rPr>
                        </m:ctrlPr>
                      </m:dPr>
                      <m:e>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𝑧</m:t>
                            </m:r>
                          </m:e>
                          <m:sub>
                            <m:r>
                              <a:rPr lang="en-US" altLang="ko-KR" b="0" i="1" smtClean="0">
                                <a:latin typeface="Cambria Math" panose="02040503050406030204" pitchFamily="18" charset="0"/>
                              </a:rPr>
                              <m:t>𝑖</m:t>
                            </m:r>
                          </m:sub>
                        </m:sSub>
                        <m:r>
                          <a:rPr lang="en-US" altLang="ko-KR" b="0" i="1" smtClean="0">
                            <a:latin typeface="Cambria Math" panose="02040503050406030204" pitchFamily="18" charset="0"/>
                          </a:rPr>
                          <m:t>:</m:t>
                        </m:r>
                        <m:r>
                          <a:rPr lang="en-US" altLang="ko-KR" b="0" i="1" smtClean="0">
                            <a:latin typeface="Cambria Math" panose="02040503050406030204" pitchFamily="18" charset="0"/>
                          </a:rPr>
                          <m:t>𝑖</m:t>
                        </m:r>
                        <m:r>
                          <a:rPr lang="en-US" altLang="ko-KR" b="0" i="1" smtClean="0">
                            <a:latin typeface="Cambria Math" panose="02040503050406030204" pitchFamily="18" charset="0"/>
                          </a:rPr>
                          <m:t>=1,…,</m:t>
                        </m:r>
                        <m:r>
                          <a:rPr lang="en-US" altLang="ko-KR" b="0" i="1" smtClean="0">
                            <a:latin typeface="Cambria Math" panose="02040503050406030204" pitchFamily="18" charset="0"/>
                          </a:rPr>
                          <m:t>𝑀</m:t>
                        </m:r>
                      </m:e>
                    </m:d>
                  </m:oMath>
                </a14:m>
                <a:endParaRPr lang="en-US" altLang="ko-KR" dirty="0" smtClean="0"/>
              </a:p>
              <a:p>
                <a:pPr marL="868680" lvl="1" indent="-457200">
                  <a:buFont typeface="+mj-lt"/>
                  <a:buAutoNum type="arabicPeriod"/>
                </a:pPr>
                <a:r>
                  <a:rPr lang="en-US" altLang="ko-KR" dirty="0" smtClean="0"/>
                  <a:t>For step </a:t>
                </a:r>
                <a14:m>
                  <m:oMath xmlns:m="http://schemas.openxmlformats.org/officeDocument/2006/math">
                    <m:r>
                      <a:rPr lang="en-US" altLang="ko-KR" b="0" i="1" smtClean="0">
                        <a:latin typeface="Cambria Math" panose="02040503050406030204" pitchFamily="18" charset="0"/>
                      </a:rPr>
                      <m:t>𝜏</m:t>
                    </m:r>
                    <m:r>
                      <a:rPr lang="en-US" altLang="ko-KR" b="0" i="1" smtClean="0">
                        <a:latin typeface="Cambria Math" panose="02040503050406030204" pitchFamily="18" charset="0"/>
                      </a:rPr>
                      <m:t>=1,…,</m:t>
                    </m:r>
                    <m:r>
                      <a:rPr lang="en-US" altLang="ko-KR" b="0" i="1" smtClean="0">
                        <a:latin typeface="Cambria Math" panose="02040503050406030204" pitchFamily="18" charset="0"/>
                      </a:rPr>
                      <m:t>𝑇</m:t>
                    </m:r>
                    <m:r>
                      <a:rPr lang="en-US" altLang="ko-KR" b="0" i="1" smtClean="0">
                        <a:latin typeface="Cambria Math" panose="02040503050406030204" pitchFamily="18" charset="0"/>
                      </a:rPr>
                      <m:t>:</m:t>
                    </m:r>
                  </m:oMath>
                </a14:m>
                <a:endParaRPr lang="en-US" altLang="ko-KR" dirty="0"/>
              </a:p>
              <a:p>
                <a:pPr lvl="2">
                  <a:buFont typeface="Cambria" panose="02040503050406030204" pitchFamily="18" charset="0"/>
                  <a:buChar char="‐"/>
                </a:pPr>
                <a:r>
                  <a:rPr lang="en-US" altLang="ko-KR" dirty="0"/>
                  <a:t>Sample </a:t>
                </a:r>
                <a14:m>
                  <m:oMath xmlns:m="http://schemas.openxmlformats.org/officeDocument/2006/math">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1</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r>
                              <a:rPr lang="en-US" altLang="ko-KR" i="1">
                                <a:latin typeface="Cambria Math" panose="02040503050406030204" pitchFamily="18" charset="0"/>
                              </a:rPr>
                              <m:t>+1</m:t>
                            </m:r>
                          </m:e>
                        </m:d>
                      </m:sup>
                    </m:sSubSup>
                    <m:r>
                      <a:rPr lang="en-US" altLang="ko-KR" i="1">
                        <a:latin typeface="Cambria Math" panose="02040503050406030204" pitchFamily="18" charset="0"/>
                      </a:rPr>
                      <m:t> ~ </m:t>
                    </m:r>
                    <m:r>
                      <a:rPr lang="en-US" altLang="ko-KR" i="1">
                        <a:latin typeface="Cambria Math" panose="02040503050406030204" pitchFamily="18" charset="0"/>
                      </a:rPr>
                      <m:t>𝑝</m:t>
                    </m:r>
                    <m:d>
                      <m:dPr>
                        <m:ctrlPr>
                          <a:rPr lang="en-US" altLang="ko-KR" i="1">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i="1">
                                <a:latin typeface="Cambria Math" panose="02040503050406030204" pitchFamily="18" charset="0"/>
                              </a:rPr>
                              <m:t>1</m:t>
                            </m:r>
                          </m:sub>
                        </m:sSub>
                        <m:r>
                          <a:rPr lang="en-US" altLang="ko-KR" i="1">
                            <a:latin typeface="Cambria Math" panose="02040503050406030204" pitchFamily="18" charset="0"/>
                          </a:rPr>
                          <m:t> |</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2</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e>
                            </m:d>
                          </m:sup>
                        </m:sSubSup>
                        <m:r>
                          <a:rPr lang="en-US" altLang="ko-KR" i="1">
                            <a:latin typeface="Cambria Math" panose="02040503050406030204" pitchFamily="18" charset="0"/>
                          </a:rPr>
                          <m: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3</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e>
                            </m:d>
                          </m:sup>
                        </m:sSubSup>
                        <m:r>
                          <a:rPr lang="en-US" altLang="ko-KR" i="1">
                            <a:latin typeface="Cambria Math" panose="02040503050406030204" pitchFamily="18" charset="0"/>
                          </a:rPr>
                          <m: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𝑀</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e>
                            </m:d>
                          </m:sup>
                        </m:sSubSup>
                      </m:e>
                    </m:d>
                  </m:oMath>
                </a14:m>
                <a:endParaRPr lang="en-US" altLang="ko-KR" dirty="0" smtClean="0"/>
              </a:p>
              <a:p>
                <a:pPr lvl="2">
                  <a:buFont typeface="Cambria" panose="02040503050406030204" pitchFamily="18" charset="0"/>
                  <a:buChar char="‐"/>
                </a:pPr>
                <a:r>
                  <a:rPr lang="en-US" altLang="ko-KR" dirty="0"/>
                  <a:t>Sample </a:t>
                </a:r>
                <a14:m>
                  <m:oMath xmlns:m="http://schemas.openxmlformats.org/officeDocument/2006/math">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b="0" i="1" smtClean="0">
                            <a:latin typeface="Cambria Math" panose="02040503050406030204" pitchFamily="18" charset="0"/>
                          </a:rPr>
                          <m:t>2</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r>
                              <a:rPr lang="en-US" altLang="ko-KR" i="1">
                                <a:latin typeface="Cambria Math" panose="02040503050406030204" pitchFamily="18" charset="0"/>
                              </a:rPr>
                              <m:t>+1</m:t>
                            </m:r>
                          </m:e>
                        </m:d>
                      </m:sup>
                    </m:sSubSup>
                    <m:r>
                      <a:rPr lang="en-US" altLang="ko-KR" i="1">
                        <a:latin typeface="Cambria Math" panose="02040503050406030204" pitchFamily="18" charset="0"/>
                      </a:rPr>
                      <m:t> ~ </m:t>
                    </m:r>
                    <m:r>
                      <a:rPr lang="en-US" altLang="ko-KR" i="1">
                        <a:latin typeface="Cambria Math" panose="02040503050406030204" pitchFamily="18" charset="0"/>
                      </a:rPr>
                      <m:t>𝑝</m:t>
                    </m:r>
                    <m:d>
                      <m:dPr>
                        <m:ctrlPr>
                          <a:rPr lang="en-US" altLang="ko-KR" i="1">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b="0" i="1" smtClean="0">
                                <a:latin typeface="Cambria Math" panose="02040503050406030204" pitchFamily="18" charset="0"/>
                              </a:rPr>
                              <m:t>2</m:t>
                            </m:r>
                          </m:sub>
                        </m:sSub>
                        <m:r>
                          <a:rPr lang="en-US" altLang="ko-KR" i="1">
                            <a:latin typeface="Cambria Math" panose="02040503050406030204" pitchFamily="18" charset="0"/>
                          </a:rPr>
                          <m:t> |</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b="0" i="1" smtClean="0">
                                <a:latin typeface="Cambria Math" panose="02040503050406030204" pitchFamily="18" charset="0"/>
                              </a:rPr>
                              <m:t>1</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r>
                                  <a:rPr lang="en-US" altLang="ko-KR" b="0" i="1" smtClean="0">
                                    <a:latin typeface="Cambria Math" panose="02040503050406030204" pitchFamily="18" charset="0"/>
                                  </a:rPr>
                                  <m:t>+1</m:t>
                                </m:r>
                              </m:e>
                            </m:d>
                          </m:sup>
                        </m:sSubSup>
                        <m:r>
                          <a:rPr lang="en-US" altLang="ko-KR" i="1">
                            <a:latin typeface="Cambria Math" panose="02040503050406030204" pitchFamily="18" charset="0"/>
                          </a:rPr>
                          <m: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b="0" i="1" smtClean="0">
                                <a:latin typeface="Cambria Math" panose="02040503050406030204" pitchFamily="18" charset="0"/>
                              </a:rPr>
                              <m:t>3</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e>
                            </m:d>
                          </m:sup>
                        </m:sSubSup>
                        <m:r>
                          <a:rPr lang="en-US" altLang="ko-KR" i="1">
                            <a:latin typeface="Cambria Math" panose="02040503050406030204" pitchFamily="18" charset="0"/>
                          </a:rPr>
                          <m: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𝑀</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e>
                            </m:d>
                          </m:sup>
                        </m:sSubSup>
                      </m:e>
                    </m:d>
                  </m:oMath>
                </a14:m>
                <a:endParaRPr lang="en-US" altLang="ko-KR" dirty="0"/>
              </a:p>
              <a:p>
                <a:pPr marL="777240" lvl="2" indent="0">
                  <a:buNone/>
                </a:pPr>
                <a14:m>
                  <m:oMathPara xmlns:m="http://schemas.openxmlformats.org/officeDocument/2006/math">
                    <m:oMathParaPr>
                      <m:jc m:val="centerGroup"/>
                    </m:oMathParaPr>
                    <m:oMath xmlns:m="http://schemas.openxmlformats.org/officeDocument/2006/math">
                      <m:r>
                        <a:rPr lang="en-US" altLang="ko-KR" i="1">
                          <a:latin typeface="Cambria Math" panose="02040503050406030204" pitchFamily="18" charset="0"/>
                          <a:ea typeface="Cambria Math" panose="02040503050406030204" pitchFamily="18" charset="0"/>
                        </a:rPr>
                        <m:t>⋮</m:t>
                      </m:r>
                    </m:oMath>
                  </m:oMathPara>
                </a14:m>
                <a:endParaRPr lang="en-US" altLang="ko-KR" dirty="0">
                  <a:ea typeface="Cambria Math" panose="02040503050406030204" pitchFamily="18" charset="0"/>
                </a:endParaRPr>
              </a:p>
              <a:p>
                <a:pPr lvl="2">
                  <a:buFont typeface="Cambria" panose="02040503050406030204" pitchFamily="18" charset="0"/>
                  <a:buChar char="‐"/>
                </a:pPr>
                <a:r>
                  <a:rPr lang="en-US" altLang="ko-KR" dirty="0"/>
                  <a:t>Sample </a:t>
                </a:r>
                <a14:m>
                  <m:oMath xmlns:m="http://schemas.openxmlformats.org/officeDocument/2006/math">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b="0" i="1" smtClean="0">
                            <a:latin typeface="Cambria Math" panose="02040503050406030204" pitchFamily="18" charset="0"/>
                          </a:rPr>
                          <m:t>𝑗</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r>
                              <a:rPr lang="en-US" altLang="ko-KR" i="1">
                                <a:latin typeface="Cambria Math" panose="02040503050406030204" pitchFamily="18" charset="0"/>
                              </a:rPr>
                              <m:t>+1</m:t>
                            </m:r>
                          </m:e>
                        </m:d>
                      </m:sup>
                    </m:sSubSup>
                    <m:r>
                      <a:rPr lang="en-US" altLang="ko-KR" i="1">
                        <a:latin typeface="Cambria Math" panose="02040503050406030204" pitchFamily="18" charset="0"/>
                      </a:rPr>
                      <m:t> ~ </m:t>
                    </m:r>
                    <m:r>
                      <a:rPr lang="en-US" altLang="ko-KR" i="1">
                        <a:latin typeface="Cambria Math" panose="02040503050406030204" pitchFamily="18" charset="0"/>
                      </a:rPr>
                      <m:t>𝑝</m:t>
                    </m:r>
                    <m:d>
                      <m:dPr>
                        <m:ctrlPr>
                          <a:rPr lang="en-US" altLang="ko-KR" i="1">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b="0" i="1" smtClean="0">
                                <a:latin typeface="Cambria Math" panose="02040503050406030204" pitchFamily="18" charset="0"/>
                              </a:rPr>
                              <m:t>𝑗</m:t>
                            </m:r>
                          </m:sub>
                        </m:sSub>
                        <m:r>
                          <a:rPr lang="en-US" altLang="ko-KR" i="1">
                            <a:latin typeface="Cambria Math" panose="02040503050406030204" pitchFamily="18" charset="0"/>
                          </a:rPr>
                          <m:t> |</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1</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r>
                                  <a:rPr lang="en-US" altLang="ko-KR" i="1">
                                    <a:latin typeface="Cambria Math" panose="02040503050406030204" pitchFamily="18" charset="0"/>
                                  </a:rPr>
                                  <m:t>+1</m:t>
                                </m:r>
                              </m:e>
                            </m:d>
                          </m:sup>
                        </m:sSubSup>
                        <m:r>
                          <a:rPr lang="en-US" altLang="ko-KR" i="1">
                            <a:latin typeface="Cambria Math" panose="02040503050406030204" pitchFamily="18" charset="0"/>
                          </a:rPr>
                          <m:t>,</m:t>
                        </m:r>
                        <m:r>
                          <a:rPr lang="en-US" altLang="ko-KR" b="0" i="1" smtClean="0">
                            <a:latin typeface="Cambria Math" panose="02040503050406030204" pitchFamily="18" charset="0"/>
                          </a:rPr>
                          <m: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𝑗</m:t>
                            </m:r>
                            <m:r>
                              <a:rPr lang="en-US" altLang="ko-KR" i="1">
                                <a:latin typeface="Cambria Math" panose="02040503050406030204" pitchFamily="18" charset="0"/>
                              </a:rPr>
                              <m:t>−1</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r>
                                  <a:rPr lang="en-US" altLang="ko-KR" i="1">
                                    <a:latin typeface="Cambria Math" panose="02040503050406030204" pitchFamily="18" charset="0"/>
                                  </a:rPr>
                                  <m:t>+1</m:t>
                                </m:r>
                              </m:e>
                            </m:d>
                          </m:sup>
                        </m:sSubSup>
                        <m:r>
                          <a:rPr lang="en-US" altLang="ko-KR" i="1">
                            <a:latin typeface="Cambria Math" panose="02040503050406030204" pitchFamily="18" charset="0"/>
                          </a:rPr>
                          <m: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b="0" i="1" smtClean="0">
                                <a:latin typeface="Cambria Math" panose="02040503050406030204" pitchFamily="18" charset="0"/>
                              </a:rPr>
                              <m:t>𝑗</m:t>
                            </m:r>
                            <m:r>
                              <a:rPr lang="en-US" altLang="ko-KR" b="0" i="1" smtClean="0">
                                <a:latin typeface="Cambria Math" panose="02040503050406030204" pitchFamily="18" charset="0"/>
                              </a:rPr>
                              <m:t>+1</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e>
                            </m:d>
                          </m:sup>
                        </m:sSubSup>
                        <m:r>
                          <a:rPr lang="en-US" altLang="ko-KR" i="1">
                            <a:latin typeface="Cambria Math" panose="02040503050406030204" pitchFamily="18" charset="0"/>
                          </a:rPr>
                          <m: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𝑀</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e>
                            </m:d>
                          </m:sup>
                        </m:sSubSup>
                      </m:e>
                    </m:d>
                  </m:oMath>
                </a14:m>
                <a:endParaRPr lang="en-US" altLang="ko-KR" dirty="0"/>
              </a:p>
              <a:p>
                <a:pPr marL="777240" lvl="2" indent="0">
                  <a:buNone/>
                </a:pPr>
                <a14:m>
                  <m:oMathPara xmlns:m="http://schemas.openxmlformats.org/officeDocument/2006/math">
                    <m:oMathParaPr>
                      <m:jc m:val="centerGroup"/>
                    </m:oMathParaPr>
                    <m:oMath xmlns:m="http://schemas.openxmlformats.org/officeDocument/2006/math">
                      <m:r>
                        <a:rPr lang="en-US" altLang="ko-KR" i="1" smtClean="0">
                          <a:latin typeface="Cambria Math" panose="02040503050406030204" pitchFamily="18" charset="0"/>
                          <a:ea typeface="Cambria Math" panose="02040503050406030204" pitchFamily="18" charset="0"/>
                        </a:rPr>
                        <m:t>⋮</m:t>
                      </m:r>
                    </m:oMath>
                  </m:oMathPara>
                </a14:m>
                <a:endParaRPr lang="en-US" altLang="ko-KR" dirty="0" smtClean="0">
                  <a:ea typeface="Cambria Math" panose="02040503050406030204" pitchFamily="18" charset="0"/>
                </a:endParaRPr>
              </a:p>
              <a:p>
                <a:pPr lvl="2">
                  <a:buFont typeface="Cambria" panose="02040503050406030204" pitchFamily="18" charset="0"/>
                  <a:buChar char="‐"/>
                </a:pPr>
                <a:r>
                  <a:rPr lang="en-US" altLang="ko-KR" dirty="0"/>
                  <a:t>Sample </a:t>
                </a:r>
                <a14:m>
                  <m:oMath xmlns:m="http://schemas.openxmlformats.org/officeDocument/2006/math">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b="0" i="1" smtClean="0">
                            <a:latin typeface="Cambria Math" panose="02040503050406030204" pitchFamily="18" charset="0"/>
                          </a:rPr>
                          <m:t>𝑀</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r>
                              <a:rPr lang="en-US" altLang="ko-KR" i="1">
                                <a:latin typeface="Cambria Math" panose="02040503050406030204" pitchFamily="18" charset="0"/>
                              </a:rPr>
                              <m:t>+1</m:t>
                            </m:r>
                          </m:e>
                        </m:d>
                      </m:sup>
                    </m:sSubSup>
                    <m:r>
                      <a:rPr lang="en-US" altLang="ko-KR" i="1">
                        <a:latin typeface="Cambria Math" panose="02040503050406030204" pitchFamily="18" charset="0"/>
                      </a:rPr>
                      <m:t> ~ </m:t>
                    </m:r>
                    <m:r>
                      <a:rPr lang="en-US" altLang="ko-KR" i="1">
                        <a:latin typeface="Cambria Math" panose="02040503050406030204" pitchFamily="18" charset="0"/>
                      </a:rPr>
                      <m:t>𝑝</m:t>
                    </m:r>
                    <m:d>
                      <m:dPr>
                        <m:ctrlPr>
                          <a:rPr lang="en-US" altLang="ko-KR" i="1">
                            <a:latin typeface="Cambria Math" panose="02040503050406030204" pitchFamily="18" charset="0"/>
                          </a:rPr>
                        </m:ctrlPr>
                      </m:dPr>
                      <m:e>
                        <m:sSub>
                          <m:sSubPr>
                            <m:ctrlPr>
                              <a:rPr lang="en-US" altLang="ko-KR" i="1">
                                <a:latin typeface="Cambria Math" panose="02040503050406030204" pitchFamily="18" charset="0"/>
                              </a:rPr>
                            </m:ctrlPr>
                          </m:sSubPr>
                          <m:e>
                            <m:r>
                              <a:rPr lang="en-US" altLang="ko-KR" i="1">
                                <a:latin typeface="Cambria Math" panose="02040503050406030204" pitchFamily="18" charset="0"/>
                              </a:rPr>
                              <m:t>𝑧</m:t>
                            </m:r>
                          </m:e>
                          <m:sub>
                            <m:r>
                              <a:rPr lang="en-US" altLang="ko-KR" b="0" i="1" smtClean="0">
                                <a:latin typeface="Cambria Math" panose="02040503050406030204" pitchFamily="18" charset="0"/>
                              </a:rPr>
                              <m:t>𝑀</m:t>
                            </m:r>
                          </m:sub>
                        </m:sSub>
                        <m:r>
                          <a:rPr lang="en-US" altLang="ko-KR" i="1">
                            <a:latin typeface="Cambria Math" panose="02040503050406030204" pitchFamily="18" charset="0"/>
                          </a:rPr>
                          <m:t> |</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b="0" i="1" smtClean="0">
                                <a:latin typeface="Cambria Math" panose="02040503050406030204" pitchFamily="18" charset="0"/>
                              </a:rPr>
                              <m:t>1</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r>
                                  <a:rPr lang="en-US" altLang="ko-KR" b="0" i="1" smtClean="0">
                                    <a:latin typeface="Cambria Math" panose="02040503050406030204" pitchFamily="18" charset="0"/>
                                  </a:rPr>
                                  <m:t>+1</m:t>
                                </m:r>
                              </m:e>
                            </m:d>
                          </m:sup>
                        </m:sSubSup>
                        <m:r>
                          <a:rPr lang="en-US" altLang="ko-KR" i="1">
                            <a:latin typeface="Cambria Math" panose="02040503050406030204" pitchFamily="18" charset="0"/>
                          </a:rPr>
                          <m: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b="0" i="1" smtClean="0">
                                <a:latin typeface="Cambria Math" panose="02040503050406030204" pitchFamily="18" charset="0"/>
                              </a:rPr>
                              <m:t>2</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r>
                                  <a:rPr lang="en-US" altLang="ko-KR" b="0" i="1" smtClean="0">
                                    <a:latin typeface="Cambria Math" panose="02040503050406030204" pitchFamily="18" charset="0"/>
                                  </a:rPr>
                                  <m:t>+1</m:t>
                                </m:r>
                              </m:e>
                            </m:d>
                          </m:sup>
                        </m:sSubSup>
                        <m:r>
                          <a:rPr lang="en-US" altLang="ko-KR" i="1">
                            <a:latin typeface="Cambria Math" panose="02040503050406030204" pitchFamily="18" charset="0"/>
                          </a:rPr>
                          <m:t>,…,</m:t>
                        </m:r>
                        <m:sSubSup>
                          <m:sSubSupPr>
                            <m:ctrlPr>
                              <a:rPr lang="en-US" altLang="ko-KR" i="1">
                                <a:latin typeface="Cambria Math" panose="02040503050406030204" pitchFamily="18" charset="0"/>
                              </a:rPr>
                            </m:ctrlPr>
                          </m:sSubSupPr>
                          <m:e>
                            <m:r>
                              <a:rPr lang="en-US" altLang="ko-KR" i="1">
                                <a:latin typeface="Cambria Math" panose="02040503050406030204" pitchFamily="18" charset="0"/>
                              </a:rPr>
                              <m:t>𝑧</m:t>
                            </m:r>
                          </m:e>
                          <m:sub>
                            <m:r>
                              <a:rPr lang="en-US" altLang="ko-KR" i="1">
                                <a:latin typeface="Cambria Math" panose="02040503050406030204" pitchFamily="18" charset="0"/>
                              </a:rPr>
                              <m:t>𝑀</m:t>
                            </m:r>
                            <m:r>
                              <a:rPr lang="en-US" altLang="ko-KR" b="0" i="1" smtClean="0">
                                <a:latin typeface="Cambria Math" panose="02040503050406030204" pitchFamily="18" charset="0"/>
                              </a:rPr>
                              <m:t>−1</m:t>
                            </m:r>
                          </m:sub>
                          <m:sup>
                            <m:d>
                              <m:dPr>
                                <m:ctrlPr>
                                  <a:rPr lang="en-US" altLang="ko-KR" i="1">
                                    <a:latin typeface="Cambria Math" panose="02040503050406030204" pitchFamily="18" charset="0"/>
                                  </a:rPr>
                                </m:ctrlPr>
                              </m:dPr>
                              <m:e>
                                <m:r>
                                  <a:rPr lang="en-US" altLang="ko-KR" i="1">
                                    <a:latin typeface="Cambria Math" panose="02040503050406030204" pitchFamily="18" charset="0"/>
                                  </a:rPr>
                                  <m:t>𝜏</m:t>
                                </m:r>
                                <m:r>
                                  <a:rPr lang="en-US" altLang="ko-KR" b="0" i="1" smtClean="0">
                                    <a:latin typeface="Cambria Math" panose="02040503050406030204" pitchFamily="18" charset="0"/>
                                  </a:rPr>
                                  <m:t>+1</m:t>
                                </m:r>
                              </m:e>
                            </m:d>
                          </m:sup>
                        </m:sSubSup>
                      </m:e>
                    </m:d>
                  </m:oMath>
                </a14:m>
                <a:endParaRPr lang="en-US" altLang="ko-KR" dirty="0"/>
              </a:p>
              <a:p>
                <a:pPr marL="868680" lvl="1" indent="-457200">
                  <a:buFont typeface="+mj-lt"/>
                  <a:buAutoNum type="arabicPeriod"/>
                </a:pPr>
                <a:endParaRPr lang="en-US" altLang="ko-KR" dirty="0" smtClean="0"/>
              </a:p>
              <a:p>
                <a:pPr marL="868680" lvl="1" indent="-457200">
                  <a:buFont typeface="+mj-lt"/>
                  <a:buAutoNum type="arabicPeriod"/>
                </a:pPr>
                <a:endParaRPr lang="en-US" altLang="ko-KR" dirty="0" smtClean="0"/>
              </a:p>
              <a:p>
                <a:pPr marL="571500" indent="-457200">
                  <a:buFont typeface="+mj-lt"/>
                  <a:buAutoNum type="arabicPeriod"/>
                </a:pPr>
                <a:endParaRPr lang="en-US" altLang="ko-KR" dirty="0"/>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blipFill rotWithShape="0">
                <a:blip r:embed="rId2"/>
                <a:stretch>
                  <a:fillRect t="-867"/>
                </a:stretch>
              </a:blipFill>
            </p:spPr>
            <p:txBody>
              <a:bodyPr/>
              <a:lstStyle/>
              <a:p>
                <a:r>
                  <a:rPr lang="ko-KR" altLang="en-US">
                    <a:noFill/>
                  </a:rPr>
                  <a:t> </a:t>
                </a:r>
              </a:p>
            </p:txBody>
          </p:sp>
        </mc:Fallback>
      </mc:AlternateContent>
      <p:sp>
        <p:nvSpPr>
          <p:cNvPr id="4" name="슬라이드 번호 개체 틀 3"/>
          <p:cNvSpPr>
            <a:spLocks noGrp="1"/>
          </p:cNvSpPr>
          <p:nvPr>
            <p:ph type="sldNum" sz="quarter" idx="12"/>
          </p:nvPr>
        </p:nvSpPr>
        <p:spPr/>
        <p:txBody>
          <a:bodyPr/>
          <a:lstStyle/>
          <a:p>
            <a:fld id="{E4E48515-694B-44C7-A9EB-D2CB2C6423BC}" type="slidenum">
              <a:rPr lang="ko-KR" altLang="en-US" smtClean="0"/>
              <a:t>16</a:t>
            </a:fld>
            <a:endParaRPr lang="ko-KR" altLang="en-US" dirty="0"/>
          </a:p>
        </p:txBody>
      </p:sp>
    </p:spTree>
    <p:extLst>
      <p:ext uri="{BB962C8B-B14F-4D97-AF65-F5344CB8AC3E}">
        <p14:creationId xmlns:p14="http://schemas.microsoft.com/office/powerpoint/2010/main" val="38806882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731" y="55268"/>
            <a:ext cx="8435280" cy="1138138"/>
          </a:xfrm>
        </p:spPr>
        <p:txBody>
          <a:bodyPr/>
          <a:lstStyle/>
          <a:p>
            <a:r>
              <a:rPr lang="en-US" altLang="ko-KR" dirty="0" smtClean="0"/>
              <a:t>Gibbs Sampling</a:t>
            </a:r>
            <a:br>
              <a:rPr lang="en-US" altLang="ko-KR" dirty="0" smtClean="0"/>
            </a:br>
            <a:r>
              <a:rPr lang="en-US" altLang="ko-KR" dirty="0" smtClean="0"/>
              <a:t>based GMM</a:t>
            </a:r>
            <a:endParaRPr lang="ko-KR" altLang="en-US" dirty="0"/>
          </a:p>
        </p:txBody>
      </p:sp>
      <p:sp>
        <p:nvSpPr>
          <p:cNvPr id="3" name="Content Placeholder 2"/>
          <p:cNvSpPr>
            <a:spLocks noGrp="1"/>
          </p:cNvSpPr>
          <p:nvPr>
            <p:ph idx="1"/>
          </p:nvPr>
        </p:nvSpPr>
        <p:spPr>
          <a:xfrm>
            <a:off x="283029" y="1252942"/>
            <a:ext cx="2598058" cy="5307515"/>
          </a:xfrm>
        </p:spPr>
        <p:txBody>
          <a:bodyPr>
            <a:normAutofit fontScale="85000" lnSpcReduction="10000"/>
          </a:bodyPr>
          <a:lstStyle/>
          <a:p>
            <a:r>
              <a:rPr lang="en-US" altLang="ko-KR" dirty="0" smtClean="0"/>
              <a:t>Hard to tell the performance with the simple GMM</a:t>
            </a:r>
          </a:p>
          <a:p>
            <a:pPr lvl="1"/>
            <a:r>
              <a:rPr lang="en-US" altLang="ko-KR" dirty="0" smtClean="0"/>
              <a:t>Sampling based inference</a:t>
            </a:r>
          </a:p>
          <a:p>
            <a:pPr lvl="2"/>
            <a:r>
              <a:rPr lang="en-US" altLang="ko-KR" dirty="0" smtClean="0"/>
              <a:t>Simulation based</a:t>
            </a:r>
          </a:p>
          <a:p>
            <a:pPr lvl="1"/>
            <a:r>
              <a:rPr lang="en-US" altLang="ko-KR" dirty="0" smtClean="0"/>
              <a:t>EM based inference</a:t>
            </a:r>
          </a:p>
          <a:p>
            <a:pPr lvl="2"/>
            <a:r>
              <a:rPr lang="en-US" altLang="ko-KR" dirty="0" smtClean="0"/>
              <a:t>Optimization based</a:t>
            </a:r>
          </a:p>
          <a:p>
            <a:r>
              <a:rPr lang="en-US" altLang="ko-KR" dirty="0" smtClean="0"/>
              <a:t>Real power of Gibbs sampler</a:t>
            </a:r>
            <a:r>
              <a:rPr lang="ko-KR" altLang="en-US" dirty="0" smtClean="0"/>
              <a:t> </a:t>
            </a:r>
            <a:r>
              <a:rPr lang="en-US" altLang="ko-KR" dirty="0" smtClean="0"/>
              <a:t>comes from collapsing! </a:t>
            </a:r>
            <a:r>
              <a:rPr lang="en-US" altLang="ko-KR" dirty="0" smtClean="0">
                <a:sym typeface="Wingdings" panose="05000000000000000000" pitchFamily="2" charset="2"/>
              </a:rPr>
              <a:t> Collapsed Gibbs Sampler</a:t>
            </a:r>
          </a:p>
          <a:p>
            <a:pPr lvl="1"/>
            <a:r>
              <a:rPr lang="en-US" altLang="ko-KR" dirty="0" smtClean="0">
                <a:sym typeface="Wingdings" panose="05000000000000000000" pitchFamily="2" charset="2"/>
              </a:rPr>
              <a:t>Let’s look at more sophisticated model for collapsing technique</a:t>
            </a:r>
            <a:endParaRPr lang="en-US" altLang="ko-KR" dirty="0" smtClean="0"/>
          </a:p>
        </p:txBody>
      </p:sp>
      <p:sp>
        <p:nvSpPr>
          <p:cNvPr id="4" name="Slide Number Placeholder 3"/>
          <p:cNvSpPr>
            <a:spLocks noGrp="1"/>
          </p:cNvSpPr>
          <p:nvPr>
            <p:ph type="sldNum" sz="quarter" idx="12"/>
          </p:nvPr>
        </p:nvSpPr>
        <p:spPr/>
        <p:txBody>
          <a:bodyPr/>
          <a:lstStyle/>
          <a:p>
            <a:fld id="{85CD3E9B-A789-4DCF-960C-49E4EDB7DF3D}" type="slidenum">
              <a:rPr lang="ko-KR" altLang="en-US" smtClean="0"/>
              <a:t>17</a:t>
            </a:fld>
            <a:endParaRPr lang="ko-KR" altLang="en-US"/>
          </a:p>
        </p:txBody>
      </p:sp>
      <p:pic>
        <p:nvPicPr>
          <p:cNvPr id="5" name="Picture 4"/>
          <p:cNvPicPr>
            <a:picLocks noChangeAspect="1"/>
          </p:cNvPicPr>
          <p:nvPr/>
        </p:nvPicPr>
        <p:blipFill>
          <a:blip r:embed="rId2"/>
          <a:stretch>
            <a:fillRect/>
          </a:stretch>
        </p:blipFill>
        <p:spPr>
          <a:xfrm>
            <a:off x="5214257" y="0"/>
            <a:ext cx="3929743" cy="2947307"/>
          </a:xfrm>
          <a:prstGeom prst="rect">
            <a:avLst/>
          </a:prstGeom>
        </p:spPr>
      </p:pic>
      <p:pic>
        <p:nvPicPr>
          <p:cNvPr id="9" name="Picture 8"/>
          <p:cNvPicPr>
            <a:picLocks noChangeAspect="1"/>
          </p:cNvPicPr>
          <p:nvPr/>
        </p:nvPicPr>
        <p:blipFill>
          <a:blip r:embed="rId3"/>
          <a:stretch>
            <a:fillRect/>
          </a:stretch>
        </p:blipFill>
        <p:spPr>
          <a:xfrm>
            <a:off x="3002076" y="2947307"/>
            <a:ext cx="6141924" cy="3829989"/>
          </a:xfrm>
          <a:prstGeom prst="rect">
            <a:avLst/>
          </a:prstGeom>
        </p:spPr>
      </p:pic>
    </p:spTree>
    <p:extLst>
      <p:ext uri="{BB962C8B-B14F-4D97-AF65-F5344CB8AC3E}">
        <p14:creationId xmlns:p14="http://schemas.microsoft.com/office/powerpoint/2010/main" val="358804097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resentation Template">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Custom 2">
      <a:majorFont>
        <a:latin typeface="Times New Roman"/>
        <a:ea typeface="HY헤드라인M"/>
        <a:cs typeface=""/>
      </a:majorFont>
      <a:minorFont>
        <a:latin typeface="Cambria"/>
        <a:ea typeface="굴림"/>
        <a:cs typeface=""/>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lnDef>
      <a:spPr>
        <a:ln w="38100">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 Template.potx</Template>
  <TotalTime>9448</TotalTime>
  <Words>795</Words>
  <Application>Microsoft Office PowerPoint</Application>
  <PresentationFormat>화면 슬라이드 쇼(4:3)</PresentationFormat>
  <Paragraphs>291</Paragraphs>
  <Slides>17</Slides>
  <Notes>2</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17</vt:i4>
      </vt:variant>
    </vt:vector>
  </HeadingPairs>
  <TitlesOfParts>
    <vt:vector size="26" baseType="lpstr">
      <vt:lpstr>HY헤드라인M</vt:lpstr>
      <vt:lpstr>굴림</vt:lpstr>
      <vt:lpstr>맑은 고딕</vt:lpstr>
      <vt:lpstr>Arial</vt:lpstr>
      <vt:lpstr>Cambria</vt:lpstr>
      <vt:lpstr>Cambria Math</vt:lpstr>
      <vt:lpstr>Times New Roman</vt:lpstr>
      <vt:lpstr>Wingdings</vt:lpstr>
      <vt:lpstr>Presentation Template</vt:lpstr>
      <vt:lpstr>Sampling Based Inference</vt:lpstr>
      <vt:lpstr>Weekly Objectives</vt:lpstr>
      <vt:lpstr>Sampling based inference</vt:lpstr>
      <vt:lpstr>Detour:  EM Algorithm</vt:lpstr>
      <vt:lpstr>Markov Chain</vt:lpstr>
      <vt:lpstr>Properties of Markov Chain</vt:lpstr>
      <vt:lpstr>Stationary  Distribution</vt:lpstr>
      <vt:lpstr>Markov Chain for Sampling</vt:lpstr>
      <vt:lpstr>Markov chain theory vs. Markov Chain Monte Carlo</vt:lpstr>
      <vt:lpstr>Markov Chain of Z</vt:lpstr>
      <vt:lpstr>Metropolis-Hastings Algorithm</vt:lpstr>
      <vt:lpstr>Random Walk M-H Algorithm</vt:lpstr>
      <vt:lpstr>Result of  Random  Walk M-H</vt:lpstr>
      <vt:lpstr>Gibbs Sampling</vt:lpstr>
      <vt:lpstr>Concept of Gibbs Sampling</vt:lpstr>
      <vt:lpstr>Gibbs Sampling Algorithm</vt:lpstr>
      <vt:lpstr>Gibbs Sampling based GMM</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Variational Inference on Probabilistic Graphical Models</dc:title>
  <dc:creator>Il-Chul Moon</dc:creator>
  <cp:lastModifiedBy>SESLab-4102</cp:lastModifiedBy>
  <cp:revision>501</cp:revision>
  <dcterms:created xsi:type="dcterms:W3CDTF">2013-08-14T02:12:56Z</dcterms:created>
  <dcterms:modified xsi:type="dcterms:W3CDTF">2015-09-15T02:59:38Z</dcterms:modified>
</cp:coreProperties>
</file>
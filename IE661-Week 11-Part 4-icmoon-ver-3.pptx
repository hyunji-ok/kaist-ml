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93" r:id="rId2"/>
    <p:sldId id="294" r:id="rId3"/>
    <p:sldId id="315" r:id="rId4"/>
    <p:sldId id="330" r:id="rId5"/>
    <p:sldId id="326" r:id="rId6"/>
    <p:sldId id="322" r:id="rId7"/>
    <p:sldId id="331" r:id="rId8"/>
    <p:sldId id="334" r:id="rId9"/>
    <p:sldId id="335" r:id="rId10"/>
    <p:sldId id="336" r:id="rId11"/>
    <p:sldId id="337" r:id="rId12"/>
    <p:sldId id="339" r:id="rId13"/>
    <p:sldId id="341" r:id="rId14"/>
    <p:sldId id="342" r:id="rId15"/>
    <p:sldId id="343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5F3-A77E-408E-9F90-D3B01E2760CC}" type="datetimeFigureOut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1C5F-1D0F-4256-BD1C-618DF4C9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shall begin by discussing </a:t>
            </a:r>
            <a:r>
              <a:rPr lang="en-US" altLang="ko-K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Bayesian networks</a:t>
            </a:r>
            <a:r>
              <a:rPr lang="en-US" altLang="ko-K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also known as </a:t>
            </a:r>
            <a:r>
              <a:rPr lang="en-US" altLang="ko-K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directed graphical models</a:t>
            </a:r>
            <a:r>
              <a:rPr lang="en-US" altLang="ko-K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in which the links of the graphs have a particular directionality indicated by arrows. The other major class of graphical models are </a:t>
            </a:r>
            <a:r>
              <a:rPr lang="en-US" altLang="ko-K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Markov random fields</a:t>
            </a:r>
            <a:r>
              <a:rPr lang="en-US" altLang="ko-K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also known as </a:t>
            </a:r>
            <a:r>
              <a:rPr lang="en-US" altLang="ko-K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undirected graphical models</a:t>
            </a:r>
            <a:r>
              <a:rPr lang="en-US" altLang="ko-K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in which the links do not carry arrows and have no directional significance.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E4A2F-89AF-428E-9EAB-2363F75F2D84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1370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78E696B-9374-4FC8-A4A4-DDB21E4308C9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601A0AE-82B0-4EE0-BB01-FCB58416881D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EF5DD2A-9A58-465F-9A0F-1C8629BE06FE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57CAFD41-B754-45DC-A522-98D3F864B24A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1E221B1-7A1E-426C-AF01-35749B7BF4ED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F4C3A041-F064-4634-BCB4-E288DF9234D4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37DB916-A8CC-4508-BDB7-A7C41CF51D78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6380F88-DEEA-4445-973D-596FFE796746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68E8D3-738E-482E-B8E9-37E700B6269C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FDD-37C3-44C6-926E-30504FBD2D12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9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0876C0D-36C2-4B2B-9620-3F481773C3BD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174896E-ED42-4D61-895F-99B0D2E268F3}" type="datetime1">
              <a:rPr lang="ko-KR" altLang="en-US" smtClean="0"/>
              <a:t>2016-01-19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94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2012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2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60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Sampling Based Inference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Learn sampling based inference method</a:t>
            </a:r>
          </a:p>
          <a:p>
            <a:pPr lvl="1"/>
            <a:r>
              <a:rPr lang="en-US" altLang="ko-KR" dirty="0" smtClean="0"/>
              <a:t>Understand the concept of Markov chain Monte Carlo</a:t>
            </a:r>
          </a:p>
          <a:p>
            <a:pPr lvl="1"/>
            <a:r>
              <a:rPr lang="en-US" altLang="ko-KR" dirty="0" smtClean="0"/>
              <a:t>Able to apply MCMC to the parameter inference of Bayesian networks</a:t>
            </a:r>
          </a:p>
          <a:p>
            <a:pPr lvl="1"/>
            <a:r>
              <a:rPr lang="en-US" altLang="ko-KR" dirty="0" smtClean="0"/>
              <a:t>Know the mechanism of rejection sampling</a:t>
            </a:r>
          </a:p>
          <a:p>
            <a:pPr lvl="1"/>
            <a:r>
              <a:rPr lang="en-US" altLang="ko-KR" dirty="0" smtClean="0"/>
              <a:t>Know the mechanism of Gibbs sampling</a:t>
            </a:r>
          </a:p>
          <a:p>
            <a:r>
              <a:rPr lang="en-US" altLang="ko-KR" dirty="0" smtClean="0"/>
              <a:t>Know a case study of sampling based inference</a:t>
            </a:r>
          </a:p>
          <a:p>
            <a:pPr lvl="1"/>
            <a:r>
              <a:rPr lang="en-US" altLang="ko-KR" dirty="0" smtClean="0"/>
              <a:t>Understand the latent Dirichlet allocation model</a:t>
            </a:r>
          </a:p>
          <a:p>
            <a:pPr lvl="1"/>
            <a:r>
              <a:rPr lang="en-US" altLang="ko-KR" dirty="0" smtClean="0"/>
              <a:t>Know the collapsed Gibbs sampling</a:t>
            </a:r>
          </a:p>
          <a:p>
            <a:pPr lvl="1"/>
            <a:r>
              <a:rPr lang="en-US" altLang="ko-KR" dirty="0" smtClean="0"/>
              <a:t>Know how to derive Gibbs sampling formula for 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4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Latent </a:t>
            </a:r>
            <a:r>
              <a:rPr lang="en-US" altLang="ko-KR" smtClean="0"/>
              <a:t>Dirichlet allocation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63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Topic Modeling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 smtClean="0"/>
              <a:t>Sample results of topic modeling on News paper searched by ‘Obama’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What we can identify are</a:t>
            </a:r>
          </a:p>
          <a:p>
            <a:pPr lvl="1"/>
            <a:r>
              <a:rPr lang="en-US" altLang="ko-KR" dirty="0" smtClean="0"/>
              <a:t>Topics</a:t>
            </a:r>
          </a:p>
          <a:p>
            <a:pPr lvl="1"/>
            <a:r>
              <a:rPr lang="en-US" altLang="ko-KR" dirty="0" smtClean="0"/>
              <a:t>The proportion of topics</a:t>
            </a:r>
          </a:p>
          <a:p>
            <a:pPr lvl="1"/>
            <a:r>
              <a:rPr lang="en-US" altLang="ko-KR" dirty="0" smtClean="0"/>
              <a:t>The most probable words in topics</a:t>
            </a:r>
          </a:p>
          <a:p>
            <a:r>
              <a:rPr lang="en-US" altLang="ko-KR" dirty="0" smtClean="0"/>
              <a:t>Text analysis without reading the whole corpus</a:t>
            </a:r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7" y="2098771"/>
            <a:ext cx="4512679" cy="22780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3327"/>
          <a:stretch/>
        </p:blipFill>
        <p:spPr>
          <a:xfrm>
            <a:off x="4977194" y="2542867"/>
            <a:ext cx="4003464" cy="12728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4147" y="2098771"/>
            <a:ext cx="4512679" cy="227463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264146" y="4098016"/>
            <a:ext cx="4512679" cy="2274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Straight Arrow Connector 10"/>
          <p:cNvCxnSpPr>
            <a:stCxn id="8" idx="3"/>
          </p:cNvCxnSpPr>
          <p:nvPr/>
        </p:nvCxnSpPr>
        <p:spPr>
          <a:xfrm>
            <a:off x="4776826" y="2212503"/>
            <a:ext cx="848563" cy="361646"/>
          </a:xfrm>
          <a:prstGeom prst="straightConnector1">
            <a:avLst/>
          </a:prstGeom>
          <a:noFill/>
          <a:ln w="53975">
            <a:solidFill>
              <a:srgbClr val="0020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Arrow Connector 11"/>
          <p:cNvCxnSpPr>
            <a:stCxn id="9" idx="3"/>
          </p:cNvCxnSpPr>
          <p:nvPr/>
        </p:nvCxnSpPr>
        <p:spPr>
          <a:xfrm flipV="1">
            <a:off x="4776825" y="3603958"/>
            <a:ext cx="921716" cy="607790"/>
          </a:xfrm>
          <a:prstGeom prst="straightConnector1">
            <a:avLst/>
          </a:prstGeom>
          <a:noFill/>
          <a:ln w="539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ight Arrow 15"/>
          <p:cNvSpPr/>
          <p:nvPr/>
        </p:nvSpPr>
        <p:spPr>
          <a:xfrm>
            <a:off x="5266944" y="3911176"/>
            <a:ext cx="3632851" cy="653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Days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6641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Latent Dirichlet Allocation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170455" y="1369990"/>
                <a:ext cx="8435280" cy="4925144"/>
              </a:xfrm>
            </p:spPr>
            <p:txBody>
              <a:bodyPr/>
              <a:lstStyle/>
              <a:p>
                <a:r>
                  <a:rPr lang="en-US" altLang="ko-KR" dirty="0" smtClean="0"/>
                  <a:t>Latent Dirichlet Allocation </a:t>
                </a:r>
              </a:p>
              <a:p>
                <a:pPr lvl="1"/>
                <a:r>
                  <a:rPr lang="en-US" altLang="ko-KR" dirty="0"/>
                  <a:t>Soft clustering in text data</a:t>
                </a:r>
              </a:p>
              <a:p>
                <a:pPr lvl="1"/>
                <a:r>
                  <a:rPr lang="en-US" altLang="ko-KR" dirty="0"/>
                  <a:t>Has the structure of text corpus</a:t>
                </a:r>
              </a:p>
              <a:p>
                <a:pPr lvl="1"/>
                <a:r>
                  <a:rPr lang="en-US" altLang="ko-KR" dirty="0"/>
                  <a:t>Is a Bayesian model with priors</a:t>
                </a:r>
              </a:p>
              <a:p>
                <a:r>
                  <a:rPr lang="en-US" altLang="ko-KR" dirty="0" smtClean="0"/>
                  <a:t>For each word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/>
                      </a:rPr>
                      <m:t>𝑤</m:t>
                    </m:r>
                  </m:oMath>
                </a14:m>
                <a:r>
                  <a:rPr lang="en-US" altLang="ko-KR" dirty="0" smtClean="0"/>
                  <a:t>, sample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topic assignment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455" y="1369990"/>
                <a:ext cx="8435280" cy="4925144"/>
              </a:xfrm>
              <a:blipFill>
                <a:blip r:embed="rId3"/>
                <a:stretch>
                  <a:fillRect t="-8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8515-694B-44C7-A9EB-D2CB2C6423BC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67" name="그룹 66"/>
          <p:cNvGrpSpPr/>
          <p:nvPr/>
        </p:nvGrpSpPr>
        <p:grpSpPr>
          <a:xfrm>
            <a:off x="2066930" y="3607135"/>
            <a:ext cx="7010807" cy="3039779"/>
            <a:chOff x="1167684" y="2996952"/>
            <a:chExt cx="7010807" cy="3039779"/>
          </a:xfrm>
        </p:grpSpPr>
        <p:sp>
          <p:nvSpPr>
            <p:cNvPr id="38" name="직사각형 37"/>
            <p:cNvSpPr/>
            <p:nvPr/>
          </p:nvSpPr>
          <p:spPr>
            <a:xfrm>
              <a:off x="1395301" y="5117728"/>
              <a:ext cx="170110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400" b="1" dirty="0" smtClean="0"/>
                <a:t>Document specific</a:t>
              </a:r>
            </a:p>
            <a:p>
              <a:pPr algn="ctr"/>
              <a:r>
                <a:rPr lang="en-US" altLang="ko-KR" sz="1400" b="1" dirty="0" smtClean="0"/>
                <a:t>topic proportion</a:t>
              </a:r>
              <a:endParaRPr lang="ko-KR" altLang="en-US" sz="1400" b="1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167684" y="3997933"/>
              <a:ext cx="50366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dirty="0" smtClean="0"/>
                <a:t>Prob.</a:t>
              </a:r>
              <a:endParaRPr lang="ko-KR" altLang="en-US" sz="1100" dirty="0"/>
            </a:p>
          </p:txBody>
        </p:sp>
        <p:cxnSp>
          <p:nvCxnSpPr>
            <p:cNvPr id="41" name="직선 화살표 연결선 40"/>
            <p:cNvCxnSpPr>
              <a:endCxn id="47" idx="2"/>
            </p:cNvCxnSpPr>
            <p:nvPr/>
          </p:nvCxnSpPr>
          <p:spPr>
            <a:xfrm flipV="1">
              <a:off x="2850360" y="3159112"/>
              <a:ext cx="785536" cy="80196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endCxn id="50" idx="2"/>
            </p:cNvCxnSpPr>
            <p:nvPr/>
          </p:nvCxnSpPr>
          <p:spPr>
            <a:xfrm flipV="1">
              <a:off x="2843808" y="3648766"/>
              <a:ext cx="792088" cy="46470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/>
            <p:cNvCxnSpPr>
              <a:endCxn id="48" idx="2"/>
            </p:cNvCxnSpPr>
            <p:nvPr/>
          </p:nvCxnSpPr>
          <p:spPr>
            <a:xfrm flipV="1">
              <a:off x="2843808" y="4138420"/>
              <a:ext cx="792088" cy="1274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>
              <a:endCxn id="49" idx="2"/>
            </p:cNvCxnSpPr>
            <p:nvPr/>
          </p:nvCxnSpPr>
          <p:spPr>
            <a:xfrm>
              <a:off x="2843808" y="4418272"/>
              <a:ext cx="792088" cy="2098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>
              <a:endCxn id="51" idx="2"/>
            </p:cNvCxnSpPr>
            <p:nvPr/>
          </p:nvCxnSpPr>
          <p:spPr>
            <a:xfrm>
              <a:off x="2843808" y="4570672"/>
              <a:ext cx="792088" cy="54705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>
              <a:endCxn id="52" idx="2"/>
            </p:cNvCxnSpPr>
            <p:nvPr/>
          </p:nvCxnSpPr>
          <p:spPr>
            <a:xfrm>
              <a:off x="2843808" y="4723072"/>
              <a:ext cx="792088" cy="88431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/>
            <p:cNvSpPr/>
            <p:nvPr/>
          </p:nvSpPr>
          <p:spPr>
            <a:xfrm>
              <a:off x="3635896" y="3015096"/>
              <a:ext cx="288032" cy="288032"/>
            </a:xfrm>
            <a:prstGeom prst="ellipse">
              <a:avLst/>
            </a:prstGeom>
            <a:solidFill>
              <a:srgbClr val="3BF3F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/>
            <p:cNvSpPr/>
            <p:nvPr/>
          </p:nvSpPr>
          <p:spPr>
            <a:xfrm>
              <a:off x="3635896" y="3994404"/>
              <a:ext cx="288032" cy="28803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/>
            <p:cNvSpPr/>
            <p:nvPr/>
          </p:nvSpPr>
          <p:spPr>
            <a:xfrm>
              <a:off x="3635896" y="4484058"/>
              <a:ext cx="288032" cy="28803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/>
            <p:cNvSpPr/>
            <p:nvPr/>
          </p:nvSpPr>
          <p:spPr>
            <a:xfrm>
              <a:off x="3635896" y="3504750"/>
              <a:ext cx="288032" cy="288032"/>
            </a:xfrm>
            <a:prstGeom prst="ellipse">
              <a:avLst/>
            </a:prstGeom>
            <a:solidFill>
              <a:srgbClr val="36FF2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/>
            <p:cNvSpPr/>
            <p:nvPr/>
          </p:nvSpPr>
          <p:spPr>
            <a:xfrm>
              <a:off x="3635896" y="4973712"/>
              <a:ext cx="288032" cy="288032"/>
            </a:xfrm>
            <a:prstGeom prst="ellipse">
              <a:avLst/>
            </a:prstGeom>
            <a:solidFill>
              <a:srgbClr val="36FF2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/>
            <p:cNvSpPr/>
            <p:nvPr/>
          </p:nvSpPr>
          <p:spPr>
            <a:xfrm>
              <a:off x="3635896" y="5463368"/>
              <a:ext cx="288032" cy="28803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3" name="그룹 52"/>
            <p:cNvGrpSpPr/>
            <p:nvPr/>
          </p:nvGrpSpPr>
          <p:grpSpPr>
            <a:xfrm>
              <a:off x="1672513" y="3797892"/>
              <a:ext cx="1170130" cy="1080120"/>
              <a:chOff x="568427" y="3501008"/>
              <a:chExt cx="1872208" cy="1728192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860746" y="4509120"/>
                <a:ext cx="221709" cy="720080"/>
              </a:xfrm>
              <a:prstGeom prst="rect">
                <a:avLst/>
              </a:prstGeom>
              <a:solidFill>
                <a:srgbClr val="36FF2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1403974" y="4149080"/>
                <a:ext cx="221709" cy="108012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1947203" y="4797152"/>
                <a:ext cx="221709" cy="432048"/>
              </a:xfrm>
              <a:prstGeom prst="rect">
                <a:avLst/>
              </a:prstGeom>
              <a:solidFill>
                <a:srgbClr val="3BF3F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568427" y="3501008"/>
                <a:ext cx="1872208" cy="17281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5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6489" y="2996952"/>
              <a:ext cx="3122002" cy="2952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9" name="직선 화살표 연결선 58"/>
            <p:cNvCxnSpPr>
              <a:stCxn id="47" idx="6"/>
            </p:cNvCxnSpPr>
            <p:nvPr/>
          </p:nvCxnSpPr>
          <p:spPr>
            <a:xfrm>
              <a:off x="3923928" y="3159112"/>
              <a:ext cx="3168352" cy="83529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/>
            <p:cNvCxnSpPr>
              <a:stCxn id="50" idx="6"/>
            </p:cNvCxnSpPr>
            <p:nvPr/>
          </p:nvCxnSpPr>
          <p:spPr>
            <a:xfrm>
              <a:off x="3923928" y="3648766"/>
              <a:ext cx="1872208" cy="63367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>
              <a:stCxn id="52" idx="6"/>
            </p:cNvCxnSpPr>
            <p:nvPr/>
          </p:nvCxnSpPr>
          <p:spPr>
            <a:xfrm flipV="1">
              <a:off x="3923928" y="5261744"/>
              <a:ext cx="2520280" cy="34564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>
              <a:stCxn id="51" idx="6"/>
            </p:cNvCxnSpPr>
            <p:nvPr/>
          </p:nvCxnSpPr>
          <p:spPr>
            <a:xfrm flipV="1">
              <a:off x="3923928" y="4772090"/>
              <a:ext cx="2298489" cy="34563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/>
            <p:cNvCxnSpPr>
              <a:stCxn id="49" idx="6"/>
            </p:cNvCxnSpPr>
            <p:nvPr/>
          </p:nvCxnSpPr>
          <p:spPr>
            <a:xfrm>
              <a:off x="3923928" y="4628074"/>
              <a:ext cx="3888432" cy="55771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/>
            <p:cNvCxnSpPr>
              <a:stCxn id="48" idx="6"/>
            </p:cNvCxnSpPr>
            <p:nvPr/>
          </p:nvCxnSpPr>
          <p:spPr>
            <a:xfrm flipV="1">
              <a:off x="3923928" y="3560092"/>
              <a:ext cx="1872208" cy="57832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직사각형 64"/>
            <p:cNvSpPr/>
            <p:nvPr/>
          </p:nvSpPr>
          <p:spPr>
            <a:xfrm>
              <a:off x="2964185" y="5728954"/>
              <a:ext cx="162281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b="1" dirty="0" smtClean="0"/>
                <a:t>Topic assignment</a:t>
              </a:r>
              <a:endParaRPr lang="ko-KR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직사각형 65"/>
                <p:cNvSpPr/>
                <p:nvPr/>
              </p:nvSpPr>
              <p:spPr>
                <a:xfrm>
                  <a:off x="1419816" y="4869160"/>
                  <a:ext cx="1518364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100" dirty="0" smtClean="0"/>
                    <a:t>Topic 1         2         3  </a:t>
                  </a:r>
                  <a14:m>
                    <m:oMath xmlns:m="http://schemas.openxmlformats.org/officeDocument/2006/math">
                      <m:r>
                        <a:rPr lang="en-US" altLang="ko-KR" sz="1100" i="1" smtClean="0">
                          <a:latin typeface="Cambria Math"/>
                          <a:ea typeface="Cambria Math"/>
                        </a:rPr>
                        <m:t>⋯</m:t>
                      </m:r>
                    </m:oMath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66" name="직사각형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816" y="4869160"/>
                  <a:ext cx="1518364" cy="2616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03" y="3990143"/>
            <a:ext cx="1701479" cy="1771824"/>
          </a:xfrm>
          <a:prstGeom prst="rect">
            <a:avLst/>
          </a:prstGeom>
        </p:spPr>
      </p:pic>
      <p:sp>
        <p:nvSpPr>
          <p:cNvPr id="72" name="직사각형 37"/>
          <p:cNvSpPr/>
          <p:nvPr/>
        </p:nvSpPr>
        <p:spPr>
          <a:xfrm>
            <a:off x="61132" y="5776513"/>
            <a:ext cx="1972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 smtClean="0"/>
              <a:t>Dirichlet</a:t>
            </a:r>
            <a:r>
              <a:rPr lang="en-US" altLang="ko-KR" sz="1400" b="1" dirty="0" smtClean="0"/>
              <a:t> Distribution</a:t>
            </a:r>
          </a:p>
          <a:p>
            <a:pPr algn="ctr"/>
            <a:r>
              <a:rPr lang="en-US" altLang="ko-KR" sz="1400" b="1" dirty="0" smtClean="0"/>
              <a:t>Prior</a:t>
            </a:r>
            <a:endParaRPr lang="ko-KR" altLang="en-US" sz="1400" b="1" dirty="0"/>
          </a:p>
        </p:txBody>
      </p:sp>
      <p:cxnSp>
        <p:nvCxnSpPr>
          <p:cNvPr id="73" name="직선 화살표 연결선 42"/>
          <p:cNvCxnSpPr>
            <a:stCxn id="5" idx="3"/>
            <a:endCxn id="57" idx="1"/>
          </p:cNvCxnSpPr>
          <p:nvPr/>
        </p:nvCxnSpPr>
        <p:spPr>
          <a:xfrm>
            <a:off x="1893982" y="4876055"/>
            <a:ext cx="677777" cy="720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4582543" y="1955780"/>
            <a:ext cx="4293667" cy="859455"/>
            <a:chOff x="1883101" y="3548710"/>
            <a:chExt cx="6561660" cy="1436961"/>
          </a:xfrm>
        </p:grpSpPr>
        <p:sp>
          <p:nvSpPr>
            <p:cNvPr id="75" name="Rectangle 74"/>
            <p:cNvSpPr/>
            <p:nvPr/>
          </p:nvSpPr>
          <p:spPr>
            <a:xfrm>
              <a:off x="2750516" y="3548710"/>
              <a:ext cx="3651444" cy="13386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869741" y="3746221"/>
              <a:ext cx="2114093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32268" y="4522544"/>
              <a:ext cx="473289" cy="463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M</a:t>
              </a:r>
              <a:endParaRPr lang="ko-KR" altLang="en-US" sz="1200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632282" y="4311018"/>
              <a:ext cx="441444" cy="463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</a:t>
              </a:r>
              <a:endParaRPr lang="ko-KR" altLang="en-US" sz="1200" dirty="0"/>
            </a:p>
          </p:txBody>
        </p:sp>
        <p:sp>
          <p:nvSpPr>
            <p:cNvPr id="79" name="Oval 78"/>
            <p:cNvSpPr/>
            <p:nvPr/>
          </p:nvSpPr>
          <p:spPr>
            <a:xfrm>
              <a:off x="5149901" y="3914528"/>
              <a:ext cx="600588" cy="54132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w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4131187" y="3916314"/>
              <a:ext cx="600588" cy="54132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z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val 80"/>
                <p:cNvSpPr/>
                <p:nvPr/>
              </p:nvSpPr>
              <p:spPr>
                <a:xfrm>
                  <a:off x="3035808" y="3914527"/>
                  <a:ext cx="600588" cy="54132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Oval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5808" y="3914527"/>
                  <a:ext cx="600588" cy="54132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Oval 81"/>
                <p:cNvSpPr/>
                <p:nvPr/>
              </p:nvSpPr>
              <p:spPr>
                <a:xfrm>
                  <a:off x="1883101" y="3914526"/>
                  <a:ext cx="600588" cy="54132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Oval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101" y="3914526"/>
                  <a:ext cx="600588" cy="54132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Rectangle 82"/>
            <p:cNvSpPr/>
            <p:nvPr/>
          </p:nvSpPr>
          <p:spPr>
            <a:xfrm>
              <a:off x="6526191" y="3746221"/>
              <a:ext cx="1060703" cy="9382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277928" y="4316263"/>
              <a:ext cx="429194" cy="463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K</a:t>
              </a:r>
              <a:endParaRPr lang="ko-KR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val 84"/>
                <p:cNvSpPr/>
                <p:nvPr/>
              </p:nvSpPr>
              <p:spPr>
                <a:xfrm>
                  <a:off x="7844173" y="3914525"/>
                  <a:ext cx="600588" cy="54132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Oval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4173" y="3914525"/>
                  <a:ext cx="600588" cy="54132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val 85"/>
                <p:cNvSpPr/>
                <p:nvPr/>
              </p:nvSpPr>
              <p:spPr>
                <a:xfrm>
                  <a:off x="6713259" y="3914525"/>
                  <a:ext cx="600588" cy="54132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Oval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3259" y="3914525"/>
                  <a:ext cx="600588" cy="54132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/>
            <p:cNvCxnSpPr>
              <a:stCxn id="82" idx="6"/>
              <a:endCxn id="81" idx="2"/>
            </p:cNvCxnSpPr>
            <p:nvPr/>
          </p:nvCxnSpPr>
          <p:spPr>
            <a:xfrm>
              <a:off x="2483689" y="4185189"/>
              <a:ext cx="552119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81" idx="6"/>
              <a:endCxn id="80" idx="2"/>
            </p:cNvCxnSpPr>
            <p:nvPr/>
          </p:nvCxnSpPr>
          <p:spPr>
            <a:xfrm>
              <a:off x="3636396" y="4185190"/>
              <a:ext cx="494791" cy="17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0" idx="6"/>
              <a:endCxn id="79" idx="2"/>
            </p:cNvCxnSpPr>
            <p:nvPr/>
          </p:nvCxnSpPr>
          <p:spPr>
            <a:xfrm flipV="1">
              <a:off x="4731775" y="4185191"/>
              <a:ext cx="418126" cy="17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85" idx="2"/>
              <a:endCxn id="86" idx="6"/>
            </p:cNvCxnSpPr>
            <p:nvPr/>
          </p:nvCxnSpPr>
          <p:spPr>
            <a:xfrm flipH="1">
              <a:off x="7313847" y="4185188"/>
              <a:ext cx="5303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86" idx="2"/>
              <a:endCxn id="79" idx="6"/>
            </p:cNvCxnSpPr>
            <p:nvPr/>
          </p:nvCxnSpPr>
          <p:spPr>
            <a:xfrm flipH="1">
              <a:off x="5750489" y="4185188"/>
              <a:ext cx="962770" cy="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reeform 9"/>
          <p:cNvSpPr/>
          <p:nvPr/>
        </p:nvSpPr>
        <p:spPr>
          <a:xfrm>
            <a:off x="1916582" y="2509114"/>
            <a:ext cx="2907043" cy="1653235"/>
          </a:xfrm>
          <a:custGeom>
            <a:avLst/>
            <a:gdLst>
              <a:gd name="connsiteX0" fmla="*/ 2904135 w 2907043"/>
              <a:gd name="connsiteY0" fmla="*/ 0 h 1653235"/>
              <a:gd name="connsiteX1" fmla="*/ 2494484 w 2907043"/>
              <a:gd name="connsiteY1" fmla="*/ 716889 h 1653235"/>
              <a:gd name="connsiteX2" fmla="*/ 329184 w 2907043"/>
              <a:gd name="connsiteY2" fmla="*/ 1528876 h 1653235"/>
              <a:gd name="connsiteX3" fmla="*/ 0 w 2907043"/>
              <a:gd name="connsiteY3" fmla="*/ 1653235 h 165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7043" h="1653235">
                <a:moveTo>
                  <a:pt x="2904135" y="0"/>
                </a:moveTo>
                <a:cubicBezTo>
                  <a:pt x="2913889" y="231038"/>
                  <a:pt x="2923643" y="462076"/>
                  <a:pt x="2494484" y="716889"/>
                </a:cubicBezTo>
                <a:cubicBezTo>
                  <a:pt x="2065325" y="971702"/>
                  <a:pt x="329184" y="1528876"/>
                  <a:pt x="329184" y="1528876"/>
                </a:cubicBezTo>
                <a:lnTo>
                  <a:pt x="0" y="1653235"/>
                </a:lnTo>
              </a:path>
            </a:pathLst>
          </a:custGeom>
          <a:noFill/>
          <a:ln w="57150"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Freeform 10"/>
          <p:cNvSpPr/>
          <p:nvPr/>
        </p:nvSpPr>
        <p:spPr>
          <a:xfrm>
            <a:off x="3260530" y="2531059"/>
            <a:ext cx="2255131" cy="1872691"/>
          </a:xfrm>
          <a:custGeom>
            <a:avLst/>
            <a:gdLst>
              <a:gd name="connsiteX0" fmla="*/ 2255131 w 2255131"/>
              <a:gd name="connsiteY0" fmla="*/ 0 h 1872691"/>
              <a:gd name="connsiteX1" fmla="*/ 1750382 w 2255131"/>
              <a:gd name="connsiteY1" fmla="*/ 592531 h 1872691"/>
              <a:gd name="connsiteX2" fmla="*/ 506798 w 2255131"/>
              <a:gd name="connsiteY2" fmla="*/ 1228954 h 1872691"/>
              <a:gd name="connsiteX3" fmla="*/ 2049 w 2255131"/>
              <a:gd name="connsiteY3" fmla="*/ 1872691 h 1872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5131" h="1872691">
                <a:moveTo>
                  <a:pt x="2255131" y="0"/>
                </a:moveTo>
                <a:cubicBezTo>
                  <a:pt x="2148451" y="193852"/>
                  <a:pt x="2041771" y="387705"/>
                  <a:pt x="1750382" y="592531"/>
                </a:cubicBezTo>
                <a:cubicBezTo>
                  <a:pt x="1458993" y="797357"/>
                  <a:pt x="798187" y="1015594"/>
                  <a:pt x="506798" y="1228954"/>
                </a:cubicBezTo>
                <a:cubicBezTo>
                  <a:pt x="215409" y="1442314"/>
                  <a:pt x="-24773" y="1811731"/>
                  <a:pt x="2049" y="1872691"/>
                </a:cubicBezTo>
              </a:path>
            </a:pathLst>
          </a:custGeom>
          <a:noFill/>
          <a:ln w="57150"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Freeform 13"/>
          <p:cNvSpPr/>
          <p:nvPr/>
        </p:nvSpPr>
        <p:spPr>
          <a:xfrm>
            <a:off x="4732934" y="2516429"/>
            <a:ext cx="1580084" cy="1119225"/>
          </a:xfrm>
          <a:custGeom>
            <a:avLst/>
            <a:gdLst>
              <a:gd name="connsiteX0" fmla="*/ 1580084 w 1580084"/>
              <a:gd name="connsiteY0" fmla="*/ 0 h 1119225"/>
              <a:gd name="connsiteX1" fmla="*/ 1133856 w 1580084"/>
              <a:gd name="connsiteY1" fmla="*/ 351129 h 1119225"/>
              <a:gd name="connsiteX2" fmla="*/ 0 w 1580084"/>
              <a:gd name="connsiteY2" fmla="*/ 1119225 h 11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0084" h="1119225">
                <a:moveTo>
                  <a:pt x="1580084" y="0"/>
                </a:moveTo>
                <a:cubicBezTo>
                  <a:pt x="1488643" y="82296"/>
                  <a:pt x="1397203" y="164592"/>
                  <a:pt x="1133856" y="351129"/>
                </a:cubicBezTo>
                <a:cubicBezTo>
                  <a:pt x="870509" y="537667"/>
                  <a:pt x="435254" y="828446"/>
                  <a:pt x="0" y="1119225"/>
                </a:cubicBezTo>
              </a:path>
            </a:pathLst>
          </a:custGeom>
          <a:noFill/>
          <a:ln w="57150"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Straight Connector 15"/>
          <p:cNvCxnSpPr>
            <a:stCxn id="79" idx="4"/>
          </p:cNvCxnSpPr>
          <p:nvPr/>
        </p:nvCxnSpPr>
        <p:spPr>
          <a:xfrm flipH="1">
            <a:off x="6551845" y="2498348"/>
            <a:ext cx="364851" cy="1149377"/>
          </a:xfrm>
          <a:prstGeom prst="line">
            <a:avLst/>
          </a:prstGeom>
          <a:noFill/>
          <a:ln w="57150"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343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Finding Topic Assignment </a:t>
            </a:r>
            <a:br>
              <a:rPr lang="en-US" altLang="ko-KR" dirty="0" smtClean="0"/>
            </a:br>
            <a:r>
              <a:rPr lang="en-US" altLang="ko-KR" dirty="0" smtClean="0"/>
              <a:t>Per Word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ko-KR" dirty="0" smtClean="0"/>
                  <a:t>Let’s treat this as a Bayesian network</a:t>
                </a:r>
              </a:p>
              <a:p>
                <a:pPr lvl="1"/>
                <a:r>
                  <a:rPr lang="en-US" altLang="ko-KR" dirty="0" smtClean="0"/>
                  <a:t>Do you remember the story of “Alarm and call”?</a:t>
                </a:r>
              </a:p>
              <a:p>
                <a:pPr lvl="2"/>
                <a:r>
                  <a:rPr lang="en-US" altLang="ko-KR" dirty="0" smtClean="0"/>
                  <a:t>There was a story of </a:t>
                </a:r>
                <a:r>
                  <a:rPr lang="en-US" altLang="ko-KR" b="1" i="1" dirty="0" smtClean="0"/>
                  <a:t>generating </a:t>
                </a:r>
                <a:r>
                  <a:rPr lang="en-US" altLang="ko-KR" dirty="0" smtClean="0"/>
                  <a:t>Mary’s call from the event</a:t>
                </a:r>
              </a:p>
              <a:p>
                <a:pPr lvl="1"/>
                <a:r>
                  <a:rPr lang="en-US" altLang="ko-KR" b="1" dirty="0" smtClean="0"/>
                  <a:t>Generative Process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𝐷𝑖𝑟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∈{1,…,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𝐷𝑖𝑟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∈{1,…,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𝑀𝑢𝑙𝑡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1,…,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1,…,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𝑀𝑢𝑙𝑡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1,…,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1,…,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smtClean="0"/>
                  <a:t>A word </a:t>
                </a:r>
                <a:r>
                  <a:rPr lang="en-US" altLang="ko-KR" b="1" i="1" dirty="0" smtClean="0"/>
                  <a:t>w</a:t>
                </a:r>
                <a:r>
                  <a:rPr lang="en-US" altLang="ko-KR" dirty="0" smtClean="0"/>
                  <a:t> is generated from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altLang="ko-KR" dirty="0" smtClean="0"/>
                  <a:t> word-topic distribution</a:t>
                </a:r>
              </a:p>
              <a:p>
                <a:pPr lvl="1"/>
                <a:r>
                  <a:rPr lang="en-US" altLang="ko-KR" b="1" i="1" dirty="0" smtClean="0"/>
                  <a:t>z</a:t>
                </a:r>
                <a:r>
                  <a:rPr lang="en-US" altLang="ko-KR" dirty="0" smtClean="0"/>
                  <a:t> topic is generated from the distribution of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b="1" i="1" dirty="0" smtClean="0"/>
                  <a:t> </a:t>
                </a:r>
                <a:r>
                  <a:rPr lang="en-US" altLang="ko-KR" dirty="0" smtClean="0"/>
                  <a:t>document-topic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b="1" i="1" dirty="0"/>
                  <a:t> </a:t>
                </a:r>
                <a:r>
                  <a:rPr lang="en-US" altLang="ko-KR" dirty="0"/>
                  <a:t>document topic </a:t>
                </a:r>
                <a:r>
                  <a:rPr lang="en-US" altLang="ko-KR" dirty="0" smtClean="0"/>
                  <a:t>distribution is generated from the distribution of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altLang="ko-KR" dirty="0" smtClean="0"/>
                  <a:t> word-topic distribution is generated from the distribution of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endParaRPr lang="en-US" altLang="ko-KR" b="1" dirty="0" smtClean="0"/>
              </a:p>
              <a:p>
                <a:r>
                  <a:rPr lang="en-US" altLang="ko-KR" sz="2000" dirty="0" smtClean="0">
                    <a:sym typeface="Wingdings" panose="05000000000000000000" pitchFamily="2" charset="2"/>
                  </a:rPr>
                  <a:t>If </a:t>
                </a:r>
                <a:r>
                  <a:rPr lang="en-US" altLang="ko-KR" sz="2000" dirty="0">
                    <a:sym typeface="Wingdings" panose="05000000000000000000" pitchFamily="2" charset="2"/>
                  </a:rPr>
                  <a:t>we have Z distribution, we can find the most likely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and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</m:oMath>
                </a14:m>
                <a:r>
                  <a:rPr lang="en-US" altLang="ko-KR" sz="1800" dirty="0" smtClean="0"/>
                  <a:t>: Topic distribution in a document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800" b="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ko-KR" sz="1800" dirty="0" smtClean="0"/>
                  <a:t>: Word distribution in a topic</a:t>
                </a:r>
              </a:p>
              <a:p>
                <a:pPr lvl="1"/>
                <a:r>
                  <a:rPr lang="en-US" altLang="ko-KR" sz="1800" dirty="0" smtClean="0"/>
                  <a:t>Finding the most likely allocation of Z is the key of inference on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</m:oMath>
                </a14:m>
                <a:r>
                  <a:rPr lang="en-US" altLang="ko-KR" sz="1800" dirty="0" smtClean="0"/>
                  <a:t> and </a:t>
                </a: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598813" y="843707"/>
            <a:ext cx="4293667" cy="859455"/>
            <a:chOff x="1883101" y="3548710"/>
            <a:chExt cx="6561660" cy="1436961"/>
          </a:xfrm>
        </p:grpSpPr>
        <p:sp>
          <p:nvSpPr>
            <p:cNvPr id="14" name="Rectangle 13"/>
            <p:cNvSpPr/>
            <p:nvPr/>
          </p:nvSpPr>
          <p:spPr>
            <a:xfrm>
              <a:off x="2750516" y="3548710"/>
              <a:ext cx="3651444" cy="13386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869741" y="3746221"/>
              <a:ext cx="2114093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32268" y="4522544"/>
              <a:ext cx="473289" cy="463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M</a:t>
              </a:r>
              <a:endParaRPr lang="ko-KR" altLang="en-US" sz="12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32282" y="4311018"/>
              <a:ext cx="441444" cy="463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</a:t>
              </a:r>
              <a:endParaRPr lang="ko-KR" altLang="en-US" sz="1200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5149901" y="3914528"/>
              <a:ext cx="600588" cy="54132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w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131187" y="3916314"/>
              <a:ext cx="600588" cy="54132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z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val 19"/>
                <p:cNvSpPr/>
                <p:nvPr/>
              </p:nvSpPr>
              <p:spPr>
                <a:xfrm>
                  <a:off x="3035808" y="3914527"/>
                  <a:ext cx="600588" cy="54132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Oval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5808" y="3914527"/>
                  <a:ext cx="600588" cy="54132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/>
                <p:cNvSpPr/>
                <p:nvPr/>
              </p:nvSpPr>
              <p:spPr>
                <a:xfrm>
                  <a:off x="1883101" y="3914526"/>
                  <a:ext cx="600588" cy="54132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101" y="3914526"/>
                  <a:ext cx="600588" cy="54132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/>
            <p:cNvSpPr/>
            <p:nvPr/>
          </p:nvSpPr>
          <p:spPr>
            <a:xfrm>
              <a:off x="6526191" y="3746221"/>
              <a:ext cx="1060703" cy="9382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77928" y="4316263"/>
              <a:ext cx="429194" cy="463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K</a:t>
              </a:r>
              <a:endParaRPr lang="ko-KR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7844173" y="3914525"/>
                  <a:ext cx="600588" cy="54132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4173" y="3914525"/>
                  <a:ext cx="600588" cy="54132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/>
                <p:cNvSpPr/>
                <p:nvPr/>
              </p:nvSpPr>
              <p:spPr>
                <a:xfrm>
                  <a:off x="6713259" y="3914525"/>
                  <a:ext cx="600588" cy="54132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Oval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3259" y="3914525"/>
                  <a:ext cx="600588" cy="54132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/>
            <p:cNvCxnSpPr>
              <a:stCxn id="21" idx="6"/>
              <a:endCxn id="20" idx="2"/>
            </p:cNvCxnSpPr>
            <p:nvPr/>
          </p:nvCxnSpPr>
          <p:spPr>
            <a:xfrm>
              <a:off x="2483689" y="4185189"/>
              <a:ext cx="552119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6"/>
              <a:endCxn id="19" idx="2"/>
            </p:cNvCxnSpPr>
            <p:nvPr/>
          </p:nvCxnSpPr>
          <p:spPr>
            <a:xfrm>
              <a:off x="3636396" y="4185190"/>
              <a:ext cx="494791" cy="17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9" idx="6"/>
              <a:endCxn id="18" idx="2"/>
            </p:cNvCxnSpPr>
            <p:nvPr/>
          </p:nvCxnSpPr>
          <p:spPr>
            <a:xfrm flipV="1">
              <a:off x="4731775" y="4185191"/>
              <a:ext cx="418126" cy="17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4" idx="2"/>
              <a:endCxn id="25" idx="6"/>
            </p:cNvCxnSpPr>
            <p:nvPr/>
          </p:nvCxnSpPr>
          <p:spPr>
            <a:xfrm flipH="1">
              <a:off x="7313847" y="4185188"/>
              <a:ext cx="5303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5" idx="2"/>
              <a:endCxn id="18" idx="6"/>
            </p:cNvCxnSpPr>
            <p:nvPr/>
          </p:nvCxnSpPr>
          <p:spPr>
            <a:xfrm flipH="1">
              <a:off x="5750489" y="4185188"/>
              <a:ext cx="962770" cy="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376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Gibbs Sampling on Z (1)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0420" y="1279934"/>
                <a:ext cx="8435280" cy="4925144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 smtClean="0"/>
                  <a:t>Finding the most likely assignment on Z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Gibbs Sampling</a:t>
                </a:r>
              </a:p>
              <a:p>
                <a:r>
                  <a:rPr lang="en-US" altLang="ko-KR" dirty="0" smtClean="0">
                    <a:sym typeface="Wingdings" panose="05000000000000000000" pitchFamily="2" charset="2"/>
                  </a:rPr>
                  <a:t>Start with the factorization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ko-KR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We are going to collapse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and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to leave only W, Z,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and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Why? W (Data point), Z (Sampling Target),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 smtClean="0"/>
                  <a:t> (priors)</a:t>
                </a:r>
              </a:p>
              <a:p>
                <a:pPr lvl="1"/>
                <a:r>
                  <a:rPr lang="en-US" altLang="ko-KR" dirty="0" smtClean="0"/>
                  <a:t>Collapsed Gibbs sampling!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limLoc m:val="undOvr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nary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nary>
                      </m:e>
                    </m:nary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endParaRPr lang="en-US" altLang="ko-KR" b="0" dirty="0" smtClean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420" y="1279934"/>
                <a:ext cx="8435280" cy="4925144"/>
              </a:xfrm>
              <a:blipFill>
                <a:blip r:embed="rId2"/>
                <a:stretch>
                  <a:fillRect t="-8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5673792" y="87214"/>
            <a:ext cx="3404996" cy="700230"/>
            <a:chOff x="1883101" y="3548710"/>
            <a:chExt cx="6561660" cy="1501971"/>
          </a:xfrm>
        </p:grpSpPr>
        <p:sp>
          <p:nvSpPr>
            <p:cNvPr id="6" name="Rectangle 5"/>
            <p:cNvSpPr/>
            <p:nvPr/>
          </p:nvSpPr>
          <p:spPr>
            <a:xfrm>
              <a:off x="2750516" y="3548710"/>
              <a:ext cx="3651444" cy="13386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869741" y="3746221"/>
              <a:ext cx="2114093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32268" y="4522545"/>
              <a:ext cx="556657" cy="528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/>
                <a:t>M</a:t>
              </a:r>
              <a:endParaRPr lang="ko-KR" altLang="en-US" sz="1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32282" y="4311019"/>
              <a:ext cx="522675" cy="528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N</a:t>
              </a:r>
              <a:endParaRPr lang="ko-KR" altLang="en-US" sz="10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5149901" y="3914528"/>
              <a:ext cx="600588" cy="54132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w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131187" y="3916314"/>
              <a:ext cx="600588" cy="54132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z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/>
                <p:cNvSpPr/>
                <p:nvPr/>
              </p:nvSpPr>
              <p:spPr>
                <a:xfrm>
                  <a:off x="3035808" y="3914527"/>
                  <a:ext cx="600588" cy="54132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Oval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5808" y="3914527"/>
                  <a:ext cx="600588" cy="54132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/>
                <p:cNvSpPr/>
                <p:nvPr/>
              </p:nvSpPr>
              <p:spPr>
                <a:xfrm>
                  <a:off x="1883101" y="3914526"/>
                  <a:ext cx="600588" cy="54132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val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101" y="3914526"/>
                  <a:ext cx="600588" cy="54132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/>
            <p:cNvSpPr/>
            <p:nvPr/>
          </p:nvSpPr>
          <p:spPr>
            <a:xfrm>
              <a:off x="6526191" y="3746221"/>
              <a:ext cx="1060703" cy="9382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77929" y="4316263"/>
              <a:ext cx="510319" cy="528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/>
                <a:t>K</a:t>
              </a:r>
              <a:endParaRPr lang="ko-KR" altLang="en-US"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/>
                <p:cNvSpPr/>
                <p:nvPr/>
              </p:nvSpPr>
              <p:spPr>
                <a:xfrm>
                  <a:off x="7844173" y="3914525"/>
                  <a:ext cx="600588" cy="54132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4173" y="3914525"/>
                  <a:ext cx="600588" cy="54132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/>
                <p:cNvSpPr/>
                <p:nvPr/>
              </p:nvSpPr>
              <p:spPr>
                <a:xfrm>
                  <a:off x="6713259" y="3914525"/>
                  <a:ext cx="600588" cy="54132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val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3259" y="3914525"/>
                  <a:ext cx="600588" cy="54132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3" idx="6"/>
              <a:endCxn id="12" idx="2"/>
            </p:cNvCxnSpPr>
            <p:nvPr/>
          </p:nvCxnSpPr>
          <p:spPr>
            <a:xfrm>
              <a:off x="2483689" y="4185189"/>
              <a:ext cx="552119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6"/>
              <a:endCxn id="11" idx="2"/>
            </p:cNvCxnSpPr>
            <p:nvPr/>
          </p:nvCxnSpPr>
          <p:spPr>
            <a:xfrm>
              <a:off x="3636396" y="4185190"/>
              <a:ext cx="494791" cy="17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1" idx="6"/>
              <a:endCxn id="10" idx="2"/>
            </p:cNvCxnSpPr>
            <p:nvPr/>
          </p:nvCxnSpPr>
          <p:spPr>
            <a:xfrm flipV="1">
              <a:off x="4731775" y="4185191"/>
              <a:ext cx="418126" cy="17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6" idx="2"/>
              <a:endCxn id="17" idx="6"/>
            </p:cNvCxnSpPr>
            <p:nvPr/>
          </p:nvCxnSpPr>
          <p:spPr>
            <a:xfrm flipH="1">
              <a:off x="7313847" y="4185188"/>
              <a:ext cx="5303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7" idx="2"/>
              <a:endCxn id="10" idx="6"/>
            </p:cNvCxnSpPr>
            <p:nvPr/>
          </p:nvCxnSpPr>
          <p:spPr>
            <a:xfrm flipH="1">
              <a:off x="5750489" y="4185188"/>
              <a:ext cx="962770" cy="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6336777" y="5069433"/>
            <a:ext cx="2765209" cy="14751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dirty="0" smtClean="0"/>
              <a:t>Independence between two integrals</a:t>
            </a:r>
          </a:p>
          <a:p>
            <a:pPr marL="342900" indent="-342900">
              <a:buAutoNum type="arabicPeriod"/>
            </a:pPr>
            <a:r>
              <a:rPr lang="en-US" altLang="ko-KR" sz="1600" dirty="0" smtClean="0"/>
              <a:t>Need to remove the integrals and come up with the sampling distribution</a:t>
            </a:r>
            <a:endParaRPr lang="ko-KR" alt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0" y="6337517"/>
            <a:ext cx="4089197" cy="257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© Wikipedia page on LDA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860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35280" cy="1138138"/>
          </a:xfrm>
        </p:spPr>
        <p:txBody>
          <a:bodyPr/>
          <a:lstStyle/>
          <a:p>
            <a:r>
              <a:rPr lang="en-US" altLang="ko-KR" dirty="0" smtClean="0"/>
              <a:t>Gibbs Sampling on Z (2)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53389"/>
                <a:ext cx="9143999" cy="5284129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7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17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limLoc m:val="undOvr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  <m:sup/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nary>
                      </m:e>
                    </m:nary>
                    <m:r>
                      <a:rPr lang="en-US" altLang="ko-KR" sz="17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nary>
                      </m:e>
                    </m:nary>
                    <m:r>
                      <a:rPr lang="en-US" altLang="ko-K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limLoc m:val="undOvr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=(1)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×(2)</m:t>
                    </m:r>
                  </m:oMath>
                </a14:m>
                <a:endParaRPr lang="en-US" altLang="ko-KR" sz="1700" dirty="0" smtClean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nary>
                      </m:e>
                    </m:nary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1700" dirty="0" smtClean="0"/>
              </a:p>
              <a:p>
                <a:pPr lvl="1"/>
                <a:r>
                  <a:rPr lang="en-US" altLang="ko-KR" sz="1700" dirty="0" smtClean="0"/>
                  <a:t>We introduce a new count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7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ko-KR" sz="1700" dirty="0" smtClean="0"/>
                  <a:t>: number of words assigned to </a:t>
                </a:r>
                <a:r>
                  <a:rPr lang="en-US" altLang="ko-KR" sz="1700" dirty="0" err="1" smtClean="0"/>
                  <a:t>i-th</a:t>
                </a:r>
                <a:r>
                  <a:rPr lang="en-US" altLang="ko-KR" sz="1700" dirty="0" smtClean="0"/>
                  <a:t> topic in j-</a:t>
                </a:r>
                <a:r>
                  <a:rPr lang="en-US" altLang="ko-KR" sz="1700" dirty="0" err="1" smtClean="0"/>
                  <a:t>th</a:t>
                </a:r>
                <a:r>
                  <a:rPr lang="en-US" altLang="ko-KR" sz="1700" dirty="0" smtClean="0"/>
                  <a:t> document with r-</a:t>
                </a:r>
                <a:r>
                  <a:rPr lang="en-US" altLang="ko-KR" sz="1700" dirty="0" err="1" smtClean="0"/>
                  <a:t>th</a:t>
                </a:r>
                <a:r>
                  <a:rPr lang="en-US" altLang="ko-KR" sz="1700" dirty="0" smtClean="0"/>
                  <a:t> unique word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7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 sz="17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</m:sup>
                                </m:sSup>
                              </m:e>
                            </m:nary>
                          </m:e>
                        </m:nary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1700" dirty="0" smtClean="0"/>
              </a:p>
              <a:p>
                <a14:m>
                  <m:oMath xmlns:m="http://schemas.openxmlformats.org/officeDocument/2006/math">
                    <m:r>
                      <a:rPr lang="en-US" altLang="ko-KR" sz="17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sz="1700" dirty="0"/>
              </a:p>
              <a:p>
                <a:r>
                  <a:rPr lang="en-US" altLang="ko-KR" sz="1700" i="1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7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7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17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7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7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7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7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sz="17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53389"/>
                <a:ext cx="9143999" cy="5284129"/>
              </a:xfrm>
              <a:blipFill>
                <a:blip r:embed="rId2"/>
                <a:stretch>
                  <a:fillRect l="-333" t="-8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0" y="6337517"/>
            <a:ext cx="4089197" cy="257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© Wikipedia page on LDA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76145" y="0"/>
                <a:ext cx="2467855" cy="821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𝐷𝑖𝑟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altLang="ko-KR" sz="14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nary>
                        <m:naryPr>
                          <m:chr m:val="∏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145" y="0"/>
                <a:ext cx="2467855" cy="821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145" y="745120"/>
            <a:ext cx="692636" cy="7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6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35280" cy="1138138"/>
          </a:xfrm>
        </p:spPr>
        <p:txBody>
          <a:bodyPr/>
          <a:lstStyle/>
          <a:p>
            <a:r>
              <a:rPr lang="en-US" altLang="ko-KR" dirty="0" smtClean="0"/>
              <a:t>Gibbs Sampling on Z (3)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51206" y="1053389"/>
                <a:ext cx="9132797" cy="5284129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nary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nary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=(1)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×(2)</m:t>
                    </m:r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We introduce a new count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ko-KR" dirty="0" smtClean="0"/>
                  <a:t>: number of words assigned to </a:t>
                </a:r>
                <a:r>
                  <a:rPr lang="en-US" altLang="ko-KR" dirty="0" err="1" smtClean="0"/>
                  <a:t>i-th</a:t>
                </a:r>
                <a:r>
                  <a:rPr lang="en-US" altLang="ko-KR" dirty="0" smtClean="0"/>
                  <a:t> topic in j-</a:t>
                </a:r>
                <a:r>
                  <a:rPr lang="en-US" altLang="ko-KR" dirty="0" err="1" smtClean="0"/>
                  <a:t>th</a:t>
                </a:r>
                <a:r>
                  <a:rPr lang="en-US" altLang="ko-KR" dirty="0" smtClean="0"/>
                  <a:t> document with r-</a:t>
                </a:r>
                <a:r>
                  <a:rPr lang="en-US" altLang="ko-KR" dirty="0" err="1" smtClean="0"/>
                  <a:t>th</a:t>
                </a:r>
                <a:r>
                  <a:rPr lang="en-US" altLang="ko-KR" dirty="0" smtClean="0"/>
                  <a:t> unique word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sup>
                                </m:sSup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ko-KR" altLang="en-US" dirty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,(.)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1206" y="1053389"/>
                <a:ext cx="9132797" cy="5284129"/>
              </a:xfrm>
              <a:blipFill>
                <a:blip r:embed="rId2"/>
                <a:stretch>
                  <a:fillRect l="-401" t="-8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0" y="6337517"/>
            <a:ext cx="4089197" cy="257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© Wikipedia page on LDA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76145" y="0"/>
                <a:ext cx="2467855" cy="821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𝐷𝑖𝑟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altLang="ko-KR" sz="14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nary>
                        <m:naryPr>
                          <m:chr m:val="∏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145" y="0"/>
                <a:ext cx="2467855" cy="821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145" y="745120"/>
            <a:ext cx="692636" cy="7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9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Collapse from Conjugacy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6305" y="1600200"/>
                <a:ext cx="8935286" cy="492514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 smtClean="0"/>
                  <a:t>Same mechanism to remove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 smtClean="0"/>
                  <a:t> and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ko-KR"/>
                        </m:ctrlPr>
                      </m:naryPr>
                      <m:sub>
                        <m:r>
                          <a:rPr lang="en-US" altLang="ko-KR"/>
                          <m:t>𝑖</m:t>
                        </m:r>
                        <m:r>
                          <a:rPr lang="en-US" altLang="ko-KR"/>
                          <m:t>=1</m:t>
                        </m:r>
                      </m:sub>
                      <m:sup>
                        <m:r>
                          <a:rPr lang="en-US" altLang="ko-KR"/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/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/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/>
                                  <m:t>𝑣</m:t>
                                </m:r>
                                <m:r>
                                  <a:rPr lang="en-US" altLang="ko-KR"/>
                                  <m:t>=1</m:t>
                                </m:r>
                              </m:sub>
                              <m:sup>
                                <m:r>
                                  <a:rPr lang="en-US" altLang="ko-KR"/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/>
                                  <m:t>Γ</m:t>
                                </m:r>
                                <m:r>
                                  <a:rPr lang="en-US" altLang="ko-KR"/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/>
                                    </m:ctrlPr>
                                  </m:sSubSupPr>
                                  <m:e>
                                    <m:r>
                                      <a:rPr lang="en-US" altLang="ko-KR"/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/>
                                        </m:ctrlPr>
                                      </m:dPr>
                                      <m:e>
                                        <m:r>
                                          <a:rPr lang="en-US" altLang="ko-KR"/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/>
                                      <m:t>,</m:t>
                                    </m:r>
                                    <m:r>
                                      <a:rPr lang="en-US" altLang="ko-KR"/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/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/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/>
                                    </m:ctrlPr>
                                  </m:sSubPr>
                                  <m:e>
                                    <m:r>
                                      <a:rPr lang="ko-KR" altLang="en-US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/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/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/>
                              <m:t>Γ</m:t>
                            </m:r>
                            <m:r>
                              <a:rPr lang="en-US" altLang="ko-KR"/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/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/>
                                  <m:t>𝑣</m:t>
                                </m:r>
                                <m:r>
                                  <a:rPr lang="en-US" altLang="ko-KR"/>
                                  <m:t>=1</m:t>
                                </m:r>
                              </m:sub>
                              <m:sup>
                                <m:r>
                                  <a:rPr lang="en-US" altLang="ko-KR"/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/>
                                    </m:ctrlPr>
                                  </m:sSubPr>
                                  <m:e>
                                    <m:r>
                                      <a:rPr lang="ko-KR" altLang="en-US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/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/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/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/>
                                  <m:t>𝑣</m:t>
                                </m:r>
                                <m:r>
                                  <a:rPr lang="en-US" altLang="ko-KR"/>
                                  <m:t>=1</m:t>
                                </m:r>
                              </m:sub>
                              <m:sup>
                                <m:r>
                                  <a:rPr lang="en-US" altLang="ko-KR"/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/>
                                      <m:t>Γ</m:t>
                                    </m:r>
                                    <m:r>
                                      <a:rPr lang="en-US" altLang="ko-KR"/>
                                      <m:t>(</m:t>
                                    </m:r>
                                    <m:r>
                                      <a:rPr lang="ko-KR" altLang="en-US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/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/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/>
                              <m:t>Γ</m:t>
                            </m:r>
                            <m:r>
                              <a:rPr lang="en-US" altLang="ko-KR"/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/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/>
                                  <m:t>𝑣</m:t>
                                </m:r>
                                <m:r>
                                  <a:rPr lang="en-US" altLang="ko-KR"/>
                                  <m:t>=1</m:t>
                                </m:r>
                              </m:sub>
                              <m:sup>
                                <m:r>
                                  <a:rPr lang="en-US" altLang="ko-KR"/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/>
                                    </m:ctrlPr>
                                  </m:sSubSupPr>
                                  <m:e>
                                    <m:r>
                                      <a:rPr lang="en-US" altLang="ko-KR"/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/>
                                        </m:ctrlPr>
                                      </m:dPr>
                                      <m:e>
                                        <m:r>
                                          <a:rPr lang="en-US" altLang="ko-KR"/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/>
                                      <m:t>,</m:t>
                                    </m:r>
                                    <m:r>
                                      <a:rPr lang="en-US" altLang="ko-KR"/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/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/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/>
                                    </m:ctrlPr>
                                  </m:sSubPr>
                                  <m:e>
                                    <m:r>
                                      <a:rPr lang="ko-KR" altLang="en-US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/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/>
                              <m:t>)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altLang="ko-KR"/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/>
                                </m:ctrlPr>
                              </m:sSubPr>
                              <m:e>
                                <m:r>
                                  <a:rPr lang="ko-KR" altLang="en-US"/>
                                  <m:t>𝜑</m:t>
                                </m:r>
                              </m:e>
                              <m:sub>
                                <m:r>
                                  <a:rPr lang="en-US" altLang="ko-KR"/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/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/>
                                  <m:t>Γ</m:t>
                                </m:r>
                                <m:r>
                                  <a:rPr lang="en-US" altLang="ko-KR"/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/>
                                      <m:t>𝑣</m:t>
                                    </m:r>
                                    <m:r>
                                      <a:rPr lang="en-US" altLang="ko-KR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/>
                                      <m:t>𝑉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/>
                                        </m:ctrlPr>
                                      </m:sSubSupPr>
                                      <m:e>
                                        <m:r>
                                          <a:rPr lang="en-US" altLang="ko-KR"/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/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/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/>
                                          <m:t>,</m:t>
                                        </m:r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/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/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/>
                                        </m:ctrlPr>
                                      </m:sSubPr>
                                      <m:e>
                                        <m:r>
                                          <a:rPr lang="ko-KR" altLang="en-US"/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/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/>
                                      <m:t>𝑣</m:t>
                                    </m:r>
                                    <m:r>
                                      <a:rPr lang="en-US" altLang="ko-KR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/>
                                      <m:t>𝑉</m:t>
                                    </m:r>
                                  </m: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/>
                                      <m:t>Γ</m:t>
                                    </m:r>
                                    <m:r>
                                      <a:rPr lang="en-US" altLang="ko-KR"/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/>
                                        </m:ctrlPr>
                                      </m:sSubSupPr>
                                      <m:e>
                                        <m:r>
                                          <a:rPr lang="en-US" altLang="ko-KR"/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/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/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/>
                                          <m:t>,</m:t>
                                        </m:r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/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/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/>
                                        </m:ctrlPr>
                                      </m:sSubPr>
                                      <m:e>
                                        <m:r>
                                          <a:rPr lang="ko-KR" altLang="en-US"/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/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/>
                                </m:ctrlPr>
                              </m:naryPr>
                              <m:sub>
                                <m:r>
                                  <a:rPr lang="en-US" altLang="ko-KR"/>
                                  <m:t>𝑣</m:t>
                                </m:r>
                                <m:r>
                                  <a:rPr lang="en-US" altLang="ko-KR"/>
                                  <m:t>=1</m:t>
                                </m:r>
                              </m:sub>
                              <m:sup>
                                <m:r>
                                  <a:rPr lang="en-US" altLang="ko-KR"/>
                                  <m:t>𝑉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/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/>
                                        </m:ctrlPr>
                                      </m:sSubPr>
                                      <m:e>
                                        <m:r>
                                          <a:rPr lang="ko-KR" altLang="en-US"/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altLang="ko-KR"/>
                                          <m:t>𝑖</m:t>
                                        </m:r>
                                        <m:r>
                                          <a:rPr lang="en-US" altLang="ko-KR"/>
                                          <m:t>,</m:t>
                                        </m:r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/>
                                        </m:ctrlPr>
                                      </m:sSubSupPr>
                                      <m:e>
                                        <m:r>
                                          <a:rPr lang="en-US" altLang="ko-KR"/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/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/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/>
                                          <m:t>,</m:t>
                                        </m:r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altLang="ko-KR"/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/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/>
                                        </m:ctrlPr>
                                      </m:sSubPr>
                                      <m:e>
                                        <m:r>
                                          <a:rPr lang="ko-KR" altLang="en-US"/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/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/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  <m:r>
                          <a:rPr lang="en-US" altLang="ko-KR"/>
                          <m:t>𝑑</m:t>
                        </m:r>
                        <m:sSub>
                          <m:sSubPr>
                            <m:ctrlPr>
                              <a:rPr lang="en-US" altLang="ko-KR"/>
                            </m:ctrlPr>
                          </m:sSubPr>
                          <m:e>
                            <m:r>
                              <a:rPr lang="ko-KR" altLang="en-US"/>
                              <m:t>𝜑</m:t>
                            </m:r>
                          </m:e>
                          <m:sub>
                            <m:r>
                              <a:rPr lang="en-US" altLang="ko-KR"/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subSup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Γ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  <m:t>,(.)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en-US" altLang="ko-KR" dirty="0" smtClean="0">
                    <a:latin typeface="Cambria Math" panose="02040503050406030204" pitchFamily="18" charset="0"/>
                  </a:rPr>
                  <a:t>This is a multiplication of the </a:t>
                </a:r>
                <a:r>
                  <a:rPr lang="en-US" altLang="ko-KR" dirty="0" err="1" smtClean="0">
                    <a:latin typeface="Cambria Math" panose="02040503050406030204" pitchFamily="18" charset="0"/>
                  </a:rPr>
                  <a:t>Dirichlet</a:t>
                </a:r>
                <a:r>
                  <a:rPr lang="en-US" altLang="ko-KR" dirty="0" smtClean="0">
                    <a:latin typeface="Cambria Math" panose="02040503050406030204" pitchFamily="18" charset="0"/>
                  </a:rPr>
                  <a:t> distribution and the multinomial distribution. After multiplication, another </a:t>
                </a:r>
                <a:r>
                  <a:rPr lang="en-US" altLang="ko-KR" dirty="0" err="1" smtClean="0">
                    <a:latin typeface="Cambria Math" panose="02040503050406030204" pitchFamily="18" charset="0"/>
                  </a:rPr>
                  <a:t>Dirichlet</a:t>
                </a:r>
                <a:r>
                  <a:rPr lang="en-US" altLang="ko-KR" dirty="0" smtClean="0">
                    <a:latin typeface="Cambria Math" panose="02040503050406030204" pitchFamily="18" charset="0"/>
                  </a:rPr>
                  <a:t> distribution emerges. </a:t>
                </a:r>
              </a:p>
              <a:p>
                <a:pPr lvl="1"/>
                <a:r>
                  <a:rPr lang="en-US" altLang="ko-KR" dirty="0" smtClean="0"/>
                  <a:t>In LDA: i.e.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In general: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Likelihood and prior multiplication results in the prior distribution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Conjugate prior</a:t>
                </a:r>
              </a:p>
              <a:p>
                <a:r>
                  <a:rPr lang="en-US" altLang="ko-KR" dirty="0" smtClean="0">
                    <a:sym typeface="Wingdings" panose="05000000000000000000" pitchFamily="2" charset="2"/>
                  </a:rPr>
                  <a:t>LDA utilizes the multinomial </a:t>
                </a:r>
                <a:r>
                  <a:rPr lang="en-US" altLang="ko-KR" dirty="0">
                    <a:sym typeface="Wingdings" panose="05000000000000000000" pitchFamily="2" charset="2"/>
                  </a:rPr>
                  <a:t>distribution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 and the </a:t>
                </a:r>
                <a:r>
                  <a:rPr lang="en-US" altLang="ko-KR" dirty="0" err="1" smtClean="0">
                    <a:sym typeface="Wingdings" panose="05000000000000000000" pitchFamily="2" charset="2"/>
                  </a:rPr>
                  <a:t>Dirichlet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distribution</a:t>
                </a:r>
                <a:endParaRPr lang="en-US" altLang="ko-KR" dirty="0" smtClean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 err="1" smtClean="0">
                    <a:sym typeface="Wingdings" panose="05000000000000000000" pitchFamily="2" charset="2"/>
                  </a:rPr>
                  <a:t>Dirichlet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 distribution is the conjugate prior of the </a:t>
                </a:r>
                <a:r>
                  <a:rPr lang="en-US" altLang="ko-KR" dirty="0" err="1" smtClean="0">
                    <a:sym typeface="Wingdings" panose="05000000000000000000" pitchFamily="2" charset="2"/>
                  </a:rPr>
                  <a:t>multinomical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 distribution</a:t>
                </a:r>
              </a:p>
              <a:p>
                <a:pPr lvl="1"/>
                <a:r>
                  <a:rPr lang="en-US" altLang="ko-KR" dirty="0" smtClean="0">
                    <a:sym typeface="Wingdings" panose="05000000000000000000" pitchFamily="2" charset="2"/>
                  </a:rPr>
                  <a:t>Enables sum to one technique!</a:t>
                </a:r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6305" y="1600200"/>
                <a:ext cx="8935286" cy="4925144"/>
              </a:xfrm>
              <a:blipFill>
                <a:blip r:embed="rId2"/>
                <a:stretch>
                  <a:fillRect t="-13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71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Gibbs Sampling Formula (1)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3900759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r>
                  <a:rPr lang="en-US" altLang="ko-KR" dirty="0" smtClean="0"/>
                  <a:t>Here, W,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and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are assumed or data-points, and Z is the target of sampling.</a:t>
                </a:r>
              </a:p>
              <a:p>
                <a:pPr lvl="1"/>
                <a:r>
                  <a:rPr lang="en-US" altLang="ko-KR" dirty="0" smtClean="0"/>
                  <a:t>Gibbs sampling iterates the element of Z, one by one.</a:t>
                </a:r>
              </a:p>
              <a:p>
                <a:pPr lvl="1"/>
                <a:r>
                  <a:rPr lang="en-US" altLang="ko-KR" dirty="0" smtClean="0"/>
                  <a:t>Therefore, we need to derive a formula of a single element Z when all other element of Z, W,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 smtClean="0"/>
                  <a:t>are given.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ko-KR" altLang="en-US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20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dirty="0" smtClean="0"/>
                  <a:t> is the topic assignment on the l-</a:t>
                </a:r>
                <a:r>
                  <a:rPr lang="en-US" altLang="ko-KR" dirty="0" err="1" smtClean="0"/>
                  <a:t>th</a:t>
                </a:r>
                <a:r>
                  <a:rPr lang="en-US" altLang="ko-KR" dirty="0" smtClean="0"/>
                  <a:t> word of m-</a:t>
                </a:r>
                <a:r>
                  <a:rPr lang="en-US" altLang="ko-KR" dirty="0" err="1" smtClean="0"/>
                  <a:t>th</a:t>
                </a:r>
                <a:r>
                  <a:rPr lang="en-US" altLang="ko-KR" dirty="0" smtClean="0"/>
                  <a:t> document</a:t>
                </a:r>
              </a:p>
              <a:p>
                <a:pPr lvl="1"/>
                <a:endParaRPr lang="en-US" altLang="ko-KR" dirty="0" smtClean="0"/>
              </a:p>
              <a:p>
                <a:pPr lvl="1"/>
                <a:endParaRPr lang="en-US" altLang="ko-KR" dirty="0" smtClean="0"/>
              </a:p>
              <a:p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39007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5" name="그룹 25"/>
          <p:cNvGrpSpPr/>
          <p:nvPr/>
        </p:nvGrpSpPr>
        <p:grpSpPr>
          <a:xfrm>
            <a:off x="406149" y="5608970"/>
            <a:ext cx="8342315" cy="772358"/>
            <a:chOff x="464096" y="5301208"/>
            <a:chExt cx="8342315" cy="772358"/>
          </a:xfrm>
        </p:grpSpPr>
        <p:sp>
          <p:nvSpPr>
            <p:cNvPr id="6" name="타원 6"/>
            <p:cNvSpPr/>
            <p:nvPr/>
          </p:nvSpPr>
          <p:spPr>
            <a:xfrm>
              <a:off x="1187624" y="5301208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7"/>
            <p:cNvSpPr/>
            <p:nvPr/>
          </p:nvSpPr>
          <p:spPr>
            <a:xfrm>
              <a:off x="3299859" y="5301208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8"/>
            <p:cNvSpPr/>
            <p:nvPr/>
          </p:nvSpPr>
          <p:spPr>
            <a:xfrm>
              <a:off x="5412094" y="5301208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9"/>
            <p:cNvSpPr/>
            <p:nvPr/>
          </p:nvSpPr>
          <p:spPr>
            <a:xfrm>
              <a:off x="7524328" y="5301208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11"/>
            <p:cNvCxnSpPr>
              <a:stCxn id="6" idx="6"/>
              <a:endCxn id="7" idx="2"/>
            </p:cNvCxnSpPr>
            <p:nvPr/>
          </p:nvCxnSpPr>
          <p:spPr>
            <a:xfrm>
              <a:off x="1403648" y="5409220"/>
              <a:ext cx="1896211" cy="0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2"/>
            <p:cNvCxnSpPr>
              <a:stCxn id="7" idx="6"/>
              <a:endCxn id="8" idx="2"/>
            </p:cNvCxnSpPr>
            <p:nvPr/>
          </p:nvCxnSpPr>
          <p:spPr>
            <a:xfrm>
              <a:off x="3515883" y="5409220"/>
              <a:ext cx="1896211" cy="0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5"/>
            <p:cNvCxnSpPr>
              <a:stCxn id="8" idx="6"/>
              <a:endCxn id="9" idx="2"/>
            </p:cNvCxnSpPr>
            <p:nvPr/>
          </p:nvCxnSpPr>
          <p:spPr>
            <a:xfrm>
              <a:off x="5628118" y="5409220"/>
              <a:ext cx="1896210" cy="0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9"/>
            <p:cNvCxnSpPr>
              <a:stCxn id="9" idx="6"/>
            </p:cNvCxnSpPr>
            <p:nvPr/>
          </p:nvCxnSpPr>
          <p:spPr>
            <a:xfrm>
              <a:off x="7740352" y="5409220"/>
              <a:ext cx="840539" cy="0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직사각형 21"/>
                <p:cNvSpPr/>
                <p:nvPr/>
              </p:nvSpPr>
              <p:spPr>
                <a:xfrm>
                  <a:off x="464096" y="5569197"/>
                  <a:ext cx="1689309" cy="504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2" name="직사각형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096" y="5569197"/>
                  <a:ext cx="1689309" cy="50436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직사각형 22"/>
                <p:cNvSpPr/>
                <p:nvPr/>
              </p:nvSpPr>
              <p:spPr>
                <a:xfrm>
                  <a:off x="2453410" y="5569197"/>
                  <a:ext cx="1908921" cy="504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3" name="직사각형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3410" y="5569197"/>
                  <a:ext cx="1908921" cy="50436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23"/>
                <p:cNvSpPr/>
                <p:nvPr/>
              </p:nvSpPr>
              <p:spPr>
                <a:xfrm>
                  <a:off x="4455840" y="5569197"/>
                  <a:ext cx="2128531" cy="504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4" name="직사각형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840" y="5569197"/>
                  <a:ext cx="2128531" cy="50436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24"/>
                <p:cNvSpPr/>
                <p:nvPr/>
              </p:nvSpPr>
              <p:spPr>
                <a:xfrm>
                  <a:off x="6458268" y="5569197"/>
                  <a:ext cx="2348143" cy="504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5" name="직사각형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8268" y="5569197"/>
                  <a:ext cx="2348143" cy="50436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40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Gibbs Sampling Formula (2)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020608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sz="18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den>
                        </m:f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den>
                        </m:f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nary>
                      <m:naryPr>
                        <m:chr m:val="∏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8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8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,(.)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Now, apply that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∏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,(.)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dirty="0" smtClean="0"/>
                  <a:t>: Fixing document by </a:t>
                </a:r>
                <a:r>
                  <a:rPr lang="en-US" altLang="ko-KR" b="1" i="1" dirty="0" smtClean="0"/>
                  <a:t>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,(.)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,(.)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dirty="0"/>
                  <a:t>: Fixing </a:t>
                </a:r>
                <a:r>
                  <a:rPr lang="en-US" altLang="ko-KR" dirty="0" smtClean="0"/>
                  <a:t>word </a:t>
                </a:r>
                <a:r>
                  <a:rPr lang="en-US" altLang="ko-KR" dirty="0"/>
                  <a:t>by </a:t>
                </a:r>
                <a:r>
                  <a:rPr lang="en-US" altLang="ko-KR" b="1" i="1" dirty="0" smtClean="0"/>
                  <a:t>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,(.)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dirty="0"/>
                  <a:t>: </a:t>
                </a:r>
                <a:r>
                  <a:rPr lang="en-US" altLang="ko-KR" dirty="0" smtClean="0"/>
                  <a:t>Remove a constant</a:t>
                </a:r>
                <a:r>
                  <a:rPr lang="el-GR" altLang="ko-KR" sz="1700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altLang="ko-K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,(.)</m:t>
                            </m:r>
                          </m:sub>
                          <m:sup>
                            <m:r>
                              <a:rPr lang="en-US" altLang="ko-KR" sz="1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700" b="1" i="1" dirty="0"/>
              </a:p>
              <a:p>
                <a:pPr lvl="1"/>
                <a:endParaRPr lang="en-US" altLang="ko-KR" dirty="0" smtClean="0"/>
              </a:p>
              <a:p>
                <a:endParaRPr lang="en-US" altLang="ko-KR" dirty="0" smtClean="0"/>
              </a:p>
              <a:p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0206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041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Gibbs Sampling Formula (3)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020608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,(.)</m:t>
                                </m:r>
                              </m:sub>
                              <m:sup>
                                <m:r>
                                  <a:rPr lang="en-US" altLang="ko-KR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sz="2200" i="1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ko-KR" sz="2400" dirty="0" smtClean="0">
                    <a:latin typeface="Cambria Math" panose="02040503050406030204" pitchFamily="18" charset="0"/>
                  </a:rPr>
                  <a:t>Now, we 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,−(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sz="2400" dirty="0" smtClean="0">
                    <a:latin typeface="Cambria Math" panose="02040503050406030204" pitchFamily="18" charset="0"/>
                  </a:rPr>
                  <a:t>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ko-KR" sz="2400" dirty="0" smtClean="0">
                    <a:latin typeface="Cambria Math" panose="02040503050406030204" pitchFamily="18" charset="0"/>
                  </a:rPr>
                  <a:t> excluding the count from the topic assignment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b>
                    </m:sSub>
                  </m:oMath>
                </a14:m>
                <a:endParaRPr lang="en-US" altLang="ko-KR" sz="2400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  <m:sup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,−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den>
                        </m:f>
                      </m:e>
                    </m:nary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altLang="ko-KR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200" b="0" i="1" smtClean="0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22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/>
                </a:r>
                <a:br>
                  <a:rPr lang="en-US" altLang="ko-KR" sz="22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altLang="ko-K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</a:rPr>
                              <m:t>)+1</m:t>
                            </m:r>
                          </m:e>
                        </m:d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200" i="1" dirty="0" smtClean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ko-KR" sz="2000" dirty="0" smtClean="0">
                    <a:latin typeface="Cambria Math" panose="02040503050406030204" pitchFamily="18" charset="0"/>
                  </a:rPr>
                  <a:t>Take out the k-</a:t>
                </a:r>
                <a:r>
                  <a:rPr lang="en-US" altLang="ko-KR" sz="2000" dirty="0" err="1" smtClean="0">
                    <a:latin typeface="Cambria Math" panose="02040503050406030204" pitchFamily="18" charset="0"/>
                  </a:rPr>
                  <a:t>th</a:t>
                </a:r>
                <a:r>
                  <a:rPr lang="en-US" altLang="ko-KR" sz="2000" dirty="0" smtClean="0">
                    <a:latin typeface="Cambria Math" panose="02040503050406030204" pitchFamily="18" charset="0"/>
                  </a:rPr>
                  <a:t> topic assignment because, the count of the k-</a:t>
                </a:r>
                <a:r>
                  <a:rPr lang="en-US" altLang="ko-KR" sz="2000" dirty="0" err="1" smtClean="0">
                    <a:latin typeface="Cambria Math" panose="02040503050406030204" pitchFamily="18" charset="0"/>
                  </a:rPr>
                  <a:t>th</a:t>
                </a:r>
                <a:r>
                  <a:rPr lang="en-US" altLang="ko-KR" sz="2000" dirty="0" smtClean="0">
                    <a:latin typeface="Cambria Math" panose="02040503050406030204" pitchFamily="18" charset="0"/>
                  </a:rPr>
                  <a:t> topic assignment count will be increased by 1 compared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(.)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,(.)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,−(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altLang="ko-KR" sz="2000" dirty="0" smtClean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ko-KR" sz="2000" dirty="0" smtClean="0">
                    <a:latin typeface="Cambria Math" panose="02040503050406030204" pitchFamily="18" charset="0"/>
                  </a:rPr>
                  <a:t>Notice the increment of 1 in the separated multiplication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  <m:sup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,−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den>
                        </m:f>
                      </m:e>
                    </m:nary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/>
                </a:r>
                <a:br>
                  <a:rPr lang="en-US" altLang="ko-KR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200" i="1" dirty="0" smtClean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ko-KR" sz="2000" dirty="0" smtClean="0">
                    <a:ea typeface="Cambria Math" panose="02040503050406030204" pitchFamily="18" charset="0"/>
                  </a:rPr>
                  <a:t>Definition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 </m:t>
                    </m:r>
                  </m:oMath>
                </a14:m>
                <a:endParaRPr lang="en-US" altLang="ko-KR" sz="2000" b="0" i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:r>
                  <a:rPr lang="en-US" altLang="ko-KR" sz="2000" dirty="0" smtClean="0">
                    <a:ea typeface="Cambria Math" panose="020405030504060302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!×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endParaRPr lang="en-US" altLang="ko-KR" sz="2000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ko-KR" sz="220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ko-KR" sz="2200" dirty="0">
                  <a:latin typeface="Cambria Math" panose="02040503050406030204" pitchFamily="18" charset="0"/>
                </a:endParaRPr>
              </a:p>
              <a:p>
                <a:endParaRPr lang="en-US" altLang="ko-KR" sz="240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020608"/>
              </a:xfrm>
              <a:blipFill>
                <a:blip r:embed="rId2"/>
                <a:stretch>
                  <a:fillRect b="-7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075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Gibbs Sampling Formula (4)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020608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  <m:sup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,−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den>
                        </m:f>
                      </m:e>
                    </m:nary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/>
                </a:r>
                <a:br>
                  <a:rPr lang="en-US" altLang="ko-KR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1"/>
                                  </m:r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20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 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d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d>
                                      <m:d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"/>
                                      </m:rP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  <m:sup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,−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22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den>
                        </m:f>
                      </m:e>
                    </m:nary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ko-K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/>
                </a:r>
                <a:br>
                  <a:rPr lang="en-US" altLang="ko-KR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20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ko-KR" sz="2000" dirty="0" smtClean="0">
                    <a:ea typeface="Cambria Math" panose="02040503050406030204" pitchFamily="18" charset="0"/>
                  </a:rPr>
                  <a:t>Absolved the </a:t>
                </a:r>
                <a:r>
                  <a:rPr lang="en-US" altLang="ko-KR" sz="2000" dirty="0" err="1" smtClean="0">
                    <a:ea typeface="Cambria Math" panose="02040503050406030204" pitchFamily="18" charset="0"/>
                  </a:rPr>
                  <a:t>i</a:t>
                </a:r>
                <a:r>
                  <a:rPr lang="en-US" altLang="ko-KR" sz="2000" dirty="0" smtClean="0">
                    <a:ea typeface="Cambria Math" panose="02040503050406030204" pitchFamily="18" charset="0"/>
                  </a:rPr>
                  <a:t>=k case in to the large operator of multiplications</a:t>
                </a:r>
              </a:p>
              <a:p>
                <a:pPr lvl="2"/>
                <a:r>
                  <a:rPr lang="en-US" altLang="ko-KR" sz="2000" dirty="0" smtClean="0">
                    <a:ea typeface="Cambria Math" panose="02040503050406030204" pitchFamily="18" charset="0"/>
                  </a:rPr>
                  <a:t>The topic assignment count used for the large multiplication is same to the assignment of any </a:t>
                </a:r>
                <a:r>
                  <a:rPr lang="en-US" altLang="ko-KR" sz="2000" b="1" i="1" dirty="0" smtClean="0">
                    <a:ea typeface="Cambria Math" panose="02040503050406030204" pitchFamily="18" charset="0"/>
                  </a:rPr>
                  <a:t>k</a:t>
                </a:r>
                <a:r>
                  <a:rPr lang="en-US" altLang="ko-KR" sz="2000" dirty="0" smtClean="0">
                    <a:ea typeface="Cambria Math" panose="02040503050406030204" pitchFamily="18" charset="0"/>
                  </a:rPr>
                  <a:t> on the word assignment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d>
                          <m:d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d>
                      </m:sub>
                    </m:sSub>
                  </m:oMath>
                </a14:m>
                <a:endParaRPr lang="en-US" altLang="ko-KR" sz="2000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:r>
                  <a:rPr lang="en-US" altLang="ko-KR" sz="2000" dirty="0" smtClean="0">
                    <a:ea typeface="Cambria Math" panose="02040503050406030204" pitchFamily="18" charset="0"/>
                  </a:rPr>
                  <a:t>Therefore, only the meaningful proportion is the separated single multiplications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400" dirty="0" smtClean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ko-KR" sz="2200" dirty="0" smtClean="0">
                    <a:latin typeface="Cambria Math" panose="02040503050406030204" pitchFamily="18" charset="0"/>
                  </a:rPr>
                  <a:t>Finally, this formula is simplified enough to calculate the likelihood of assigning </a:t>
                </a:r>
                <a:r>
                  <a:rPr lang="en-US" altLang="ko-KR" sz="2200" b="1" i="1" dirty="0" smtClean="0">
                    <a:latin typeface="Cambria Math" panose="02040503050406030204" pitchFamily="18" charset="0"/>
                  </a:rPr>
                  <a:t>k</a:t>
                </a:r>
                <a:r>
                  <a:rPr lang="en-US" altLang="ko-KR" sz="2200" dirty="0" smtClean="0">
                    <a:latin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d>
                      </m:sub>
                    </m:sSub>
                  </m:oMath>
                </a14:m>
                <a:endParaRPr lang="en-US" altLang="ko-KR" sz="2200" b="1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ko-KR" sz="2200" dirty="0" smtClean="0">
                    <a:latin typeface="Cambria Math" panose="02040503050406030204" pitchFamily="18" charset="0"/>
                  </a:rPr>
                  <a:t>To become a probability, we need to normalize the above formula. </a:t>
                </a:r>
                <a:endParaRPr lang="en-US" altLang="ko-KR" sz="2200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ko-KR" sz="2200" dirty="0">
                  <a:latin typeface="Cambria Math" panose="02040503050406030204" pitchFamily="18" charset="0"/>
                </a:endParaRPr>
              </a:p>
              <a:p>
                <a:endParaRPr lang="en-US" altLang="ko-KR" sz="240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0206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68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LDA Model Parameter Inference Routine with Gibbs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 smtClean="0"/>
                  <a:t>LDA(</a:t>
                </a:r>
                <a:r>
                  <a:rPr lang="en-US" altLang="ko-KR" dirty="0" err="1" smtClean="0"/>
                  <a:t>TextCorpus</a:t>
                </a:r>
                <a:r>
                  <a:rPr lang="en-US" altLang="ko-KR" dirty="0" smtClean="0"/>
                  <a:t> T,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 smtClean="0"/>
                  <a:t>)</a:t>
                </a:r>
              </a:p>
              <a:p>
                <a:pPr lvl="1"/>
                <a:r>
                  <a:rPr lang="en-US" altLang="ko-KR" dirty="0"/>
                  <a:t>Randomly, initialize Z </a:t>
                </a:r>
                <a:r>
                  <a:rPr lang="en-US" altLang="ko-KR" dirty="0" smtClean="0"/>
                  <a:t>assignment on T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Count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ko-KR" dirty="0"/>
                  <a:t> with the initial Z assignment</a:t>
                </a:r>
              </a:p>
              <a:p>
                <a:pPr lvl="1"/>
                <a:r>
                  <a:rPr lang="en-US" altLang="ko-KR" dirty="0" smtClean="0"/>
                  <a:t>While performance measure (i.e. perplexity) converges</a:t>
                </a:r>
              </a:p>
              <a:p>
                <a:pPr lvl="2"/>
                <a:r>
                  <a:rPr lang="en-US" altLang="ko-KR" dirty="0" smtClean="0"/>
                  <a:t>For </a:t>
                </a:r>
                <a:r>
                  <a:rPr lang="en-US" altLang="ko-KR" b="1" i="1" dirty="0" smtClean="0"/>
                  <a:t>m</a:t>
                </a:r>
                <a:r>
                  <a:rPr lang="en-US" altLang="ko-KR" dirty="0" smtClean="0"/>
                  <a:t> = 1 to T’s document number</a:t>
                </a:r>
              </a:p>
              <a:p>
                <a:pPr lvl="3"/>
                <a:r>
                  <a:rPr lang="en-US" altLang="ko-KR" dirty="0" smtClean="0"/>
                  <a:t>For </a:t>
                </a:r>
                <a:r>
                  <a:rPr lang="en-US" altLang="ko-KR" b="1" i="1" dirty="0" smtClean="0"/>
                  <a:t>l</a:t>
                </a:r>
                <a:r>
                  <a:rPr lang="en-US" altLang="ko-KR" dirty="0" smtClean="0"/>
                  <a:t> = 1 to T</a:t>
                </a:r>
                <a:r>
                  <a:rPr lang="en-US" altLang="ko-KR" baseline="-25000" dirty="0" smtClean="0"/>
                  <a:t>m</a:t>
                </a:r>
                <a:r>
                  <a:rPr lang="en-US" altLang="ko-KR" dirty="0" smtClean="0"/>
                  <a:t>’s document word length</a:t>
                </a:r>
                <a:endParaRPr lang="en-US" altLang="ko-KR" baseline="-25000" dirty="0" smtClean="0"/>
              </a:p>
              <a:p>
                <a:pPr lvl="4"/>
                <a:r>
                  <a:rPr lang="en-US" altLang="ko-KR" sz="1200" dirty="0" smtClean="0"/>
                  <a:t>Sampling </a:t>
                </a:r>
                <a:r>
                  <a:rPr lang="en-US" altLang="ko-KR" sz="1200" b="1" i="1" dirty="0" smtClean="0"/>
                  <a:t>k</a:t>
                </a:r>
                <a:r>
                  <a:rPr lang="en-US" altLang="ko-KR" sz="1200" dirty="0" smtClean="0"/>
                  <a:t> from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b>
                        </m:s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d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d>
                                  <m:dPr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200" dirty="0" smtClean="0">
                  <a:latin typeface="Cambria Math" panose="02040503050406030204" pitchFamily="18" charset="0"/>
                </a:endParaRPr>
              </a:p>
              <a:p>
                <a:pPr lvl="4"/>
                <a:r>
                  <a:rPr lang="en-US" altLang="ko-KR" sz="1200" dirty="0" smtClean="0">
                    <a:latin typeface="Cambria Math" panose="02040503050406030204" pitchFamily="18" charset="0"/>
                  </a:rPr>
                  <a:t>Adjust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bSup>
                  </m:oMath>
                </a14:m>
                <a:r>
                  <a:rPr lang="en-US" altLang="ko-KR" sz="1200" dirty="0" smtClean="0">
                    <a:latin typeface="Cambria Math" panose="02040503050406030204" pitchFamily="18" charset="0"/>
                  </a:rPr>
                  <a:t> by assigning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d>
                          <m:dPr>
                            <m:ctrlPr>
                              <a:rPr lang="en-US" altLang="ko-KR" sz="1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d>
                      </m:sub>
                    </m:sSub>
                    <m:r>
                      <a:rPr lang="en-US" altLang="ko-KR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altLang="ko-KR" sz="1200" b="1" dirty="0" smtClean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ko-KR" sz="1800" dirty="0" smtClean="0">
                    <a:latin typeface="Cambria Math" panose="02040503050406030204" pitchFamily="18" charset="0"/>
                  </a:rPr>
                  <a:t>Calculate the most likely estimation on </a:t>
                </a:r>
                <a14:m>
                  <m:oMath xmlns:m="http://schemas.openxmlformats.org/officeDocument/2006/math">
                    <m:r>
                      <a:rPr lang="ko-KR" altLang="en-US" sz="1800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sz="1800" dirty="0"/>
                  <a:t> and </a:t>
                </a:r>
                <a14:m>
                  <m:oMath xmlns:m="http://schemas.openxmlformats.org/officeDocument/2006/math">
                    <m:r>
                      <a:rPr lang="ko-KR" altLang="en-US" sz="1800" b="1" i="1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endParaRPr lang="en-US" altLang="ko-KR" sz="1800" b="1" dirty="0"/>
              </a:p>
              <a:p>
                <a:pPr lvl="1"/>
                <a:r>
                  <a:rPr lang="en-US" altLang="ko-KR" sz="1800" dirty="0" smtClean="0">
                    <a:latin typeface="Cambria Math" panose="020405030504060302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ko-KR" altLang="en-US" sz="1800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sz="1800" dirty="0"/>
                  <a:t> and </a:t>
                </a:r>
                <a14:m>
                  <m:oMath xmlns:m="http://schemas.openxmlformats.org/officeDocument/2006/math">
                    <m:r>
                      <a:rPr lang="ko-KR" altLang="en-US" sz="1800" b="1" i="1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endParaRPr lang="en-US" altLang="ko-KR" sz="1800" b="1" dirty="0"/>
              </a:p>
              <a:p>
                <a:endParaRPr lang="en-US" altLang="ko-KR" sz="2000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ko-KR" sz="2000" dirty="0" smtClean="0">
                    <a:latin typeface="Cambria Math" panose="02040503050406030204" pitchFamily="18" charset="0"/>
                  </a:rPr>
                  <a:t>Note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800" b="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1800" dirty="0" smtClean="0">
                    <a:latin typeface="Cambria Math" panose="02040503050406030204" pitchFamily="18" charset="0"/>
                  </a:rPr>
                  <a:t> represents the document-topic probability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800" b="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ko-KR" sz="1800" dirty="0" smtClean="0">
                    <a:latin typeface="Cambria Math" panose="02040503050406030204" pitchFamily="18" charset="0"/>
                  </a:rPr>
                  <a:t> represents the topic-word probability</a:t>
                </a:r>
              </a:p>
              <a:p>
                <a:pPr lvl="1"/>
                <a:r>
                  <a:rPr lang="en-US" altLang="ko-KR" sz="1800" dirty="0" smtClean="0">
                    <a:latin typeface="Cambria Math" panose="02040503050406030204" pitchFamily="18" charset="0"/>
                  </a:rPr>
                  <a:t>Perplexity is the measurement on the quality of the soft-clustering, and calculating it may take some time. Hence, many cases, we just set the iteration number.</a:t>
                </a:r>
                <a:endParaRPr lang="en-US" altLang="ko-KR" sz="1800" dirty="0">
                  <a:latin typeface="Cambria Math" panose="02040503050406030204" pitchFamily="18" charset="0"/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15" r="-289" b="-1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720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Templat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Template.potx</Template>
  <TotalTime>10299</TotalTime>
  <Words>438</Words>
  <Application>Microsoft Office PowerPoint</Application>
  <PresentationFormat>On-screen Show (4:3)</PresentationFormat>
  <Paragraphs>207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Presentation Template</vt:lpstr>
      <vt:lpstr>Sampling Based Inference</vt:lpstr>
      <vt:lpstr>Weekly Objectives</vt:lpstr>
      <vt:lpstr>Latent Dirichlet allocation</vt:lpstr>
      <vt:lpstr>Topic Modeling</vt:lpstr>
      <vt:lpstr>Latent Dirichlet Allocation</vt:lpstr>
      <vt:lpstr>Finding Topic Assignment  Per Word</vt:lpstr>
      <vt:lpstr>Gibbs Sampling on Z (1)</vt:lpstr>
      <vt:lpstr>Gibbs Sampling on Z (2)</vt:lpstr>
      <vt:lpstr>Gibbs Sampling on Z (3)</vt:lpstr>
      <vt:lpstr>Collapse from Conjugacy</vt:lpstr>
      <vt:lpstr>Gibbs Sampling Formula (1)</vt:lpstr>
      <vt:lpstr>Gibbs Sampling Formula (2)</vt:lpstr>
      <vt:lpstr>Gibbs Sampling Formula (3)</vt:lpstr>
      <vt:lpstr>Gibbs Sampling Formula (4)</vt:lpstr>
      <vt:lpstr>LDA Model Parameter Inference Routine with Gibbs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Inference on Probabilistic Graphical Models</dc:title>
  <dc:creator>Il-Chul Moon</dc:creator>
  <cp:lastModifiedBy>Il-Chul Moon</cp:lastModifiedBy>
  <cp:revision>545</cp:revision>
  <dcterms:created xsi:type="dcterms:W3CDTF">2013-08-14T02:12:56Z</dcterms:created>
  <dcterms:modified xsi:type="dcterms:W3CDTF">2016-01-18T22:23:11Z</dcterms:modified>
</cp:coreProperties>
</file>
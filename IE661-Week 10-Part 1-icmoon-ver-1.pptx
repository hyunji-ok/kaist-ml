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93" r:id="rId2"/>
    <p:sldId id="294" r:id="rId3"/>
    <p:sldId id="295" r:id="rId4"/>
    <p:sldId id="310" r:id="rId5"/>
    <p:sldId id="317" r:id="rId6"/>
    <p:sldId id="311" r:id="rId7"/>
    <p:sldId id="319" r:id="rId8"/>
    <p:sldId id="318" r:id="rId9"/>
    <p:sldId id="320" r:id="rId10"/>
    <p:sldId id="312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1129.89661" units="1/cm"/>
          <inkml:channelProperty channel="Y" name="resolution" value="1927.47058" units="1/cm"/>
        </inkml:channelProperties>
      </inkml:inkSource>
      <inkml:timestamp xml:id="ts0" timeString="2015-09-14T01:50:18.8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22034 7768,'0'0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085F3-A77E-408E-9F90-D3B01E2760CC}" type="datetimeFigureOut">
              <a:rPr lang="ko-KR" altLang="en-US" smtClean="0"/>
              <a:t>2017-06-20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91C5F-1D0F-4256-BD1C-618DF4C9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96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1"/>
            <a:ext cx="7543800" cy="1668016"/>
          </a:xfrm>
        </p:spPr>
        <p:txBody>
          <a:bodyPr anchor="b"/>
          <a:lstStyle>
            <a:lvl1pPr>
              <a:defRPr sz="48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7558608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D78E696B-9374-4FC8-A4A4-DDB21E4308C9}" type="datetime1">
              <a:rPr lang="ko-KR" altLang="en-US" smtClean="0"/>
              <a:t>2017-06-20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894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3601A0AE-82B0-4EE0-BB01-FCB58416881D}" type="datetime1">
              <a:rPr lang="ko-KR" altLang="en-US" smtClean="0"/>
              <a:t>2017-06-20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868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206553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573016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6EF5DD2A-9A58-465F-9A0F-1C8629BE06FE}" type="datetime1">
              <a:rPr lang="ko-KR" altLang="en-US" smtClean="0"/>
              <a:t>2017-06-20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855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656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57CAFD41-B754-45DC-A522-98D3F864B24A}" type="datetime1">
              <a:rPr lang="ko-KR" altLang="en-US" smtClean="0"/>
              <a:t>2017-06-20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03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248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248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D1E221B1-7A1E-426C-AF01-35749B7BF4ED}" type="datetime1">
              <a:rPr lang="ko-KR" altLang="en-US" smtClean="0"/>
              <a:t>2017-06-20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145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F4C3A041-F064-4634-BCB4-E288DF9234D4}" type="datetime1">
              <a:rPr lang="ko-KR" altLang="en-US" smtClean="0"/>
              <a:t>2017-06-20</a:t>
            </a:fld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08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637DB916-A8CC-4508-BDB7-A7C41CF51D78}" type="datetime1">
              <a:rPr lang="ko-KR" altLang="en-US" smtClean="0"/>
              <a:t>2017-06-20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10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01208"/>
            <a:ext cx="8443663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5901664"/>
            <a:ext cx="8443665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E6380F88-DEEA-4445-973D-596FFE796746}" type="datetime1">
              <a:rPr lang="ko-KR" altLang="en-US" smtClean="0"/>
              <a:t>2017-06-20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8443664" cy="477619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95278"/>
            <a:ext cx="91440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6096000"/>
            <a:ext cx="9144000" cy="50135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1968E8D3-738E-482E-B8E9-37E700B6269C}" type="datetime1">
              <a:rPr lang="ko-KR" altLang="en-US" smtClean="0"/>
              <a:t>2017-06-20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43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0FDD-37C3-44C6-926E-30504FBD2D12}" type="datetime1">
              <a:rPr lang="ko-KR" altLang="en-US" smtClean="0"/>
              <a:t>2017-06-20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197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0272" y="274638"/>
            <a:ext cx="1752600" cy="6178698"/>
          </a:xfrm>
        </p:spPr>
        <p:txBody>
          <a:bodyPr vert="eaVert" anchor="b" anchorCtr="0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419056" cy="617869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10876C0D-36C2-4B2B-9620-3F481773C3BD}" type="datetime1">
              <a:rPr lang="ko-KR" altLang="en-US" smtClean="0"/>
              <a:t>2017-06-20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39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chemeClr val="bg2">
                <a:alpha val="87000"/>
              </a:schemeClr>
            </a:gs>
            <a:gs pos="100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4439133" y="2151868"/>
            <a:ext cx="268982" cy="91599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i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-8093" y="6590376"/>
            <a:ext cx="577502" cy="277200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38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435280" cy="4925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 smtClean="0"/>
              <a:t>Click to edit Master text styles 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388424" y="6597351"/>
            <a:ext cx="765175" cy="266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0432" y="6620808"/>
            <a:ext cx="621159" cy="216024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177" y="6597351"/>
            <a:ext cx="1070247" cy="275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5174896E-ED42-4D61-895F-99B0D2E268F3}" type="datetime1">
              <a:rPr lang="ko-KR" altLang="en-US" smtClean="0"/>
              <a:t>2017-06-20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475656" y="6608385"/>
            <a:ext cx="5944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Copyright © 2012 by Il-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Chul</a:t>
            </a:r>
            <a:r>
              <a:rPr lang="en-US" altLang="ko-KR" sz="1200" dirty="0" smtClean="0">
                <a:solidFill>
                  <a:schemeClr val="bg1"/>
                </a:solidFill>
              </a:rPr>
              <a:t> Moon, Dept. of Industrial and Systems Engineering, KAIST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123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1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cmoon@kaist.ac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image" Target="../media/image4.png"/><Relationship Id="rId7" Type="http://schemas.openxmlformats.org/officeDocument/2006/relationships/image" Target="../media/image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8.emf"/><Relationship Id="rId4" Type="http://schemas.openxmlformats.org/officeDocument/2006/relationships/image" Target="../media/image5.png"/><Relationship Id="rId9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3.emf"/><Relationship Id="rId5" Type="http://schemas.openxmlformats.org/officeDocument/2006/relationships/image" Target="../media/image18.png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Sampling Based Inference</a:t>
            </a:r>
            <a:endParaRPr lang="ko-KR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Il-Chul Moon</a:t>
            </a:r>
            <a:br>
              <a:rPr lang="en-US" altLang="ko-KR" dirty="0" smtClean="0"/>
            </a:br>
            <a:r>
              <a:rPr lang="en-US" altLang="ko-KR" dirty="0" smtClean="0"/>
              <a:t>Dept. of Industrial and Systems Engineering</a:t>
            </a:r>
            <a:br>
              <a:rPr lang="en-US" altLang="ko-KR" dirty="0" smtClean="0"/>
            </a:br>
            <a:r>
              <a:rPr lang="en-US" altLang="ko-KR" dirty="0" smtClean="0"/>
              <a:t>KAIST</a:t>
            </a:r>
            <a:endParaRPr lang="en-US" altLang="ko-KR" dirty="0"/>
          </a:p>
          <a:p>
            <a:r>
              <a:rPr lang="en-US" altLang="ko-KR" dirty="0" smtClean="0">
                <a:hlinkClick r:id="rId2"/>
              </a:rPr>
              <a:t>icmoon@kaist.ac.kr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64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Weekly Objectives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Learn basic sampling methods</a:t>
            </a:r>
          </a:p>
          <a:p>
            <a:pPr lvl="1"/>
            <a:r>
              <a:rPr lang="en-US" altLang="ko-KR" dirty="0" smtClean="0"/>
              <a:t>Understand the concept of Markov chain Monte Carlo</a:t>
            </a:r>
          </a:p>
          <a:p>
            <a:pPr lvl="1"/>
            <a:r>
              <a:rPr lang="en-US" altLang="ko-KR" dirty="0" smtClean="0"/>
              <a:t>Able to apply MCMC to the parameter inference of Bayesian networks</a:t>
            </a:r>
          </a:p>
          <a:p>
            <a:pPr lvl="1"/>
            <a:r>
              <a:rPr lang="en-US" altLang="ko-KR" dirty="0" smtClean="0"/>
              <a:t>Know the mechanism of rejection sampling</a:t>
            </a:r>
          </a:p>
          <a:p>
            <a:pPr lvl="1"/>
            <a:r>
              <a:rPr lang="en-US" altLang="ko-KR" dirty="0"/>
              <a:t>Know the mechanism of </a:t>
            </a:r>
            <a:r>
              <a:rPr lang="en-US" altLang="ko-KR" dirty="0" smtClean="0"/>
              <a:t>importance </a:t>
            </a:r>
            <a:r>
              <a:rPr lang="en-US" altLang="ko-KR" dirty="0"/>
              <a:t>sampling</a:t>
            </a:r>
          </a:p>
          <a:p>
            <a:r>
              <a:rPr lang="en-US" altLang="ko-KR" dirty="0" smtClean="0"/>
              <a:t>Learn sampling based inference</a:t>
            </a:r>
          </a:p>
          <a:p>
            <a:pPr lvl="1"/>
            <a:r>
              <a:rPr lang="en-US" altLang="ko-KR" dirty="0" smtClean="0"/>
              <a:t>Understand the concept of Metropolis-Hastings algorithm</a:t>
            </a:r>
          </a:p>
          <a:p>
            <a:pPr lvl="1"/>
            <a:r>
              <a:rPr lang="en-US" altLang="ko-KR" dirty="0" smtClean="0"/>
              <a:t>Know the mechanism of Gibbs sampling</a:t>
            </a:r>
          </a:p>
          <a:p>
            <a:r>
              <a:rPr lang="en-US" altLang="ko-KR" dirty="0" smtClean="0"/>
              <a:t>Know a case study of sampling based inference</a:t>
            </a:r>
          </a:p>
          <a:p>
            <a:pPr lvl="1"/>
            <a:r>
              <a:rPr lang="en-US" altLang="ko-KR" dirty="0" smtClean="0"/>
              <a:t>Understand the latent Dirichlet allocation model</a:t>
            </a:r>
          </a:p>
          <a:p>
            <a:pPr lvl="1"/>
            <a:r>
              <a:rPr lang="en-US" altLang="ko-KR" dirty="0" smtClean="0"/>
              <a:t>Know the collapsed Gibbs sampling</a:t>
            </a:r>
          </a:p>
          <a:p>
            <a:pPr lvl="1"/>
            <a:r>
              <a:rPr lang="en-US" altLang="ko-KR" dirty="0" smtClean="0"/>
              <a:t>Know how to derive Gibbs sampling formula for LDA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74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Basic Sampling methods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55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361" y="31994"/>
            <a:ext cx="8435280" cy="674905"/>
          </a:xfrm>
        </p:spPr>
        <p:txBody>
          <a:bodyPr/>
          <a:lstStyle/>
          <a:p>
            <a:r>
              <a:rPr lang="en-US" altLang="ko-KR" sz="4000" dirty="0" smtClean="0"/>
              <a:t>Forward Sampling</a:t>
            </a:r>
            <a:endParaRPr lang="ko-KR" alt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69990"/>
            <a:ext cx="3557556" cy="5655354"/>
          </a:xfrm>
        </p:spPr>
        <p:txBody>
          <a:bodyPr>
            <a:normAutofit lnSpcReduction="10000"/>
          </a:bodyPr>
          <a:lstStyle/>
          <a:p>
            <a:r>
              <a:rPr lang="en-US" altLang="ko-KR" dirty="0" smtClean="0"/>
              <a:t>Generate a sample from the Bayesian network</a:t>
            </a:r>
          </a:p>
          <a:p>
            <a:pPr lvl="1"/>
            <a:r>
              <a:rPr lang="en-US" altLang="ko-KR" dirty="0" smtClean="0"/>
              <a:t>Follow topological order</a:t>
            </a:r>
          </a:p>
          <a:p>
            <a:pPr lvl="2"/>
            <a:r>
              <a:rPr lang="en-US" altLang="ko-KR" dirty="0" err="1" smtClean="0"/>
              <a:t>Buglary</a:t>
            </a:r>
            <a:r>
              <a:rPr lang="en-US" altLang="ko-KR" dirty="0" smtClean="0"/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 false</a:t>
            </a:r>
          </a:p>
          <a:p>
            <a:pPr lvl="2"/>
            <a:r>
              <a:rPr lang="en-US" altLang="ko-KR" dirty="0" smtClean="0">
                <a:sym typeface="Wingdings" panose="05000000000000000000" pitchFamily="2" charset="2"/>
              </a:rPr>
              <a:t>Earthquake  false</a:t>
            </a:r>
          </a:p>
          <a:p>
            <a:pPr lvl="2"/>
            <a:r>
              <a:rPr lang="en-US" altLang="ko-KR" dirty="0" err="1" smtClean="0">
                <a:sym typeface="Wingdings" panose="05000000000000000000" pitchFamily="2" charset="2"/>
              </a:rPr>
              <a:t>Alarm|B</a:t>
            </a:r>
            <a:r>
              <a:rPr lang="en-US" altLang="ko-KR" dirty="0" smtClean="0">
                <a:sym typeface="Wingdings" panose="05000000000000000000" pitchFamily="2" charset="2"/>
              </a:rPr>
              <a:t>=F,E=</a:t>
            </a:r>
            <a:r>
              <a:rPr lang="en-US" altLang="ko-KR" dirty="0" err="1" smtClean="0">
                <a:sym typeface="Wingdings" panose="05000000000000000000" pitchFamily="2" charset="2"/>
              </a:rPr>
              <a:t>Ftrue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lvl="2"/>
            <a:r>
              <a:rPr lang="en-US" altLang="ko-KR" dirty="0" smtClean="0">
                <a:sym typeface="Wingdings" panose="05000000000000000000" pitchFamily="2" charset="2"/>
              </a:rPr>
              <a:t>JC|A=</a:t>
            </a:r>
            <a:r>
              <a:rPr lang="en-US" altLang="ko-KR" dirty="0" err="1" smtClean="0">
                <a:sym typeface="Wingdings" panose="05000000000000000000" pitchFamily="2" charset="2"/>
              </a:rPr>
              <a:t>Ttrue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lvl="2"/>
            <a:r>
              <a:rPr lang="en-US" altLang="ko-KR" dirty="0" smtClean="0">
                <a:sym typeface="Wingdings" panose="05000000000000000000" pitchFamily="2" charset="2"/>
              </a:rPr>
              <a:t>MC|A=</a:t>
            </a:r>
            <a:r>
              <a:rPr lang="en-US" altLang="ko-KR" dirty="0" err="1" smtClean="0">
                <a:sym typeface="Wingdings" panose="05000000000000000000" pitchFamily="2" charset="2"/>
              </a:rPr>
              <a:t>Tfalse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lvl="1"/>
            <a:r>
              <a:rPr lang="en-US" altLang="ko-KR" dirty="0" smtClean="0">
                <a:sym typeface="Wingdings" panose="05000000000000000000" pitchFamily="2" charset="2"/>
              </a:rPr>
              <a:t>Create such sample many, many, many times</a:t>
            </a:r>
          </a:p>
          <a:p>
            <a:r>
              <a:rPr lang="en-US" altLang="ko-KR" dirty="0" smtClean="0">
                <a:sym typeface="Wingdings" panose="05000000000000000000" pitchFamily="2" charset="2"/>
              </a:rPr>
              <a:t>Then, count the samples match the case</a:t>
            </a:r>
          </a:p>
          <a:p>
            <a:pPr lvl="1"/>
            <a:r>
              <a:rPr lang="en-US" altLang="ko-KR" dirty="0" smtClean="0">
                <a:sym typeface="Wingdings" panose="05000000000000000000" pitchFamily="2" charset="2"/>
              </a:rPr>
              <a:t>P(E=T|MC=T)=?</a:t>
            </a:r>
          </a:p>
          <a:p>
            <a:pPr lvl="2"/>
            <a:r>
              <a:rPr lang="en-US" altLang="ko-KR" dirty="0" smtClean="0">
                <a:sym typeface="Wingdings" panose="05000000000000000000" pitchFamily="2" charset="2"/>
              </a:rPr>
              <a:t>Count the cases of E=T and MC=T</a:t>
            </a:r>
          </a:p>
          <a:p>
            <a:pPr lvl="2"/>
            <a:r>
              <a:rPr lang="en-US" altLang="ko-KR" dirty="0" smtClean="0">
                <a:sym typeface="Wingdings" panose="05000000000000000000" pitchFamily="2" charset="2"/>
              </a:rPr>
              <a:t>Count the cases of MC=T</a:t>
            </a:r>
          </a:p>
          <a:p>
            <a:r>
              <a:rPr lang="en-US" altLang="ko-KR" dirty="0" smtClean="0">
                <a:sym typeface="Wingdings" panose="05000000000000000000" pitchFamily="2" charset="2"/>
              </a:rPr>
              <a:t>Any problem? </a:t>
            </a:r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Oval 4"/>
          <p:cNvSpPr/>
          <p:nvPr/>
        </p:nvSpPr>
        <p:spPr>
          <a:xfrm>
            <a:off x="5980931" y="2476451"/>
            <a:ext cx="136815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Alarm</a:t>
            </a:r>
            <a:endParaRPr lang="ko-KR" altLang="en-US" dirty="0"/>
          </a:p>
        </p:txBody>
      </p:sp>
      <p:cxnSp>
        <p:nvCxnSpPr>
          <p:cNvPr id="6" name="Straight Arrow Connector 5"/>
          <p:cNvCxnSpPr>
            <a:stCxn id="5" idx="3"/>
            <a:endCxn id="7" idx="0"/>
          </p:cNvCxnSpPr>
          <p:nvPr/>
        </p:nvCxnSpPr>
        <p:spPr>
          <a:xfrm flipH="1">
            <a:off x="5453380" y="2968152"/>
            <a:ext cx="727912" cy="46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589284" y="3434392"/>
            <a:ext cx="172819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JohnCalls</a:t>
            </a:r>
            <a:endParaRPr lang="ko-KR" altLang="en-US" baseline="-25000" dirty="0"/>
          </a:p>
        </p:txBody>
      </p:sp>
      <p:sp>
        <p:nvSpPr>
          <p:cNvPr id="8" name="Oval 7"/>
          <p:cNvSpPr/>
          <p:nvPr/>
        </p:nvSpPr>
        <p:spPr>
          <a:xfrm>
            <a:off x="7211950" y="3434392"/>
            <a:ext cx="1633637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MaryCalls</a:t>
            </a:r>
            <a:endParaRPr lang="ko-KR" altLang="en-US" baseline="-25000" dirty="0"/>
          </a:p>
        </p:txBody>
      </p:sp>
      <p:cxnSp>
        <p:nvCxnSpPr>
          <p:cNvPr id="9" name="Straight Arrow Connector 8"/>
          <p:cNvCxnSpPr>
            <a:stCxn id="5" idx="5"/>
            <a:endCxn id="8" idx="0"/>
          </p:cNvCxnSpPr>
          <p:nvPr/>
        </p:nvCxnSpPr>
        <p:spPr>
          <a:xfrm>
            <a:off x="7148722" y="2968152"/>
            <a:ext cx="880047" cy="46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717643" y="1356881"/>
            <a:ext cx="172819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Buglary</a:t>
            </a:r>
            <a:endParaRPr lang="ko-KR" altLang="en-US" baseline="-25000" dirty="0"/>
          </a:p>
        </p:txBody>
      </p:sp>
      <p:sp>
        <p:nvSpPr>
          <p:cNvPr id="11" name="Oval 10"/>
          <p:cNvSpPr/>
          <p:nvPr/>
        </p:nvSpPr>
        <p:spPr>
          <a:xfrm>
            <a:off x="7276990" y="1299304"/>
            <a:ext cx="1633637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Earthquake</a:t>
            </a:r>
            <a:endParaRPr lang="ko-KR" altLang="en-US" sz="1400" baseline="-25000" dirty="0"/>
          </a:p>
        </p:txBody>
      </p:sp>
      <p:cxnSp>
        <p:nvCxnSpPr>
          <p:cNvPr id="12" name="Straight Arrow Connector 11"/>
          <p:cNvCxnSpPr>
            <a:stCxn id="11" idx="3"/>
            <a:endCxn id="5" idx="7"/>
          </p:cNvCxnSpPr>
          <p:nvPr/>
        </p:nvCxnSpPr>
        <p:spPr>
          <a:xfrm flipH="1">
            <a:off x="7148722" y="1791005"/>
            <a:ext cx="367509" cy="769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4"/>
            <a:endCxn id="5" idx="1"/>
          </p:cNvCxnSpPr>
          <p:nvPr/>
        </p:nvCxnSpPr>
        <p:spPr>
          <a:xfrm>
            <a:off x="5581739" y="1932945"/>
            <a:ext cx="599553" cy="627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61156" y="88418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P(B)=0.001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367923" y="869990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P(E)=0.002</a:t>
            </a:r>
            <a:endParaRPr lang="ko-KR" altLang="en-US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116100"/>
              </p:ext>
            </p:extLst>
          </p:nvPr>
        </p:nvGraphicFramePr>
        <p:xfrm>
          <a:off x="4125873" y="4450763"/>
          <a:ext cx="301675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P(A|B,E)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0.95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0.94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0.29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0.001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970770"/>
              </p:ext>
            </p:extLst>
          </p:nvPr>
        </p:nvGraphicFramePr>
        <p:xfrm>
          <a:off x="7257727" y="4179624"/>
          <a:ext cx="182386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P(J|A)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0.90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0.05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814436"/>
              </p:ext>
            </p:extLst>
          </p:nvPr>
        </p:nvGraphicFramePr>
        <p:xfrm>
          <a:off x="7246517" y="5412824"/>
          <a:ext cx="182386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P(M|A)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0.70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811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Forward Sampling in GMM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 smtClean="0"/>
                  <a:t>Forward sampling of GMM</a:t>
                </a:r>
              </a:p>
              <a:p>
                <a:pPr lvl="1"/>
                <a:r>
                  <a:rPr lang="en-US" altLang="ko-KR" dirty="0" smtClean="0"/>
                  <a:t>Sample z from </a:t>
                </a:r>
                <a14:m>
                  <m:oMath xmlns:m="http://schemas.openxmlformats.org/officeDocument/2006/math">
                    <m:r>
                      <a:rPr lang="ko-KR" altLang="en-US" b="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ko-KR" b="0" dirty="0" smtClean="0"/>
              </a:p>
              <a:p>
                <a:pPr lvl="2"/>
                <a:r>
                  <a:rPr lang="en-US" altLang="ko-KR" dirty="0" smtClean="0"/>
                  <a:t>z is the indicator of the mixture distribution</a:t>
                </a:r>
                <a:endParaRPr lang="ko-KR" altLang="en-US" dirty="0"/>
              </a:p>
              <a:p>
                <a:pPr lvl="1"/>
                <a:r>
                  <a:rPr lang="en-US" altLang="ko-KR" dirty="0" smtClean="0"/>
                  <a:t>With selected z, sample x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𝛴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After many, many sampling, you can draw the</a:t>
                </a:r>
                <a:br>
                  <a:rPr lang="en-US" altLang="ko-KR" dirty="0" smtClean="0"/>
                </a:br>
                <a:r>
                  <a:rPr lang="en-US" altLang="ko-KR" dirty="0" smtClean="0"/>
                  <a:t>histogram of the mixture distribution</a:t>
                </a:r>
              </a:p>
              <a:p>
                <a:pPr marL="342900" lvl="1">
                  <a:buClr>
                    <a:schemeClr val="accent1"/>
                  </a:buClr>
                </a:pPr>
                <a:r>
                  <a:rPr lang="en-US" altLang="ko-KR" dirty="0" smtClean="0"/>
                  <a:t>You have an empirical PDF, so you can ask a</a:t>
                </a:r>
                <a:br>
                  <a:rPr lang="en-US" altLang="ko-KR" dirty="0" smtClean="0"/>
                </a:br>
                <a:r>
                  <a:rPr lang="en-US" altLang="ko-KR" dirty="0" smtClean="0"/>
                  <a:t>query like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(0≤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US" altLang="ko-KR" dirty="0"/>
                      <m:t>5|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8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7628525" y="3278954"/>
            <a:ext cx="1224136" cy="2376264"/>
          </a:xfrm>
          <a:prstGeom prst="rect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7916557" y="3566986"/>
            <a:ext cx="648072" cy="576064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z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/>
              <p:cNvSpPr/>
              <p:nvPr/>
            </p:nvSpPr>
            <p:spPr>
              <a:xfrm>
                <a:off x="7916557" y="2342850"/>
                <a:ext cx="648072" cy="576064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557" y="2342850"/>
                <a:ext cx="648072" cy="576064"/>
              </a:xfrm>
              <a:prstGeom prst="ellipse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  <a:tailEnd type="none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7916557" y="4791122"/>
            <a:ext cx="648072" cy="576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x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510901" y="5285886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N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6647277" y="3889579"/>
                <a:ext cx="648072" cy="576064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277" y="3889579"/>
                <a:ext cx="648072" cy="576064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  <a:tailEnd type="none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/>
              <p:cNvSpPr/>
              <p:nvPr/>
            </p:nvSpPr>
            <p:spPr>
              <a:xfrm>
                <a:off x="6647277" y="4791122"/>
                <a:ext cx="648072" cy="576064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277" y="4791122"/>
                <a:ext cx="648072" cy="576064"/>
              </a:xfrm>
              <a:prstGeom prst="ellipse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  <a:tailEnd type="none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7" idx="4"/>
            <a:endCxn id="6" idx="0"/>
          </p:cNvCxnSpPr>
          <p:nvPr/>
        </p:nvCxnSpPr>
        <p:spPr>
          <a:xfrm>
            <a:off x="8240593" y="2918914"/>
            <a:ext cx="0" cy="64807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4"/>
            <a:endCxn id="8" idx="0"/>
          </p:cNvCxnSpPr>
          <p:nvPr/>
        </p:nvCxnSpPr>
        <p:spPr>
          <a:xfrm>
            <a:off x="8240593" y="4143050"/>
            <a:ext cx="0" cy="64807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0" idx="6"/>
            <a:endCxn id="8" idx="1"/>
          </p:cNvCxnSpPr>
          <p:nvPr/>
        </p:nvCxnSpPr>
        <p:spPr>
          <a:xfrm>
            <a:off x="7295349" y="4177611"/>
            <a:ext cx="716116" cy="69787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6"/>
            <a:endCxn id="8" idx="2"/>
          </p:cNvCxnSpPr>
          <p:nvPr/>
        </p:nvCxnSpPr>
        <p:spPr>
          <a:xfrm>
            <a:off x="7295349" y="5079154"/>
            <a:ext cx="62120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295349" y="0"/>
                <a:ext cx="1799771" cy="10766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1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sup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1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ko-KR" sz="11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nary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1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100" b="1" i="1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  <m:sub>
                              <m: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1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ko-KR" sz="11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b>
                              <m: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1100" b="1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349" y="0"/>
                <a:ext cx="1799771" cy="1076643"/>
              </a:xfrm>
              <a:prstGeom prst="rect">
                <a:avLst/>
              </a:prstGeom>
              <a:blipFill rotWithShape="0">
                <a:blip r:embed="rId6"/>
                <a:stretch>
                  <a:fillRect l="-13220" t="-46893" r="-4746" b="-711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475" y="4465643"/>
            <a:ext cx="2879140" cy="21600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5250" y="4467579"/>
            <a:ext cx="2879141" cy="2160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잉크 18"/>
              <p14:cNvContentPartPr/>
              <p14:nvPr/>
            </p14:nvContentPartPr>
            <p14:xfrm>
              <a:off x="7932240" y="2796480"/>
              <a:ext cx="360" cy="360"/>
            </p14:xfrm>
          </p:contentPart>
        </mc:Choice>
        <mc:Fallback xmlns="">
          <p:pic>
            <p:nvPicPr>
              <p:cNvPr id="19" name="잉크 18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22880" y="27871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7551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361" y="31994"/>
            <a:ext cx="8435280" cy="674905"/>
          </a:xfrm>
        </p:spPr>
        <p:txBody>
          <a:bodyPr/>
          <a:lstStyle/>
          <a:p>
            <a:r>
              <a:rPr lang="en-US" altLang="ko-KR" sz="4000" dirty="0" smtClean="0"/>
              <a:t>Rejection Sampling</a:t>
            </a:r>
            <a:endParaRPr lang="ko-KR" alt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69990"/>
            <a:ext cx="3557556" cy="5655354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P(E=T|MC=T,A=F)=?</a:t>
            </a:r>
          </a:p>
          <a:p>
            <a:r>
              <a:rPr lang="en-US" altLang="ko-KR" dirty="0" err="1" smtClean="0"/>
              <a:t>RejectionSampling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Iterate many times</a:t>
            </a:r>
          </a:p>
          <a:p>
            <a:pPr lvl="2"/>
            <a:r>
              <a:rPr lang="en-US" altLang="ko-KR" dirty="0" smtClean="0"/>
              <a:t>Generate a sample from the Bayesian network</a:t>
            </a:r>
          </a:p>
          <a:p>
            <a:pPr lvl="3"/>
            <a:r>
              <a:rPr lang="en-US" altLang="ko-KR" dirty="0" err="1"/>
              <a:t>Buglary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false</a:t>
            </a:r>
          </a:p>
          <a:p>
            <a:pPr lvl="3"/>
            <a:r>
              <a:rPr lang="en-US" altLang="ko-KR" dirty="0">
                <a:sym typeface="Wingdings" panose="05000000000000000000" pitchFamily="2" charset="2"/>
              </a:rPr>
              <a:t>Earthquake  </a:t>
            </a:r>
            <a:r>
              <a:rPr lang="en-US" altLang="ko-KR" dirty="0" smtClean="0">
                <a:sym typeface="Wingdings" panose="05000000000000000000" pitchFamily="2" charset="2"/>
              </a:rPr>
              <a:t>true</a:t>
            </a:r>
            <a:endParaRPr lang="en-US" altLang="ko-KR" dirty="0">
              <a:sym typeface="Wingdings" panose="05000000000000000000" pitchFamily="2" charset="2"/>
            </a:endParaRPr>
          </a:p>
          <a:p>
            <a:pPr lvl="3"/>
            <a:r>
              <a:rPr lang="en-US" altLang="ko-KR" dirty="0" err="1" smtClean="0">
                <a:sym typeface="Wingdings" panose="05000000000000000000" pitchFamily="2" charset="2"/>
              </a:rPr>
              <a:t>Alarm|B</a:t>
            </a:r>
            <a:r>
              <a:rPr lang="en-US" altLang="ko-KR" dirty="0" smtClean="0">
                <a:sym typeface="Wingdings" panose="05000000000000000000" pitchFamily="2" charset="2"/>
              </a:rPr>
              <a:t>=F,E=</a:t>
            </a:r>
            <a:r>
              <a:rPr lang="en-US" altLang="ko-KR" dirty="0" err="1">
                <a:sym typeface="Wingdings" panose="05000000000000000000" pitchFamily="2" charset="2"/>
              </a:rPr>
              <a:t>T</a:t>
            </a:r>
            <a:r>
              <a:rPr lang="en-US" altLang="ko-KR" dirty="0" err="1" smtClean="0">
                <a:sym typeface="Wingdings" panose="05000000000000000000" pitchFamily="2" charset="2"/>
              </a:rPr>
              <a:t>true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lvl="4"/>
            <a:r>
              <a:rPr lang="en-US" altLang="ko-KR" dirty="0"/>
              <a:t>If the sample does not follow MC=T, </a:t>
            </a:r>
            <a:r>
              <a:rPr lang="en-US" altLang="ko-KR" dirty="0" smtClean="0"/>
              <a:t>A=F, </a:t>
            </a:r>
            <a:r>
              <a:rPr lang="en-US" altLang="ko-KR" dirty="0"/>
              <a:t>reject the </a:t>
            </a:r>
            <a:r>
              <a:rPr lang="en-US" altLang="ko-KR" dirty="0" smtClean="0"/>
              <a:t>sampling procedure, and repeat</a:t>
            </a:r>
            <a:endParaRPr lang="en-US" altLang="ko-KR" dirty="0"/>
          </a:p>
          <a:p>
            <a:pPr lvl="3"/>
            <a:r>
              <a:rPr lang="en-US" altLang="ko-KR" dirty="0" smtClean="0">
                <a:sym typeface="Wingdings" panose="05000000000000000000" pitchFamily="2" charset="2"/>
              </a:rPr>
              <a:t>JC|A=</a:t>
            </a:r>
            <a:r>
              <a:rPr lang="en-US" altLang="ko-KR" dirty="0" err="1" smtClean="0">
                <a:sym typeface="Wingdings" panose="05000000000000000000" pitchFamily="2" charset="2"/>
              </a:rPr>
              <a:t>T</a:t>
            </a:r>
            <a:r>
              <a:rPr lang="en-US" altLang="ko-KR" dirty="0" err="1">
                <a:sym typeface="Wingdings" panose="05000000000000000000" pitchFamily="2" charset="2"/>
              </a:rPr>
              <a:t>true</a:t>
            </a:r>
            <a:endParaRPr lang="en-US" altLang="ko-KR" dirty="0">
              <a:sym typeface="Wingdings" panose="05000000000000000000" pitchFamily="2" charset="2"/>
            </a:endParaRPr>
          </a:p>
          <a:p>
            <a:pPr lvl="3"/>
            <a:r>
              <a:rPr lang="en-US" altLang="ko-KR" dirty="0">
                <a:sym typeface="Wingdings" panose="05000000000000000000" pitchFamily="2" charset="2"/>
              </a:rPr>
              <a:t>MC|A=</a:t>
            </a:r>
            <a:r>
              <a:rPr lang="en-US" altLang="ko-KR" dirty="0" err="1">
                <a:sym typeface="Wingdings" panose="05000000000000000000" pitchFamily="2" charset="2"/>
              </a:rPr>
              <a:t>T</a:t>
            </a:r>
            <a:r>
              <a:rPr lang="en-US" altLang="ko-KR" dirty="0" err="1" smtClean="0">
                <a:sym typeface="Wingdings" panose="05000000000000000000" pitchFamily="2" charset="2"/>
              </a:rPr>
              <a:t>false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lvl="1"/>
            <a:r>
              <a:rPr lang="en-US" altLang="ko-KR" dirty="0" smtClean="0">
                <a:sym typeface="Wingdings" panose="05000000000000000000" pitchFamily="2" charset="2"/>
              </a:rPr>
              <a:t>Return Count(E=T,MC=T,A=F)/# of Samples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 smtClean="0">
                <a:sym typeface="Wingdings" panose="05000000000000000000" pitchFamily="2" charset="2"/>
              </a:rPr>
              <a:t>Any problem? </a:t>
            </a:r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Oval 4"/>
          <p:cNvSpPr/>
          <p:nvPr/>
        </p:nvSpPr>
        <p:spPr>
          <a:xfrm>
            <a:off x="5980931" y="2476451"/>
            <a:ext cx="136815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Alarm</a:t>
            </a:r>
            <a:endParaRPr lang="ko-KR" altLang="en-US" dirty="0"/>
          </a:p>
        </p:txBody>
      </p:sp>
      <p:cxnSp>
        <p:nvCxnSpPr>
          <p:cNvPr id="6" name="Straight Arrow Connector 5"/>
          <p:cNvCxnSpPr>
            <a:stCxn id="5" idx="3"/>
            <a:endCxn id="7" idx="0"/>
          </p:cNvCxnSpPr>
          <p:nvPr/>
        </p:nvCxnSpPr>
        <p:spPr>
          <a:xfrm flipH="1">
            <a:off x="5453380" y="2968152"/>
            <a:ext cx="727912" cy="46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589284" y="3434392"/>
            <a:ext cx="172819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JohnCalls</a:t>
            </a:r>
            <a:endParaRPr lang="ko-KR" altLang="en-US" baseline="-25000" dirty="0"/>
          </a:p>
        </p:txBody>
      </p:sp>
      <p:sp>
        <p:nvSpPr>
          <p:cNvPr id="8" name="Oval 7"/>
          <p:cNvSpPr/>
          <p:nvPr/>
        </p:nvSpPr>
        <p:spPr>
          <a:xfrm>
            <a:off x="7211950" y="3434392"/>
            <a:ext cx="1633637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MaryCalls</a:t>
            </a:r>
            <a:endParaRPr lang="ko-KR" altLang="en-US" baseline="-25000" dirty="0"/>
          </a:p>
        </p:txBody>
      </p:sp>
      <p:cxnSp>
        <p:nvCxnSpPr>
          <p:cNvPr id="9" name="Straight Arrow Connector 8"/>
          <p:cNvCxnSpPr>
            <a:stCxn id="5" idx="5"/>
            <a:endCxn id="8" idx="0"/>
          </p:cNvCxnSpPr>
          <p:nvPr/>
        </p:nvCxnSpPr>
        <p:spPr>
          <a:xfrm>
            <a:off x="7148722" y="2968152"/>
            <a:ext cx="880047" cy="46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717643" y="1356881"/>
            <a:ext cx="172819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Buglary</a:t>
            </a:r>
            <a:endParaRPr lang="ko-KR" altLang="en-US" baseline="-25000" dirty="0"/>
          </a:p>
        </p:txBody>
      </p:sp>
      <p:sp>
        <p:nvSpPr>
          <p:cNvPr id="11" name="Oval 10"/>
          <p:cNvSpPr/>
          <p:nvPr/>
        </p:nvSpPr>
        <p:spPr>
          <a:xfrm>
            <a:off x="7276990" y="1299304"/>
            <a:ext cx="1633637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Earthquake</a:t>
            </a:r>
            <a:endParaRPr lang="ko-KR" altLang="en-US" sz="1400" baseline="-25000" dirty="0"/>
          </a:p>
        </p:txBody>
      </p:sp>
      <p:cxnSp>
        <p:nvCxnSpPr>
          <p:cNvPr id="12" name="Straight Arrow Connector 11"/>
          <p:cNvCxnSpPr>
            <a:stCxn id="11" idx="3"/>
            <a:endCxn id="5" idx="7"/>
          </p:cNvCxnSpPr>
          <p:nvPr/>
        </p:nvCxnSpPr>
        <p:spPr>
          <a:xfrm flipH="1">
            <a:off x="7148722" y="1791005"/>
            <a:ext cx="367509" cy="769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4"/>
            <a:endCxn id="5" idx="1"/>
          </p:cNvCxnSpPr>
          <p:nvPr/>
        </p:nvCxnSpPr>
        <p:spPr>
          <a:xfrm>
            <a:off x="5581739" y="1932945"/>
            <a:ext cx="599553" cy="627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61156" y="88418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P(B)=0.001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367923" y="869990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P(E)=0.002</a:t>
            </a:r>
            <a:endParaRPr lang="ko-KR" altLang="en-US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4125873" y="4450763"/>
          <a:ext cx="301675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P(A|B,E)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0.95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0.94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0.29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0.001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7257727" y="4179624"/>
          <a:ext cx="182386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P(J|A)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0.90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0.05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7246517" y="5412824"/>
          <a:ext cx="182386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P(M|A)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0.70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387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dirty="0" smtClean="0"/>
              <a:t>Rejection Sampling from Numerical View</a:t>
            </a:r>
            <a:endParaRPr lang="ko-KR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25600"/>
                <a:ext cx="3077029" cy="4899743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 smtClean="0"/>
                  <a:t>count = 0</a:t>
                </a:r>
              </a:p>
              <a:p>
                <a:r>
                  <a:rPr lang="en-US" altLang="ko-KR" dirty="0" smtClean="0"/>
                  <a:t>while count &lt; N</a:t>
                </a:r>
              </a:p>
              <a:p>
                <a:pPr lvl="1"/>
                <a:r>
                  <a:rPr lang="en-US" altLang="ko-KR" dirty="0" smtClean="0"/>
                  <a:t>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ko-KR" dirty="0" smtClean="0"/>
                  <a:t> ~ q(x)</a:t>
                </a:r>
              </a:p>
              <a:p>
                <a:pPr lvl="1"/>
                <a:r>
                  <a:rPr lang="en-US" altLang="ko-KR" dirty="0" smtClean="0"/>
                  <a:t>Sample u ~ </a:t>
                </a:r>
                <a:r>
                  <a:rPr lang="en-US" altLang="ko-KR" dirty="0" err="1" smtClean="0"/>
                  <a:t>Unif</a:t>
                </a:r>
                <a:r>
                  <a:rPr lang="en-US" altLang="ko-KR" dirty="0" smtClean="0"/>
                  <a:t>(0,1)</a:t>
                </a:r>
              </a:p>
              <a:p>
                <a:pPr lvl="1"/>
                <a:r>
                  <a:rPr lang="en-US" altLang="ko-KR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𝑀𝑞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Increase count</a:t>
                </a:r>
              </a:p>
              <a:p>
                <a:pPr lvl="1"/>
                <a:r>
                  <a:rPr lang="en-US" altLang="ko-KR" dirty="0" smtClean="0"/>
                  <a:t>Else</a:t>
                </a:r>
              </a:p>
              <a:p>
                <a:pPr lvl="2"/>
                <a:r>
                  <a:rPr lang="en-US" altLang="ko-KR" dirty="0" smtClean="0"/>
                  <a:t>Reject and re-sample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25600"/>
                <a:ext cx="3077029" cy="4899743"/>
              </a:xfrm>
              <a:blipFill rotWithShape="0">
                <a:blip r:embed="rId2"/>
                <a:stretch>
                  <a:fillRect t="-872" r="-21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7</a:t>
            </a:fld>
            <a:endParaRPr lang="ko-KR" altLang="en-US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534228" y="5464628"/>
            <a:ext cx="5363028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868056" y="1712685"/>
            <a:ext cx="14514" cy="39406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42441" y="5468649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x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947884" y="171268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p(x), q(x)</a:t>
            </a:r>
            <a:endParaRPr lang="ko-KR" altLang="en-US" dirty="0"/>
          </a:p>
        </p:txBody>
      </p:sp>
      <p:sp>
        <p:nvSpPr>
          <p:cNvPr id="14" name="Freeform 13"/>
          <p:cNvSpPr/>
          <p:nvPr/>
        </p:nvSpPr>
        <p:spPr>
          <a:xfrm>
            <a:off x="3534229" y="2691026"/>
            <a:ext cx="5268685" cy="2641864"/>
          </a:xfrm>
          <a:custGeom>
            <a:avLst/>
            <a:gdLst>
              <a:gd name="connsiteX0" fmla="*/ 0 w 5268685"/>
              <a:gd name="connsiteY0" fmla="*/ 2613945 h 2641864"/>
              <a:gd name="connsiteX1" fmla="*/ 754742 w 5268685"/>
              <a:gd name="connsiteY1" fmla="*/ 2432517 h 2641864"/>
              <a:gd name="connsiteX2" fmla="*/ 1785257 w 5268685"/>
              <a:gd name="connsiteY2" fmla="*/ 1060917 h 2641864"/>
              <a:gd name="connsiteX3" fmla="*/ 2525485 w 5268685"/>
              <a:gd name="connsiteY3" fmla="*/ 1374 h 2641864"/>
              <a:gd name="connsiteX4" fmla="*/ 3454400 w 5268685"/>
              <a:gd name="connsiteY4" fmla="*/ 1278631 h 2641864"/>
              <a:gd name="connsiteX5" fmla="*/ 3976914 w 5268685"/>
              <a:gd name="connsiteY5" fmla="*/ 2222060 h 2641864"/>
              <a:gd name="connsiteX6" fmla="*/ 5268685 w 5268685"/>
              <a:gd name="connsiteY6" fmla="*/ 2621203 h 2641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8685" h="2641864">
                <a:moveTo>
                  <a:pt x="0" y="2613945"/>
                </a:moveTo>
                <a:cubicBezTo>
                  <a:pt x="228599" y="2652650"/>
                  <a:pt x="457199" y="2691355"/>
                  <a:pt x="754742" y="2432517"/>
                </a:cubicBezTo>
                <a:cubicBezTo>
                  <a:pt x="1052285" y="2173679"/>
                  <a:pt x="1490133" y="1466107"/>
                  <a:pt x="1785257" y="1060917"/>
                </a:cubicBezTo>
                <a:cubicBezTo>
                  <a:pt x="2080381" y="655727"/>
                  <a:pt x="2247294" y="-34912"/>
                  <a:pt x="2525485" y="1374"/>
                </a:cubicBezTo>
                <a:cubicBezTo>
                  <a:pt x="2803676" y="37660"/>
                  <a:pt x="3212495" y="908517"/>
                  <a:pt x="3454400" y="1278631"/>
                </a:cubicBezTo>
                <a:cubicBezTo>
                  <a:pt x="3696305" y="1648745"/>
                  <a:pt x="3674533" y="1998298"/>
                  <a:pt x="3976914" y="2222060"/>
                </a:cubicBezTo>
                <a:cubicBezTo>
                  <a:pt x="4279295" y="2445822"/>
                  <a:pt x="4773990" y="2533512"/>
                  <a:pt x="5268685" y="262120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Freeform 14"/>
          <p:cNvSpPr/>
          <p:nvPr/>
        </p:nvSpPr>
        <p:spPr>
          <a:xfrm>
            <a:off x="3722914" y="3874932"/>
            <a:ext cx="4971143" cy="1553411"/>
          </a:xfrm>
          <a:custGeom>
            <a:avLst/>
            <a:gdLst>
              <a:gd name="connsiteX0" fmla="*/ 0 w 4971143"/>
              <a:gd name="connsiteY0" fmla="*/ 1553411 h 1553411"/>
              <a:gd name="connsiteX1" fmla="*/ 682172 w 4971143"/>
              <a:gd name="connsiteY1" fmla="*/ 1480839 h 1553411"/>
              <a:gd name="connsiteX2" fmla="*/ 1407886 w 4971143"/>
              <a:gd name="connsiteY2" fmla="*/ 856725 h 1553411"/>
              <a:gd name="connsiteX3" fmla="*/ 1966686 w 4971143"/>
              <a:gd name="connsiteY3" fmla="*/ 382 h 1553411"/>
              <a:gd name="connsiteX4" fmla="*/ 2452915 w 4971143"/>
              <a:gd name="connsiteY4" fmla="*/ 755125 h 1553411"/>
              <a:gd name="connsiteX5" fmla="*/ 2685143 w 4971143"/>
              <a:gd name="connsiteY5" fmla="*/ 1335697 h 1553411"/>
              <a:gd name="connsiteX6" fmla="*/ 2895600 w 4971143"/>
              <a:gd name="connsiteY6" fmla="*/ 726097 h 1553411"/>
              <a:gd name="connsiteX7" fmla="*/ 3280229 w 4971143"/>
              <a:gd name="connsiteY7" fmla="*/ 1030897 h 1553411"/>
              <a:gd name="connsiteX8" fmla="*/ 3853543 w 4971143"/>
              <a:gd name="connsiteY8" fmla="*/ 1357468 h 1553411"/>
              <a:gd name="connsiteX9" fmla="*/ 4971143 w 4971143"/>
              <a:gd name="connsiteY9" fmla="*/ 1495354 h 1553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71143" h="1553411">
                <a:moveTo>
                  <a:pt x="0" y="1553411"/>
                </a:moveTo>
                <a:lnTo>
                  <a:pt x="682172" y="1480839"/>
                </a:lnTo>
                <a:cubicBezTo>
                  <a:pt x="916820" y="1364725"/>
                  <a:pt x="1193800" y="1103468"/>
                  <a:pt x="1407886" y="856725"/>
                </a:cubicBezTo>
                <a:cubicBezTo>
                  <a:pt x="1621972" y="609982"/>
                  <a:pt x="1792515" y="17315"/>
                  <a:pt x="1966686" y="382"/>
                </a:cubicBezTo>
                <a:cubicBezTo>
                  <a:pt x="2140857" y="-16551"/>
                  <a:pt x="2333172" y="532573"/>
                  <a:pt x="2452915" y="755125"/>
                </a:cubicBezTo>
                <a:cubicBezTo>
                  <a:pt x="2572658" y="977677"/>
                  <a:pt x="2611362" y="1340535"/>
                  <a:pt x="2685143" y="1335697"/>
                </a:cubicBezTo>
                <a:cubicBezTo>
                  <a:pt x="2758924" y="1330859"/>
                  <a:pt x="2796419" y="776897"/>
                  <a:pt x="2895600" y="726097"/>
                </a:cubicBezTo>
                <a:cubicBezTo>
                  <a:pt x="2994781" y="675297"/>
                  <a:pt x="3120572" y="925668"/>
                  <a:pt x="3280229" y="1030897"/>
                </a:cubicBezTo>
                <a:cubicBezTo>
                  <a:pt x="3439886" y="1136125"/>
                  <a:pt x="3571724" y="1280059"/>
                  <a:pt x="3853543" y="1357468"/>
                </a:cubicBezTo>
                <a:cubicBezTo>
                  <a:pt x="4135362" y="1434877"/>
                  <a:pt x="4761895" y="1473582"/>
                  <a:pt x="4971143" y="1495354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ular Callout 15"/>
          <p:cNvSpPr/>
          <p:nvPr/>
        </p:nvSpPr>
        <p:spPr>
          <a:xfrm>
            <a:off x="6593864" y="1453730"/>
            <a:ext cx="2373085" cy="1106010"/>
          </a:xfrm>
          <a:prstGeom prst="wedgeRectCallout">
            <a:avLst>
              <a:gd name="adj1" fmla="val -56810"/>
              <a:gd name="adj2" fmla="val 9858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Distribution that is easy to sample</a:t>
            </a:r>
          </a:p>
          <a:p>
            <a:pPr algn="ctr"/>
            <a:r>
              <a:rPr lang="en-US" altLang="ko-KR" dirty="0" smtClean="0"/>
              <a:t>Should be an envelope of p(x) by adjusting M</a:t>
            </a:r>
            <a:endParaRPr lang="ko-KR" altLang="en-US" dirty="0"/>
          </a:p>
        </p:txBody>
      </p:sp>
      <p:sp>
        <p:nvSpPr>
          <p:cNvPr id="17" name="Rectangular Callout 16"/>
          <p:cNvSpPr/>
          <p:nvPr/>
        </p:nvSpPr>
        <p:spPr>
          <a:xfrm>
            <a:off x="7025118" y="3889234"/>
            <a:ext cx="2075543" cy="803989"/>
          </a:xfrm>
          <a:prstGeom prst="wedgeRectCallout">
            <a:avLst>
              <a:gd name="adj1" fmla="val -47990"/>
              <a:gd name="adj2" fmla="val 838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Distribution that is difficult to sample</a:t>
            </a:r>
            <a:endParaRPr lang="ko-KR" altLang="en-US" dirty="0"/>
          </a:p>
        </p:txBody>
      </p:sp>
      <p:sp>
        <p:nvSpPr>
          <p:cNvPr id="18" name="Oval 17"/>
          <p:cNvSpPr/>
          <p:nvPr/>
        </p:nvSpPr>
        <p:spPr>
          <a:xfrm>
            <a:off x="5812563" y="5353147"/>
            <a:ext cx="203200" cy="222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Oval 18"/>
          <p:cNvSpPr/>
          <p:nvPr/>
        </p:nvSpPr>
        <p:spPr>
          <a:xfrm>
            <a:off x="5812563" y="4596896"/>
            <a:ext cx="203200" cy="222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Oval 19"/>
          <p:cNvSpPr/>
          <p:nvPr/>
        </p:nvSpPr>
        <p:spPr>
          <a:xfrm>
            <a:off x="5812155" y="2616190"/>
            <a:ext cx="203200" cy="222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3524277" y="4850886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chemeClr val="tx2"/>
                </a:solidFill>
              </a:rPr>
              <a:t>p(x)</a:t>
            </a:r>
            <a:endParaRPr lang="ko-KR" altLang="en-US" b="1" dirty="0">
              <a:solidFill>
                <a:schemeClr val="tx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13359" y="5431253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q(x)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5812155" y="3963990"/>
            <a:ext cx="203200" cy="222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Straight Connector 26"/>
          <p:cNvCxnSpPr>
            <a:stCxn id="20" idx="4"/>
            <a:endCxn id="18" idx="0"/>
          </p:cNvCxnSpPr>
          <p:nvPr/>
        </p:nvCxnSpPr>
        <p:spPr>
          <a:xfrm>
            <a:off x="5913755" y="2839152"/>
            <a:ext cx="408" cy="2513995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4926676" y="5541822"/>
                <a:ext cx="1667188" cy="3888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ko-KR" b="1" dirty="0"/>
                  <a:t> ~ q(x)</a:t>
                </a: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6676" y="5541822"/>
                <a:ext cx="1667188" cy="388889"/>
              </a:xfrm>
              <a:prstGeom prst="rect">
                <a:avLst/>
              </a:prstGeom>
              <a:blipFill rotWithShape="0">
                <a:blip r:embed="rId3"/>
                <a:stretch>
                  <a:fillRect t="-9375" r="-3285" b="-17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4672325" y="4512301"/>
                <a:ext cx="1241430" cy="3888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b="1" dirty="0"/>
                        <m:t>uMq</m:t>
                      </m:r>
                      <m:r>
                        <m:rPr>
                          <m:nor/>
                        </m:rPr>
                        <a:rPr lang="en-US" altLang="ko-KR" b="1" dirty="0"/>
                        <m:t>(</m:t>
                      </m:r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d>
                            <m:d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</m:sub>
                      </m:sSub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325" y="4512301"/>
                <a:ext cx="1241430" cy="388889"/>
              </a:xfrm>
              <a:prstGeom prst="rect">
                <a:avLst/>
              </a:prstGeom>
              <a:blipFill rotWithShape="0"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6058094" y="3845809"/>
                <a:ext cx="916020" cy="3888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d>
                            <m:d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</m:sub>
                      </m:sSub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8094" y="3845809"/>
                <a:ext cx="916020" cy="388889"/>
              </a:xfrm>
              <a:prstGeom prst="rect">
                <a:avLst/>
              </a:prstGeom>
              <a:blipFill rotWithShape="0">
                <a:blip r:embed="rId5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5031080" y="2175144"/>
                <a:ext cx="1103571" cy="3888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b="1" dirty="0"/>
                        <m:t>Mq</m:t>
                      </m:r>
                      <m:r>
                        <m:rPr>
                          <m:nor/>
                        </m:rPr>
                        <a:rPr lang="en-US" altLang="ko-KR" b="1" dirty="0"/>
                        <m:t>(</m:t>
                      </m:r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d>
                            <m:d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</m:sub>
                      </m:sSub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1080" y="2175144"/>
                <a:ext cx="1103571" cy="388889"/>
              </a:xfrm>
              <a:prstGeom prst="rect">
                <a:avLst/>
              </a:prstGeom>
              <a:blipFill rotWithShape="0">
                <a:blip r:embed="rId6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6176448" y="5136204"/>
            <a:ext cx="1676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C00000"/>
                </a:solidFill>
              </a:rPr>
              <a:t>Accept Region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044689" y="3186451"/>
            <a:ext cx="162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chemeClr val="tx2"/>
                </a:solidFill>
              </a:rPr>
              <a:t>Reject Region</a:t>
            </a:r>
            <a:endParaRPr lang="ko-KR" alt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985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Rejection Sampling in GMM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2862"/>
                <a:ext cx="6142382" cy="2679091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ko-KR" dirty="0" smtClean="0"/>
                  <a:t>Rejection sampling of GMM</a:t>
                </a:r>
              </a:p>
              <a:p>
                <a:pPr lvl="1"/>
                <a:r>
                  <a:rPr lang="en-US" altLang="ko-KR" dirty="0" smtClean="0"/>
                  <a:t>Sample z from {1, 2, 3} with 1/3 change each</a:t>
                </a:r>
              </a:p>
              <a:p>
                <a:pPr lvl="1"/>
                <a:r>
                  <a:rPr lang="en-US" altLang="ko-KR" b="0" dirty="0" smtClean="0"/>
                  <a:t>Sample x from 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𝛴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ko-KR" b="0" dirty="0" smtClean="0"/>
                  <a:t>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b="0" dirty="0" smtClean="0"/>
                  <a:t> = The probability drawing x from </a:t>
                </a:r>
                <a:r>
                  <a:rPr lang="en-US" altLang="ko-KR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𝛴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  <a:endParaRPr lang="en-US" altLang="ko-KR" b="0" dirty="0" smtClean="0"/>
              </a:p>
              <a:p>
                <a:pPr lvl="1"/>
                <a:r>
                  <a:rPr lang="en-US" altLang="ko-KR" dirty="0" smtClean="0"/>
                  <a:t>Sample u from Uniform(0,1)</a:t>
                </a:r>
                <a:endParaRPr lang="en-US" altLang="ko-KR" b="0" dirty="0" smtClean="0"/>
              </a:p>
              <a:p>
                <a:pPr lvl="1"/>
                <a:r>
                  <a:rPr lang="en-US" altLang="ko-KR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b="0" dirty="0" smtClean="0"/>
                  <a:t> </a:t>
                </a:r>
              </a:p>
              <a:p>
                <a:pPr lvl="2"/>
                <a:r>
                  <a:rPr lang="en-US" altLang="ko-KR" dirty="0" smtClean="0"/>
                  <a:t>Accept the sample of (z, x)</a:t>
                </a:r>
              </a:p>
              <a:p>
                <a:pPr lvl="1"/>
                <a:r>
                  <a:rPr lang="en-US" altLang="ko-KR" dirty="0" smtClean="0"/>
                  <a:t>Else</a:t>
                </a:r>
              </a:p>
              <a:p>
                <a:pPr lvl="2"/>
                <a:r>
                  <a:rPr lang="en-US" altLang="ko-KR" dirty="0" smtClean="0"/>
                  <a:t>Discard the sample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2862"/>
                <a:ext cx="6142382" cy="2679091"/>
              </a:xfrm>
              <a:blipFill rotWithShape="0">
                <a:blip r:embed="rId2"/>
                <a:stretch>
                  <a:fillRect t="-3645" b="-9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8</a:t>
            </a:fld>
            <a:endParaRPr lang="ko-KR" altLang="en-US"/>
          </a:p>
        </p:txBody>
      </p:sp>
      <p:grpSp>
        <p:nvGrpSpPr>
          <p:cNvPr id="19" name="Group 18"/>
          <p:cNvGrpSpPr/>
          <p:nvPr/>
        </p:nvGrpSpPr>
        <p:grpSpPr>
          <a:xfrm>
            <a:off x="7373257" y="1045819"/>
            <a:ext cx="1397754" cy="1774293"/>
            <a:chOff x="6647277" y="2342850"/>
            <a:chExt cx="2205384" cy="3312368"/>
          </a:xfrm>
        </p:grpSpPr>
        <p:sp>
          <p:nvSpPr>
            <p:cNvPr id="5" name="Rectangle 4"/>
            <p:cNvSpPr/>
            <p:nvPr/>
          </p:nvSpPr>
          <p:spPr>
            <a:xfrm>
              <a:off x="7628525" y="3278954"/>
              <a:ext cx="1224136" cy="237626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7916557" y="3566986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smtClean="0"/>
                <a:t>z</a:t>
              </a:r>
              <a:endParaRPr lang="ko-KR" alt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/>
                <p:cNvSpPr/>
                <p:nvPr/>
              </p:nvSpPr>
              <p:spPr>
                <a:xfrm>
                  <a:off x="7916557" y="2342850"/>
                  <a:ext cx="648072" cy="576064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val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6557" y="2342850"/>
                  <a:ext cx="648072" cy="576064"/>
                </a:xfrm>
                <a:prstGeom prst="ellipse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  <a:tailEnd type="none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Oval 7"/>
            <p:cNvSpPr/>
            <p:nvPr/>
          </p:nvSpPr>
          <p:spPr>
            <a:xfrm>
              <a:off x="7916557" y="4791122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smtClean="0"/>
                <a:t>x</a:t>
              </a:r>
              <a:endParaRPr lang="ko-KR" altLang="en-US" b="1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393748" y="5096021"/>
              <a:ext cx="3417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 smtClean="0"/>
                <a:t>N</a:t>
              </a:r>
              <a:endParaRPr lang="ko-KR" alt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val 9"/>
                <p:cNvSpPr/>
                <p:nvPr/>
              </p:nvSpPr>
              <p:spPr>
                <a:xfrm>
                  <a:off x="6647277" y="3889579"/>
                  <a:ext cx="648072" cy="576064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Oval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7277" y="3889579"/>
                  <a:ext cx="648072" cy="576064"/>
                </a:xfrm>
                <a:prstGeom prst="ellipse">
                  <a:avLst/>
                </a:prstGeom>
                <a:blipFill rotWithShape="0">
                  <a:blip r:embed="rId4"/>
                  <a:stretch>
                    <a:fillRect b="-10526"/>
                  </a:stretch>
                </a:blipFill>
                <a:ln w="38100">
                  <a:solidFill>
                    <a:schemeClr val="tx1"/>
                  </a:solidFill>
                  <a:tailEnd type="none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val 10"/>
                <p:cNvSpPr/>
                <p:nvPr/>
              </p:nvSpPr>
              <p:spPr>
                <a:xfrm>
                  <a:off x="6647277" y="4791122"/>
                  <a:ext cx="648072" cy="576064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Oval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7277" y="4791122"/>
                  <a:ext cx="648072" cy="576064"/>
                </a:xfrm>
                <a:prstGeom prst="ellipse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  <a:tailEnd type="none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/>
            <p:cNvCxnSpPr>
              <a:stCxn id="7" idx="4"/>
              <a:endCxn id="6" idx="0"/>
            </p:cNvCxnSpPr>
            <p:nvPr/>
          </p:nvCxnSpPr>
          <p:spPr>
            <a:xfrm>
              <a:off x="8240593" y="2918914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6" idx="4"/>
              <a:endCxn id="8" idx="0"/>
            </p:cNvCxnSpPr>
            <p:nvPr/>
          </p:nvCxnSpPr>
          <p:spPr>
            <a:xfrm>
              <a:off x="8240593" y="4143050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0" idx="6"/>
              <a:endCxn id="8" idx="1"/>
            </p:cNvCxnSpPr>
            <p:nvPr/>
          </p:nvCxnSpPr>
          <p:spPr>
            <a:xfrm>
              <a:off x="7295349" y="4177611"/>
              <a:ext cx="716116" cy="69787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11" idx="6"/>
              <a:endCxn id="8" idx="2"/>
            </p:cNvCxnSpPr>
            <p:nvPr/>
          </p:nvCxnSpPr>
          <p:spPr>
            <a:xfrm>
              <a:off x="7295349" y="5079154"/>
              <a:ext cx="621208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295349" y="0"/>
                <a:ext cx="1799771" cy="10766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1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sup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1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ko-KR" sz="11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nary>
                      <m:r>
                        <a:rPr lang="en-US" altLang="ko-KR" sz="11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1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100" b="1" i="1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  <m:sub>
                              <m: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1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ko-KR" sz="11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b>
                              <m:r>
                                <a:rPr lang="en-US" altLang="ko-KR" sz="11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ko-KR" sz="11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1100" b="1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349" y="0"/>
                <a:ext cx="1799771" cy="1076643"/>
              </a:xfrm>
              <a:prstGeom prst="rect">
                <a:avLst/>
              </a:prstGeom>
              <a:blipFill rotWithShape="0">
                <a:blip r:embed="rId6"/>
                <a:stretch>
                  <a:fillRect l="-13220" t="-46893" r="-4746" b="-711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1308" y="4563582"/>
            <a:ext cx="2452692" cy="183951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1511" y="4562861"/>
            <a:ext cx="2452692" cy="183951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44281" y="3959997"/>
            <a:ext cx="2183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Q Mixture </a:t>
            </a:r>
            <a:br>
              <a:rPr lang="en-US" altLang="ko-KR" dirty="0" smtClean="0"/>
            </a:br>
            <a:r>
              <a:rPr lang="en-US" altLang="ko-KR" dirty="0" smtClean="0"/>
              <a:t>= 3 * ( 1/3 * N(0,1) )</a:t>
            </a:r>
            <a:endParaRPr lang="ko-KR" altLang="en-US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2419" y="4570925"/>
            <a:ext cx="2442421" cy="183181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4" y="4562861"/>
            <a:ext cx="2443382" cy="183253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97888" y="3988873"/>
            <a:ext cx="3962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Q Mixture </a:t>
            </a:r>
            <a:br>
              <a:rPr lang="en-US" altLang="ko-KR" dirty="0" smtClean="0"/>
            </a:br>
            <a:r>
              <a:rPr lang="en-US" altLang="ko-KR" dirty="0" smtClean="0"/>
              <a:t>= 1/3*N(-2,1), </a:t>
            </a:r>
            <a:r>
              <a:rPr lang="en-US" altLang="ko-KR" dirty="0"/>
              <a:t>1/3*</a:t>
            </a:r>
            <a:r>
              <a:rPr lang="en-US" altLang="ko-KR" dirty="0" smtClean="0"/>
              <a:t>N(1,1), </a:t>
            </a:r>
            <a:r>
              <a:rPr lang="en-US" altLang="ko-KR" dirty="0"/>
              <a:t>1/3*</a:t>
            </a:r>
            <a:r>
              <a:rPr lang="en-US" altLang="ko-KR" dirty="0" smtClean="0"/>
              <a:t>N(5,1)</a:t>
            </a:r>
            <a:endParaRPr lang="ko-KR" alt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5036" y="2855015"/>
            <a:ext cx="2228964" cy="167222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72452" y="2778047"/>
            <a:ext cx="18357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</a:t>
            </a:r>
            <a:r>
              <a:rPr lang="en-US" altLang="ko-KR" dirty="0" smtClean="0"/>
              <a:t> Mixture </a:t>
            </a:r>
            <a:br>
              <a:rPr lang="en-US" altLang="ko-KR" dirty="0" smtClean="0"/>
            </a:br>
            <a:r>
              <a:rPr lang="en-US" altLang="ko-KR" dirty="0" smtClean="0"/>
              <a:t>= 0.35*N(-2,0.9),</a:t>
            </a:r>
          </a:p>
          <a:p>
            <a:r>
              <a:rPr lang="en-US" altLang="ko-KR" dirty="0" smtClean="0"/>
              <a:t>    0.45*N(1,0.3),</a:t>
            </a:r>
          </a:p>
          <a:p>
            <a:r>
              <a:rPr lang="en-US" altLang="ko-KR" dirty="0" smtClean="0"/>
              <a:t>    0.2*N(5,0.8)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751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Importance Sampling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731" y="1357086"/>
                <a:ext cx="8435280" cy="526372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ko-KR" dirty="0" smtClean="0"/>
                  <a:t>Huge waste from the rejection</a:t>
                </a:r>
              </a:p>
              <a:p>
                <a:r>
                  <a:rPr lang="en-US" altLang="ko-KR" dirty="0" smtClean="0"/>
                  <a:t>Is generating the PDF the end goal?</a:t>
                </a:r>
              </a:p>
              <a:p>
                <a:pPr lvl="1"/>
                <a:r>
                  <a:rPr lang="en-US" altLang="ko-KR" dirty="0" smtClean="0"/>
                  <a:t>No… Usually, the question follows</a:t>
                </a:r>
              </a:p>
              <a:p>
                <a:pPr lvl="2"/>
                <a:r>
                  <a:rPr lang="en-US" altLang="ko-KR" dirty="0" smtClean="0"/>
                  <a:t>Calculating the expectation of PDF</a:t>
                </a:r>
              </a:p>
              <a:p>
                <a:pPr lvl="2"/>
                <a:r>
                  <a:rPr lang="en-US" altLang="ko-KR" dirty="0" smtClean="0"/>
                  <a:t>Calculating a certain probability</a:t>
                </a:r>
              </a:p>
              <a:p>
                <a:r>
                  <a:rPr lang="en-US" altLang="ko-KR" dirty="0" smtClean="0"/>
                  <a:t>Let’s use the wasted sample to answer </a:t>
                </a:r>
                <a:br>
                  <a:rPr lang="en-US" altLang="ko-KR" dirty="0" smtClean="0"/>
                </a:br>
                <a:r>
                  <a:rPr lang="en-US" altLang="ko-KR" dirty="0" smtClean="0"/>
                  <a:t>the questions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L = # of samples,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altLang="ko-KR" dirty="0" smtClean="0"/>
                  <a:t>=a sample of Z</a:t>
                </a:r>
              </a:p>
              <a:p>
                <a:pPr lvl="2"/>
                <a:r>
                  <a:rPr lang="en-US" altLang="ko-KR" dirty="0" smtClean="0"/>
                  <a:t>Here, the importance weight plays the role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What if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dirty="0" smtClean="0"/>
                  <a:t> is not normalized, as they should be as probability distributions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̃"/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acc>
                              <m:accPr>
                                <m:chr m:val="̃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P(Z&gt;1)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&gt;1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&gt;1</m:t>
                            </m:r>
                          </m:sub>
                        </m:sSub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sup>
                            </m:s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731" y="1357086"/>
                <a:ext cx="8435280" cy="5263722"/>
              </a:xfrm>
              <a:blipFill rotWithShape="0">
                <a:blip r:embed="rId2"/>
                <a:stretch>
                  <a:fillRect t="-1854" b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280" y="58057"/>
            <a:ext cx="2362200" cy="17716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280" y="1682546"/>
            <a:ext cx="2348611" cy="17614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12244" y="2248771"/>
            <a:ext cx="10757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Filtered</a:t>
            </a:r>
            <a:br>
              <a:rPr lang="en-US" altLang="ko-KR" b="1" dirty="0" smtClean="0"/>
            </a:br>
            <a:r>
              <a:rPr lang="en-US" altLang="ko-KR" b="1" dirty="0" smtClean="0"/>
              <a:t>Extreme</a:t>
            </a:r>
            <a:br>
              <a:rPr lang="en-US" altLang="ko-KR" b="1" dirty="0" smtClean="0"/>
            </a:br>
            <a:r>
              <a:rPr lang="en-US" altLang="ko-KR" b="1" dirty="0" smtClean="0"/>
              <a:t>Values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512244" y="205218"/>
            <a:ext cx="14223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Importance</a:t>
            </a:r>
            <a:br>
              <a:rPr lang="en-US" altLang="ko-KR" b="1" dirty="0" smtClean="0"/>
            </a:br>
            <a:r>
              <a:rPr lang="en-US" altLang="ko-KR" b="1" dirty="0" smtClean="0"/>
              <a:t>Sampling</a:t>
            </a:r>
            <a:br>
              <a:rPr lang="en-US" altLang="ko-KR" b="1" dirty="0" smtClean="0"/>
            </a:br>
            <a:r>
              <a:rPr lang="en-US" altLang="ko-KR" b="1" dirty="0" smtClean="0"/>
              <a:t>Prone to</a:t>
            </a:r>
            <a:br>
              <a:rPr lang="en-US" altLang="ko-KR" b="1" dirty="0" smtClean="0"/>
            </a:br>
            <a:r>
              <a:rPr lang="en-US" altLang="ko-KR" b="1" dirty="0" smtClean="0"/>
              <a:t>Extreme </a:t>
            </a:r>
            <a:br>
              <a:rPr lang="en-US" altLang="ko-KR" b="1" dirty="0" smtClean="0"/>
            </a:br>
            <a:r>
              <a:rPr lang="en-US" altLang="ko-KR" b="1" dirty="0" smtClean="0"/>
              <a:t>Values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5499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361" y="31994"/>
            <a:ext cx="8435280" cy="674905"/>
          </a:xfrm>
        </p:spPr>
        <p:txBody>
          <a:bodyPr/>
          <a:lstStyle/>
          <a:p>
            <a:r>
              <a:rPr lang="en-US" altLang="ko-KR" sz="4000" dirty="0" smtClean="0"/>
              <a:t>Likelihood Weighting Algorithm</a:t>
            </a:r>
            <a:endParaRPr lang="ko-KR" alt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69990"/>
            <a:ext cx="3557556" cy="5655354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 smtClean="0"/>
              <a:t>P(E=T|MC=T,A=F)=?</a:t>
            </a:r>
          </a:p>
          <a:p>
            <a:r>
              <a:rPr lang="en-US" altLang="ko-KR" dirty="0" err="1" smtClean="0"/>
              <a:t>LikelihoodWeighting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SumSW</a:t>
            </a:r>
            <a:r>
              <a:rPr lang="en-US" altLang="ko-KR" dirty="0" smtClean="0"/>
              <a:t>=</a:t>
            </a:r>
            <a:r>
              <a:rPr lang="en-US" altLang="ko-KR" dirty="0" err="1" smtClean="0"/>
              <a:t>NormSW</a:t>
            </a:r>
            <a:r>
              <a:rPr lang="en-US" altLang="ko-KR" dirty="0" smtClean="0"/>
              <a:t>=0</a:t>
            </a:r>
          </a:p>
          <a:p>
            <a:pPr lvl="1"/>
            <a:r>
              <a:rPr lang="en-US" altLang="ko-KR" dirty="0" smtClean="0"/>
              <a:t>Iterate many times</a:t>
            </a:r>
          </a:p>
          <a:p>
            <a:pPr lvl="2"/>
            <a:r>
              <a:rPr lang="en-US" altLang="ko-KR" dirty="0" smtClean="0"/>
              <a:t>SW=</a:t>
            </a:r>
            <a:r>
              <a:rPr lang="en-US" altLang="ko-KR" dirty="0" err="1" smtClean="0"/>
              <a:t>SampleWeight</a:t>
            </a:r>
            <a:r>
              <a:rPr lang="en-US" altLang="ko-KR" dirty="0" smtClean="0"/>
              <a:t> = 1</a:t>
            </a:r>
          </a:p>
          <a:p>
            <a:pPr lvl="2"/>
            <a:r>
              <a:rPr lang="en-US" altLang="ko-KR" dirty="0" smtClean="0"/>
              <a:t>Generate a sample from the Bayesian network</a:t>
            </a:r>
          </a:p>
          <a:p>
            <a:pPr lvl="3"/>
            <a:r>
              <a:rPr lang="en-US" altLang="ko-KR" dirty="0" err="1"/>
              <a:t>Buglary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false</a:t>
            </a:r>
          </a:p>
          <a:p>
            <a:pPr lvl="3"/>
            <a:r>
              <a:rPr lang="en-US" altLang="ko-KR" dirty="0">
                <a:sym typeface="Wingdings" panose="05000000000000000000" pitchFamily="2" charset="2"/>
              </a:rPr>
              <a:t>Earthquake  false</a:t>
            </a:r>
          </a:p>
          <a:p>
            <a:pPr lvl="3"/>
            <a:r>
              <a:rPr lang="en-US" altLang="ko-KR" dirty="0" smtClean="0">
                <a:sym typeface="Wingdings" panose="05000000000000000000" pitchFamily="2" charset="2"/>
              </a:rPr>
              <a:t>Alarm=F|B=F,E=F</a:t>
            </a:r>
          </a:p>
          <a:p>
            <a:pPr lvl="4"/>
            <a:r>
              <a:rPr lang="en-US" altLang="ko-KR" dirty="0"/>
              <a:t>P(A=F|B=F,E=F</a:t>
            </a:r>
            <a:r>
              <a:rPr lang="en-US" altLang="ko-KR" dirty="0" smtClean="0"/>
              <a:t>)=0.999</a:t>
            </a:r>
            <a:endParaRPr lang="en-US" altLang="ko-KR" dirty="0"/>
          </a:p>
          <a:p>
            <a:pPr lvl="4"/>
            <a:r>
              <a:rPr lang="en-US" altLang="ko-KR" dirty="0"/>
              <a:t>SW=1*0.999</a:t>
            </a:r>
          </a:p>
          <a:p>
            <a:pPr lvl="3"/>
            <a:r>
              <a:rPr lang="en-US" altLang="ko-KR" dirty="0" smtClean="0">
                <a:sym typeface="Wingdings" panose="05000000000000000000" pitchFamily="2" charset="2"/>
              </a:rPr>
              <a:t>JC|A=</a:t>
            </a:r>
            <a:r>
              <a:rPr lang="en-US" altLang="ko-KR" dirty="0" err="1" smtClean="0">
                <a:sym typeface="Wingdings" panose="05000000000000000000" pitchFamily="2" charset="2"/>
              </a:rPr>
              <a:t>T</a:t>
            </a:r>
            <a:r>
              <a:rPr lang="en-US" altLang="ko-KR" dirty="0" err="1">
                <a:sym typeface="Wingdings" panose="05000000000000000000" pitchFamily="2" charset="2"/>
              </a:rPr>
              <a:t>true</a:t>
            </a:r>
            <a:endParaRPr lang="en-US" altLang="ko-KR" dirty="0">
              <a:sym typeface="Wingdings" panose="05000000000000000000" pitchFamily="2" charset="2"/>
            </a:endParaRPr>
          </a:p>
          <a:p>
            <a:pPr lvl="3"/>
            <a:r>
              <a:rPr lang="en-US" altLang="ko-KR" dirty="0" smtClean="0">
                <a:sym typeface="Wingdings" panose="05000000000000000000" pitchFamily="2" charset="2"/>
              </a:rPr>
              <a:t>MC=T|A=F</a:t>
            </a:r>
          </a:p>
          <a:p>
            <a:pPr lvl="4"/>
            <a:r>
              <a:rPr lang="en-US" altLang="ko-KR" dirty="0" smtClean="0">
                <a:sym typeface="Wingdings" panose="05000000000000000000" pitchFamily="2" charset="2"/>
              </a:rPr>
              <a:t>P(MC=T|A=F)=0.01</a:t>
            </a:r>
          </a:p>
          <a:p>
            <a:pPr lvl="4"/>
            <a:r>
              <a:rPr lang="en-US" altLang="ko-KR" dirty="0" smtClean="0">
                <a:sym typeface="Wingdings" panose="05000000000000000000" pitchFamily="2" charset="2"/>
              </a:rPr>
              <a:t>SW=1*0.999*0.01</a:t>
            </a:r>
          </a:p>
          <a:p>
            <a:pPr lvl="2"/>
            <a:r>
              <a:rPr lang="en-US" altLang="ko-KR" dirty="0" smtClean="0">
                <a:sym typeface="Wingdings" panose="05000000000000000000" pitchFamily="2" charset="2"/>
              </a:rPr>
              <a:t>If the sample has E=T, then </a:t>
            </a:r>
            <a:r>
              <a:rPr lang="en-US" altLang="ko-KR" dirty="0" err="1" smtClean="0">
                <a:sym typeface="Wingdings" panose="05000000000000000000" pitchFamily="2" charset="2"/>
              </a:rPr>
              <a:t>SumSW</a:t>
            </a:r>
            <a:r>
              <a:rPr lang="en-US" altLang="ko-KR" dirty="0" smtClean="0">
                <a:sym typeface="Wingdings" panose="05000000000000000000" pitchFamily="2" charset="2"/>
              </a:rPr>
              <a:t>+=SW</a:t>
            </a:r>
          </a:p>
          <a:p>
            <a:pPr lvl="2"/>
            <a:r>
              <a:rPr lang="en-US" altLang="ko-KR" dirty="0" err="1" smtClean="0">
                <a:sym typeface="Wingdings" panose="05000000000000000000" pitchFamily="2" charset="2"/>
              </a:rPr>
              <a:t>NormSW</a:t>
            </a:r>
            <a:r>
              <a:rPr lang="en-US" altLang="ko-KR" dirty="0" smtClean="0">
                <a:sym typeface="Wingdings" panose="05000000000000000000" pitchFamily="2" charset="2"/>
              </a:rPr>
              <a:t>+=SW</a:t>
            </a:r>
          </a:p>
          <a:p>
            <a:pPr lvl="1"/>
            <a:r>
              <a:rPr lang="en-US" altLang="ko-KR" dirty="0" smtClean="0">
                <a:sym typeface="Wingdings" panose="05000000000000000000" pitchFamily="2" charset="2"/>
              </a:rPr>
              <a:t>Return </a:t>
            </a:r>
            <a:r>
              <a:rPr lang="en-US" altLang="ko-KR" dirty="0" err="1" smtClean="0">
                <a:sym typeface="Wingdings" panose="05000000000000000000" pitchFamily="2" charset="2"/>
              </a:rPr>
              <a:t>SumSW</a:t>
            </a:r>
            <a:r>
              <a:rPr lang="en-US" altLang="ko-KR" dirty="0" smtClean="0">
                <a:sym typeface="Wingdings" panose="05000000000000000000" pitchFamily="2" charset="2"/>
              </a:rPr>
              <a:t>/</a:t>
            </a:r>
            <a:r>
              <a:rPr lang="en-US" altLang="ko-KR" dirty="0" err="1" smtClean="0">
                <a:sym typeface="Wingdings" panose="05000000000000000000" pitchFamily="2" charset="2"/>
              </a:rPr>
              <a:t>NormSW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r>
              <a:rPr lang="en-US" altLang="ko-KR" dirty="0" smtClean="0">
                <a:sym typeface="Wingdings" panose="05000000000000000000" pitchFamily="2" charset="2"/>
              </a:rPr>
              <a:t>Any further improvement?</a:t>
            </a:r>
          </a:p>
          <a:p>
            <a:r>
              <a:rPr lang="en-US" altLang="ko-KR" dirty="0" smtClean="0">
                <a:sym typeface="Wingdings" panose="05000000000000000000" pitchFamily="2" charset="2"/>
              </a:rPr>
              <a:t>These samples are….</a:t>
            </a:r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Oval 4"/>
          <p:cNvSpPr/>
          <p:nvPr/>
        </p:nvSpPr>
        <p:spPr>
          <a:xfrm>
            <a:off x="5980931" y="2476451"/>
            <a:ext cx="136815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Alarm</a:t>
            </a:r>
            <a:endParaRPr lang="ko-KR" altLang="en-US" dirty="0"/>
          </a:p>
        </p:txBody>
      </p:sp>
      <p:cxnSp>
        <p:nvCxnSpPr>
          <p:cNvPr id="6" name="Straight Arrow Connector 5"/>
          <p:cNvCxnSpPr>
            <a:stCxn id="5" idx="3"/>
            <a:endCxn id="7" idx="0"/>
          </p:cNvCxnSpPr>
          <p:nvPr/>
        </p:nvCxnSpPr>
        <p:spPr>
          <a:xfrm flipH="1">
            <a:off x="5453380" y="2968152"/>
            <a:ext cx="727912" cy="46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589284" y="3434392"/>
            <a:ext cx="172819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JohnCalls</a:t>
            </a:r>
            <a:endParaRPr lang="ko-KR" altLang="en-US" baseline="-25000" dirty="0"/>
          </a:p>
        </p:txBody>
      </p:sp>
      <p:sp>
        <p:nvSpPr>
          <p:cNvPr id="8" name="Oval 7"/>
          <p:cNvSpPr/>
          <p:nvPr/>
        </p:nvSpPr>
        <p:spPr>
          <a:xfrm>
            <a:off x="7211950" y="3434392"/>
            <a:ext cx="1633637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MaryCalls</a:t>
            </a:r>
            <a:endParaRPr lang="ko-KR" altLang="en-US" baseline="-25000" dirty="0"/>
          </a:p>
        </p:txBody>
      </p:sp>
      <p:cxnSp>
        <p:nvCxnSpPr>
          <p:cNvPr id="9" name="Straight Arrow Connector 8"/>
          <p:cNvCxnSpPr>
            <a:stCxn id="5" idx="5"/>
            <a:endCxn id="8" idx="0"/>
          </p:cNvCxnSpPr>
          <p:nvPr/>
        </p:nvCxnSpPr>
        <p:spPr>
          <a:xfrm>
            <a:off x="7148722" y="2968152"/>
            <a:ext cx="880047" cy="46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717643" y="1356881"/>
            <a:ext cx="172819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Buglary</a:t>
            </a:r>
            <a:endParaRPr lang="ko-KR" altLang="en-US" baseline="-25000" dirty="0"/>
          </a:p>
        </p:txBody>
      </p:sp>
      <p:sp>
        <p:nvSpPr>
          <p:cNvPr id="11" name="Oval 10"/>
          <p:cNvSpPr/>
          <p:nvPr/>
        </p:nvSpPr>
        <p:spPr>
          <a:xfrm>
            <a:off x="7276990" y="1299304"/>
            <a:ext cx="1633637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Earthquake</a:t>
            </a:r>
            <a:endParaRPr lang="ko-KR" altLang="en-US" sz="1400" baseline="-25000" dirty="0"/>
          </a:p>
        </p:txBody>
      </p:sp>
      <p:cxnSp>
        <p:nvCxnSpPr>
          <p:cNvPr id="12" name="Straight Arrow Connector 11"/>
          <p:cNvCxnSpPr>
            <a:stCxn id="11" idx="3"/>
            <a:endCxn id="5" idx="7"/>
          </p:cNvCxnSpPr>
          <p:nvPr/>
        </p:nvCxnSpPr>
        <p:spPr>
          <a:xfrm flipH="1">
            <a:off x="7148722" y="1791005"/>
            <a:ext cx="367509" cy="769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4"/>
            <a:endCxn id="5" idx="1"/>
          </p:cNvCxnSpPr>
          <p:nvPr/>
        </p:nvCxnSpPr>
        <p:spPr>
          <a:xfrm>
            <a:off x="5581739" y="1932945"/>
            <a:ext cx="599553" cy="627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61156" y="88418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P(B)=0.001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367923" y="869990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P(E)=0.002</a:t>
            </a:r>
            <a:endParaRPr lang="ko-KR" altLang="en-US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4125873" y="4450763"/>
          <a:ext cx="301675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P(A|B,E)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0.95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0.94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0.29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0.001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7257727" y="4179624"/>
          <a:ext cx="182386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P(J|A)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0.90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0.05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7246517" y="5412824"/>
          <a:ext cx="182386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P(M|A)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0.70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29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esentation Template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Custom 2">
      <a:majorFont>
        <a:latin typeface="Times New Roman"/>
        <a:ea typeface="HY헤드라인M"/>
        <a:cs typeface=""/>
      </a:majorFont>
      <a:minorFont>
        <a:latin typeface="Cambria"/>
        <a:ea typeface="굴림"/>
        <a:cs typeface="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Template.potx</Template>
  <TotalTime>10798</TotalTime>
  <Words>580</Words>
  <Application>Microsoft Office PowerPoint</Application>
  <PresentationFormat>화면 슬라이드 쇼(4:3)</PresentationFormat>
  <Paragraphs>252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HY헤드라인M</vt:lpstr>
      <vt:lpstr>굴림</vt:lpstr>
      <vt:lpstr>맑은 고딕</vt:lpstr>
      <vt:lpstr>Arial</vt:lpstr>
      <vt:lpstr>Cambria</vt:lpstr>
      <vt:lpstr>Cambria Math</vt:lpstr>
      <vt:lpstr>Times New Roman</vt:lpstr>
      <vt:lpstr>Wingdings</vt:lpstr>
      <vt:lpstr>Presentation Template</vt:lpstr>
      <vt:lpstr>Sampling Based Inference</vt:lpstr>
      <vt:lpstr>Weekly Objectives</vt:lpstr>
      <vt:lpstr>Basic Sampling methods</vt:lpstr>
      <vt:lpstr>Forward Sampling</vt:lpstr>
      <vt:lpstr>Forward Sampling in GMM</vt:lpstr>
      <vt:lpstr>Rejection Sampling</vt:lpstr>
      <vt:lpstr>Rejection Sampling from Numerical View</vt:lpstr>
      <vt:lpstr>Rejection Sampling in GMM</vt:lpstr>
      <vt:lpstr>Importance Sampling</vt:lpstr>
      <vt:lpstr>Likelihood Weighting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Variational Inference on Probabilistic Graphical Models</dc:title>
  <dc:creator>Il-Chul Moon</dc:creator>
  <cp:lastModifiedBy>SRPark</cp:lastModifiedBy>
  <cp:revision>503</cp:revision>
  <dcterms:created xsi:type="dcterms:W3CDTF">2013-08-14T02:12:56Z</dcterms:created>
  <dcterms:modified xsi:type="dcterms:W3CDTF">2017-06-20T08:27:50Z</dcterms:modified>
</cp:coreProperties>
</file>
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17" r:id="rId2"/>
    <p:sldId id="318" r:id="rId3"/>
    <p:sldId id="349" r:id="rId4"/>
    <p:sldId id="363" r:id="rId5"/>
    <p:sldId id="364" r:id="rId6"/>
    <p:sldId id="365" r:id="rId7"/>
    <p:sldId id="367" r:id="rId8"/>
    <p:sldId id="350" r:id="rId9"/>
    <p:sldId id="356" r:id="rId10"/>
    <p:sldId id="354" r:id="rId11"/>
    <p:sldId id="355" r:id="rId12"/>
    <p:sldId id="369" r:id="rId13"/>
    <p:sldId id="368" r:id="rId14"/>
    <p:sldId id="370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>
      <p:cViewPr varScale="1">
        <p:scale>
          <a:sx n="132" d="100"/>
          <a:sy n="132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DD40F-6D86-4AAB-B084-B6837CFA557A}" type="datetimeFigureOut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EE363-3225-4A55-87F5-506D5992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02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543800" cy="1668016"/>
          </a:xfrm>
        </p:spPr>
        <p:txBody>
          <a:bodyPr anchor="b"/>
          <a:lstStyle>
            <a:lvl1pPr>
              <a:defRPr sz="4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58608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03693598-37C8-49CF-8A15-A46445026EA3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982A517A-290A-4238-AB2F-3319C3C1EEC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206553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573016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C86CAE6B-AEE5-43E0-B953-53AA4C35BA3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656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B8D3057-63C8-43D4-9572-5CC0D90B770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248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248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20C42DC5-7698-4FA9-A2BC-C96F65B2FA04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A46FB218-9B93-4105-B777-DA361C04621C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D3B59D4-BDC1-4C58-9D99-3809D68DE86E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1208"/>
            <a:ext cx="8443663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5901664"/>
            <a:ext cx="8443665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A3119303-09BF-436C-8602-A0679EF986D9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8443664" cy="477619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5278"/>
            <a:ext cx="91440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6096000"/>
            <a:ext cx="9144000" cy="50135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EF07741F-3D9C-4A64-9F63-4DA11E7EC935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C6B16-B7E8-4F7D-A7CF-C26340AE3A5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0272" y="274638"/>
            <a:ext cx="1752600" cy="6178698"/>
          </a:xfrm>
        </p:spPr>
        <p:txBody>
          <a:bodyPr vert="eaVert" anchor="b" anchorCtr="0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19056" cy="617869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9A36E3C6-6DD7-413E-BAD6-C2509285FF8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bg2">
                <a:alpha val="87000"/>
              </a:schemeClr>
            </a:gs>
            <a:gs pos="100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439133" y="2151868"/>
            <a:ext cx="268982" cy="91599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i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8093" y="6590376"/>
            <a:ext cx="577502" cy="2772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38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 smtClean="0"/>
              <a:t>Click to edit Master text styles 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8424" y="6597351"/>
            <a:ext cx="765175" cy="266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620808"/>
            <a:ext cx="621159" cy="216024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177" y="6597351"/>
            <a:ext cx="1070247" cy="275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A588B01-A67B-47BC-B714-F41ADBB1241E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6608385"/>
            <a:ext cx="5859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Copyright © 2010 by Il-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Chul</a:t>
            </a:r>
            <a:r>
              <a:rPr lang="en-US" altLang="ko-KR" sz="1200" dirty="0" smtClean="0">
                <a:solidFill>
                  <a:schemeClr val="bg1"/>
                </a:solidFill>
              </a:rPr>
              <a:t> Moon, Dept. of Industrial and Systems Engineering, KAIST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moon@kaist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emf"/><Relationship Id="rId18" Type="http://schemas.openxmlformats.org/officeDocument/2006/relationships/image" Target="../media/image40.png"/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12" Type="http://schemas.openxmlformats.org/officeDocument/2006/relationships/image" Target="../media/image34.png"/><Relationship Id="rId17" Type="http://schemas.openxmlformats.org/officeDocument/2006/relationships/image" Target="../media/image10.emf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7.emf"/><Relationship Id="rId5" Type="http://schemas.openxmlformats.org/officeDocument/2006/relationships/image" Target="../media/image4.emf"/><Relationship Id="rId15" Type="http://schemas.openxmlformats.org/officeDocument/2006/relationships/image" Target="../media/image9.emf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6.emf"/><Relationship Id="rId1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K-Means Clustering and Gaussian Mixture Model</a:t>
            </a:r>
            <a:endParaRPr lang="ko-KR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Il-Chul Moon</a:t>
            </a:r>
            <a:br>
              <a:rPr lang="en-US" altLang="ko-KR" dirty="0" smtClean="0"/>
            </a:br>
            <a:r>
              <a:rPr lang="en-US" altLang="ko-KR" dirty="0" smtClean="0"/>
              <a:t>Dept. of Industrial and Systems Engineering</a:t>
            </a:r>
            <a:br>
              <a:rPr lang="en-US" altLang="ko-KR" dirty="0" smtClean="0"/>
            </a:br>
            <a:r>
              <a:rPr lang="en-US" altLang="ko-KR" dirty="0" smtClean="0"/>
              <a:t>KAIST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icmoon@kaist.ac.kr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Weekly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Understand the clustering task and the K-means algorithm</a:t>
            </a:r>
          </a:p>
          <a:p>
            <a:pPr lvl="1"/>
            <a:r>
              <a:rPr lang="en-US" altLang="ko-KR" dirty="0" smtClean="0"/>
              <a:t>Know what the unsupervised learning is</a:t>
            </a:r>
          </a:p>
          <a:p>
            <a:pPr lvl="1"/>
            <a:r>
              <a:rPr lang="en-US" altLang="ko-KR" dirty="0" smtClean="0"/>
              <a:t>Understand the K-means iterative process</a:t>
            </a:r>
          </a:p>
          <a:p>
            <a:pPr lvl="1"/>
            <a:r>
              <a:rPr lang="en-US" altLang="ko-KR" dirty="0" smtClean="0"/>
              <a:t>Know the limitation of the K-means algorithm</a:t>
            </a:r>
          </a:p>
          <a:p>
            <a:r>
              <a:rPr lang="en-US" altLang="ko-KR" dirty="0" smtClean="0"/>
              <a:t>Understand the Gaussian mixture model</a:t>
            </a:r>
          </a:p>
          <a:p>
            <a:pPr lvl="1"/>
            <a:r>
              <a:rPr lang="en-US" altLang="ko-KR" dirty="0" smtClean="0"/>
              <a:t>Know the multinomial distribution and the multivariate Gaussian distribution</a:t>
            </a:r>
          </a:p>
          <a:p>
            <a:pPr lvl="1"/>
            <a:r>
              <a:rPr lang="en-US" altLang="ko-KR" dirty="0" smtClean="0"/>
              <a:t>Know why mixture models are useful</a:t>
            </a:r>
          </a:p>
          <a:p>
            <a:pPr lvl="1"/>
            <a:r>
              <a:rPr lang="en-US" altLang="ko-KR" dirty="0" smtClean="0"/>
              <a:t>Understand how the parameter updates are derived from the Gaussian mixture model</a:t>
            </a:r>
          </a:p>
          <a:p>
            <a:r>
              <a:rPr lang="en-US" altLang="ko-KR" dirty="0" smtClean="0"/>
              <a:t>Understand the EM algorithm</a:t>
            </a:r>
          </a:p>
          <a:p>
            <a:pPr lvl="1"/>
            <a:r>
              <a:rPr lang="en-US" altLang="ko-KR" dirty="0" smtClean="0"/>
              <a:t>Know the fundamentals of the EM algorithm</a:t>
            </a:r>
          </a:p>
          <a:p>
            <a:pPr lvl="1"/>
            <a:r>
              <a:rPr lang="en-US" altLang="ko-KR" dirty="0" smtClean="0"/>
              <a:t>Know how to derive the EM updates of a model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61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Gaussian mixture model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30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Multinomial Distribution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 smtClean="0"/>
                  <a:t>Binary variable</a:t>
                </a:r>
              </a:p>
              <a:p>
                <a:pPr lvl="1"/>
                <a:r>
                  <a:rPr lang="en-US" altLang="ko-KR" dirty="0" smtClean="0"/>
                  <a:t>Selecting 0 or 1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binomial distribution</a:t>
                </a:r>
                <a:endParaRPr lang="en-US" altLang="ko-KR" dirty="0" smtClean="0"/>
              </a:p>
              <a:p>
                <a:r>
                  <a:rPr lang="en-US" altLang="ko-KR" dirty="0" smtClean="0"/>
                  <a:t>How about K options?</a:t>
                </a:r>
              </a:p>
              <a:p>
                <a:pPr lvl="1"/>
                <a:r>
                  <a:rPr lang="en-US" altLang="ko-KR" dirty="0" smtClean="0"/>
                  <a:t>X=(0,0,1,0,0,0) when K=6 and selecting the third option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𝑠𝑢𝑐h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A generalization of binomial distribution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Multinomial distribution</a:t>
                </a:r>
              </a:p>
              <a:p>
                <a:r>
                  <a:rPr lang="en-US" altLang="ko-KR" dirty="0" smtClean="0"/>
                  <a:t>Given a dataset D with N selections, x</a:t>
                </a:r>
                <a:r>
                  <a:rPr lang="en-US" altLang="ko-KR" baseline="-25000" dirty="0" smtClean="0"/>
                  <a:t>1</a:t>
                </a:r>
                <a:r>
                  <a:rPr lang="en-US" altLang="ko-KR" dirty="0" smtClean="0"/>
                  <a:t>…</a:t>
                </a:r>
                <a:r>
                  <a:rPr lang="en-US" altLang="ko-KR" dirty="0" err="1" smtClean="0"/>
                  <a:t>x</a:t>
                </a:r>
                <a:r>
                  <a:rPr lang="en-US" altLang="ko-KR" baseline="-25000" dirty="0" err="1" smtClean="0"/>
                  <a:t>n</a:t>
                </a:r>
                <a:endParaRPr lang="en-US" altLang="ko-KR" baseline="-25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∏"/>
                            <m:limLoc m:val="subSup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nary>
                          </m:sup>
                        </m:sSup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Number of selecting </a:t>
                </a:r>
                <a:r>
                  <a:rPr lang="en-US" altLang="ko-KR" i="1" dirty="0" err="1" smtClean="0"/>
                  <a:t>k</a:t>
                </a:r>
                <a:r>
                  <a:rPr lang="en-US" altLang="ko-KR" baseline="30000" dirty="0" err="1" smtClean="0"/>
                  <a:t>th</a:t>
                </a:r>
                <a:r>
                  <a:rPr lang="en-US" altLang="ko-KR" i="1" dirty="0" smtClean="0"/>
                  <a:t> option</a:t>
                </a:r>
                <a:r>
                  <a:rPr lang="en-US" altLang="ko-KR" dirty="0" smtClean="0"/>
                  <a:t> out of N selections</a:t>
                </a:r>
              </a:p>
              <a:p>
                <a:pPr lvl="1"/>
                <a:r>
                  <a:rPr lang="en-US" altLang="ko-KR" dirty="0" smtClean="0"/>
                  <a:t>How to determine the maximum likelihood solution of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ko-KR" dirty="0" smtClean="0"/>
                  <a:t>?</a:t>
                </a:r>
              </a:p>
              <a:p>
                <a:pPr lvl="2"/>
                <a:r>
                  <a:rPr lang="en-US" altLang="ko-KR" dirty="0" smtClean="0"/>
                  <a:t>Maximize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dirty="0"/>
              </a:p>
              <a:p>
                <a:pPr lvl="3"/>
                <a:endParaRPr lang="en-US" altLang="ko-KR" dirty="0" smtClean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867" b="-12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37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Lagrange Method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ko-KR" dirty="0" smtClean="0"/>
                  <a:t>Method of finding a local maximum subject to constraints</a:t>
                </a:r>
              </a:p>
              <a:p>
                <a:pPr lvl="1"/>
                <a:r>
                  <a:rPr lang="en-US" altLang="ko-KR" dirty="0" smtClean="0"/>
                  <a:t>Maximize </a:t>
                </a:r>
                <a:r>
                  <a:rPr lang="en-US" altLang="ko-KR" i="1" dirty="0" smtClean="0"/>
                  <a:t>f(</a:t>
                </a:r>
                <a:r>
                  <a:rPr lang="en-US" altLang="ko-KR" i="1" dirty="0" err="1" smtClean="0"/>
                  <a:t>x,y</a:t>
                </a:r>
                <a:r>
                  <a:rPr lang="en-US" altLang="ko-KR" i="1" dirty="0" smtClean="0"/>
                  <a:t>)</a:t>
                </a:r>
              </a:p>
              <a:p>
                <a:pPr lvl="1"/>
                <a:r>
                  <a:rPr lang="en-US" altLang="ko-KR" dirty="0" smtClean="0"/>
                  <a:t>Subject to </a:t>
                </a:r>
                <a:r>
                  <a:rPr lang="en-US" altLang="ko-KR" i="1" dirty="0" smtClean="0"/>
                  <a:t>g(</a:t>
                </a:r>
                <a:r>
                  <a:rPr lang="en-US" altLang="ko-KR" i="1" dirty="0" err="1" smtClean="0"/>
                  <a:t>x,y</a:t>
                </a:r>
                <a:r>
                  <a:rPr lang="en-US" altLang="ko-KR" i="1" dirty="0" smtClean="0"/>
                  <a:t>)=c</a:t>
                </a:r>
              </a:p>
              <a:p>
                <a:pPr lvl="1"/>
                <a:r>
                  <a:rPr lang="en-US" altLang="ko-KR" dirty="0" smtClean="0"/>
                  <a:t>Assuming that </a:t>
                </a:r>
                <a:r>
                  <a:rPr lang="en-US" altLang="ko-KR" i="1" dirty="0" smtClean="0"/>
                  <a:t>f</a:t>
                </a:r>
                <a:r>
                  <a:rPr lang="en-US" altLang="ko-KR" dirty="0" smtClean="0"/>
                  <a:t>  and </a:t>
                </a:r>
                <a:r>
                  <a:rPr lang="en-US" altLang="ko-KR" i="1" dirty="0" smtClean="0"/>
                  <a:t>g</a:t>
                </a:r>
                <a:r>
                  <a:rPr lang="en-US" altLang="ko-KR" dirty="0" smtClean="0"/>
                  <a:t> have continuous partial derivatives</a:t>
                </a:r>
              </a:p>
              <a:p>
                <a:pPr lvl="1"/>
                <a:r>
                  <a:rPr lang="en-US" altLang="ko-KR" dirty="0" smtClean="0"/>
                  <a:t>1) Lagrange function and multiplier (do you recall this?)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altLang="ko-KR" b="0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ko-KR" dirty="0" smtClean="0"/>
              </a:p>
              <a:p>
                <a:pPr lvl="3"/>
                <a:r>
                  <a:rPr lang="en-US" altLang="ko-KR" dirty="0" smtClean="0"/>
                  <a:t>Using the log likelihood</a:t>
                </a:r>
              </a:p>
              <a:p>
                <a:pPr lvl="1"/>
                <a:r>
                  <a:rPr lang="en-US" altLang="ko-KR" dirty="0" smtClean="0"/>
                  <a:t>2) Take the partial first-order derivative of variables, and set it to be zero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3) Utilize the constraint to get the optimized value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b="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𝑛𝑘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altLang="ko-KR" dirty="0" smtClean="0"/>
                  <a:t>: MLE parameter of multinomial distribution</a:t>
                </a:r>
              </a:p>
              <a:p>
                <a:pPr lvl="2"/>
                <a:endParaRPr lang="en-US" altLang="ko-KR" dirty="0" smtClean="0"/>
              </a:p>
              <a:p>
                <a:pPr lvl="2"/>
                <a:endParaRPr lang="en-US" altLang="ko-KR" dirty="0"/>
              </a:p>
              <a:p>
                <a:pPr lvl="2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7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603044" y="29679"/>
                <a:ext cx="4572000" cy="66922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2"/>
                <a:r>
                  <a:rPr lang="en-US" altLang="ko-KR" b="1" dirty="0"/>
                  <a:t>Maximize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𝑲</m:t>
                        </m:r>
                      </m:sup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  <m:sup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altLang="ko-KR" b="1" dirty="0"/>
              </a:p>
              <a:p>
                <a:pPr lvl="2"/>
                <a:r>
                  <a:rPr lang="en-US" altLang="ko-KR" b="1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nary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ko-KR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044" y="29679"/>
                <a:ext cx="4572000" cy="669222"/>
              </a:xfrm>
              <a:prstGeom prst="rect">
                <a:avLst/>
              </a:prstGeom>
              <a:blipFill rotWithShape="0">
                <a:blip r:embed="rId3"/>
                <a:stretch>
                  <a:fillRect t="-62727" b="-1018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508104" y="656668"/>
                <a:ext cx="2309478" cy="3740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</m:e>
                    </m:nary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656668"/>
                <a:ext cx="2309478" cy="374077"/>
              </a:xfrm>
              <a:prstGeom prst="rect">
                <a:avLst/>
              </a:prstGeom>
              <a:blipFill rotWithShape="0">
                <a:blip r:embed="rId4"/>
                <a:stretch>
                  <a:fillRect l="-2381" t="-116393" r="-2381" b="-1868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502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Multivariate Gaussian Distribution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600200"/>
                <a:ext cx="8435280" cy="4925144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altLang="ko-KR" dirty="0" smtClean="0"/>
                  <a:t>Probability density function of the Gaussian distribution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ko-KR" b="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altLang="ko-KR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l-GR" altLang="ko-KR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ko-KR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𝐥𝐧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altLang="ko-K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altLang="ko-KR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ko-K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1">
                        <a:latin typeface="Cambria Math" panose="02040503050406030204" pitchFamily="18" charset="0"/>
                      </a:rPr>
                      <m:t>𝐥𝐧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altLang="ko-K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altLang="ko-KR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</m:e>
                        </m:d>
                      </m:e>
                    </m:func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altLang="ko-KR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</m:nary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altLang="ko-KR" dirty="0" smtClean="0"/>
              </a:p>
              <a:p>
                <a:pPr lvl="3"/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altLang="ko-KR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</m:e>
                        </m:d>
                      </m:e>
                    </m:func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𝑇𝑟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altLang="ko-KR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3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altLang="ko-KR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</m:e>
                        </m:d>
                      </m:e>
                    </m:func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ko-K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ko-KR" altLang="en-US" b="1" i="1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ko-KR" altLang="en-US" b="0" i="1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m:rPr>
                        <m:sty m:val="p"/>
                      </m:rPr>
                      <a:rPr lang="en-US" altLang="ko-KR" b="0" i="1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b="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=0→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ko-K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b="1" i="1" smtClean="0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acc>
                          </m:e>
                        </m:d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altLang="ko-KR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=0→</m:t>
                    </m:r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altLang="ko-K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acc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acc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</m:oMath>
                </a14:m>
                <a:endParaRPr lang="en-US" altLang="ko-KR" dirty="0" smtClean="0"/>
              </a:p>
              <a:p>
                <a:pPr lvl="3"/>
                <a:r>
                  <a:rPr lang="en-US" altLang="ko-KR" dirty="0" smtClean="0"/>
                  <a:t>Beyond the scope of the course</a:t>
                </a:r>
              </a:p>
              <a:p>
                <a:pPr lvl="3"/>
                <a:r>
                  <a:rPr lang="en-US" altLang="ko-KR" dirty="0" smtClean="0"/>
                  <a:t>Use “trace trick” and 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</m:den>
                    </m:f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dirty="0" smtClean="0"/>
                  <a:t>, 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𝑇𝑟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𝑑𝐴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𝑇𝑟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-KR" dirty="0" smtClean="0"/>
              </a:p>
              <a:p>
                <a:pPr lvl="3"/>
                <a:endParaRPr lang="ko-KR" altLang="en-US" dirty="0"/>
              </a:p>
              <a:p>
                <a:pPr lvl="2"/>
                <a:endParaRPr lang="ko-KR" altLang="en-US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600200"/>
                <a:ext cx="8435280" cy="4925144"/>
              </a:xfrm>
              <a:blipFill rotWithShape="0">
                <a:blip r:embed="rId2"/>
                <a:stretch>
                  <a:fillRect t="-7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36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 smtClean="0"/>
              <a:t>Samples of Multivariate Gaussian Distribution</a:t>
            </a:r>
            <a:endParaRPr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8668" y="1491985"/>
                <a:ext cx="8435280" cy="165611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 smtClean="0"/>
                  <a:t>Samples of multivariate Gaussian distributions</a:t>
                </a:r>
              </a:p>
              <a:p>
                <a:pPr lvl="1"/>
                <a:r>
                  <a:rPr lang="en-US" altLang="ko-KR" dirty="0" smtClean="0"/>
                  <a:t>With various covariance matrixes</a:t>
                </a:r>
              </a:p>
              <a:p>
                <a:pPr lvl="1"/>
                <a:r>
                  <a:rPr lang="en-US" altLang="ko-KR" dirty="0" smtClean="0"/>
                  <a:t>Covariance matrix should a positive-definite matrix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l-GR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 smtClean="0"/>
                  <a:t>for every non-zero column vector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when </a:t>
                </a:r>
                <a:r>
                  <a:rPr lang="en-US" altLang="ko-KR" dirty="0" err="1" smtClean="0"/>
                  <a:t>a,b</a:t>
                </a:r>
                <a:r>
                  <a:rPr lang="en-US" altLang="ko-KR" dirty="0" smtClean="0"/>
                  <a:t> are non-zero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8668" y="1491985"/>
                <a:ext cx="8435280" cy="1656111"/>
              </a:xfrm>
              <a:blipFill rotWithShape="0">
                <a:blip r:embed="rId2"/>
                <a:stretch>
                  <a:fillRect t="-5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7</a:t>
            </a:fld>
            <a:endParaRPr lang="ko-KR" altLang="en-US"/>
          </a:p>
        </p:txBody>
      </p:sp>
      <p:grpSp>
        <p:nvGrpSpPr>
          <p:cNvPr id="33" name="Group 32"/>
          <p:cNvGrpSpPr/>
          <p:nvPr/>
        </p:nvGrpSpPr>
        <p:grpSpPr>
          <a:xfrm>
            <a:off x="-180528" y="3252019"/>
            <a:ext cx="9505056" cy="3356213"/>
            <a:chOff x="123454" y="2456567"/>
            <a:chExt cx="10527288" cy="4163832"/>
          </a:xfrm>
        </p:grpSpPr>
        <p:grpSp>
          <p:nvGrpSpPr>
            <p:cNvPr id="26" name="Group 25"/>
            <p:cNvGrpSpPr/>
            <p:nvPr/>
          </p:nvGrpSpPr>
          <p:grpSpPr>
            <a:xfrm>
              <a:off x="138938" y="2456567"/>
              <a:ext cx="2880000" cy="2160645"/>
              <a:chOff x="-147642" y="1206003"/>
              <a:chExt cx="2880000" cy="2160645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7642" y="1206003"/>
                <a:ext cx="2880000" cy="216064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1619672" y="2318928"/>
                    <a:ext cx="891911" cy="55245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9672" y="2318928"/>
                    <a:ext cx="891911" cy="552459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1369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/>
            <p:cNvGrpSpPr/>
            <p:nvPr/>
          </p:nvGrpSpPr>
          <p:grpSpPr>
            <a:xfrm>
              <a:off x="2669708" y="2461893"/>
              <a:ext cx="2880000" cy="2160645"/>
              <a:chOff x="2642373" y="1158271"/>
              <a:chExt cx="2880000" cy="2160645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2373" y="1158271"/>
                <a:ext cx="2880000" cy="216064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383206" y="2355205"/>
                    <a:ext cx="891911" cy="5542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3206" y="2355205"/>
                    <a:ext cx="891911" cy="554255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b="-1351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oup 27"/>
            <p:cNvGrpSpPr/>
            <p:nvPr/>
          </p:nvGrpSpPr>
          <p:grpSpPr>
            <a:xfrm>
              <a:off x="7770742" y="2509421"/>
              <a:ext cx="2880000" cy="2160644"/>
              <a:chOff x="4788023" y="1050227"/>
              <a:chExt cx="2880000" cy="2160644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88023" y="1050227"/>
                <a:ext cx="2880000" cy="2160644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6528856" y="2199634"/>
                    <a:ext cx="891911" cy="5542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8856" y="2199634"/>
                    <a:ext cx="891911" cy="554255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 b="-1351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123454" y="4459754"/>
              <a:ext cx="2880000" cy="2160645"/>
              <a:chOff x="-229929" y="3426847"/>
              <a:chExt cx="2880000" cy="2160645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229929" y="3426847"/>
                <a:ext cx="2880000" cy="216064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1479664" y="4591302"/>
                    <a:ext cx="891911" cy="559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79664" y="4591302"/>
                    <a:ext cx="891911" cy="559832"/>
                  </a:xfrm>
                  <a:prstGeom prst="rect">
                    <a:avLst/>
                  </a:prstGeom>
                  <a:blipFill rotWithShape="0">
                    <a:blip r:embed="rId10"/>
                    <a:stretch>
                      <a:fillRect b="-1351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/>
            <p:cNvGrpSpPr/>
            <p:nvPr/>
          </p:nvGrpSpPr>
          <p:grpSpPr>
            <a:xfrm>
              <a:off x="2660805" y="4459755"/>
              <a:ext cx="2880000" cy="2160644"/>
              <a:chOff x="3018242" y="3561902"/>
              <a:chExt cx="2880000" cy="2160644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18242" y="3561902"/>
                <a:ext cx="2880000" cy="2160644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4765157" y="4726356"/>
                    <a:ext cx="891911" cy="5543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65157" y="4726356"/>
                    <a:ext cx="891911" cy="554319"/>
                  </a:xfrm>
                  <a:prstGeom prst="rect">
                    <a:avLst/>
                  </a:prstGeom>
                  <a:blipFill rotWithShape="0">
                    <a:blip r:embed="rId12"/>
                    <a:stretch>
                      <a:fillRect b="-1351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oup 29"/>
            <p:cNvGrpSpPr/>
            <p:nvPr/>
          </p:nvGrpSpPr>
          <p:grpSpPr>
            <a:xfrm>
              <a:off x="5198156" y="4459754"/>
              <a:ext cx="2880000" cy="2160644"/>
              <a:chOff x="6136275" y="3575407"/>
              <a:chExt cx="2880000" cy="2160644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36275" y="3575407"/>
                <a:ext cx="2880000" cy="2160644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7879100" y="4739863"/>
                    <a:ext cx="891911" cy="55245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9100" y="4739863"/>
                    <a:ext cx="891911" cy="552459"/>
                  </a:xfrm>
                  <a:prstGeom prst="rect">
                    <a:avLst/>
                  </a:prstGeom>
                  <a:blipFill rotWithShape="0">
                    <a:blip r:embed="rId14"/>
                    <a:stretch>
                      <a:fillRect b="-1369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7744410" y="4459753"/>
              <a:ext cx="2880000" cy="2160645"/>
              <a:chOff x="7603862" y="915079"/>
              <a:chExt cx="2880000" cy="2160645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03862" y="915079"/>
                <a:ext cx="2880000" cy="216064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9000148" y="2168871"/>
                    <a:ext cx="1238159" cy="55245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00148" y="2168871"/>
                    <a:ext cx="1238159" cy="552459"/>
                  </a:xfrm>
                  <a:prstGeom prst="rect">
                    <a:avLst/>
                  </a:prstGeom>
                  <a:blipFill rotWithShape="0">
                    <a:blip r:embed="rId16"/>
                    <a:stretch>
                      <a:fillRect b="-1369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Group 26"/>
            <p:cNvGrpSpPr/>
            <p:nvPr/>
          </p:nvGrpSpPr>
          <p:grpSpPr>
            <a:xfrm>
              <a:off x="5198156" y="2509421"/>
              <a:ext cx="2880000" cy="2160644"/>
              <a:chOff x="5027329" y="-674982"/>
              <a:chExt cx="2880000" cy="2160644"/>
            </a:xfrm>
          </p:grpSpPr>
          <p:pic>
            <p:nvPicPr>
              <p:cNvPr id="23" name="Picture 22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27329" y="-674982"/>
                <a:ext cx="2880000" cy="2160644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6807080" y="474425"/>
                    <a:ext cx="891911" cy="5542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07080" y="474425"/>
                    <a:ext cx="891911" cy="554255"/>
                  </a:xfrm>
                  <a:prstGeom prst="rect">
                    <a:avLst/>
                  </a:prstGeom>
                  <a:blipFill rotWithShape="0">
                    <a:blip r:embed="rId18"/>
                    <a:stretch>
                      <a:fillRect b="-1351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56950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Mixture Model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410944" cy="492514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altLang="ko-KR" dirty="0" smtClean="0"/>
                  <a:t>Imagine that the samples are drawn from three different normal distributions</a:t>
                </a:r>
              </a:p>
              <a:p>
                <a:pPr lvl="1"/>
                <a:r>
                  <a:rPr lang="en-US" altLang="ko-KR" dirty="0" smtClean="0"/>
                  <a:t>Subpopulation</a:t>
                </a:r>
              </a:p>
              <a:p>
                <a:pPr lvl="1"/>
                <a:r>
                  <a:rPr lang="en-US" altLang="ko-KR" dirty="0" smtClean="0"/>
                  <a:t>The conventional distributions cannot explain the distribution accurately</a:t>
                </a:r>
              </a:p>
              <a:p>
                <a:pPr lvl="1"/>
                <a:r>
                  <a:rPr lang="en-US" altLang="ko-KR" dirty="0" smtClean="0"/>
                  <a:t>We need to mix the three normal distribution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Create a new distribution adapted to the samples</a:t>
                </a:r>
              </a:p>
              <a:p>
                <a:pPr lvl="1"/>
                <a:r>
                  <a:rPr lang="en-US" altLang="ko-KR" dirty="0" smtClean="0"/>
                  <a:t> Mixture distribution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Mixing coefficients,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 smtClean="0"/>
                  <a:t>: A normal distribution is chosen out of K options with probability</a:t>
                </a:r>
              </a:p>
              <a:p>
                <a:pPr lvl="2"/>
                <a:r>
                  <a:rPr lang="en-US" altLang="ko-KR" dirty="0" smtClean="0"/>
                  <a:t>Works as weighting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=1,0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This is a probability (as well as weighting!)</a:t>
                </a:r>
              </a:p>
              <a:p>
                <a:pPr lvl="2"/>
                <a:r>
                  <a:rPr lang="en-US" altLang="ko-KR" dirty="0" smtClean="0"/>
                  <a:t>Then, which distribution?</a:t>
                </a:r>
              </a:p>
              <a:p>
                <a:pPr lvl="2"/>
                <a:r>
                  <a:rPr lang="en-US" altLang="ko-KR" dirty="0" smtClean="0"/>
                  <a:t>New variable? Let’s say Z!</a:t>
                </a:r>
              </a:p>
              <a:p>
                <a:pPr lvl="1"/>
                <a:r>
                  <a:rPr lang="en-US" altLang="ko-KR" dirty="0" smtClean="0"/>
                  <a:t>Mixture component,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>: A distribution for the subpopulation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Why this ordering of variables?</a:t>
                </a:r>
                <a:endParaRPr lang="en-US" altLang="ko-KR" dirty="0"/>
              </a:p>
              <a:p>
                <a:endParaRPr lang="en-US" altLang="ko-KR" dirty="0" smtClean="0"/>
              </a:p>
              <a:p>
                <a:pPr lvl="1"/>
                <a:endParaRPr lang="en-US" altLang="ko-KR" dirty="0" smtClean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410944" cy="4925144"/>
              </a:xfrm>
              <a:blipFill rotWithShape="0">
                <a:blip r:embed="rId2"/>
                <a:stretch>
                  <a:fillRect t="-1487" b="-43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6000803" y="154420"/>
            <a:ext cx="2879141" cy="6456004"/>
            <a:chOff x="5510440" y="164804"/>
            <a:chExt cx="2879141" cy="645600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10440" y="164804"/>
              <a:ext cx="2879141" cy="216000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10440" y="2348880"/>
              <a:ext cx="2879140" cy="2160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10440" y="4460808"/>
              <a:ext cx="2879140" cy="21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8824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Gaussian Mixture Model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545111"/>
                <a:ext cx="6660232" cy="492514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altLang="ko-KR" dirty="0" smtClean="0"/>
                  <a:t>Let’s assume that the data points are drawn from a mixture distribution of multiple multivariate Gaussian distributions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How to model such mixture?</a:t>
                </a:r>
              </a:p>
              <a:p>
                <a:pPr lvl="2"/>
                <a:r>
                  <a:rPr lang="en-US" altLang="ko-KR" dirty="0" smtClean="0"/>
                  <a:t>Mixing coefficient, or Selection </a:t>
                </a:r>
                <a:r>
                  <a:rPr lang="en-US" altLang="ko-KR" dirty="0"/>
                  <a:t>variable: </a:t>
                </a:r>
                <a:r>
                  <a:rPr lang="en-US" altLang="ko-KR" dirty="0" err="1"/>
                  <a:t>z</a:t>
                </a:r>
                <a:r>
                  <a:rPr lang="en-US" altLang="ko-KR" baseline="-25000" dirty="0" err="1"/>
                  <a:t>k</a:t>
                </a:r>
                <a:endParaRPr lang="en-US" altLang="ko-KR" baseline="-25000" dirty="0"/>
              </a:p>
              <a:p>
                <a:pPr lvl="3"/>
                <a:r>
                  <a:rPr lang="en-US" altLang="ko-KR" dirty="0" smtClean="0"/>
                  <a:t>The selection is stochastic which follows the multinomial distribution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=1,0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ko-KR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Mixture component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This is the marginalized probability. How about conditional?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r>
                  <a:rPr lang="en-US" altLang="ko-KR" b="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/>
                </a:r>
                <a:br>
                  <a:rPr lang="en-US" altLang="ko-KR" b="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Log likelihood of the entire dataset is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545111"/>
                <a:ext cx="6660232" cy="4925144"/>
              </a:xfrm>
              <a:blipFill rotWithShape="0">
                <a:blip r:embed="rId2"/>
                <a:stretch>
                  <a:fillRect t="-1856" r="-366" b="-91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7628525" y="3278954"/>
            <a:ext cx="1224136" cy="2376264"/>
          </a:xfrm>
          <a:prstGeom prst="rect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916557" y="3566986"/>
            <a:ext cx="648072" cy="576064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z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7916557" y="2342850"/>
                <a:ext cx="648072" cy="576064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557" y="2342850"/>
                <a:ext cx="648072" cy="576064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7916557" y="4791122"/>
            <a:ext cx="648072" cy="576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x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510901" y="5285886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N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6647277" y="3889579"/>
                <a:ext cx="648072" cy="576064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277" y="3889579"/>
                <a:ext cx="648072" cy="576064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>
                <a:off x="6647277" y="4791122"/>
                <a:ext cx="648072" cy="576064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277" y="4791122"/>
                <a:ext cx="648072" cy="576064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7" idx="4"/>
            <a:endCxn id="6" idx="0"/>
          </p:cNvCxnSpPr>
          <p:nvPr/>
        </p:nvCxnSpPr>
        <p:spPr>
          <a:xfrm>
            <a:off x="8240593" y="2918914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4"/>
            <a:endCxn id="8" idx="0"/>
          </p:cNvCxnSpPr>
          <p:nvPr/>
        </p:nvCxnSpPr>
        <p:spPr>
          <a:xfrm>
            <a:off x="8240593" y="4143050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6"/>
            <a:endCxn id="8" idx="1"/>
          </p:cNvCxnSpPr>
          <p:nvPr/>
        </p:nvCxnSpPr>
        <p:spPr>
          <a:xfrm>
            <a:off x="7295349" y="4177611"/>
            <a:ext cx="716116" cy="69787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" idx="6"/>
            <a:endCxn id="8" idx="2"/>
          </p:cNvCxnSpPr>
          <p:nvPr/>
        </p:nvCxnSpPr>
        <p:spPr>
          <a:xfrm>
            <a:off x="7295349" y="5079154"/>
            <a:ext cx="62120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170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Expectation of GMM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 smtClean="0"/>
                  <a:t>Similar problem of K-means algorithm</a:t>
                </a:r>
              </a:p>
              <a:p>
                <a:pPr lvl="1"/>
                <a:r>
                  <a:rPr lang="en-US" altLang="ko-KR" dirty="0" smtClean="0"/>
                  <a:t>Two interacting parameters</a:t>
                </a:r>
              </a:p>
              <a:p>
                <a:pPr lvl="1"/>
                <a:r>
                  <a:rPr lang="en-US" altLang="ko-KR" dirty="0" smtClean="0"/>
                  <a:t>As before, we apply the expectation and the maximization algorithm</a:t>
                </a:r>
              </a:p>
              <a:p>
                <a:pPr lvl="2"/>
                <a:r>
                  <a:rPr lang="en-US" altLang="ko-KR" dirty="0" smtClean="0"/>
                  <a:t>Expectation: the assignment between the clusters and the data points</a:t>
                </a:r>
              </a:p>
              <a:p>
                <a:pPr lvl="2"/>
                <a:r>
                  <a:rPr lang="en-US" altLang="ko-KR" dirty="0" smtClean="0"/>
                  <a:t>Maximization: the update of the parameters</a:t>
                </a:r>
              </a:p>
              <a:p>
                <a:r>
                  <a:rPr lang="en-US" altLang="ko-KR" dirty="0" smtClean="0"/>
                  <a:t>Expectation step</a:t>
                </a:r>
              </a:p>
              <a:p>
                <a:pPr lvl="1"/>
                <a:r>
                  <a:rPr lang="en-US" altLang="ko-KR" dirty="0" smtClean="0"/>
                  <a:t>Assign a data point to a nearest cluster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the assignment probability</a:t>
                </a:r>
              </a:p>
              <a:p>
                <a:pPr lvl="2"/>
                <a:r>
                  <a:rPr lang="en-US" altLang="ko-KR" dirty="0" smtClean="0">
                    <a:sym typeface="Wingdings" panose="05000000000000000000" pitchFamily="2" charset="2"/>
                  </a:rPr>
                  <a:t>Given the parameters and the data point, calculate the likelihood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</m:e>
                        </m:nary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Here,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are given, calculate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are used to calculate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The new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motivates the update of the old parameters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929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610744" cy="1138138"/>
          </a:xfrm>
        </p:spPr>
        <p:txBody>
          <a:bodyPr/>
          <a:lstStyle/>
          <a:p>
            <a:r>
              <a:rPr lang="en-US" altLang="ko-KR" dirty="0" smtClean="0"/>
              <a:t>Maximization of GMM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2352" y="1556792"/>
                <a:ext cx="8435280" cy="492514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altLang="ko-KR" dirty="0" smtClean="0"/>
                  <a:t>Maximization step</a:t>
                </a:r>
              </a:p>
              <a:p>
                <a:pPr lvl="1"/>
                <a:r>
                  <a:rPr lang="en-US" altLang="ko-KR" dirty="0" smtClean="0"/>
                  <a:t>Update the parameters given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Parameters to update: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r>
                          <a:rPr lang="en-US" altLang="ko-K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Typical methods</a:t>
                </a:r>
              </a:p>
              <a:p>
                <a:pPr lvl="3"/>
                <a:r>
                  <a:rPr lang="en-US" altLang="ko-KR" dirty="0" smtClean="0"/>
                  <a:t>Derivative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set the equation to zero when the function is smooth</a:t>
                </a:r>
              </a:p>
              <a:p>
                <a:pPr lvl="3"/>
                <a:r>
                  <a:rPr lang="en-US" altLang="ko-KR" dirty="0" smtClean="0">
                    <a:sym typeface="Wingdings" panose="05000000000000000000" pitchFamily="2" charset="2"/>
                  </a:rPr>
                  <a:t>Lagrange method when there is a constraint. Which parameter has the constraint?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den>
                        </m:f>
                      </m:e>
                    </m:nary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ko-K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m:rPr>
                        <m:nor/>
                      </m:rPr>
                      <a:rPr lang="en-US" altLang="ko-KR" dirty="0"/>
                      <m:t>=0</m:t>
                    </m:r>
                  </m:oMath>
                </a14:m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𝑛𝑘</m:t>
                                </m:r>
                              </m:sub>
                            </m:sSub>
                          </m:e>
                        </m:d>
                      </m:e>
                    </m:nary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m:rPr>
                        <m:nor/>
                      </m:rPr>
                      <a:rPr lang="en-US" altLang="ko-KR" dirty="0"/>
                      <m:t>=0</m:t>
                    </m:r>
                    <m:r>
                      <a:rPr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b="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/>
                </a:r>
                <a:br>
                  <a:rPr lang="en-US" altLang="ko-KR" b="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den>
                        </m:f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nary>
                      <m:naryPr>
                        <m:chr m:val="∑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d>
                                      <m:d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altLang="ko-K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1"/>
                                          </m:r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i="1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ko-KR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l-GR" altLang="ko-KR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den>
                                </m:f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2352" y="1556792"/>
                <a:ext cx="8435280" cy="4925144"/>
              </a:xfrm>
              <a:blipFill rotWithShape="0">
                <a:blip r:embed="rId2"/>
                <a:stretch>
                  <a:fillRect t="-11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067944" y="0"/>
                <a:ext cx="5184576" cy="19505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e>
                          <m:r>
                            <a:rPr lang="ko-KR" altLang="en-US" sz="1100" b="1" i="1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ko-KR" sz="11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ko-KR" altLang="en-US" sz="1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l-GR" altLang="ko-KR" sz="11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𝚺</m:t>
                              </m:r>
                              <m:r>
                                <a:rPr lang="en-US" altLang="ko-KR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⁡(−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11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ko-KR" sz="11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11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  <a:p>
                <a:pPr marL="0"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1">
                          <a:latin typeface="Cambria Math" panose="02040503050406030204" pitchFamily="18" charset="0"/>
                        </a:rPr>
                        <m:t>𝐥𝐧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e>
                          <m:r>
                            <a:rPr lang="ko-KR" altLang="en-US" sz="1100" b="1" i="1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ko-KR" sz="11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altLang="ko-KR" sz="11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𝚺</m:t>
                              </m:r>
                            </m:e>
                          </m:d>
                        </m:e>
                      </m:func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11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ko-KR" sz="11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11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</m:d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altLang="ko-KR" sz="1100" dirty="0"/>
              </a:p>
              <a:p>
                <a:pPr marL="0"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1">
                          <a:latin typeface="Cambria Math" panose="02040503050406030204" pitchFamily="18" charset="0"/>
                        </a:rPr>
                        <m:t>𝐥𝐧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e>
                          <m:r>
                            <a:rPr lang="ko-KR" altLang="en-US" sz="1100" b="1" i="1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ko-KR" sz="11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altLang="ko-KR" sz="11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𝚺</m:t>
                              </m:r>
                            </m:e>
                          </m:d>
                        </m:e>
                      </m:func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1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ko-KR" altLang="en-US" sz="11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altLang="ko-KR" sz="11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11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</m:e>
                      </m:nary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altLang="ko-KR" sz="1100" dirty="0"/>
              </a:p>
              <a:p>
                <a:pPr marL="0"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ko-KR" sz="1100" i="1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=0→−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×2×−1×</m:t>
                      </m:r>
                      <m:sSup>
                        <m:sSup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ko-KR" sz="11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subSup"/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11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</m:acc>
                            </m:e>
                          </m:d>
                        </m:e>
                      </m:nary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1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</m:acc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altLang="ko-KR" sz="1100" dirty="0"/>
              </a:p>
              <a:p>
                <a:pPr marL="0"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altLang="ko-KR" sz="11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altLang="ko-KR" sz="1100" i="1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=0→</m:t>
                      </m:r>
                      <m:acc>
                        <m:accPr>
                          <m:chr m:val="̂"/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l-GR" altLang="ko-KR" sz="11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</m:acc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1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acc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11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</m:acc>
                              <m: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0"/>
                <a:ext cx="5184576" cy="1950599"/>
              </a:xfrm>
              <a:prstGeom prst="rect">
                <a:avLst/>
              </a:prstGeom>
              <a:blipFill rotWithShape="0">
                <a:blip r:embed="rId3"/>
                <a:stretch>
                  <a:fillRect b="-406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932040" y="1950599"/>
                <a:ext cx="4572000" cy="74667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1950599"/>
                <a:ext cx="4572000" cy="74667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292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483" y="10245"/>
            <a:ext cx="2890664" cy="1138138"/>
          </a:xfrm>
        </p:spPr>
        <p:txBody>
          <a:bodyPr/>
          <a:lstStyle/>
          <a:p>
            <a:r>
              <a:rPr lang="en-US" altLang="ko-KR" sz="3600" dirty="0" smtClean="0"/>
              <a:t>Progress of </a:t>
            </a:r>
            <a:br>
              <a:rPr lang="en-US" altLang="ko-KR" sz="3600" dirty="0" smtClean="0"/>
            </a:br>
            <a:r>
              <a:rPr lang="en-US" altLang="ko-KR" sz="3600" dirty="0" smtClean="0"/>
              <a:t>GMM</a:t>
            </a:r>
            <a:endParaRPr lang="ko-KR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08520" y="1171739"/>
            <a:ext cx="4392488" cy="981651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 smtClean="0"/>
              <a:t>Soft clustering</a:t>
            </a:r>
          </a:p>
          <a:p>
            <a:pPr lvl="1"/>
            <a:r>
              <a:rPr lang="en-US" altLang="ko-KR" dirty="0" smtClean="0"/>
              <a:t>Estimated parameters</a:t>
            </a:r>
          </a:p>
          <a:p>
            <a:pPr lvl="1"/>
            <a:r>
              <a:rPr lang="en-US" altLang="ko-KR" dirty="0" smtClean="0"/>
              <a:t>Soft assignment of data points to clusters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-64561"/>
            <a:ext cx="2840517" cy="213102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029" y="-77273"/>
            <a:ext cx="2950808" cy="2213767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-62409" y="2066462"/>
            <a:ext cx="9144000" cy="4844575"/>
            <a:chOff x="0" y="2144942"/>
            <a:chExt cx="9144000" cy="4844575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2144942"/>
              <a:ext cx="3358997" cy="252000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2502" y="2144942"/>
              <a:ext cx="3358997" cy="252000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85003" y="2144942"/>
              <a:ext cx="3358997" cy="2520000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4469517"/>
              <a:ext cx="3358997" cy="2520000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92502" y="4469517"/>
              <a:ext cx="3358997" cy="252000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785003" y="4461069"/>
              <a:ext cx="3358997" cy="25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0606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Properties of GMM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14990" cy="4925144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Pros and cons of Gaussian mixture model</a:t>
            </a:r>
          </a:p>
          <a:p>
            <a:pPr lvl="1"/>
            <a:r>
              <a:rPr lang="en-US" altLang="ko-KR" dirty="0" smtClean="0"/>
              <a:t>Pros</a:t>
            </a:r>
          </a:p>
          <a:p>
            <a:pPr lvl="2"/>
            <a:r>
              <a:rPr lang="en-US" altLang="ko-KR" dirty="0" smtClean="0"/>
              <a:t>More information</a:t>
            </a:r>
          </a:p>
          <a:p>
            <a:pPr lvl="3"/>
            <a:r>
              <a:rPr lang="en-US" altLang="ko-KR" dirty="0" smtClean="0"/>
              <a:t>Soft clustering</a:t>
            </a:r>
          </a:p>
          <a:p>
            <a:pPr lvl="3"/>
            <a:r>
              <a:rPr lang="en-US" altLang="ko-KR" dirty="0" smtClean="0"/>
              <a:t>Not a simple and discrete assignment</a:t>
            </a:r>
          </a:p>
          <a:p>
            <a:pPr lvl="4"/>
            <a:r>
              <a:rPr lang="en-US" altLang="ko-KR" dirty="0" smtClean="0"/>
              <a:t>Information loss</a:t>
            </a:r>
          </a:p>
          <a:p>
            <a:pPr lvl="2"/>
            <a:r>
              <a:rPr lang="en-US" altLang="ko-KR" dirty="0" smtClean="0"/>
              <a:t>More and more information</a:t>
            </a:r>
          </a:p>
          <a:p>
            <a:pPr lvl="3"/>
            <a:r>
              <a:rPr lang="en-US" altLang="ko-KR" dirty="0" smtClean="0"/>
              <a:t>Learn the latent distribution</a:t>
            </a:r>
          </a:p>
          <a:p>
            <a:pPr lvl="3"/>
            <a:r>
              <a:rPr lang="en-US" altLang="ko-KR" dirty="0" smtClean="0"/>
              <a:t>Distance is not always the answer of the distribution</a:t>
            </a:r>
          </a:p>
          <a:p>
            <a:pPr lvl="1"/>
            <a:r>
              <a:rPr lang="en-US" altLang="ko-KR" dirty="0" smtClean="0"/>
              <a:t>Cons</a:t>
            </a:r>
          </a:p>
          <a:p>
            <a:pPr lvl="2"/>
            <a:r>
              <a:rPr lang="en-US" altLang="ko-KR" dirty="0" smtClean="0"/>
              <a:t>Long computation time</a:t>
            </a:r>
          </a:p>
          <a:p>
            <a:pPr lvl="3"/>
            <a:r>
              <a:rPr lang="en-US" altLang="ko-KR" dirty="0" smtClean="0"/>
              <a:t>Why?</a:t>
            </a:r>
          </a:p>
          <a:p>
            <a:pPr lvl="2"/>
            <a:r>
              <a:rPr lang="en-US" altLang="ko-KR" dirty="0" smtClean="0"/>
              <a:t>Falling into local maximum </a:t>
            </a:r>
          </a:p>
          <a:p>
            <a:pPr lvl="2"/>
            <a:r>
              <a:rPr lang="en-US" altLang="ko-KR" dirty="0" smtClean="0"/>
              <a:t>Deciding K</a:t>
            </a:r>
          </a:p>
          <a:p>
            <a:r>
              <a:rPr lang="en-US" altLang="ko-KR" dirty="0" smtClean="0"/>
              <a:t>Anyways to mitigate the disadvantage?</a:t>
            </a:r>
          </a:p>
          <a:p>
            <a:pPr lvl="1"/>
            <a:r>
              <a:rPr lang="en-US" altLang="ko-KR" dirty="0" smtClean="0"/>
              <a:t>Fast K-means and slow GMM</a:t>
            </a:r>
          </a:p>
          <a:p>
            <a:pPr lvl="3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90" y="4437112"/>
            <a:ext cx="3465403" cy="25998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691" y="2533955"/>
            <a:ext cx="2950808" cy="22137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90" y="164907"/>
            <a:ext cx="3571810" cy="26796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72200" y="332656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K-Means Algorithm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025277" y="6340270"/>
            <a:ext cx="2738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Gaussian Mixture Model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1855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 smtClean="0"/>
              <a:t>Relation between K-Means and GMM</a:t>
            </a:r>
            <a:endParaRPr lang="ko-KR" alt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342900" lvl="1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altLang="ko-K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l-GR" altLang="ko-KR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  <m:r>
                              <a:rPr lang="en-US" altLang="ko-KR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ko-K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l-GR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l-GR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altLang="ko-KR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𝚺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lang="en-US" altLang="ko-KR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ko-K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Let’s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m:rPr>
                        <m:sty m:val="p"/>
                      </m:rPr>
                      <a:rPr lang="el-GR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Ι</m:t>
                    </m:r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Here, I is the identity matrix and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is not updated by the EM process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Ι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Ι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⁡(−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den>
                        </m:f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b="1" i="1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⁡(−</m:t>
                            </m:r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b="1" i="1"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altLang="ko-KR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altLang="ko-KR" dirty="0" smtClean="0"/>
                  <a:t>When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dirty="0" smtClean="0"/>
                  <a:t>, the term of smallest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 smtClean="0"/>
                  <a:t> approaches zero most slowly</a:t>
                </a:r>
              </a:p>
              <a:p>
                <a:pPr lvl="1"/>
                <a:r>
                  <a:rPr lang="en-US" altLang="ko-KR" dirty="0" smtClean="0"/>
                  <a:t>When all other terms are zero, the term of the smallest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 smtClean="0"/>
                  <a:t> has a value</a:t>
                </a:r>
              </a:p>
              <a:p>
                <a:pPr lvl="1"/>
                <a:r>
                  <a:rPr lang="en-US" altLang="ko-KR" dirty="0" smtClean="0"/>
                  <a:t>Now, it becomes the hard assignment</a:t>
                </a:r>
              </a:p>
              <a:p>
                <a:r>
                  <a:rPr lang="en-US" altLang="ko-KR" dirty="0" smtClean="0"/>
                  <a:t>Still, GMM with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m:rPr>
                        <m:sty m:val="p"/>
                      </m:rP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Ι</m:t>
                    </m:r>
                  </m:oMath>
                </a14:m>
                <a:r>
                  <a:rPr lang="en-US" altLang="ko-KR" dirty="0" smtClean="0"/>
                  <a:t> is not K-Means. Why?</a:t>
                </a:r>
              </a:p>
              <a:p>
                <a:pPr lvl="1"/>
                <a:r>
                  <a:rPr lang="en-US" altLang="ko-KR" dirty="0" smtClean="0"/>
                  <a:t>Soft assignment + Covariance matrix learning </a:t>
                </a:r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b="-3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14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6156176" y="3563414"/>
            <a:ext cx="2838213" cy="1151331"/>
            <a:chOff x="6156176" y="3563414"/>
            <a:chExt cx="2838213" cy="1151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156176" y="3563414"/>
                  <a:ext cx="2838213" cy="87120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6176" y="3563414"/>
                  <a:ext cx="2838213" cy="871201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/>
            <p:cNvSpPr txBox="1"/>
            <p:nvPr/>
          </p:nvSpPr>
          <p:spPr>
            <a:xfrm>
              <a:off x="6457027" y="4345413"/>
              <a:ext cx="2236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smtClean="0"/>
                <a:t>K-Means Algorithm</a:t>
              </a:r>
              <a:endParaRPr lang="ko-KR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358088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발표 템플릿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ustom 2">
      <a:majorFont>
        <a:latin typeface="Times New Roman"/>
        <a:ea typeface="HY헤드라인M"/>
        <a:cs typeface=""/>
      </a:majorFont>
      <a:minorFont>
        <a:latin typeface="Cambria"/>
        <a:ea typeface="굴림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solidFill>
          <a:schemeClr val="accent1"/>
        </a:solidFill>
        <a:ln w="38100">
          <a:tailEnd type="none"/>
        </a:ln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</Template>
  <TotalTime>9479</TotalTime>
  <Words>451</Words>
  <Application>Microsoft Office PowerPoint</Application>
  <PresentationFormat>On-screen Show (4:3)</PresentationFormat>
  <Paragraphs>195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HY헤드라인M</vt:lpstr>
      <vt:lpstr>굴림</vt:lpstr>
      <vt:lpstr>맑은 고딕</vt:lpstr>
      <vt:lpstr>Arial</vt:lpstr>
      <vt:lpstr>Cambria</vt:lpstr>
      <vt:lpstr>Cambria Math</vt:lpstr>
      <vt:lpstr>Times New Roman</vt:lpstr>
      <vt:lpstr>Wingdings</vt:lpstr>
      <vt:lpstr>발표 템플릿</vt:lpstr>
      <vt:lpstr>K-Means Clustering and Gaussian Mixture Model</vt:lpstr>
      <vt:lpstr>Weekly Objectives</vt:lpstr>
      <vt:lpstr>Gaussian mixture model</vt:lpstr>
      <vt:lpstr>Multinomial Distribution</vt:lpstr>
      <vt:lpstr>Lagrange Method</vt:lpstr>
      <vt:lpstr>Multivariate Gaussian Distribution</vt:lpstr>
      <vt:lpstr>Samples of Multivariate Gaussian Distribution</vt:lpstr>
      <vt:lpstr>Mixture Model</vt:lpstr>
      <vt:lpstr>Gaussian Mixture Model</vt:lpstr>
      <vt:lpstr>Expectation of GMM</vt:lpstr>
      <vt:lpstr>Maximization of GMM</vt:lpstr>
      <vt:lpstr>Progress of  GMM</vt:lpstr>
      <vt:lpstr>Properties of GMM</vt:lpstr>
      <vt:lpstr>Relation between K-Means and GMM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Il-Chul Moon</dc:creator>
  <cp:lastModifiedBy>Il-Chul Moon</cp:lastModifiedBy>
  <cp:revision>416</cp:revision>
  <dcterms:created xsi:type="dcterms:W3CDTF">2012-12-05T07:53:35Z</dcterms:created>
  <dcterms:modified xsi:type="dcterms:W3CDTF">2015-08-27T01:23:57Z</dcterms:modified>
</cp:coreProperties>
</file>
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7" r:id="rId2"/>
    <p:sldId id="318" r:id="rId3"/>
    <p:sldId id="322" r:id="rId4"/>
    <p:sldId id="325" r:id="rId5"/>
    <p:sldId id="330" r:id="rId6"/>
    <p:sldId id="260" r:id="rId7"/>
    <p:sldId id="331" r:id="rId8"/>
    <p:sldId id="328" r:id="rId9"/>
    <p:sldId id="332" r:id="rId10"/>
    <p:sldId id="333" r:id="rId11"/>
    <p:sldId id="334" r:id="rId12"/>
    <p:sldId id="326" r:id="rId13"/>
    <p:sldId id="335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11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DD40F-6D86-4AAB-B084-B6837CFA557A}" type="datetimeFigureOut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EE363-3225-4A55-87F5-506D59929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021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1"/>
            <a:ext cx="7543800" cy="1668016"/>
          </a:xfrm>
        </p:spPr>
        <p:txBody>
          <a:bodyPr anchor="b"/>
          <a:lstStyle>
            <a:lvl1pPr>
              <a:defRPr sz="48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7558608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03693598-37C8-49CF-8A15-A46445026EA3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82A517A-290A-4238-AB2F-3319C3C1EEC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206553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573016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C86CAE6B-AEE5-43E0-B953-53AA4C35BA3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656" y="1536192"/>
            <a:ext cx="41400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B8D3057-63C8-43D4-9572-5CC0D90B770D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2480" y="1535113"/>
            <a:ext cx="41400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2480" y="2174875"/>
            <a:ext cx="414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20C42DC5-7698-4FA9-A2BC-C96F65B2FA04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46FB218-9B93-4105-B777-DA361C04621C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3D3B59D4-BDC1-4C58-9D99-3809D68DE86E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01208"/>
            <a:ext cx="8443663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5901664"/>
            <a:ext cx="8443665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A3119303-09BF-436C-8602-A0679EF986D9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8443664" cy="477619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495278"/>
            <a:ext cx="91440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6096000"/>
            <a:ext cx="9144000" cy="50135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EF07741F-3D9C-4A64-9F63-4DA11E7EC935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6B16-B7E8-4F7D-A7CF-C26340AE3A5D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0272" y="274638"/>
            <a:ext cx="1752600" cy="6178698"/>
          </a:xfrm>
        </p:spPr>
        <p:txBody>
          <a:bodyPr vert="eaVert" anchor="b" anchorCtr="0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419056" cy="6178698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9A36E3C6-6DD7-413E-BAD6-C2509285FF86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87624" y="6597351"/>
            <a:ext cx="6120680" cy="27544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bg2">
                <a:alpha val="87000"/>
              </a:schemeClr>
            </a:gs>
            <a:gs pos="100000">
              <a:schemeClr val="bg1">
                <a:shade val="100000"/>
                <a:satMod val="115000"/>
              </a:schemeClr>
            </a:gs>
            <a:gs pos="100000">
              <a:schemeClr val="bg1">
                <a:shade val="70000"/>
                <a:satMod val="13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4439133" y="2151868"/>
            <a:ext cx="268982" cy="91599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i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-8093" y="6590376"/>
            <a:ext cx="577502" cy="27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381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35280" cy="4925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 smtClean="0"/>
              <a:t>Click to edit Master text styles 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8424" y="6597351"/>
            <a:ext cx="765175" cy="266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0432" y="6620808"/>
            <a:ext cx="621159" cy="216024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fld id="{BE724988-F29F-40C4-BC4D-1B33ED99622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177" y="6597351"/>
            <a:ext cx="1070247" cy="275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A588B01-A67B-47BC-B714-F41ADBB1241E}" type="datetime1">
              <a:rPr lang="ko-KR" altLang="en-US" smtClean="0"/>
              <a:t>2015-08-06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475656" y="6608385"/>
            <a:ext cx="5859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</a:rPr>
              <a:t>Copyright © 2010 by Il-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Chul</a:t>
            </a:r>
            <a:r>
              <a:rPr lang="en-US" altLang="ko-KR" sz="1200" dirty="0" smtClean="0">
                <a:solidFill>
                  <a:schemeClr val="bg1"/>
                </a:solidFill>
              </a:rPr>
              <a:t> Moon, Dept. of Industrial and Systems Engineering, KAIST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1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1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1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1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cmoon@kaist.ac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Bayesian Network</a:t>
            </a:r>
            <a:endParaRPr lang="ko-KR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smtClean="0"/>
              <a:t>Il-Chul Moon</a:t>
            </a:r>
            <a:br>
              <a:rPr lang="en-US" altLang="ko-KR" dirty="0" smtClean="0"/>
            </a:br>
            <a:r>
              <a:rPr lang="en-US" altLang="ko-KR" dirty="0" smtClean="0"/>
              <a:t>Dept. of Industrial and Systems Engineering</a:t>
            </a:r>
            <a:br>
              <a:rPr lang="en-US" altLang="ko-KR" dirty="0" smtClean="0"/>
            </a:br>
            <a:r>
              <a:rPr lang="en-US" altLang="ko-KR" dirty="0" smtClean="0"/>
              <a:t>KAIST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icmoon@kaist.ac.kr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Weekly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Know and memorize the theorems of probability</a:t>
            </a:r>
          </a:p>
          <a:p>
            <a:pPr lvl="1"/>
            <a:r>
              <a:rPr lang="en-US" altLang="ko-KR" dirty="0" smtClean="0"/>
              <a:t>Recover the probability concepts</a:t>
            </a:r>
          </a:p>
          <a:p>
            <a:pPr lvl="1"/>
            <a:r>
              <a:rPr lang="en-US" altLang="ko-KR" dirty="0" smtClean="0"/>
              <a:t>Recover the probability theorems</a:t>
            </a:r>
          </a:p>
          <a:p>
            <a:pPr lvl="1"/>
            <a:r>
              <a:rPr lang="en-US" altLang="ko-KR" dirty="0" smtClean="0"/>
              <a:t>Recover the concepts of the marginal and the conditional independencies</a:t>
            </a:r>
          </a:p>
          <a:p>
            <a:r>
              <a:rPr lang="en-US" altLang="ko-KR" dirty="0" smtClean="0"/>
              <a:t>Understand Bayesian networks</a:t>
            </a:r>
          </a:p>
          <a:p>
            <a:pPr lvl="1"/>
            <a:r>
              <a:rPr lang="en-US" altLang="ko-KR" dirty="0" smtClean="0"/>
              <a:t>Know the syntax and the semantics of Bayesian networks</a:t>
            </a:r>
          </a:p>
          <a:p>
            <a:pPr lvl="1"/>
            <a:r>
              <a:rPr lang="en-US" altLang="ko-KR" dirty="0" smtClean="0"/>
              <a:t>Know how to factorize Bayesian networks</a:t>
            </a:r>
          </a:p>
          <a:p>
            <a:pPr lvl="1"/>
            <a:r>
              <a:rPr lang="en-US" altLang="ko-KR" dirty="0" smtClean="0"/>
              <a:t>Able to calculate a probability with given conditions</a:t>
            </a:r>
          </a:p>
          <a:p>
            <a:r>
              <a:rPr lang="en-US" altLang="ko-KR" dirty="0" smtClean="0"/>
              <a:t>Understand the inference of Bayesian networks</a:t>
            </a:r>
          </a:p>
          <a:p>
            <a:pPr lvl="1"/>
            <a:r>
              <a:rPr lang="en-US" altLang="ko-KR" dirty="0" smtClean="0"/>
              <a:t>Able to calculate parameters of Bayesian networks</a:t>
            </a:r>
          </a:p>
          <a:p>
            <a:pPr lvl="1"/>
            <a:r>
              <a:rPr lang="en-US" altLang="ko-KR" dirty="0" smtClean="0"/>
              <a:t>Able to list the exact inference of Bayesian networks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1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Bayesian network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1CCC1-3165-4E50-B981-0BF2C62E27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13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 smtClean="0"/>
              <a:t>Detour</a:t>
            </a:r>
            <a:r>
              <a:rPr lang="en-US" altLang="ko-KR" dirty="0" smtClean="0"/>
              <a:t>: Naïve Bayes Classifier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/>
                  <a:t>Given:</a:t>
                </a:r>
              </a:p>
              <a:p>
                <a:pPr lvl="1"/>
                <a:r>
                  <a:rPr lang="en-US" altLang="ko-KR" dirty="0"/>
                  <a:t>Class Prior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</m:d>
                  </m:oMath>
                </a14:m>
                <a:endParaRPr lang="en-US" altLang="ko-KR" b="1" dirty="0"/>
              </a:p>
              <a:p>
                <a:pPr lvl="1"/>
                <a:r>
                  <a:rPr lang="en-US" altLang="ko-KR" b="1" i="1" dirty="0"/>
                  <a:t>d</a:t>
                </a:r>
                <a:r>
                  <a:rPr lang="en-US" altLang="ko-KR" dirty="0"/>
                  <a:t> conditionally independent features </a:t>
                </a:r>
                <a:r>
                  <a:rPr lang="en-US" altLang="ko-KR" b="1" i="1" dirty="0"/>
                  <a:t>X</a:t>
                </a:r>
                <a:r>
                  <a:rPr lang="en-US" altLang="ko-KR" dirty="0"/>
                  <a:t> given the class </a:t>
                </a:r>
                <a:r>
                  <a:rPr lang="en-US" altLang="ko-KR" b="1" i="1" dirty="0"/>
                  <a:t>Y</a:t>
                </a:r>
              </a:p>
              <a:p>
                <a:pPr lvl="1"/>
                <a:r>
                  <a:rPr lang="en-US" altLang="ko-KR" dirty="0"/>
                  <a:t>For each </a:t>
                </a:r>
                <a:r>
                  <a:rPr lang="en-US" altLang="ko-KR" b="1" i="1" dirty="0"/>
                  <a:t>X</a:t>
                </a:r>
                <a:r>
                  <a:rPr lang="en-US" altLang="ko-KR" b="1" i="1" baseline="-25000" dirty="0"/>
                  <a:t>i</a:t>
                </a:r>
                <a:r>
                  <a:rPr lang="en-US" altLang="ko-KR" dirty="0"/>
                  <a:t>, we have the likelihood of </a:t>
                </a:r>
                <a:r>
                  <a:rPr lang="en-US" altLang="ko-KR" b="1" i="1" dirty="0"/>
                  <a:t>P(</a:t>
                </a:r>
                <a:r>
                  <a:rPr lang="en-US" altLang="ko-KR" b="1" i="1" dirty="0" err="1"/>
                  <a:t>X</a:t>
                </a:r>
                <a:r>
                  <a:rPr lang="en-US" altLang="ko-KR" b="1" i="1" baseline="-25000" dirty="0" err="1"/>
                  <a:t>i</a:t>
                </a:r>
                <a:r>
                  <a:rPr lang="en-US" altLang="ko-KR" b="1" i="1" dirty="0" err="1"/>
                  <a:t>|Y</a:t>
                </a:r>
                <a:r>
                  <a:rPr lang="en-US" altLang="ko-KR" b="1" i="1" dirty="0"/>
                  <a:t>)</a:t>
                </a:r>
              </a:p>
              <a:p>
                <a:r>
                  <a:rPr lang="en-US" altLang="ko-KR" b="1" dirty="0"/>
                  <a:t>Naïve Bayes Classifier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𝑵𝑩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𝒂𝒓𝒈𝒎𝒂𝒙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nary>
                      <m:naryPr>
                        <m:chr m:val="∏"/>
                        <m:supHide m:val="on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b>
                      <m:sup/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d>
                          <m:dPr>
                            <m:begChr m:val="|"/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Essential information is modeled by</a:t>
                </a:r>
              </a:p>
              <a:p>
                <a:pPr lvl="1"/>
                <a:r>
                  <a:rPr lang="en-US" altLang="ko-KR" dirty="0" smtClean="0"/>
                  <a:t>Random variables</a:t>
                </a:r>
              </a:p>
              <a:p>
                <a:pPr lvl="1"/>
                <a:r>
                  <a:rPr lang="en-US" altLang="ko-KR" dirty="0" smtClean="0"/>
                  <a:t>Probability distribution of the random variables</a:t>
                </a:r>
              </a:p>
              <a:p>
                <a:pPr lvl="1"/>
                <a:r>
                  <a:rPr lang="en-US" altLang="ko-KR" dirty="0" smtClean="0"/>
                  <a:t>Independence</a:t>
                </a:r>
              </a:p>
              <a:p>
                <a:r>
                  <a:rPr lang="en-US" altLang="ko-KR" dirty="0" smtClean="0"/>
                  <a:t>Any way to represent the model</a:t>
                </a:r>
              </a:p>
              <a:p>
                <a:pPr lvl="1"/>
                <a:r>
                  <a:rPr lang="en-US" altLang="ko-KR" dirty="0" smtClean="0"/>
                  <a:t>Other than the formula?</a:t>
                </a:r>
              </a:p>
              <a:p>
                <a:pPr lvl="1"/>
                <a:r>
                  <a:rPr lang="en-US" altLang="ko-KR" dirty="0" smtClean="0"/>
                  <a:t>i.e. graphical notation</a:t>
                </a:r>
              </a:p>
              <a:p>
                <a:pPr lvl="1"/>
                <a:endParaRPr lang="en-US" altLang="ko-KR" dirty="0" smtClean="0"/>
              </a:p>
              <a:p>
                <a:pPr lvl="1"/>
                <a:endParaRPr lang="en-US" altLang="ko-KR" dirty="0" smtClean="0"/>
              </a:p>
              <a:p>
                <a:pPr lvl="2"/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6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6444208" y="4698539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Y</a:t>
            </a:r>
            <a:endParaRPr lang="ko-KR" altLang="en-US" dirty="0"/>
          </a:p>
        </p:txBody>
      </p:sp>
      <p:cxnSp>
        <p:nvCxnSpPr>
          <p:cNvPr id="7" name="Straight Arrow Connector 6"/>
          <p:cNvCxnSpPr>
            <a:stCxn id="5" idx="3"/>
            <a:endCxn id="8" idx="0"/>
          </p:cNvCxnSpPr>
          <p:nvPr/>
        </p:nvCxnSpPr>
        <p:spPr>
          <a:xfrm flipH="1">
            <a:off x="6192180" y="5190240"/>
            <a:ext cx="452389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08104" y="5656347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X</a:t>
            </a:r>
            <a:r>
              <a:rPr lang="en-US" altLang="ko-KR" baseline="-25000" dirty="0" smtClean="0"/>
              <a:t>1</a:t>
            </a:r>
            <a:endParaRPr lang="ko-KR" alt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7402859" y="5656347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X</a:t>
            </a:r>
            <a:r>
              <a:rPr lang="en-US" altLang="ko-KR" baseline="-25000" dirty="0" smtClean="0"/>
              <a:t>2</a:t>
            </a:r>
            <a:endParaRPr lang="ko-KR" altLang="en-US" baseline="-25000" dirty="0"/>
          </a:p>
        </p:txBody>
      </p:sp>
      <p:cxnSp>
        <p:nvCxnSpPr>
          <p:cNvPr id="12" name="Straight Arrow Connector 11"/>
          <p:cNvCxnSpPr>
            <a:stCxn id="5" idx="5"/>
            <a:endCxn id="9" idx="0"/>
          </p:cNvCxnSpPr>
          <p:nvPr/>
        </p:nvCxnSpPr>
        <p:spPr>
          <a:xfrm>
            <a:off x="7611999" y="5190240"/>
            <a:ext cx="474936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46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Bayesian Network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94920" cy="4925144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 </a:t>
            </a:r>
            <a:r>
              <a:rPr lang="en-US" altLang="ko-KR" dirty="0" smtClean="0"/>
              <a:t>graphical </a:t>
            </a:r>
            <a:r>
              <a:rPr lang="en-US" altLang="ko-KR" dirty="0"/>
              <a:t>notation </a:t>
            </a:r>
            <a:r>
              <a:rPr lang="en-US" altLang="ko-KR" dirty="0" smtClean="0"/>
              <a:t>of</a:t>
            </a:r>
          </a:p>
          <a:p>
            <a:pPr lvl="1"/>
            <a:r>
              <a:rPr lang="en-US" altLang="ko-KR" dirty="0" smtClean="0"/>
              <a:t>Random variables</a:t>
            </a:r>
          </a:p>
          <a:p>
            <a:pPr lvl="1"/>
            <a:r>
              <a:rPr lang="en-US" altLang="ko-KR" dirty="0" smtClean="0"/>
              <a:t>Conditional independence</a:t>
            </a:r>
          </a:p>
          <a:p>
            <a:pPr lvl="1"/>
            <a:r>
              <a:rPr lang="en-US" altLang="ko-KR" dirty="0" smtClean="0"/>
              <a:t>To obtain a compact representation of the full joint distributions</a:t>
            </a:r>
          </a:p>
          <a:p>
            <a:r>
              <a:rPr lang="en-US" altLang="ko-KR" dirty="0" smtClean="0"/>
              <a:t>Syntax</a:t>
            </a:r>
            <a:endParaRPr lang="en-US" altLang="ko-KR" dirty="0"/>
          </a:p>
          <a:p>
            <a:pPr lvl="1"/>
            <a:r>
              <a:rPr lang="en-US" altLang="ko-KR" dirty="0" smtClean="0"/>
              <a:t>A acyclic and directed graph</a:t>
            </a:r>
          </a:p>
          <a:p>
            <a:pPr lvl="1"/>
            <a:r>
              <a:rPr lang="en-US" altLang="ko-KR" dirty="0" smtClean="0"/>
              <a:t>A </a:t>
            </a:r>
            <a:r>
              <a:rPr lang="en-US" altLang="ko-KR" dirty="0"/>
              <a:t>set of </a:t>
            </a:r>
            <a:r>
              <a:rPr lang="en-US" altLang="ko-KR" dirty="0" smtClean="0"/>
              <a:t>nodes</a:t>
            </a:r>
          </a:p>
          <a:p>
            <a:pPr lvl="2"/>
            <a:r>
              <a:rPr lang="en-US" altLang="ko-KR" dirty="0" smtClean="0"/>
              <a:t>A random variable</a:t>
            </a:r>
          </a:p>
          <a:p>
            <a:pPr lvl="2"/>
            <a:r>
              <a:rPr lang="en-US" altLang="ko-KR" dirty="0" smtClean="0"/>
              <a:t>A conditional distribution given its parents</a:t>
            </a:r>
          </a:p>
          <a:p>
            <a:pPr lvl="2"/>
            <a:r>
              <a:rPr lang="en-US" altLang="ko-KR" dirty="0"/>
              <a:t>P (</a:t>
            </a:r>
            <a:r>
              <a:rPr lang="en-US" altLang="ko-KR" dirty="0" err="1" smtClean="0"/>
              <a:t>X</a:t>
            </a:r>
            <a:r>
              <a:rPr lang="en-US" altLang="ko-KR" baseline="-25000" dirty="0" err="1" smtClean="0"/>
              <a:t>i</a:t>
            </a:r>
            <a:r>
              <a:rPr lang="en-US" altLang="ko-KR" dirty="0" err="1" smtClean="0"/>
              <a:t>|Parents</a:t>
            </a:r>
            <a:r>
              <a:rPr lang="en-US" altLang="ko-KR" dirty="0" smtClean="0"/>
              <a:t>(X</a:t>
            </a:r>
            <a:r>
              <a:rPr lang="en-US" altLang="ko-KR" baseline="-25000" dirty="0" smtClean="0"/>
              <a:t>i</a:t>
            </a:r>
            <a:r>
              <a:rPr lang="en-US" altLang="ko-KR" dirty="0"/>
              <a:t>))</a:t>
            </a:r>
          </a:p>
          <a:p>
            <a:pPr lvl="1"/>
            <a:r>
              <a:rPr lang="en-US" altLang="ko-KR" dirty="0" smtClean="0"/>
              <a:t>A set of links</a:t>
            </a:r>
          </a:p>
          <a:p>
            <a:pPr lvl="2"/>
            <a:r>
              <a:rPr lang="en-US" altLang="ko-KR" dirty="0" smtClean="0"/>
              <a:t>Direct influence from the parent to the child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6441183" y="359507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Y</a:t>
            </a:r>
            <a:endParaRPr lang="ko-KR" altLang="en-US" dirty="0"/>
          </a:p>
        </p:txBody>
      </p:sp>
      <p:cxnSp>
        <p:nvCxnSpPr>
          <p:cNvPr id="6" name="Straight Arrow Connector 5"/>
          <p:cNvCxnSpPr>
            <a:stCxn id="5" idx="3"/>
            <a:endCxn id="7" idx="0"/>
          </p:cNvCxnSpPr>
          <p:nvPr/>
        </p:nvCxnSpPr>
        <p:spPr>
          <a:xfrm flipH="1">
            <a:off x="6189155" y="4086772"/>
            <a:ext cx="452389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505079" y="4552879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X</a:t>
            </a:r>
            <a:r>
              <a:rPr lang="en-US" altLang="ko-KR" baseline="-25000" dirty="0" smtClean="0"/>
              <a:t>1</a:t>
            </a:r>
            <a:endParaRPr lang="ko-KR" alt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7399834" y="4552879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X</a:t>
            </a:r>
            <a:r>
              <a:rPr lang="en-US" altLang="ko-KR" baseline="-25000" dirty="0" smtClean="0"/>
              <a:t>2</a:t>
            </a:r>
            <a:endParaRPr lang="ko-KR" altLang="en-US" baseline="-25000" dirty="0"/>
          </a:p>
        </p:txBody>
      </p:sp>
      <p:cxnSp>
        <p:nvCxnSpPr>
          <p:cNvPr id="9" name="Straight Arrow Connector 8"/>
          <p:cNvCxnSpPr>
            <a:stCxn id="5" idx="5"/>
            <a:endCxn id="8" idx="0"/>
          </p:cNvCxnSpPr>
          <p:nvPr/>
        </p:nvCxnSpPr>
        <p:spPr>
          <a:xfrm>
            <a:off x="7608974" y="4086772"/>
            <a:ext cx="474936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ular Callout 9"/>
          <p:cNvSpPr/>
          <p:nvPr/>
        </p:nvSpPr>
        <p:spPr>
          <a:xfrm>
            <a:off x="5923670" y="2924944"/>
            <a:ext cx="2160240" cy="437073"/>
          </a:xfrm>
          <a:prstGeom prst="wedgeRectCallout">
            <a:avLst>
              <a:gd name="adj1" fmla="val -6723"/>
              <a:gd name="adj2" fmla="val 10229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P(Y|</a:t>
            </a:r>
            <a:r>
              <a:rPr lang="el-GR" altLang="ko-KR" dirty="0" smtClean="0"/>
              <a:t>Φ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1" name="Rectangular Callout 10"/>
          <p:cNvSpPr/>
          <p:nvPr/>
        </p:nvSpPr>
        <p:spPr>
          <a:xfrm>
            <a:off x="5190262" y="5326714"/>
            <a:ext cx="2160240" cy="447925"/>
          </a:xfrm>
          <a:prstGeom prst="wedgeRectCallout">
            <a:avLst>
              <a:gd name="adj1" fmla="val -4914"/>
              <a:gd name="adj2" fmla="val -8824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P(X</a:t>
            </a:r>
            <a:r>
              <a:rPr lang="en-US" altLang="ko-KR" baseline="-25000" dirty="0" smtClean="0"/>
              <a:t>1</a:t>
            </a:r>
            <a:r>
              <a:rPr lang="en-US" altLang="ko-KR" dirty="0" smtClean="0"/>
              <a:t>|Y)</a:t>
            </a:r>
            <a:endParaRPr lang="ko-KR" altLang="en-US" dirty="0"/>
          </a:p>
        </p:txBody>
      </p:sp>
      <p:sp>
        <p:nvSpPr>
          <p:cNvPr id="12" name="Rectangular Callout 11"/>
          <p:cNvSpPr/>
          <p:nvPr/>
        </p:nvSpPr>
        <p:spPr>
          <a:xfrm>
            <a:off x="6723484" y="5877352"/>
            <a:ext cx="2160240" cy="407170"/>
          </a:xfrm>
          <a:prstGeom prst="wedgeRectCallout">
            <a:avLst>
              <a:gd name="adj1" fmla="val 19687"/>
              <a:gd name="adj2" fmla="val -21727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P(X</a:t>
            </a:r>
            <a:r>
              <a:rPr lang="en-US" altLang="ko-KR" baseline="-25000" dirty="0" smtClean="0"/>
              <a:t>2</a:t>
            </a:r>
            <a:r>
              <a:rPr lang="en-US" altLang="ko-KR" dirty="0" smtClean="0"/>
              <a:t>|Y)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403669" y="1171044"/>
                <a:ext cx="3480055" cy="764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nary>
                        <m:naryPr>
                          <m:chr m:val="∏"/>
                          <m:supHide m:val="on"/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sub>
                        <m:sup/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begChr m:val="|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669" y="1171044"/>
                <a:ext cx="3480055" cy="7643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own Arrow 13"/>
          <p:cNvSpPr/>
          <p:nvPr/>
        </p:nvSpPr>
        <p:spPr>
          <a:xfrm>
            <a:off x="5580112" y="1988840"/>
            <a:ext cx="3096344" cy="792088"/>
          </a:xfrm>
          <a:prstGeom prst="downArrow">
            <a:avLst>
              <a:gd name="adj1" fmla="val 69688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Graphical Representation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226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Interpretation of Bayesian Network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ea typeface="굴림" charset="-127"/>
              </a:rPr>
              <a:t>Topology of network encodes conditional independence </a:t>
            </a:r>
            <a:r>
              <a:rPr lang="en-US" altLang="ko-KR" sz="2400" dirty="0" smtClean="0">
                <a:ea typeface="굴림" charset="-127"/>
              </a:rPr>
              <a:t>assertions</a:t>
            </a:r>
          </a:p>
          <a:p>
            <a:pPr lvl="1">
              <a:lnSpc>
                <a:spcPct val="90000"/>
              </a:lnSpc>
            </a:pPr>
            <a:r>
              <a:rPr lang="en-US" altLang="ko-KR" dirty="0" smtClean="0">
                <a:ea typeface="굴림" charset="-127"/>
              </a:rPr>
              <a:t>Often from the domain experts</a:t>
            </a:r>
          </a:p>
          <a:p>
            <a:pPr lvl="1">
              <a:lnSpc>
                <a:spcPct val="90000"/>
              </a:lnSpc>
            </a:pPr>
            <a:r>
              <a:rPr lang="en-US" altLang="ko-KR" dirty="0" smtClean="0">
                <a:ea typeface="굴림" charset="-127"/>
              </a:rPr>
              <a:t>What is related to what and how</a:t>
            </a:r>
          </a:p>
          <a:p>
            <a:pPr lvl="1">
              <a:lnSpc>
                <a:spcPct val="90000"/>
              </a:lnSpc>
            </a:pPr>
            <a:endParaRPr lang="en-US" altLang="ko-KR" dirty="0">
              <a:ea typeface="굴림" charset="-127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ko-KR" sz="2400" dirty="0">
              <a:ea typeface="굴림" charset="-127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ko-KR" sz="2400" dirty="0">
              <a:ea typeface="굴림" charset="-127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ko-KR" sz="2400" dirty="0">
              <a:ea typeface="굴림" charset="-127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ko-KR" sz="2400" dirty="0"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400" dirty="0" smtClean="0">
                <a:ea typeface="굴림" charset="-127"/>
              </a:rPr>
              <a:t>Interpretation</a:t>
            </a:r>
          </a:p>
          <a:p>
            <a:pPr lvl="1">
              <a:lnSpc>
                <a:spcPct val="90000"/>
              </a:lnSpc>
            </a:pPr>
            <a:r>
              <a:rPr lang="en-US" altLang="ko-KR" i="1" dirty="0" smtClean="0">
                <a:ea typeface="굴림" charset="-127"/>
              </a:rPr>
              <a:t>Weather</a:t>
            </a:r>
            <a:r>
              <a:rPr lang="en-US" altLang="ko-KR" dirty="0" smtClean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is independent of the other variables</a:t>
            </a:r>
          </a:p>
          <a:p>
            <a:pPr lvl="1">
              <a:lnSpc>
                <a:spcPct val="90000"/>
              </a:lnSpc>
            </a:pPr>
            <a:r>
              <a:rPr lang="en-US" altLang="ko-KR" i="1" dirty="0">
                <a:ea typeface="굴림" charset="-127"/>
              </a:rPr>
              <a:t>Toothache</a:t>
            </a:r>
            <a:r>
              <a:rPr lang="en-US" altLang="ko-KR" dirty="0">
                <a:ea typeface="굴림" charset="-127"/>
              </a:rPr>
              <a:t> and </a:t>
            </a:r>
            <a:r>
              <a:rPr lang="en-US" altLang="ko-KR" i="1" dirty="0" smtClean="0">
                <a:ea typeface="굴림" charset="-127"/>
              </a:rPr>
              <a:t>Stench </a:t>
            </a:r>
            <a:r>
              <a:rPr lang="en-US" altLang="ko-KR" dirty="0" smtClean="0">
                <a:ea typeface="굴림" charset="-127"/>
              </a:rPr>
              <a:t>are </a:t>
            </a:r>
            <a:r>
              <a:rPr lang="en-US" altLang="ko-KR" dirty="0">
                <a:ea typeface="굴림" charset="-127"/>
              </a:rPr>
              <a:t>conditionally independent given </a:t>
            </a:r>
            <a:r>
              <a:rPr lang="en-US" altLang="ko-KR" i="1" dirty="0" smtClean="0">
                <a:ea typeface="굴림" charset="-127"/>
              </a:rPr>
              <a:t>Cavity</a:t>
            </a:r>
          </a:p>
          <a:p>
            <a:pPr lvl="1">
              <a:lnSpc>
                <a:spcPct val="90000"/>
              </a:lnSpc>
            </a:pPr>
            <a:r>
              <a:rPr lang="en-US" altLang="ko-KR" i="1" dirty="0" smtClean="0">
                <a:ea typeface="굴림" charset="-127"/>
              </a:rPr>
              <a:t>Cavity </a:t>
            </a:r>
            <a:r>
              <a:rPr lang="en-US" altLang="ko-KR" dirty="0" smtClean="0">
                <a:ea typeface="굴림" charset="-127"/>
              </a:rPr>
              <a:t>influences the probability of</a:t>
            </a:r>
            <a:r>
              <a:rPr lang="en-US" altLang="ko-KR" i="1" dirty="0" smtClean="0">
                <a:ea typeface="굴림" charset="-127"/>
              </a:rPr>
              <a:t> toothache and stench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4572000" y="3284984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Cavity</a:t>
            </a:r>
            <a:endParaRPr lang="ko-KR" altLang="en-US" dirty="0"/>
          </a:p>
        </p:txBody>
      </p:sp>
      <p:cxnSp>
        <p:nvCxnSpPr>
          <p:cNvPr id="7" name="Straight Arrow Connector 6"/>
          <p:cNvCxnSpPr>
            <a:stCxn id="6" idx="3"/>
            <a:endCxn id="8" idx="0"/>
          </p:cNvCxnSpPr>
          <p:nvPr/>
        </p:nvCxnSpPr>
        <p:spPr>
          <a:xfrm flipH="1">
            <a:off x="4499992" y="3776685"/>
            <a:ext cx="272369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635896" y="424279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Toothache</a:t>
            </a:r>
            <a:endParaRPr lang="ko-KR" alt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5530651" y="4242792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Stench</a:t>
            </a:r>
            <a:endParaRPr lang="ko-KR" altLang="en-US" baseline="-25000" dirty="0"/>
          </a:p>
        </p:txBody>
      </p:sp>
      <p:cxnSp>
        <p:nvCxnSpPr>
          <p:cNvPr id="10" name="Straight Arrow Connector 9"/>
          <p:cNvCxnSpPr>
            <a:stCxn id="6" idx="5"/>
            <a:endCxn id="9" idx="0"/>
          </p:cNvCxnSpPr>
          <p:nvPr/>
        </p:nvCxnSpPr>
        <p:spPr>
          <a:xfrm>
            <a:off x="5739791" y="3776685"/>
            <a:ext cx="474936" cy="466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205586" y="3284984"/>
            <a:ext cx="1682338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Weather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663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Another Example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888767" cy="49251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dirty="0" smtClean="0">
                <a:ea typeface="굴림" charset="-127"/>
              </a:rPr>
              <a:t>Scenario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 smtClean="0">
                <a:ea typeface="굴림" charset="-127"/>
              </a:rPr>
              <a:t>I'm </a:t>
            </a:r>
            <a:r>
              <a:rPr lang="en-US" altLang="ko-KR" sz="1600" dirty="0">
                <a:ea typeface="굴림" charset="-127"/>
              </a:rPr>
              <a:t>at </a:t>
            </a:r>
            <a:r>
              <a:rPr lang="en-US" altLang="ko-KR" sz="1600" dirty="0" smtClean="0">
                <a:ea typeface="굴림" charset="-127"/>
              </a:rPr>
              <a:t>work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N</a:t>
            </a:r>
            <a:r>
              <a:rPr lang="en-US" altLang="ko-KR" sz="1600" dirty="0" smtClean="0">
                <a:ea typeface="굴림" charset="-127"/>
              </a:rPr>
              <a:t>eighbor </a:t>
            </a:r>
            <a:r>
              <a:rPr lang="en-US" altLang="ko-KR" sz="1600" dirty="0">
                <a:ea typeface="굴림" charset="-127"/>
              </a:rPr>
              <a:t>John calls to say my alarm is </a:t>
            </a:r>
            <a:r>
              <a:rPr lang="en-US" altLang="ko-KR" sz="1600" dirty="0" smtClean="0">
                <a:ea typeface="굴림" charset="-127"/>
              </a:rPr>
              <a:t>ringing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N</a:t>
            </a:r>
            <a:r>
              <a:rPr lang="en-US" altLang="ko-KR" sz="1600" dirty="0" smtClean="0">
                <a:ea typeface="굴림" charset="-127"/>
              </a:rPr>
              <a:t>eighbor </a:t>
            </a:r>
            <a:r>
              <a:rPr lang="en-US" altLang="ko-KR" sz="1600" dirty="0">
                <a:ea typeface="굴림" charset="-127"/>
              </a:rPr>
              <a:t>Mary doesn't call. </a:t>
            </a:r>
            <a:endParaRPr lang="en-US" altLang="ko-KR" sz="1600" dirty="0" smtClean="0">
              <a:ea typeface="굴림" charset="-127"/>
            </a:endParaRPr>
          </a:p>
          <a:p>
            <a:pPr lvl="1">
              <a:lnSpc>
                <a:spcPct val="90000"/>
              </a:lnSpc>
            </a:pPr>
            <a:r>
              <a:rPr lang="en-US" altLang="ko-KR" sz="1600" dirty="0" smtClean="0">
                <a:ea typeface="굴림" charset="-127"/>
              </a:rPr>
              <a:t>Sometimes </a:t>
            </a:r>
            <a:r>
              <a:rPr lang="en-US" altLang="ko-KR" sz="1600" dirty="0">
                <a:ea typeface="굴림" charset="-127"/>
              </a:rPr>
              <a:t>it's set off by minor earthquakes. </a:t>
            </a:r>
            <a:endParaRPr lang="en-US" altLang="ko-KR" sz="1600" dirty="0" smtClean="0">
              <a:ea typeface="굴림" charset="-127"/>
            </a:endParaRPr>
          </a:p>
          <a:p>
            <a:pPr lvl="1">
              <a:lnSpc>
                <a:spcPct val="90000"/>
              </a:lnSpc>
            </a:pPr>
            <a:r>
              <a:rPr lang="en-US" altLang="ko-KR" sz="1600" dirty="0" smtClean="0">
                <a:ea typeface="굴림" charset="-127"/>
              </a:rPr>
              <a:t>Is </a:t>
            </a:r>
            <a:r>
              <a:rPr lang="en-US" altLang="ko-KR" sz="1600" dirty="0">
                <a:ea typeface="굴림" charset="-127"/>
              </a:rPr>
              <a:t>there a burglar?</a:t>
            </a:r>
          </a:p>
          <a:p>
            <a:pPr>
              <a:lnSpc>
                <a:spcPct val="90000"/>
              </a:lnSpc>
            </a:pPr>
            <a:r>
              <a:rPr lang="en-US" altLang="ko-KR" sz="1800" dirty="0" smtClean="0">
                <a:ea typeface="굴림" charset="-127"/>
              </a:rPr>
              <a:t>Variables</a:t>
            </a:r>
          </a:p>
          <a:p>
            <a:pPr lvl="1">
              <a:lnSpc>
                <a:spcPct val="90000"/>
              </a:lnSpc>
            </a:pPr>
            <a:r>
              <a:rPr lang="en-US" altLang="ko-KR" sz="1600" i="1" dirty="0" smtClean="0">
                <a:ea typeface="굴림" charset="-127"/>
              </a:rPr>
              <a:t>Burglary</a:t>
            </a:r>
            <a:r>
              <a:rPr lang="en-US" altLang="ko-KR" sz="1600" dirty="0">
                <a:ea typeface="굴림" charset="-127"/>
              </a:rPr>
              <a:t>, </a:t>
            </a:r>
            <a:r>
              <a:rPr lang="en-US" altLang="ko-KR" sz="1600" i="1" dirty="0">
                <a:ea typeface="굴림" charset="-127"/>
              </a:rPr>
              <a:t>Earthquake</a:t>
            </a:r>
            <a:r>
              <a:rPr lang="en-US" altLang="ko-KR" sz="1600" dirty="0">
                <a:ea typeface="굴림" charset="-127"/>
              </a:rPr>
              <a:t>, </a:t>
            </a:r>
            <a:r>
              <a:rPr lang="en-US" altLang="ko-KR" sz="1600" i="1" dirty="0">
                <a:ea typeface="굴림" charset="-127"/>
              </a:rPr>
              <a:t>Alarm</a:t>
            </a:r>
            <a:r>
              <a:rPr lang="en-US" altLang="ko-KR" sz="1600" dirty="0">
                <a:ea typeface="굴림" charset="-127"/>
              </a:rPr>
              <a:t>, </a:t>
            </a:r>
            <a:r>
              <a:rPr lang="en-US" altLang="ko-KR" sz="1600" i="1" dirty="0" err="1">
                <a:ea typeface="굴림" charset="-127"/>
              </a:rPr>
              <a:t>JohnCalls</a:t>
            </a:r>
            <a:r>
              <a:rPr lang="en-US" altLang="ko-KR" sz="1600" dirty="0">
                <a:ea typeface="굴림" charset="-127"/>
              </a:rPr>
              <a:t>, </a:t>
            </a:r>
            <a:r>
              <a:rPr lang="en-US" altLang="ko-KR" sz="1600" i="1" dirty="0" err="1">
                <a:ea typeface="굴림" charset="-127"/>
              </a:rPr>
              <a:t>MaryCalls</a:t>
            </a:r>
            <a:endParaRPr lang="en-US" altLang="ko-KR" sz="1600" dirty="0">
              <a:ea typeface="굴림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1800" dirty="0" smtClean="0">
                <a:ea typeface="굴림" charset="-127"/>
              </a:rPr>
              <a:t>Network </a:t>
            </a:r>
            <a:r>
              <a:rPr lang="en-US" altLang="ko-KR" sz="1800" dirty="0">
                <a:ea typeface="굴림" charset="-127"/>
              </a:rPr>
              <a:t>topology reflects "causal" knowledge: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A burglar can set the alarm off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An earthquake can set the alarm off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The alarm can cause Mary to call</a:t>
            </a:r>
          </a:p>
          <a:p>
            <a:pPr lvl="1">
              <a:lnSpc>
                <a:spcPct val="90000"/>
              </a:lnSpc>
            </a:pPr>
            <a:r>
              <a:rPr lang="en-US" altLang="ko-KR" sz="1600" dirty="0">
                <a:ea typeface="굴림" charset="-127"/>
              </a:rPr>
              <a:t>The alarm can cause John to call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5977132" y="230189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7" name="Straight Arrow Connector 6"/>
          <p:cNvCxnSpPr>
            <a:stCxn id="6" idx="3"/>
            <a:endCxn id="8" idx="0"/>
          </p:cNvCxnSpPr>
          <p:nvPr/>
        </p:nvCxnSpPr>
        <p:spPr>
          <a:xfrm flipH="1">
            <a:off x="5449581" y="2793592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585485" y="325983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9" name="Oval 8"/>
          <p:cNvSpPr/>
          <p:nvPr/>
        </p:nvSpPr>
        <p:spPr>
          <a:xfrm>
            <a:off x="7208151" y="3259832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10" name="Straight Arrow Connector 9"/>
          <p:cNvCxnSpPr>
            <a:stCxn id="6" idx="5"/>
            <a:endCxn id="9" idx="0"/>
          </p:cNvCxnSpPr>
          <p:nvPr/>
        </p:nvCxnSpPr>
        <p:spPr>
          <a:xfrm>
            <a:off x="7144923" y="2793592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13844" y="1182321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2" name="Oval 11"/>
          <p:cNvSpPr/>
          <p:nvPr/>
        </p:nvSpPr>
        <p:spPr>
          <a:xfrm>
            <a:off x="7273191" y="1124744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4" name="Straight Arrow Connector 13"/>
          <p:cNvCxnSpPr>
            <a:stCxn id="12" idx="3"/>
            <a:endCxn id="6" idx="7"/>
          </p:cNvCxnSpPr>
          <p:nvPr/>
        </p:nvCxnSpPr>
        <p:spPr>
          <a:xfrm flipH="1">
            <a:off x="7144923" y="1616445"/>
            <a:ext cx="367509" cy="76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4"/>
            <a:endCxn id="6" idx="1"/>
          </p:cNvCxnSpPr>
          <p:nvPr/>
        </p:nvCxnSpPr>
        <p:spPr>
          <a:xfrm>
            <a:off x="5577940" y="1758385"/>
            <a:ext cx="599553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57357" y="7096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P(B)=0.001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364124" y="69543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P(E)=0.002</a:t>
            </a:r>
            <a:endParaRPr lang="ko-KR" altLang="en-US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38405"/>
              </p:ext>
            </p:extLst>
          </p:nvPr>
        </p:nvGraphicFramePr>
        <p:xfrm>
          <a:off x="4122074" y="4276203"/>
          <a:ext cx="30167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6"/>
                <a:gridCol w="1005586"/>
                <a:gridCol w="100558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P(A|B,E)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0.95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0.94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0.29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0.001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870065"/>
              </p:ext>
            </p:extLst>
          </p:nvPr>
        </p:nvGraphicFramePr>
        <p:xfrm>
          <a:off x="7253928" y="400506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/>
                <a:gridCol w="911932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P(J|A)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0.05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118672"/>
              </p:ext>
            </p:extLst>
          </p:nvPr>
        </p:nvGraphicFramePr>
        <p:xfrm>
          <a:off x="7242718" y="523826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/>
                <a:gridCol w="911932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P(M|A)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0.70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96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256644" cy="1138138"/>
          </a:xfrm>
        </p:spPr>
        <p:txBody>
          <a:bodyPr/>
          <a:lstStyle/>
          <a:p>
            <a:r>
              <a:rPr lang="en-US" altLang="ko-KR" sz="4400" dirty="0" smtClean="0"/>
              <a:t>Components of Bayesian Network</a:t>
            </a:r>
            <a:endParaRPr lang="ko-KR" alt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38736" cy="499715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Qualitative components</a:t>
            </a:r>
          </a:p>
          <a:p>
            <a:pPr lvl="1"/>
            <a:r>
              <a:rPr lang="en-US" altLang="ko-KR" dirty="0" smtClean="0"/>
              <a:t>Prior knowledge of causal relations</a:t>
            </a:r>
          </a:p>
          <a:p>
            <a:pPr lvl="1"/>
            <a:r>
              <a:rPr lang="en-US" altLang="ko-KR" dirty="0" smtClean="0"/>
              <a:t>Learning from data</a:t>
            </a:r>
          </a:p>
          <a:p>
            <a:pPr lvl="1"/>
            <a:r>
              <a:rPr lang="en-US" altLang="ko-KR" dirty="0" smtClean="0"/>
              <a:t>Frequently used structures</a:t>
            </a:r>
          </a:p>
          <a:p>
            <a:pPr lvl="1"/>
            <a:r>
              <a:rPr lang="en-US" altLang="ko-KR" dirty="0" smtClean="0"/>
              <a:t>Structural aspects</a:t>
            </a:r>
          </a:p>
          <a:p>
            <a:r>
              <a:rPr lang="en-US" altLang="ko-KR" dirty="0" smtClean="0"/>
              <a:t>Quantitative components</a:t>
            </a:r>
          </a:p>
          <a:p>
            <a:pPr lvl="1"/>
            <a:r>
              <a:rPr lang="en-US" altLang="ko-KR" dirty="0" smtClean="0"/>
              <a:t>Conditional probability tables</a:t>
            </a:r>
          </a:p>
          <a:p>
            <a:pPr lvl="1"/>
            <a:r>
              <a:rPr lang="en-US" altLang="ko-KR" dirty="0" smtClean="0"/>
              <a:t>Probability distribution assigned to nodes</a:t>
            </a:r>
          </a:p>
          <a:p>
            <a:r>
              <a:rPr lang="en-US" altLang="ko-KR" dirty="0" smtClean="0"/>
              <a:t>Probability computing is related to both</a:t>
            </a:r>
          </a:p>
          <a:p>
            <a:pPr lvl="1"/>
            <a:r>
              <a:rPr lang="en-US" altLang="ko-KR" dirty="0" smtClean="0"/>
              <a:t>Quantitative and Qualitative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977132" y="2301891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6" name="Straight Arrow Connector 5"/>
          <p:cNvCxnSpPr>
            <a:stCxn id="5" idx="3"/>
            <a:endCxn id="7" idx="0"/>
          </p:cNvCxnSpPr>
          <p:nvPr/>
        </p:nvCxnSpPr>
        <p:spPr>
          <a:xfrm flipH="1">
            <a:off x="5449581" y="2793592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85485" y="3259832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8" name="Oval 7"/>
          <p:cNvSpPr/>
          <p:nvPr/>
        </p:nvSpPr>
        <p:spPr>
          <a:xfrm>
            <a:off x="7208151" y="3259832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9" name="Straight Arrow Connector 8"/>
          <p:cNvCxnSpPr>
            <a:stCxn id="5" idx="5"/>
            <a:endCxn id="8" idx="0"/>
          </p:cNvCxnSpPr>
          <p:nvPr/>
        </p:nvCxnSpPr>
        <p:spPr>
          <a:xfrm>
            <a:off x="7144923" y="2793592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713844" y="1182321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7273191" y="1124744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2" name="Straight Arrow Connector 11"/>
          <p:cNvCxnSpPr>
            <a:stCxn id="11" idx="3"/>
            <a:endCxn id="5" idx="7"/>
          </p:cNvCxnSpPr>
          <p:nvPr/>
        </p:nvCxnSpPr>
        <p:spPr>
          <a:xfrm flipH="1">
            <a:off x="7144923" y="1616445"/>
            <a:ext cx="367509" cy="76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5" idx="1"/>
          </p:cNvCxnSpPr>
          <p:nvPr/>
        </p:nvCxnSpPr>
        <p:spPr>
          <a:xfrm>
            <a:off x="5577940" y="1758385"/>
            <a:ext cx="599553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57357" y="7096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P(B)=0.001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364124" y="695430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P(E)=0.002</a:t>
            </a:r>
            <a:endParaRPr lang="ko-KR" alt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90727"/>
              </p:ext>
            </p:extLst>
          </p:nvPr>
        </p:nvGraphicFramePr>
        <p:xfrm>
          <a:off x="4122074" y="4276203"/>
          <a:ext cx="30167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6"/>
                <a:gridCol w="1005586"/>
                <a:gridCol w="100558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P(A|B,E)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0.95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0.94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0.29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0.001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48108"/>
              </p:ext>
            </p:extLst>
          </p:nvPr>
        </p:nvGraphicFramePr>
        <p:xfrm>
          <a:off x="7253928" y="400506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/>
                <a:gridCol w="911932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P(J|A)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0.90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0.05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30349"/>
              </p:ext>
            </p:extLst>
          </p:nvPr>
        </p:nvGraphicFramePr>
        <p:xfrm>
          <a:off x="7242718" y="5238264"/>
          <a:ext cx="182386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932"/>
                <a:gridCol w="911932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P(M|A)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0.70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0.01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5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Typical Local Structures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3754760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Common parent</a:t>
                </a:r>
              </a:p>
              <a:p>
                <a:pPr lvl="1"/>
                <a:r>
                  <a:rPr lang="en-US" altLang="ko-KR" dirty="0" smtClean="0"/>
                  <a:t>Fixing “alarm” decouples “</a:t>
                </a:r>
                <a:r>
                  <a:rPr lang="en-US" altLang="ko-KR" dirty="0" err="1" smtClean="0"/>
                  <a:t>JohnCalls</a:t>
                </a:r>
                <a:r>
                  <a:rPr lang="en-US" altLang="ko-KR" dirty="0" smtClean="0"/>
                  <a:t>” and “</a:t>
                </a:r>
                <a:r>
                  <a:rPr lang="en-US" altLang="ko-KR" dirty="0" err="1" smtClean="0"/>
                  <a:t>MaryCalls</a:t>
                </a:r>
                <a:r>
                  <a:rPr lang="en-US" altLang="ko-KR" dirty="0" smtClean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𝐽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𝑀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 smtClean="0"/>
                  <a:t>P(J,M|A</a:t>
                </a:r>
                <a:r>
                  <a:rPr lang="en-US" altLang="ko-KR" dirty="0"/>
                  <a:t>)=</a:t>
                </a:r>
                <a:r>
                  <a:rPr lang="en-US" altLang="ko-KR" dirty="0" smtClean="0"/>
                  <a:t>P(J|A)P(M|A</a:t>
                </a:r>
                <a:r>
                  <a:rPr lang="en-US" altLang="ko-KR" dirty="0"/>
                  <a:t>)</a:t>
                </a:r>
                <a:endParaRPr lang="en-US" altLang="ko-KR" dirty="0" smtClean="0"/>
              </a:p>
              <a:p>
                <a:r>
                  <a:rPr lang="en-US" altLang="ko-KR" dirty="0" smtClean="0"/>
                  <a:t>Cascading</a:t>
                </a:r>
              </a:p>
              <a:p>
                <a:pPr lvl="1"/>
                <a:r>
                  <a:rPr lang="en-US" altLang="ko-KR" dirty="0" smtClean="0"/>
                  <a:t>Fixing “alarm” decouples “</a:t>
                </a:r>
                <a:r>
                  <a:rPr lang="en-US" altLang="ko-KR" dirty="0" err="1" smtClean="0"/>
                  <a:t>Buglary</a:t>
                </a:r>
                <a:r>
                  <a:rPr lang="en-US" altLang="ko-KR" dirty="0" smtClean="0"/>
                  <a:t>” and “</a:t>
                </a:r>
                <a:r>
                  <a:rPr lang="en-US" altLang="ko-KR" dirty="0" err="1" smtClean="0"/>
                  <a:t>MaryCalls</a:t>
                </a:r>
                <a:r>
                  <a:rPr lang="en-US" altLang="ko-KR" dirty="0" smtClean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𝐵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⊥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𝑀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𝐴</m:t>
                    </m:r>
                  </m:oMath>
                </a14:m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P(M|B,A)=P(M|A)</a:t>
                </a:r>
              </a:p>
              <a:p>
                <a:r>
                  <a:rPr lang="en-US" altLang="ko-KR" dirty="0" smtClean="0"/>
                  <a:t>V-Structure</a:t>
                </a:r>
              </a:p>
              <a:p>
                <a:pPr lvl="1"/>
                <a:r>
                  <a:rPr lang="en-US" altLang="ko-KR" dirty="0" smtClean="0"/>
                  <a:t>Fixing “alarm” couples “</a:t>
                </a:r>
                <a:r>
                  <a:rPr lang="en-US" altLang="ko-KR" dirty="0" err="1" smtClean="0"/>
                  <a:t>Buglary</a:t>
                </a:r>
                <a:r>
                  <a:rPr lang="en-US" altLang="ko-KR" dirty="0" smtClean="0"/>
                  <a:t>” and “Earthquake”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/>
                        <a:ea typeface="Cambria Math"/>
                      </a:rPr>
                      <m:t>∼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ko-KR" i="1">
                        <a:latin typeface="Cambria Math"/>
                      </a:rPr>
                      <m:t>𝐵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𝐸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ko-KR" i="1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 smtClean="0"/>
                  <a:t>P(B,E,A)=P(B)P(E)P(A|B,E)</a:t>
                </a:r>
              </a:p>
              <a:p>
                <a:r>
                  <a:rPr lang="en-US" altLang="ko-KR" dirty="0" smtClean="0"/>
                  <a:t>Any algorithm for complex graph?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3754760" cy="4925144"/>
              </a:xfrm>
              <a:blipFill rotWithShape="1">
                <a:blip r:embed="rId2"/>
                <a:stretch>
                  <a:fillRect t="-1859" b="-12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942366" y="5949280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sp>
        <p:nvSpPr>
          <p:cNvPr id="10" name="Oval 9"/>
          <p:cNvSpPr/>
          <p:nvPr/>
        </p:nvSpPr>
        <p:spPr>
          <a:xfrm>
            <a:off x="4843512" y="4829710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Buglary</a:t>
            </a:r>
            <a:endParaRPr lang="ko-KR" altLang="en-US" baseline="-25000" dirty="0"/>
          </a:p>
        </p:txBody>
      </p:sp>
      <p:sp>
        <p:nvSpPr>
          <p:cNvPr id="11" name="Oval 10"/>
          <p:cNvSpPr/>
          <p:nvPr/>
        </p:nvSpPr>
        <p:spPr>
          <a:xfrm>
            <a:off x="7274591" y="4829710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Earthquake</a:t>
            </a:r>
            <a:endParaRPr lang="ko-KR" altLang="en-US" sz="1400" baseline="-25000" dirty="0"/>
          </a:p>
        </p:txBody>
      </p:sp>
      <p:cxnSp>
        <p:nvCxnSpPr>
          <p:cNvPr id="12" name="Straight Arrow Connector 11"/>
          <p:cNvCxnSpPr>
            <a:stCxn id="11" idx="3"/>
            <a:endCxn id="5" idx="7"/>
          </p:cNvCxnSpPr>
          <p:nvPr/>
        </p:nvCxnSpPr>
        <p:spPr>
          <a:xfrm flipH="1">
            <a:off x="7110157" y="5321411"/>
            <a:ext cx="403675" cy="71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5" idx="1"/>
          </p:cNvCxnSpPr>
          <p:nvPr/>
        </p:nvCxnSpPr>
        <p:spPr>
          <a:xfrm>
            <a:off x="5707608" y="5405774"/>
            <a:ext cx="435119" cy="62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27824" y="1196752"/>
            <a:ext cx="136815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Alarm</a:t>
            </a:r>
            <a:endParaRPr lang="ko-KR" altLang="en-US" dirty="0"/>
          </a:p>
        </p:txBody>
      </p:sp>
      <p:cxnSp>
        <p:nvCxnSpPr>
          <p:cNvPr id="15" name="Straight Arrow Connector 14"/>
          <p:cNvCxnSpPr>
            <a:stCxn id="14" idx="3"/>
            <a:endCxn id="16" idx="0"/>
          </p:cNvCxnSpPr>
          <p:nvPr/>
        </p:nvCxnSpPr>
        <p:spPr>
          <a:xfrm flipH="1">
            <a:off x="5500273" y="1688453"/>
            <a:ext cx="727912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636177" y="2154693"/>
            <a:ext cx="172819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JohnCalls</a:t>
            </a:r>
            <a:endParaRPr lang="ko-KR" altLang="en-US" baseline="-25000" dirty="0"/>
          </a:p>
        </p:txBody>
      </p:sp>
      <p:sp>
        <p:nvSpPr>
          <p:cNvPr id="17" name="Oval 16"/>
          <p:cNvSpPr/>
          <p:nvPr/>
        </p:nvSpPr>
        <p:spPr>
          <a:xfrm>
            <a:off x="7258843" y="2154693"/>
            <a:ext cx="1633637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MaryCalls</a:t>
            </a:r>
            <a:endParaRPr lang="ko-KR" altLang="en-US" baseline="-25000" dirty="0"/>
          </a:p>
        </p:txBody>
      </p:sp>
      <p:cxnSp>
        <p:nvCxnSpPr>
          <p:cNvPr id="18" name="Straight Arrow Connector 17"/>
          <p:cNvCxnSpPr>
            <a:stCxn id="14" idx="5"/>
            <a:endCxn id="17" idx="0"/>
          </p:cNvCxnSpPr>
          <p:nvPr/>
        </p:nvCxnSpPr>
        <p:spPr>
          <a:xfrm>
            <a:off x="7195615" y="1688453"/>
            <a:ext cx="880047" cy="46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144787" y="3534147"/>
            <a:ext cx="1206379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Alarm</a:t>
            </a:r>
            <a:endParaRPr lang="ko-KR" alt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4427984" y="3534147"/>
            <a:ext cx="1262113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Buglary</a:t>
            </a:r>
            <a:endParaRPr lang="ko-KR" altLang="en-US" sz="1400" baseline="-25000" dirty="0"/>
          </a:p>
        </p:txBody>
      </p:sp>
      <p:cxnSp>
        <p:nvCxnSpPr>
          <p:cNvPr id="25" name="Straight Arrow Connector 24"/>
          <p:cNvCxnSpPr>
            <a:stCxn id="24" idx="6"/>
            <a:endCxn id="23" idx="2"/>
          </p:cNvCxnSpPr>
          <p:nvPr/>
        </p:nvCxnSpPr>
        <p:spPr>
          <a:xfrm>
            <a:off x="5690097" y="3822179"/>
            <a:ext cx="454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640406" y="3534147"/>
            <a:ext cx="1440473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/>
              <a:t>MaryCalls</a:t>
            </a:r>
            <a:endParaRPr lang="ko-KR" altLang="en-US" sz="1400" baseline="-25000" dirty="0"/>
          </a:p>
        </p:txBody>
      </p:sp>
      <p:cxnSp>
        <p:nvCxnSpPr>
          <p:cNvPr id="27" name="Straight Arrow Connector 26"/>
          <p:cNvCxnSpPr>
            <a:stCxn id="23" idx="6"/>
            <a:endCxn id="26" idx="2"/>
          </p:cNvCxnSpPr>
          <p:nvPr/>
        </p:nvCxnSpPr>
        <p:spPr>
          <a:xfrm>
            <a:off x="7351166" y="3822179"/>
            <a:ext cx="289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693185" y="6052646"/>
            <a:ext cx="141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V-Structure</a:t>
            </a:r>
            <a:endParaRPr lang="ko-KR" altLang="en-US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774842" y="409697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Cascading</a:t>
            </a:r>
            <a:endParaRPr lang="ko-KR" altLang="en-US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217926" y="2730757"/>
            <a:ext cx="18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Common Parent</a:t>
            </a:r>
            <a:endParaRPr lang="ko-KR" altLang="en-US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7176795" y="4318"/>
            <a:ext cx="1967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P(A,B)=P(A)P(B)</a:t>
            </a:r>
          </a:p>
          <a:p>
            <a:r>
              <a:rPr lang="en-US" altLang="ko-KR" b="1" dirty="0" smtClean="0"/>
              <a:t>P(A|B)=P(A)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0878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Bayes Ball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102324" cy="197281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Purpose: checking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en-US" altLang="ko-KR" i="1" smtClean="0"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Shade all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Place balls at each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Let the ball rolling on the graph by Bayes </a:t>
                </a:r>
                <a:r>
                  <a:rPr lang="en-US" altLang="ko-KR" dirty="0"/>
                  <a:t>b</a:t>
                </a:r>
                <a:r>
                  <a:rPr lang="en-US" altLang="ko-KR" dirty="0" smtClean="0"/>
                  <a:t>all rules</a:t>
                </a:r>
              </a:p>
              <a:p>
                <a:pPr lvl="1"/>
                <a:r>
                  <a:rPr lang="en-US" altLang="ko-KR" dirty="0" smtClean="0"/>
                  <a:t>Then, ask whether there is any ball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𝐵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102324" cy="1972816"/>
              </a:xfrm>
              <a:blipFill rotWithShape="1">
                <a:blip r:embed="rId2"/>
                <a:stretch>
                  <a:fillRect t="-4644" r="-119" b="-43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751173" y="414908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1831293" y="4149080"/>
            <a:ext cx="648072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2911413" y="414908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1399245" y="4437112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2479365" y="4437112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5576" y="558924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1835696" y="558924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14"/>
          <p:cNvSpPr/>
          <p:nvPr/>
        </p:nvSpPr>
        <p:spPr>
          <a:xfrm>
            <a:off x="2915816" y="558924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Straight Arrow Connector 15"/>
          <p:cNvCxnSpPr>
            <a:stCxn id="13" idx="6"/>
            <a:endCxn id="14" idx="2"/>
          </p:cNvCxnSpPr>
          <p:nvPr/>
        </p:nvCxnSpPr>
        <p:spPr>
          <a:xfrm>
            <a:off x="1403648" y="5877272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6"/>
            <a:endCxn id="15" idx="2"/>
          </p:cNvCxnSpPr>
          <p:nvPr/>
        </p:nvCxnSpPr>
        <p:spPr>
          <a:xfrm>
            <a:off x="2483768" y="5877272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73674" y="4609504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4932040" y="4005064"/>
            <a:ext cx="648072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5688124" y="4609281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Straight Arrow Connector 20"/>
          <p:cNvCxnSpPr>
            <a:stCxn id="19" idx="3"/>
            <a:endCxn id="18" idx="7"/>
          </p:cNvCxnSpPr>
          <p:nvPr/>
        </p:nvCxnSpPr>
        <p:spPr>
          <a:xfrm flipH="1">
            <a:off x="4726838" y="4496765"/>
            <a:ext cx="300110" cy="1971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5"/>
            <a:endCxn id="20" idx="1"/>
          </p:cNvCxnSpPr>
          <p:nvPr/>
        </p:nvCxnSpPr>
        <p:spPr>
          <a:xfrm>
            <a:off x="5485204" y="4496765"/>
            <a:ext cx="297828" cy="1968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93954" y="4609504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30"/>
          <p:cNvSpPr/>
          <p:nvPr/>
        </p:nvSpPr>
        <p:spPr>
          <a:xfrm>
            <a:off x="7452320" y="4005064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Oval 31"/>
          <p:cNvSpPr/>
          <p:nvPr/>
        </p:nvSpPr>
        <p:spPr>
          <a:xfrm>
            <a:off x="8208404" y="4609281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Straight Arrow Connector 32"/>
          <p:cNvCxnSpPr>
            <a:stCxn id="31" idx="3"/>
            <a:endCxn id="30" idx="7"/>
          </p:cNvCxnSpPr>
          <p:nvPr/>
        </p:nvCxnSpPr>
        <p:spPr>
          <a:xfrm flipH="1">
            <a:off x="7247118" y="4496765"/>
            <a:ext cx="300110" cy="19710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1" idx="5"/>
            <a:endCxn id="32" idx="1"/>
          </p:cNvCxnSpPr>
          <p:nvPr/>
        </p:nvCxnSpPr>
        <p:spPr>
          <a:xfrm>
            <a:off x="8005484" y="4496765"/>
            <a:ext cx="297828" cy="19687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153086" y="5373439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Oval 35"/>
          <p:cNvSpPr/>
          <p:nvPr/>
        </p:nvSpPr>
        <p:spPr>
          <a:xfrm>
            <a:off x="4911452" y="5956375"/>
            <a:ext cx="648072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Oval 36"/>
          <p:cNvSpPr/>
          <p:nvPr/>
        </p:nvSpPr>
        <p:spPr>
          <a:xfrm>
            <a:off x="5667536" y="5373216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Straight Arrow Connector 37"/>
          <p:cNvCxnSpPr>
            <a:stCxn id="36" idx="1"/>
            <a:endCxn id="35" idx="5"/>
          </p:cNvCxnSpPr>
          <p:nvPr/>
        </p:nvCxnSpPr>
        <p:spPr>
          <a:xfrm flipH="1" flipV="1">
            <a:off x="4706250" y="5865140"/>
            <a:ext cx="300110" cy="175598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6" idx="7"/>
            <a:endCxn id="37" idx="3"/>
          </p:cNvCxnSpPr>
          <p:nvPr/>
        </p:nvCxnSpPr>
        <p:spPr>
          <a:xfrm flipV="1">
            <a:off x="5464616" y="5864917"/>
            <a:ext cx="297828" cy="175821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673366" y="5373439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Oval 40"/>
          <p:cNvSpPr/>
          <p:nvPr/>
        </p:nvSpPr>
        <p:spPr>
          <a:xfrm>
            <a:off x="7431732" y="5956375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Oval 41"/>
          <p:cNvSpPr/>
          <p:nvPr/>
        </p:nvSpPr>
        <p:spPr>
          <a:xfrm>
            <a:off x="8187816" y="5373216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Straight Arrow Connector 42"/>
          <p:cNvCxnSpPr>
            <a:stCxn id="41" idx="1"/>
            <a:endCxn id="40" idx="5"/>
          </p:cNvCxnSpPr>
          <p:nvPr/>
        </p:nvCxnSpPr>
        <p:spPr>
          <a:xfrm flipH="1" flipV="1">
            <a:off x="7226530" y="5865140"/>
            <a:ext cx="300110" cy="175598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1" idx="7"/>
            <a:endCxn id="42" idx="3"/>
          </p:cNvCxnSpPr>
          <p:nvPr/>
        </p:nvCxnSpPr>
        <p:spPr>
          <a:xfrm flipV="1">
            <a:off x="7984896" y="5864917"/>
            <a:ext cx="297828" cy="175821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618840" y="260648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Oval 53"/>
          <p:cNvSpPr/>
          <p:nvPr/>
        </p:nvSpPr>
        <p:spPr>
          <a:xfrm>
            <a:off x="7698960" y="260648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Straight Arrow Connector 54"/>
          <p:cNvCxnSpPr>
            <a:stCxn id="53" idx="6"/>
            <a:endCxn id="54" idx="2"/>
          </p:cNvCxnSpPr>
          <p:nvPr/>
        </p:nvCxnSpPr>
        <p:spPr>
          <a:xfrm>
            <a:off x="7266912" y="548680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652914" y="1196752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Oval 56"/>
          <p:cNvSpPr/>
          <p:nvPr/>
        </p:nvSpPr>
        <p:spPr>
          <a:xfrm>
            <a:off x="7733034" y="1196752"/>
            <a:ext cx="648072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Straight Arrow Connector 57"/>
          <p:cNvCxnSpPr>
            <a:stCxn id="56" idx="6"/>
            <a:endCxn id="57" idx="2"/>
          </p:cNvCxnSpPr>
          <p:nvPr/>
        </p:nvCxnSpPr>
        <p:spPr>
          <a:xfrm>
            <a:off x="7300986" y="1484784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660232" y="2151906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Oval 59"/>
          <p:cNvSpPr/>
          <p:nvPr/>
        </p:nvSpPr>
        <p:spPr>
          <a:xfrm>
            <a:off x="7740352" y="2151906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Straight Arrow Connector 60"/>
          <p:cNvCxnSpPr>
            <a:stCxn id="60" idx="2"/>
            <a:endCxn id="59" idx="6"/>
          </p:cNvCxnSpPr>
          <p:nvPr/>
        </p:nvCxnSpPr>
        <p:spPr>
          <a:xfrm flipH="1">
            <a:off x="7308304" y="2439938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652914" y="3068960"/>
            <a:ext cx="648072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Oval 62"/>
          <p:cNvSpPr/>
          <p:nvPr/>
        </p:nvSpPr>
        <p:spPr>
          <a:xfrm>
            <a:off x="7733034" y="3068960"/>
            <a:ext cx="648072" cy="576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Straight Arrow Connector 63"/>
          <p:cNvCxnSpPr>
            <a:stCxn id="63" idx="2"/>
            <a:endCxn id="62" idx="6"/>
          </p:cNvCxnSpPr>
          <p:nvPr/>
        </p:nvCxnSpPr>
        <p:spPr>
          <a:xfrm flipH="1">
            <a:off x="7300986" y="3356992"/>
            <a:ext cx="43204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1187624" y="4005064"/>
            <a:ext cx="187220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>
            <a:off x="1079612" y="3861048"/>
            <a:ext cx="1980220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1223628" y="5445224"/>
            <a:ext cx="187220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1115616" y="5301208"/>
            <a:ext cx="198022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4153086" y="4005064"/>
            <a:ext cx="723807" cy="60444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5688124" y="4005064"/>
            <a:ext cx="627485" cy="60444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7505700" y="4714414"/>
            <a:ext cx="628650" cy="152861"/>
          </a:xfrm>
          <a:custGeom>
            <a:avLst/>
            <a:gdLst>
              <a:gd name="connsiteX0" fmla="*/ 0 w 628650"/>
              <a:gd name="connsiteY0" fmla="*/ 152861 h 152861"/>
              <a:gd name="connsiteX1" fmla="*/ 266700 w 628650"/>
              <a:gd name="connsiteY1" fmla="*/ 461 h 152861"/>
              <a:gd name="connsiteX2" fmla="*/ 628650 w 628650"/>
              <a:gd name="connsiteY2" fmla="*/ 114761 h 15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8650" h="152861">
                <a:moveTo>
                  <a:pt x="0" y="152861"/>
                </a:moveTo>
                <a:cubicBezTo>
                  <a:pt x="80962" y="79836"/>
                  <a:pt x="161925" y="6811"/>
                  <a:pt x="266700" y="461"/>
                </a:cubicBezTo>
                <a:cubicBezTo>
                  <a:pt x="371475" y="-5889"/>
                  <a:pt x="500062" y="54436"/>
                  <a:pt x="628650" y="114761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Freeform 80"/>
          <p:cNvSpPr/>
          <p:nvPr/>
        </p:nvSpPr>
        <p:spPr>
          <a:xfrm>
            <a:off x="7562850" y="4800576"/>
            <a:ext cx="542925" cy="161949"/>
          </a:xfrm>
          <a:custGeom>
            <a:avLst/>
            <a:gdLst>
              <a:gd name="connsiteX0" fmla="*/ 542925 w 542925"/>
              <a:gd name="connsiteY0" fmla="*/ 152424 h 161949"/>
              <a:gd name="connsiteX1" fmla="*/ 295275 w 542925"/>
              <a:gd name="connsiteY1" fmla="*/ 24 h 161949"/>
              <a:gd name="connsiteX2" fmla="*/ 0 w 542925"/>
              <a:gd name="connsiteY2" fmla="*/ 161949 h 16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925" h="161949">
                <a:moveTo>
                  <a:pt x="542925" y="152424"/>
                </a:moveTo>
                <a:cubicBezTo>
                  <a:pt x="464343" y="75430"/>
                  <a:pt x="385762" y="-1563"/>
                  <a:pt x="295275" y="24"/>
                </a:cubicBezTo>
                <a:cubicBezTo>
                  <a:pt x="204788" y="1611"/>
                  <a:pt x="102394" y="81780"/>
                  <a:pt x="0" y="161949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Freeform 81"/>
          <p:cNvSpPr/>
          <p:nvPr/>
        </p:nvSpPr>
        <p:spPr>
          <a:xfrm>
            <a:off x="4953000" y="5657850"/>
            <a:ext cx="552450" cy="172102"/>
          </a:xfrm>
          <a:custGeom>
            <a:avLst/>
            <a:gdLst>
              <a:gd name="connsiteX0" fmla="*/ 552450 w 552450"/>
              <a:gd name="connsiteY0" fmla="*/ 0 h 172102"/>
              <a:gd name="connsiteX1" fmla="*/ 333375 w 552450"/>
              <a:gd name="connsiteY1" fmla="*/ 171450 h 172102"/>
              <a:gd name="connsiteX2" fmla="*/ 0 w 552450"/>
              <a:gd name="connsiteY2" fmla="*/ 47625 h 17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172102">
                <a:moveTo>
                  <a:pt x="552450" y="0"/>
                </a:moveTo>
                <a:cubicBezTo>
                  <a:pt x="488950" y="81756"/>
                  <a:pt x="425450" y="163513"/>
                  <a:pt x="333375" y="171450"/>
                </a:cubicBezTo>
                <a:cubicBezTo>
                  <a:pt x="241300" y="179387"/>
                  <a:pt x="120650" y="113506"/>
                  <a:pt x="0" y="47625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Freeform 82"/>
          <p:cNvSpPr/>
          <p:nvPr/>
        </p:nvSpPr>
        <p:spPr>
          <a:xfrm>
            <a:off x="4953000" y="5505450"/>
            <a:ext cx="533400" cy="181063"/>
          </a:xfrm>
          <a:custGeom>
            <a:avLst/>
            <a:gdLst>
              <a:gd name="connsiteX0" fmla="*/ 0 w 533400"/>
              <a:gd name="connsiteY0" fmla="*/ 19050 h 181063"/>
              <a:gd name="connsiteX1" fmla="*/ 285750 w 533400"/>
              <a:gd name="connsiteY1" fmla="*/ 180975 h 181063"/>
              <a:gd name="connsiteX2" fmla="*/ 533400 w 533400"/>
              <a:gd name="connsiteY2" fmla="*/ 0 h 18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3400" h="181063">
                <a:moveTo>
                  <a:pt x="0" y="19050"/>
                </a:moveTo>
                <a:cubicBezTo>
                  <a:pt x="98425" y="101600"/>
                  <a:pt x="196850" y="184150"/>
                  <a:pt x="285750" y="180975"/>
                </a:cubicBezTo>
                <a:cubicBezTo>
                  <a:pt x="374650" y="177800"/>
                  <a:pt x="454025" y="88900"/>
                  <a:pt x="53340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8303312" y="6050589"/>
            <a:ext cx="567299" cy="48185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6618840" y="6050589"/>
            <a:ext cx="812892" cy="48185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6942876" y="116632"/>
            <a:ext cx="113692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6968847" y="2924944"/>
            <a:ext cx="1136928" cy="0"/>
          </a:xfrm>
          <a:prstGeom prst="straightConnector1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7277100" y="1010883"/>
            <a:ext cx="619453" cy="142461"/>
          </a:xfrm>
          <a:custGeom>
            <a:avLst/>
            <a:gdLst>
              <a:gd name="connsiteX0" fmla="*/ 0 w 619453"/>
              <a:gd name="connsiteY0" fmla="*/ 141642 h 142461"/>
              <a:gd name="connsiteX1" fmla="*/ 571500 w 619453"/>
              <a:gd name="connsiteY1" fmla="*/ 122592 h 142461"/>
              <a:gd name="connsiteX2" fmla="*/ 533400 w 619453"/>
              <a:gd name="connsiteY2" fmla="*/ 8292 h 142461"/>
              <a:gd name="connsiteX3" fmla="*/ 95250 w 619453"/>
              <a:gd name="connsiteY3" fmla="*/ 17817 h 142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453" h="142461">
                <a:moveTo>
                  <a:pt x="0" y="141642"/>
                </a:moveTo>
                <a:cubicBezTo>
                  <a:pt x="241300" y="143229"/>
                  <a:pt x="482600" y="144817"/>
                  <a:pt x="571500" y="122592"/>
                </a:cubicBezTo>
                <a:cubicBezTo>
                  <a:pt x="660400" y="100367"/>
                  <a:pt x="612775" y="25754"/>
                  <a:pt x="533400" y="8292"/>
                </a:cubicBezTo>
                <a:cubicBezTo>
                  <a:pt x="454025" y="-9170"/>
                  <a:pt x="274637" y="4323"/>
                  <a:pt x="95250" y="1781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Freeform 101"/>
          <p:cNvSpPr/>
          <p:nvPr/>
        </p:nvSpPr>
        <p:spPr>
          <a:xfrm>
            <a:off x="7286625" y="1981200"/>
            <a:ext cx="537300" cy="161581"/>
          </a:xfrm>
          <a:custGeom>
            <a:avLst/>
            <a:gdLst>
              <a:gd name="connsiteX0" fmla="*/ 0 w 537300"/>
              <a:gd name="connsiteY0" fmla="*/ 142875 h 161581"/>
              <a:gd name="connsiteX1" fmla="*/ 438150 w 537300"/>
              <a:gd name="connsiteY1" fmla="*/ 152400 h 161581"/>
              <a:gd name="connsiteX2" fmla="*/ 504825 w 537300"/>
              <a:gd name="connsiteY2" fmla="*/ 28575 h 161581"/>
              <a:gd name="connsiteX3" fmla="*/ 19050 w 537300"/>
              <a:gd name="connsiteY3" fmla="*/ 0 h 16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300" h="161581">
                <a:moveTo>
                  <a:pt x="0" y="142875"/>
                </a:moveTo>
                <a:cubicBezTo>
                  <a:pt x="177006" y="157162"/>
                  <a:pt x="354013" y="171450"/>
                  <a:pt x="438150" y="152400"/>
                </a:cubicBezTo>
                <a:cubicBezTo>
                  <a:pt x="522287" y="133350"/>
                  <a:pt x="574675" y="53975"/>
                  <a:pt x="504825" y="28575"/>
                </a:cubicBezTo>
                <a:cubicBezTo>
                  <a:pt x="434975" y="3175"/>
                  <a:pt x="227012" y="1587"/>
                  <a:pt x="19050" y="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3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Exercise of Bayes Ball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365104"/>
                <a:ext cx="8435280" cy="2160240"/>
              </a:xfrm>
            </p:spPr>
            <p:txBody>
              <a:bodyPr numCol="2">
                <a:normAutofit/>
              </a:bodyPr>
              <a:lstStyle/>
              <a:p>
                <a:r>
                  <a:rPr lang="en-US" altLang="ko-KR" dirty="0" smtClean="0">
                    <a:latin typeface="Cambria Math"/>
                  </a:rPr>
                  <a:t>Answer the below case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4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|{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5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|{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ko-KR" alt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|</m:t>
                    </m:r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{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ko-KR" altLang="en-US" dirty="0" smtClean="0"/>
                  <a:t> 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⊥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|{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sub>
                    </m:sSub>
                    <m:r>
                      <a:rPr lang="en-US" altLang="ko-KR" i="1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D-</a:t>
                </a:r>
                <a:r>
                  <a:rPr lang="en-US" altLang="ko-KR" dirty="0" err="1" smtClean="0"/>
                  <a:t>Seperation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X is d-separated (directly-separated) from Z given Y if we cannot send a ball from any node in X to any node in Z using the Bayes ball algorithm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365104"/>
                <a:ext cx="8435280" cy="2160240"/>
              </a:xfrm>
              <a:blipFill rotWithShape="0">
                <a:blip r:embed="rId2"/>
                <a:stretch>
                  <a:fillRect t="-1977" r="-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4211960" y="1340768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987824" y="2054771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835696" y="2713137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084168" y="2713137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87824" y="3456484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932040" y="3456484"/>
            <a:ext cx="72008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X5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7" idx="7"/>
            <a:endCxn id="6" idx="2"/>
          </p:cNvCxnSpPr>
          <p:nvPr/>
        </p:nvCxnSpPr>
        <p:spPr>
          <a:xfrm flipV="1">
            <a:off x="2450323" y="2378807"/>
            <a:ext cx="537501" cy="42923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7"/>
            <a:endCxn id="5" idx="2"/>
          </p:cNvCxnSpPr>
          <p:nvPr/>
        </p:nvCxnSpPr>
        <p:spPr>
          <a:xfrm flipV="1">
            <a:off x="3602451" y="1664804"/>
            <a:ext cx="609509" cy="48487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6"/>
            <a:endCxn id="8" idx="2"/>
          </p:cNvCxnSpPr>
          <p:nvPr/>
        </p:nvCxnSpPr>
        <p:spPr>
          <a:xfrm>
            <a:off x="3707904" y="2378807"/>
            <a:ext cx="2376264" cy="6583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6"/>
            <a:endCxn id="8" idx="3"/>
          </p:cNvCxnSpPr>
          <p:nvPr/>
        </p:nvCxnSpPr>
        <p:spPr>
          <a:xfrm flipV="1">
            <a:off x="5652120" y="3266301"/>
            <a:ext cx="537501" cy="51421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6"/>
            <a:endCxn id="10" idx="2"/>
          </p:cNvCxnSpPr>
          <p:nvPr/>
        </p:nvCxnSpPr>
        <p:spPr>
          <a:xfrm>
            <a:off x="3707904" y="3780520"/>
            <a:ext cx="1224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7" idx="5"/>
            <a:endCxn id="9" idx="2"/>
          </p:cNvCxnSpPr>
          <p:nvPr/>
        </p:nvCxnSpPr>
        <p:spPr>
          <a:xfrm>
            <a:off x="2450323" y="3266301"/>
            <a:ext cx="537501" cy="51421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580112" y="1340768"/>
            <a:ext cx="3312368" cy="1143241"/>
          </a:xfrm>
          <a:prstGeom prst="rect">
            <a:avLst/>
          </a:prstGeom>
          <a:solidFill>
            <a:schemeClr val="accent1"/>
          </a:solidFill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</a:rPr>
              <a:t>Markov Blanket</a:t>
            </a:r>
          </a:p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P(</a:t>
            </a:r>
            <a:r>
              <a:rPr lang="en-US" altLang="ko-KR" dirty="0" err="1" smtClean="0">
                <a:solidFill>
                  <a:schemeClr val="bg1"/>
                </a:solidFill>
              </a:rPr>
              <a:t>A|blanket</a:t>
            </a:r>
            <a:r>
              <a:rPr lang="en-US" altLang="ko-KR" dirty="0" smtClean="0">
                <a:solidFill>
                  <a:schemeClr val="bg1"/>
                </a:solidFill>
              </a:rPr>
              <a:t>, B)=P(</a:t>
            </a:r>
            <a:r>
              <a:rPr lang="en-US" altLang="ko-KR" dirty="0" err="1" smtClean="0">
                <a:solidFill>
                  <a:schemeClr val="bg1"/>
                </a:solidFill>
              </a:rPr>
              <a:t>A|blanket</a:t>
            </a:r>
            <a:r>
              <a:rPr lang="en-US" altLang="ko-KR" dirty="0" smtClean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Blanket={parents, children, children’s other parents}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http://upload.wikimedia.org/wikipedia/commons/thumb/e/eb/Diagram_of_a_Markov_blanket.svg/240px-Diagram_of_a_Markov_blanket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540" y="2579473"/>
            <a:ext cx="1745940" cy="199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9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Factorization of Bayesian Network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186808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Factorization theorem</a:t>
                </a:r>
              </a:p>
              <a:p>
                <a:pPr lvl="1"/>
                <a:r>
                  <a:rPr lang="en-US" altLang="ko-KR" dirty="0" smtClean="0"/>
                  <a:t>Given a Bayesian network</a:t>
                </a:r>
              </a:p>
              <a:p>
                <a:pPr lvl="1"/>
                <a:r>
                  <a:rPr lang="en-US" altLang="ko-KR" dirty="0" smtClean="0"/>
                  <a:t>The most general form of the probability distribution </a:t>
                </a:r>
              </a:p>
              <a:p>
                <a:pPr lvl="2"/>
                <a:r>
                  <a:rPr lang="en-US" altLang="ko-KR" dirty="0" smtClean="0"/>
                  <a:t>that is consistent with the probabilistic independencies encoded in the network </a:t>
                </a:r>
              </a:p>
              <a:p>
                <a:pPr lvl="1"/>
                <a:r>
                  <a:rPr lang="en-US" altLang="ko-KR" dirty="0" smtClean="0"/>
                  <a:t>Factorizes according to the node given its parents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𝑃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 smtClean="0"/>
                  <a:t> is the set of parent nodes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The most general form?</a:t>
                </a:r>
              </a:p>
              <a:p>
                <a:pPr lvl="1"/>
                <a:r>
                  <a:rPr lang="en-US" altLang="ko-KR" dirty="0" smtClean="0"/>
                  <a:t>What are the not-most general form???</a:t>
                </a:r>
              </a:p>
              <a:p>
                <a:pPr lvl="1"/>
                <a:r>
                  <a:rPr lang="en-US" altLang="ko-KR" dirty="0" smtClean="0"/>
                  <a:t>More discussions of d-separation, not going to be in this classroom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86808" cy="4925144"/>
              </a:xfrm>
              <a:blipFill rotWithShape="1">
                <a:blip r:embed="rId2"/>
                <a:stretch>
                  <a:fillRect t="-1859" r="-16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5580112" y="1484784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308304" y="1484784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788024" y="2420888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444208" y="2420888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100392" y="2420888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580112" y="3356645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88024" y="4292749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44208" y="4293096"/>
            <a:ext cx="864096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X8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5" idx="3"/>
            <a:endCxn id="7" idx="0"/>
          </p:cNvCxnSpPr>
          <p:nvPr/>
        </p:nvCxnSpPr>
        <p:spPr>
          <a:xfrm flipH="1">
            <a:off x="5220072" y="2099411"/>
            <a:ext cx="486584" cy="3214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5"/>
            <a:endCxn id="9" idx="0"/>
          </p:cNvCxnSpPr>
          <p:nvPr/>
        </p:nvCxnSpPr>
        <p:spPr>
          <a:xfrm>
            <a:off x="8045856" y="2099411"/>
            <a:ext cx="486584" cy="3214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3"/>
            <a:endCxn id="8" idx="0"/>
          </p:cNvCxnSpPr>
          <p:nvPr/>
        </p:nvCxnSpPr>
        <p:spPr>
          <a:xfrm flipH="1">
            <a:off x="6876256" y="2099411"/>
            <a:ext cx="558592" cy="3214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8" idx="4"/>
            <a:endCxn id="10" idx="7"/>
          </p:cNvCxnSpPr>
          <p:nvPr/>
        </p:nvCxnSpPr>
        <p:spPr>
          <a:xfrm flipH="1">
            <a:off x="6317664" y="3140968"/>
            <a:ext cx="558592" cy="3211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" idx="4"/>
            <a:endCxn id="10" idx="1"/>
          </p:cNvCxnSpPr>
          <p:nvPr/>
        </p:nvCxnSpPr>
        <p:spPr>
          <a:xfrm>
            <a:off x="5220072" y="3140968"/>
            <a:ext cx="486584" cy="3211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3"/>
            <a:endCxn id="11" idx="0"/>
          </p:cNvCxnSpPr>
          <p:nvPr/>
        </p:nvCxnSpPr>
        <p:spPr>
          <a:xfrm flipH="1">
            <a:off x="5220072" y="3971272"/>
            <a:ext cx="486584" cy="3214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0" idx="5"/>
            <a:endCxn id="12" idx="0"/>
          </p:cNvCxnSpPr>
          <p:nvPr/>
        </p:nvCxnSpPr>
        <p:spPr>
          <a:xfrm>
            <a:off x="6317664" y="3971272"/>
            <a:ext cx="558592" cy="3218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4"/>
            <a:endCxn id="12" idx="0"/>
          </p:cNvCxnSpPr>
          <p:nvPr/>
        </p:nvCxnSpPr>
        <p:spPr>
          <a:xfrm flipH="1">
            <a:off x="6876256" y="3140968"/>
            <a:ext cx="1656184" cy="11521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44008" y="5373216"/>
            <a:ext cx="44246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P(X1,X2,X3,X4,X5,X6,X7,X8)</a:t>
            </a:r>
          </a:p>
          <a:p>
            <a:r>
              <a:rPr lang="en-US" altLang="ko-KR" b="1" dirty="0" smtClean="0"/>
              <a:t>=P(X1)P(X2)P(X3|X1)P(X4|X2)P(X5|X2)</a:t>
            </a:r>
          </a:p>
          <a:p>
            <a:r>
              <a:rPr lang="en-US" altLang="ko-KR" b="1" dirty="0" smtClean="0"/>
              <a:t>P(X6|X3,X4)P(X7|X6)P(X8|X5,X6)	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11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Plate Notation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46848" cy="49251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ko-KR" dirty="0" smtClean="0"/>
                  <a:t>Let’s consider a certain Gaussian model</a:t>
                </a:r>
              </a:p>
              <a:p>
                <a:pPr lvl="1"/>
                <a:r>
                  <a:rPr lang="en-US" altLang="ko-KR" dirty="0" smtClean="0"/>
                  <a:t>Many </a:t>
                </a:r>
                <a:r>
                  <a:rPr lang="en-US" altLang="ko-KR" dirty="0" err="1" smtClean="0"/>
                  <a:t>Xs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Depend upon the same parameter</a:t>
                </a:r>
              </a:p>
              <a:p>
                <a:pPr lvl="2"/>
                <a:r>
                  <a:rPr lang="en-US" altLang="ko-KR" dirty="0" smtClean="0"/>
                  <a:t>Mean and variance</a:t>
                </a:r>
              </a:p>
              <a:p>
                <a:pPr lvl="1"/>
                <a:r>
                  <a:rPr lang="en-US" altLang="ko-KR" dirty="0" smtClean="0"/>
                  <a:t>Independent between </a:t>
                </a:r>
                <a:r>
                  <a:rPr lang="en-US" altLang="ko-KR" dirty="0" err="1" smtClean="0"/>
                  <a:t>Xs</a:t>
                </a:r>
                <a:endParaRPr lang="en-US" altLang="ko-KR" dirty="0" smtClean="0"/>
              </a:p>
              <a:p>
                <a:r>
                  <a:rPr lang="en-US" altLang="ko-KR" dirty="0" smtClean="0"/>
                  <a:t>Dealing with many random variables</a:t>
                </a:r>
              </a:p>
              <a:p>
                <a:pPr lvl="1"/>
                <a:r>
                  <a:rPr lang="en-US" altLang="ko-KR" dirty="0" smtClean="0"/>
                  <a:t>Simplify the graphical notation with a box</a:t>
                </a:r>
              </a:p>
              <a:p>
                <a:pPr lvl="1"/>
                <a:r>
                  <a:rPr lang="en-US" altLang="ko-KR" dirty="0" smtClean="0"/>
                  <a:t>Works like a for-loop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𝐷</m:t>
                        </m:r>
                      </m:e>
                      <m:e>
                        <m:r>
                          <a:rPr lang="ko-KR" altLang="en-US" b="0" i="1" smtClean="0">
                            <a:latin typeface="Cambria Math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r>
                      <a:rPr lang="en-US" altLang="ko-KR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/>
                              </a:rPr>
                              <m:t>𝑁</m:t>
                            </m:r>
                          </m:sub>
                        </m:sSub>
                      </m:e>
                      <m:e>
                        <m:r>
                          <a:rPr lang="ko-KR" altLang="en-US" b="0" i="1" smtClean="0">
                            <a:latin typeface="Cambria Math"/>
                          </a:rPr>
                          <m:t>𝜇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,</m:t>
                        </m:r>
                        <m:r>
                          <a:rPr lang="ko-KR" altLang="en-US" b="0" i="1" smtClean="0">
                            <a:latin typeface="Cambria Math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ko-KR" b="0" i="1" dirty="0" smtClean="0">
                    <a:latin typeface="Cambria Math"/>
                  </a:rPr>
                  <a:t/>
                </a:r>
                <a:br>
                  <a:rPr lang="en-US" altLang="ko-KR" b="0" i="1" dirty="0" smtClean="0"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/>
                          </a:rPr>
                          <m:t>𝑁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ko-KR" altLang="en-US" i="1">
                                <a:latin typeface="Cambria Math"/>
                              </a:rPr>
                              <m:t>𝜇</m:t>
                            </m:r>
                            <m:r>
                              <a:rPr lang="en-US" altLang="ko-KR" i="1">
                                <a:latin typeface="Cambria Math"/>
                              </a:rPr>
                              <m:t>,</m:t>
                            </m:r>
                            <m:r>
                              <a:rPr lang="ko-KR" altLang="en-US" i="1">
                                <a:latin typeface="Cambria Math"/>
                              </a:rPr>
                              <m:t>𝜎</m:t>
                            </m:r>
                          </m:e>
                        </m:d>
                      </m:e>
                    </m:nary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Naïve assumption</a:t>
                </a:r>
              </a:p>
              <a:p>
                <a:r>
                  <a:rPr lang="en-US" altLang="ko-KR" dirty="0" smtClean="0"/>
                  <a:t>Likelihood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/>
                          </a:rPr>
                          <m:t>𝜃</m:t>
                        </m:r>
                      </m:e>
                      <m:e>
                        <m:r>
                          <a:rPr lang="en-US" altLang="ko-KR" b="0" i="1" smtClean="0"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r>
                      <a:rPr lang="en-US" altLang="ko-KR" i="1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/>
                          </a:rPr>
                          <m:t>𝐷</m:t>
                        </m:r>
                      </m:e>
                      <m:e>
                        <m:r>
                          <a:rPr lang="ko-KR" altLang="en-US" i="1">
                            <a:latin typeface="Cambria Math"/>
                          </a:rPr>
                          <m:t>𝜃</m:t>
                        </m:r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46848" cy="4925144"/>
              </a:xfrm>
              <a:blipFill rotWithShape="0">
                <a:blip r:embed="rId2"/>
                <a:stretch>
                  <a:fillRect t="-1983" r="-1475" b="-6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24988-F29F-40C4-BC4D-1B33ED99622A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Rectangle 4"/>
          <p:cNvSpPr/>
          <p:nvPr/>
        </p:nvSpPr>
        <p:spPr>
          <a:xfrm>
            <a:off x="5508104" y="5301208"/>
            <a:ext cx="316835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6619428" y="5553236"/>
                <a:ext cx="864096" cy="72008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428" y="5553236"/>
                <a:ext cx="864096" cy="72008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9" idx="4"/>
            <a:endCxn id="6" idx="0"/>
          </p:cNvCxnSpPr>
          <p:nvPr/>
        </p:nvCxnSpPr>
        <p:spPr>
          <a:xfrm flipH="1">
            <a:off x="7051476" y="4769929"/>
            <a:ext cx="917673" cy="7833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818881" y="4041068"/>
                <a:ext cx="864096" cy="720080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𝜇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81" y="4041068"/>
                <a:ext cx="864096" cy="72008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7537101" y="4049849"/>
                <a:ext cx="864096" cy="720080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𝜎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01" y="4049849"/>
                <a:ext cx="864096" cy="720080"/>
              </a:xfrm>
              <a:prstGeom prst="ellipse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8" idx="4"/>
            <a:endCxn id="6" idx="0"/>
          </p:cNvCxnSpPr>
          <p:nvPr/>
        </p:nvCxnSpPr>
        <p:spPr>
          <a:xfrm>
            <a:off x="6250929" y="4761148"/>
            <a:ext cx="800547" cy="7920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72766" y="6111577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i</a:t>
            </a:r>
            <a:r>
              <a:rPr lang="en-US" altLang="ko-KR" b="1" dirty="0" smtClean="0"/>
              <a:t>=1..N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5508104" y="2747603"/>
                <a:ext cx="864096" cy="72008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747603"/>
                <a:ext cx="864096" cy="720080"/>
              </a:xfrm>
              <a:prstGeom prst="ellipse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9" idx="4"/>
            <a:endCxn id="16" idx="0"/>
          </p:cNvCxnSpPr>
          <p:nvPr/>
        </p:nvCxnSpPr>
        <p:spPr>
          <a:xfrm flipH="1">
            <a:off x="5940152" y="1961617"/>
            <a:ext cx="2028997" cy="7859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5818881" y="1232756"/>
                <a:ext cx="864096" cy="720080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𝜇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881" y="1232756"/>
                <a:ext cx="864096" cy="720080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7537101" y="1241537"/>
                <a:ext cx="864096" cy="720080"/>
              </a:xfrm>
              <a:prstGeom prst="ellipse">
                <a:avLst/>
              </a:prstGeom>
              <a:solidFill>
                <a:schemeClr val="tx1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𝜎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101" y="1241537"/>
                <a:ext cx="864096" cy="720080"/>
              </a:xfrm>
              <a:prstGeom prst="ellipse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8" idx="4"/>
            <a:endCxn id="16" idx="0"/>
          </p:cNvCxnSpPr>
          <p:nvPr/>
        </p:nvCxnSpPr>
        <p:spPr>
          <a:xfrm flipH="1">
            <a:off x="5940152" y="1952836"/>
            <a:ext cx="310777" cy="794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/>
              <p:cNvSpPr/>
              <p:nvPr/>
            </p:nvSpPr>
            <p:spPr>
              <a:xfrm>
                <a:off x="7740352" y="2747603"/>
                <a:ext cx="864096" cy="72008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3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52" y="2747603"/>
                <a:ext cx="864096" cy="720080"/>
              </a:xfrm>
              <a:prstGeom prst="ellipse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stCxn id="18" idx="4"/>
            <a:endCxn id="24" idx="0"/>
          </p:cNvCxnSpPr>
          <p:nvPr/>
        </p:nvCxnSpPr>
        <p:spPr>
          <a:xfrm>
            <a:off x="6250929" y="1952836"/>
            <a:ext cx="1921471" cy="79476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9" idx="4"/>
            <a:endCxn id="24" idx="0"/>
          </p:cNvCxnSpPr>
          <p:nvPr/>
        </p:nvCxnSpPr>
        <p:spPr>
          <a:xfrm>
            <a:off x="7969149" y="1961617"/>
            <a:ext cx="203251" cy="7859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00611" y="2846033"/>
            <a:ext cx="118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………..</a:t>
            </a:r>
            <a:endParaRPr lang="ko-KR" altLang="en-US" sz="2800" b="1" dirty="0"/>
          </a:p>
        </p:txBody>
      </p:sp>
      <p:sp>
        <p:nvSpPr>
          <p:cNvPr id="32" name="Down Arrow 31"/>
          <p:cNvSpPr/>
          <p:nvPr/>
        </p:nvSpPr>
        <p:spPr>
          <a:xfrm>
            <a:off x="5807823" y="3501008"/>
            <a:ext cx="2461045" cy="576064"/>
          </a:xfrm>
          <a:prstGeom prst="downArrow">
            <a:avLst>
              <a:gd name="adj1" fmla="val 63933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56131" y="0"/>
                <a:ext cx="4397037" cy="1032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e>
                              <m:r>
                                <a:rPr lang="ko-KR" altLang="en-US" sz="16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𝑷𝒐𝒔𝒕𝒆𝒓𝒊𝒐𝒓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𝑳𝒊𝒌𝒆𝒍𝒊𝒉𝒐𝒐𝒅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𝑷𝒓𝒊𝒐𝒓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𝑲𝒏𝒐𝒘𝒍𝒆𝒅𝒈𝒆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𝑵𝒐𝒓𝒎𝒂𝒍𝒊𝒛𝒊𝒏𝒈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𝑪𝒐𝒏𝒔𝒕𝒂𝒏𝒕</m:t>
                          </m:r>
                        </m:den>
                      </m:f>
                    </m:oMath>
                  </m:oMathPara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131" y="0"/>
                <a:ext cx="4397037" cy="103246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94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발표 템플릿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ustom 2">
      <a:majorFont>
        <a:latin typeface="Times New Roman"/>
        <a:ea typeface="HY헤드라인M"/>
        <a:cs typeface=""/>
      </a:majorFont>
      <a:minorFont>
        <a:latin typeface="Cambria"/>
        <a:ea typeface="굴림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accent1"/>
        </a:solidFill>
        <a:ln w="38100">
          <a:tailEnd type="none"/>
        </a:ln>
      </a:spPr>
      <a:bodyPr rtlCol="0" anchor="ctr"/>
      <a:lstStyle>
        <a:defPPr algn="ctr">
          <a:defRPr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</Template>
  <TotalTime>7254</TotalTime>
  <Words>664</Words>
  <Application>Microsoft Office PowerPoint</Application>
  <PresentationFormat>On-screen Show (4:3)</PresentationFormat>
  <Paragraphs>274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HY헤드라인M</vt:lpstr>
      <vt:lpstr>굴림</vt:lpstr>
      <vt:lpstr>맑은 고딕</vt:lpstr>
      <vt:lpstr>Arial</vt:lpstr>
      <vt:lpstr>Cambria</vt:lpstr>
      <vt:lpstr>Cambria Math</vt:lpstr>
      <vt:lpstr>Times New Roman</vt:lpstr>
      <vt:lpstr>발표 템플릿</vt:lpstr>
      <vt:lpstr>Bayesian Network</vt:lpstr>
      <vt:lpstr>Weekly Objectives</vt:lpstr>
      <vt:lpstr>Bayesian network</vt:lpstr>
      <vt:lpstr>Detour: Naïve Bayes Classifier</vt:lpstr>
      <vt:lpstr>Bayesian Network</vt:lpstr>
      <vt:lpstr>Interpretation of Bayesian Network</vt:lpstr>
      <vt:lpstr>Another Example</vt:lpstr>
      <vt:lpstr>Components of Bayesian Network</vt:lpstr>
      <vt:lpstr>Typical Local Structures</vt:lpstr>
      <vt:lpstr>Bayes Ball Algorithm</vt:lpstr>
      <vt:lpstr>Exercise of Bayes Ball Algorithm</vt:lpstr>
      <vt:lpstr>Factorization of Bayesian Network</vt:lpstr>
      <vt:lpstr>Plate Notation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Il-Chul Moon</dc:creator>
  <cp:lastModifiedBy>?? ?</cp:lastModifiedBy>
  <cp:revision>223</cp:revision>
  <dcterms:created xsi:type="dcterms:W3CDTF">2012-12-05T07:53:35Z</dcterms:created>
  <dcterms:modified xsi:type="dcterms:W3CDTF">2015-08-06T05:18:59Z</dcterms:modified>
</cp:coreProperties>
</file>
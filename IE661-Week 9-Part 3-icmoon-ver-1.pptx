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93" r:id="rId2"/>
    <p:sldId id="294" r:id="rId3"/>
    <p:sldId id="324" r:id="rId4"/>
    <p:sldId id="312" r:id="rId5"/>
    <p:sldId id="314" r:id="rId6"/>
    <p:sldId id="315" r:id="rId7"/>
    <p:sldId id="316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Learn hidden Markov model</a:t>
            </a:r>
          </a:p>
          <a:p>
            <a:pPr lvl="1"/>
            <a:r>
              <a:rPr lang="en-US" altLang="ko-KR" dirty="0" smtClean="0"/>
              <a:t>Transition from the static clustering to the dynamic clustering</a:t>
            </a:r>
          </a:p>
          <a:p>
            <a:pPr lvl="1"/>
            <a:r>
              <a:rPr lang="en-US" altLang="ko-KR" dirty="0" smtClean="0"/>
              <a:t>Understand the difference of the graphical model</a:t>
            </a:r>
          </a:p>
          <a:p>
            <a:r>
              <a:rPr lang="en-US" altLang="ko-KR" dirty="0" smtClean="0"/>
              <a:t>Know and able to answer the three major questions of HMM</a:t>
            </a:r>
          </a:p>
          <a:p>
            <a:pPr lvl="1"/>
            <a:r>
              <a:rPr lang="en-US" altLang="ko-KR" dirty="0" smtClean="0"/>
              <a:t>Know how to solve the evaluation question</a:t>
            </a:r>
          </a:p>
          <a:p>
            <a:pPr lvl="1"/>
            <a:r>
              <a:rPr lang="en-US" altLang="ko-KR" dirty="0" smtClean="0"/>
              <a:t>Know how to solve the decoding question</a:t>
            </a:r>
          </a:p>
          <a:p>
            <a:pPr lvl="1"/>
            <a:r>
              <a:rPr lang="en-US" altLang="ko-KR" dirty="0" smtClean="0"/>
              <a:t>Know how to solve the learning question</a:t>
            </a:r>
          </a:p>
          <a:p>
            <a:r>
              <a:rPr lang="en-US" altLang="ko-KR" dirty="0" smtClean="0"/>
              <a:t>Link to the previous lectures</a:t>
            </a:r>
          </a:p>
          <a:p>
            <a:pPr lvl="1"/>
            <a:r>
              <a:rPr lang="en-US" altLang="ko-KR" dirty="0" smtClean="0"/>
              <a:t>Link the forward-backward algorithm to the message passing</a:t>
            </a:r>
          </a:p>
          <a:p>
            <a:pPr lvl="1"/>
            <a:r>
              <a:rPr lang="en-US" altLang="ko-KR" dirty="0" smtClean="0"/>
              <a:t>Link the </a:t>
            </a:r>
            <a:r>
              <a:rPr lang="en-US" altLang="ko-KR" dirty="0" err="1" smtClean="0"/>
              <a:t>baum</a:t>
            </a:r>
            <a:r>
              <a:rPr lang="en-US" altLang="ko-KR" dirty="0" smtClean="0"/>
              <a:t>-welch algorithm to the </a:t>
            </a:r>
            <a:r>
              <a:rPr lang="en-US" altLang="ko-KR" smtClean="0"/>
              <a:t>EM algorithm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Viterbi decoding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69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Viterbi Decoding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9826" y="1600200"/>
                <a:ext cx="8435280" cy="4925144"/>
              </a:xfrm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smtClean="0"/>
                  <a:t>This dictates the most probable assignment to a single latent variable, </a:t>
                </a:r>
                <a:r>
                  <a:rPr lang="en-US" altLang="ko-KR" dirty="0" err="1" smtClean="0"/>
                  <a:t>z</a:t>
                </a:r>
                <a:r>
                  <a:rPr lang="en-US" altLang="ko-KR" baseline="-25000" dirty="0" err="1" smtClean="0"/>
                  <a:t>t</a:t>
                </a:r>
                <a:r>
                  <a:rPr lang="en-US" altLang="ko-KR" dirty="0" smtClean="0"/>
                  <a:t>, given the whole observed sequence, X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What if we want to have the most probable assignment of Z given X?</a:t>
                </a:r>
              </a:p>
              <a:p>
                <a:pPr lvl="2"/>
                <a:r>
                  <a:rPr lang="en-US" altLang="ko-KR" dirty="0" smtClean="0"/>
                  <a:t>Exactly the decoding question</a:t>
                </a:r>
              </a:p>
              <a:p>
                <a:pPr lvl="2"/>
                <a:r>
                  <a:rPr lang="en-US" altLang="ko-KR" dirty="0" smtClean="0"/>
                  <a:t>Different from the most probable assignment of a single latent variable</a:t>
                </a:r>
              </a:p>
              <a:p>
                <a:r>
                  <a:rPr lang="en-US" altLang="ko-KR" dirty="0" smtClean="0"/>
                  <a:t>Viterbi decoding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/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/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Need to model the sequence of Z. </a:t>
                </a:r>
              </a:p>
              <a:p>
                <a:pPr lvl="2"/>
                <a:r>
                  <a:rPr lang="en-US" altLang="ko-KR" dirty="0" smtClean="0"/>
                  <a:t>Let’s use the forward approach (Bottom–up)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dirty="0" smtClean="0"/>
                  <a:t>,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Most probable sequence of latent states until </a:t>
                </a:r>
                <a:r>
                  <a:rPr lang="en-US" altLang="ko-KR" i="1" dirty="0" smtClean="0"/>
                  <a:t>t-1</a:t>
                </a:r>
                <a:r>
                  <a:rPr lang="en-US" altLang="ko-KR" dirty="0" smtClean="0"/>
                  <a:t> and fixing the state </a:t>
                </a:r>
                <a:r>
                  <a:rPr lang="en-US" altLang="ko-KR" i="1" dirty="0" smtClean="0"/>
                  <a:t>k</a:t>
                </a:r>
                <a:r>
                  <a:rPr lang="en-US" altLang="ko-KR" dirty="0" smtClean="0"/>
                  <a:t> at time </a:t>
                </a:r>
                <a:r>
                  <a:rPr lang="en-US" altLang="ko-KR" i="1" dirty="0" smtClean="0"/>
                  <a:t>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=1)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Keep going until time T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 smtClean="0"/>
              </a:p>
              <a:p>
                <a:pPr lvl="1"/>
                <a:endParaRPr lang="en-US" altLang="ko-KR" dirty="0" smtClean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9826" y="1600200"/>
                <a:ext cx="8435280" cy="4925144"/>
              </a:xfrm>
              <a:blipFill rotWithShape="0">
                <a:blip r:embed="rId2"/>
                <a:stretch>
                  <a:fillRect t="-76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398688" y="37373"/>
                <a:ext cx="2629738" cy="1515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 smtClean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000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688" y="37373"/>
                <a:ext cx="2629738" cy="15150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00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991858" y="4293096"/>
            <a:ext cx="7581834" cy="12241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9"/>
          <p:cNvSpPr/>
          <p:nvPr/>
        </p:nvSpPr>
        <p:spPr>
          <a:xfrm>
            <a:off x="899592" y="1628800"/>
            <a:ext cx="7581834" cy="12241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66" y="102649"/>
            <a:ext cx="8435280" cy="1138138"/>
          </a:xfrm>
        </p:spPr>
        <p:txBody>
          <a:bodyPr/>
          <a:lstStyle/>
          <a:p>
            <a:r>
              <a:rPr lang="en-US" altLang="ko-KR" i="1" dirty="0" smtClean="0"/>
              <a:t>Detour: </a:t>
            </a:r>
            <a:r>
              <a:rPr lang="en-US" altLang="ko-KR" dirty="0" smtClean="0"/>
              <a:t>Assembly </a:t>
            </a:r>
            <a:br>
              <a:rPr lang="en-US" altLang="ko-KR" dirty="0" smtClean="0"/>
            </a:br>
            <a:r>
              <a:rPr lang="en-US" altLang="ko-KR" dirty="0" smtClean="0"/>
              <a:t>Line Scheduling 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C22C-EC2B-4071-B4C5-3756ABCA11C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1408897" y="213285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7" name="Oval 6"/>
          <p:cNvSpPr/>
          <p:nvPr/>
        </p:nvSpPr>
        <p:spPr>
          <a:xfrm>
            <a:off x="1480905" y="450912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175618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1,1</a:t>
            </a:r>
            <a:endParaRPr lang="ko-KR" altLang="en-US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1115616" y="5040066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/>
              <a:t>2</a:t>
            </a:r>
            <a:r>
              <a:rPr lang="en-US" altLang="ko-KR" baseline="-25000" dirty="0" smtClean="0"/>
              <a:t>,1</a:t>
            </a:r>
            <a:endParaRPr lang="ko-KR" altLang="en-US" baseline="-25000" dirty="0"/>
          </a:p>
        </p:txBody>
      </p:sp>
      <p:sp>
        <p:nvSpPr>
          <p:cNvPr id="10" name="Oval 9"/>
          <p:cNvSpPr/>
          <p:nvPr/>
        </p:nvSpPr>
        <p:spPr>
          <a:xfrm>
            <a:off x="2705041" y="2130897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11" name="Oval 10"/>
          <p:cNvSpPr/>
          <p:nvPr/>
        </p:nvSpPr>
        <p:spPr>
          <a:xfrm>
            <a:off x="2777049" y="4507161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339752" y="1754230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1,2</a:t>
            </a:r>
            <a:endParaRPr lang="ko-KR" altLang="en-US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2411760" y="5038107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2,2</a:t>
            </a:r>
            <a:endParaRPr lang="ko-KR" altLang="en-US" baseline="-25000" dirty="0"/>
          </a:p>
        </p:txBody>
      </p:sp>
      <p:sp>
        <p:nvSpPr>
          <p:cNvPr id="14" name="Oval 13"/>
          <p:cNvSpPr/>
          <p:nvPr/>
        </p:nvSpPr>
        <p:spPr>
          <a:xfrm>
            <a:off x="3934425" y="2136328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5" name="Oval 14"/>
          <p:cNvSpPr/>
          <p:nvPr/>
        </p:nvSpPr>
        <p:spPr>
          <a:xfrm>
            <a:off x="4006433" y="45125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569136" y="1759661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1,3</a:t>
            </a:r>
            <a:endParaRPr lang="ko-KR" altLang="en-US" baseline="-25000" dirty="0"/>
          </a:p>
        </p:txBody>
      </p:sp>
      <p:sp>
        <p:nvSpPr>
          <p:cNvPr id="17" name="TextBox 16"/>
          <p:cNvSpPr txBox="1"/>
          <p:nvPr/>
        </p:nvSpPr>
        <p:spPr>
          <a:xfrm>
            <a:off x="3641144" y="504353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2,3</a:t>
            </a:r>
            <a:endParaRPr lang="ko-KR" altLang="en-US" baseline="-25000" dirty="0"/>
          </a:p>
        </p:txBody>
      </p:sp>
      <p:sp>
        <p:nvSpPr>
          <p:cNvPr id="18" name="Oval 17"/>
          <p:cNvSpPr/>
          <p:nvPr/>
        </p:nvSpPr>
        <p:spPr>
          <a:xfrm>
            <a:off x="5148064" y="213436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19" name="Oval 18"/>
          <p:cNvSpPr/>
          <p:nvPr/>
        </p:nvSpPr>
        <p:spPr>
          <a:xfrm>
            <a:off x="5220072" y="451063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782775" y="175770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1,4</a:t>
            </a:r>
            <a:endParaRPr lang="ko-KR" altLang="en-US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4854783" y="504157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2,4</a:t>
            </a:r>
            <a:endParaRPr lang="ko-KR" altLang="en-US" baseline="-25000" dirty="0"/>
          </a:p>
        </p:txBody>
      </p:sp>
      <p:sp>
        <p:nvSpPr>
          <p:cNvPr id="22" name="Oval 21"/>
          <p:cNvSpPr/>
          <p:nvPr/>
        </p:nvSpPr>
        <p:spPr>
          <a:xfrm>
            <a:off x="6382697" y="2136328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23" name="Oval 22"/>
          <p:cNvSpPr/>
          <p:nvPr/>
        </p:nvSpPr>
        <p:spPr>
          <a:xfrm>
            <a:off x="6454705" y="451259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017408" y="1759661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1,5</a:t>
            </a:r>
            <a:endParaRPr lang="ko-KR" altLang="en-US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6089416" y="504353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2,5</a:t>
            </a:r>
            <a:endParaRPr lang="ko-KR" altLang="en-US" baseline="-25000" dirty="0"/>
          </a:p>
        </p:txBody>
      </p:sp>
      <p:sp>
        <p:nvSpPr>
          <p:cNvPr id="26" name="Oval 25"/>
          <p:cNvSpPr/>
          <p:nvPr/>
        </p:nvSpPr>
        <p:spPr>
          <a:xfrm>
            <a:off x="7540074" y="213436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7" name="Oval 26"/>
          <p:cNvSpPr/>
          <p:nvPr/>
        </p:nvSpPr>
        <p:spPr>
          <a:xfrm>
            <a:off x="7612082" y="451063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174785" y="175770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1,6</a:t>
            </a:r>
            <a:endParaRPr lang="ko-KR" altLang="en-US" baseline="-25000" dirty="0"/>
          </a:p>
        </p:txBody>
      </p:sp>
      <p:sp>
        <p:nvSpPr>
          <p:cNvPr id="29" name="TextBox 28"/>
          <p:cNvSpPr txBox="1"/>
          <p:nvPr/>
        </p:nvSpPr>
        <p:spPr>
          <a:xfrm>
            <a:off x="7246793" y="504157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2,6</a:t>
            </a:r>
            <a:endParaRPr lang="ko-KR" altLang="en-US" baseline="-25000" dirty="0"/>
          </a:p>
        </p:txBody>
      </p:sp>
      <p:sp>
        <p:nvSpPr>
          <p:cNvPr id="32" name="TextBox 31"/>
          <p:cNvSpPr txBox="1"/>
          <p:nvPr/>
        </p:nvSpPr>
        <p:spPr>
          <a:xfrm>
            <a:off x="3856073" y="1380246"/>
            <a:ext cx="189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Assembly Line 1</a:t>
            </a:r>
            <a:endParaRPr lang="ko-KR" alt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3995936" y="5407439"/>
            <a:ext cx="189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Assembly Line 2</a:t>
            </a:r>
            <a:endParaRPr lang="ko-KR" altLang="en-US" b="1" dirty="0"/>
          </a:p>
        </p:txBody>
      </p:sp>
      <p:sp>
        <p:nvSpPr>
          <p:cNvPr id="34" name="Oval 33"/>
          <p:cNvSpPr/>
          <p:nvPr/>
        </p:nvSpPr>
        <p:spPr>
          <a:xfrm>
            <a:off x="539552" y="268442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5" name="Oval 34"/>
          <p:cNvSpPr/>
          <p:nvPr/>
        </p:nvSpPr>
        <p:spPr>
          <a:xfrm>
            <a:off x="539552" y="393305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36" name="Oval 35"/>
          <p:cNvSpPr/>
          <p:nvPr/>
        </p:nvSpPr>
        <p:spPr>
          <a:xfrm>
            <a:off x="1914841" y="284446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7" name="Oval 36"/>
          <p:cNvSpPr/>
          <p:nvPr/>
        </p:nvSpPr>
        <p:spPr>
          <a:xfrm>
            <a:off x="1914841" y="378904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39" name="Straight Arrow Connector 38"/>
          <p:cNvCxnSpPr>
            <a:stCxn id="6" idx="5"/>
            <a:endCxn id="36" idx="1"/>
          </p:cNvCxnSpPr>
          <p:nvPr/>
        </p:nvCxnSpPr>
        <p:spPr>
          <a:xfrm>
            <a:off x="1839136" y="2563095"/>
            <a:ext cx="149522" cy="35519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6" idx="5"/>
            <a:endCxn id="11" idx="0"/>
          </p:cNvCxnSpPr>
          <p:nvPr/>
        </p:nvCxnSpPr>
        <p:spPr>
          <a:xfrm>
            <a:off x="2345080" y="3274708"/>
            <a:ext cx="683997" cy="12324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" idx="7"/>
            <a:endCxn id="37" idx="3"/>
          </p:cNvCxnSpPr>
          <p:nvPr/>
        </p:nvCxnSpPr>
        <p:spPr>
          <a:xfrm flipV="1">
            <a:off x="1911144" y="4219279"/>
            <a:ext cx="77514" cy="36365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7" idx="7"/>
            <a:endCxn id="10" idx="3"/>
          </p:cNvCxnSpPr>
          <p:nvPr/>
        </p:nvCxnSpPr>
        <p:spPr>
          <a:xfrm flipV="1">
            <a:off x="2345080" y="2561136"/>
            <a:ext cx="433778" cy="130172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4" idx="3"/>
          </p:cNvCxnSpPr>
          <p:nvPr/>
        </p:nvCxnSpPr>
        <p:spPr>
          <a:xfrm flipV="1">
            <a:off x="395536" y="3114662"/>
            <a:ext cx="217833" cy="23386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35" idx="1"/>
          </p:cNvCxnSpPr>
          <p:nvPr/>
        </p:nvCxnSpPr>
        <p:spPr>
          <a:xfrm>
            <a:off x="395536" y="3789040"/>
            <a:ext cx="217833" cy="21783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4" idx="7"/>
            <a:endCxn id="6" idx="2"/>
          </p:cNvCxnSpPr>
          <p:nvPr/>
        </p:nvCxnSpPr>
        <p:spPr>
          <a:xfrm flipV="1">
            <a:off x="969791" y="2384884"/>
            <a:ext cx="439106" cy="37335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35" idx="5"/>
            <a:endCxn id="7" idx="2"/>
          </p:cNvCxnSpPr>
          <p:nvPr/>
        </p:nvCxnSpPr>
        <p:spPr>
          <a:xfrm>
            <a:off x="969791" y="4363295"/>
            <a:ext cx="511114" cy="3978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209097" y="284446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66" name="Oval 65"/>
          <p:cNvSpPr/>
          <p:nvPr/>
        </p:nvSpPr>
        <p:spPr>
          <a:xfrm>
            <a:off x="3209097" y="378904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67" name="Straight Arrow Connector 66"/>
          <p:cNvCxnSpPr>
            <a:stCxn id="10" idx="5"/>
            <a:endCxn id="65" idx="1"/>
          </p:cNvCxnSpPr>
          <p:nvPr/>
        </p:nvCxnSpPr>
        <p:spPr>
          <a:xfrm>
            <a:off x="3135280" y="2561136"/>
            <a:ext cx="147634" cy="35715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5" idx="5"/>
            <a:endCxn id="15" idx="0"/>
          </p:cNvCxnSpPr>
          <p:nvPr/>
        </p:nvCxnSpPr>
        <p:spPr>
          <a:xfrm>
            <a:off x="3639336" y="3274708"/>
            <a:ext cx="619125" cy="123788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1" idx="7"/>
            <a:endCxn id="66" idx="3"/>
          </p:cNvCxnSpPr>
          <p:nvPr/>
        </p:nvCxnSpPr>
        <p:spPr>
          <a:xfrm flipV="1">
            <a:off x="3207288" y="4219279"/>
            <a:ext cx="75626" cy="36169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7"/>
            <a:endCxn id="14" idx="3"/>
          </p:cNvCxnSpPr>
          <p:nvPr/>
        </p:nvCxnSpPr>
        <p:spPr>
          <a:xfrm flipV="1">
            <a:off x="3639336" y="2566567"/>
            <a:ext cx="368906" cy="129629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438481" y="281580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2" name="Oval 71"/>
          <p:cNvSpPr/>
          <p:nvPr/>
        </p:nvSpPr>
        <p:spPr>
          <a:xfrm>
            <a:off x="4438481" y="376037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73" name="Straight Arrow Connector 72"/>
          <p:cNvCxnSpPr>
            <a:stCxn id="14" idx="5"/>
            <a:endCxn id="71" idx="1"/>
          </p:cNvCxnSpPr>
          <p:nvPr/>
        </p:nvCxnSpPr>
        <p:spPr>
          <a:xfrm>
            <a:off x="4364664" y="2566567"/>
            <a:ext cx="147634" cy="3230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71" idx="5"/>
            <a:endCxn id="19" idx="1"/>
          </p:cNvCxnSpPr>
          <p:nvPr/>
        </p:nvCxnSpPr>
        <p:spPr>
          <a:xfrm>
            <a:off x="4868720" y="3246042"/>
            <a:ext cx="425169" cy="133840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15" idx="7"/>
            <a:endCxn id="72" idx="3"/>
          </p:cNvCxnSpPr>
          <p:nvPr/>
        </p:nvCxnSpPr>
        <p:spPr>
          <a:xfrm flipV="1">
            <a:off x="4436672" y="4190613"/>
            <a:ext cx="75626" cy="39579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72" idx="7"/>
            <a:endCxn id="18" idx="3"/>
          </p:cNvCxnSpPr>
          <p:nvPr/>
        </p:nvCxnSpPr>
        <p:spPr>
          <a:xfrm flipV="1">
            <a:off x="4868720" y="2564608"/>
            <a:ext cx="353161" cy="12695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705117" y="281580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78" name="Oval 77"/>
          <p:cNvSpPr/>
          <p:nvPr/>
        </p:nvSpPr>
        <p:spPr>
          <a:xfrm>
            <a:off x="5705117" y="376037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79" name="Straight Arrow Connector 78"/>
          <p:cNvCxnSpPr>
            <a:stCxn id="18" idx="5"/>
            <a:endCxn id="77" idx="1"/>
          </p:cNvCxnSpPr>
          <p:nvPr/>
        </p:nvCxnSpPr>
        <p:spPr>
          <a:xfrm>
            <a:off x="5578303" y="2564608"/>
            <a:ext cx="200631" cy="32501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77" idx="5"/>
            <a:endCxn id="23" idx="0"/>
          </p:cNvCxnSpPr>
          <p:nvPr/>
        </p:nvCxnSpPr>
        <p:spPr>
          <a:xfrm>
            <a:off x="6135356" y="3246042"/>
            <a:ext cx="571377" cy="126655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19" idx="7"/>
            <a:endCxn id="78" idx="3"/>
          </p:cNvCxnSpPr>
          <p:nvPr/>
        </p:nvCxnSpPr>
        <p:spPr>
          <a:xfrm flipV="1">
            <a:off x="5650311" y="4190613"/>
            <a:ext cx="128623" cy="39383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8" idx="7"/>
            <a:endCxn id="22" idx="3"/>
          </p:cNvCxnSpPr>
          <p:nvPr/>
        </p:nvCxnSpPr>
        <p:spPr>
          <a:xfrm flipV="1">
            <a:off x="6135356" y="2566567"/>
            <a:ext cx="321158" cy="12676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6886753" y="281580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84" name="Oval 83"/>
          <p:cNvSpPr/>
          <p:nvPr/>
        </p:nvSpPr>
        <p:spPr>
          <a:xfrm>
            <a:off x="6886753" y="376037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85" name="Straight Arrow Connector 84"/>
          <p:cNvCxnSpPr>
            <a:stCxn id="22" idx="5"/>
            <a:endCxn id="83" idx="1"/>
          </p:cNvCxnSpPr>
          <p:nvPr/>
        </p:nvCxnSpPr>
        <p:spPr>
          <a:xfrm>
            <a:off x="6812936" y="2566567"/>
            <a:ext cx="147634" cy="3230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83" idx="5"/>
            <a:endCxn id="27" idx="0"/>
          </p:cNvCxnSpPr>
          <p:nvPr/>
        </p:nvCxnSpPr>
        <p:spPr>
          <a:xfrm>
            <a:off x="7316992" y="3246042"/>
            <a:ext cx="547118" cy="126459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3" idx="7"/>
            <a:endCxn id="84" idx="3"/>
          </p:cNvCxnSpPr>
          <p:nvPr/>
        </p:nvCxnSpPr>
        <p:spPr>
          <a:xfrm flipV="1">
            <a:off x="6884944" y="4190613"/>
            <a:ext cx="75626" cy="39579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84" idx="7"/>
            <a:endCxn id="26" idx="4"/>
          </p:cNvCxnSpPr>
          <p:nvPr/>
        </p:nvCxnSpPr>
        <p:spPr>
          <a:xfrm flipV="1">
            <a:off x="7316992" y="2638425"/>
            <a:ext cx="475110" cy="119576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8223107" y="268442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06" name="Oval 105"/>
          <p:cNvSpPr/>
          <p:nvPr/>
        </p:nvSpPr>
        <p:spPr>
          <a:xfrm>
            <a:off x="8223107" y="393305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107" name="Straight Arrow Connector 106"/>
          <p:cNvCxnSpPr>
            <a:stCxn id="26" idx="6"/>
            <a:endCxn id="105" idx="1"/>
          </p:cNvCxnSpPr>
          <p:nvPr/>
        </p:nvCxnSpPr>
        <p:spPr>
          <a:xfrm>
            <a:off x="8044130" y="2386397"/>
            <a:ext cx="252794" cy="37184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27" idx="7"/>
            <a:endCxn id="106" idx="3"/>
          </p:cNvCxnSpPr>
          <p:nvPr/>
        </p:nvCxnSpPr>
        <p:spPr>
          <a:xfrm flipV="1">
            <a:off x="8042321" y="4363295"/>
            <a:ext cx="254603" cy="22115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05" idx="5"/>
          </p:cNvCxnSpPr>
          <p:nvPr/>
        </p:nvCxnSpPr>
        <p:spPr>
          <a:xfrm>
            <a:off x="8653346" y="3114662"/>
            <a:ext cx="167126" cy="23386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6" idx="7"/>
          </p:cNvCxnSpPr>
          <p:nvPr/>
        </p:nvCxnSpPr>
        <p:spPr>
          <a:xfrm flipV="1">
            <a:off x="8653346" y="3645025"/>
            <a:ext cx="219553" cy="36184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0" y="3251625"/>
            <a:ext cx="137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Production</a:t>
            </a:r>
            <a:br>
              <a:rPr lang="en-US" altLang="ko-KR" b="1" dirty="0" smtClean="0"/>
            </a:br>
            <a:r>
              <a:rPr lang="en-US" altLang="ko-KR" b="1" dirty="0" smtClean="0"/>
              <a:t>Start</a:t>
            </a:r>
            <a:endParaRPr lang="ko-KR" altLang="en-US" b="1" dirty="0"/>
          </a:p>
        </p:txBody>
      </p:sp>
      <p:sp>
        <p:nvSpPr>
          <p:cNvPr id="120" name="TextBox 119"/>
          <p:cNvSpPr txBox="1"/>
          <p:nvPr/>
        </p:nvSpPr>
        <p:spPr>
          <a:xfrm>
            <a:off x="7795276" y="3214712"/>
            <a:ext cx="137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Production</a:t>
            </a:r>
            <a:br>
              <a:rPr lang="en-US" altLang="ko-KR" b="1" dirty="0" smtClean="0"/>
            </a:br>
            <a:r>
              <a:rPr lang="en-US" altLang="ko-KR" b="1" dirty="0" smtClean="0"/>
              <a:t>End</a:t>
            </a:r>
            <a:endParaRPr lang="ko-KR" altLang="en-US" b="1" dirty="0"/>
          </a:p>
        </p:txBody>
      </p:sp>
      <p:pic>
        <p:nvPicPr>
          <p:cNvPr id="2050" name="Picture 2" descr="http://t3.gstatic.com/images?q=tbn:ANd9GcQzh5iYgtVdk1HtHfmo8jQPzMJnlHTiZ_ENn-WzlvKDDo0OqsmDy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676" y="157432"/>
            <a:ext cx="2244819" cy="142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/>
          <p:cNvSpPr txBox="1"/>
          <p:nvPr/>
        </p:nvSpPr>
        <p:spPr>
          <a:xfrm>
            <a:off x="2738803" y="6021288"/>
            <a:ext cx="461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Goal</a:t>
            </a:r>
            <a:r>
              <a:rPr lang="en-US" altLang="ko-KR" dirty="0" smtClean="0"/>
              <a:t>: Computing the fastest production route</a:t>
            </a:r>
            <a:endParaRPr lang="ko-KR" altLang="en-US" dirty="0"/>
          </a:p>
        </p:txBody>
      </p:sp>
      <p:sp>
        <p:nvSpPr>
          <p:cNvPr id="122" name="Rectangular Callout 121"/>
          <p:cNvSpPr/>
          <p:nvPr/>
        </p:nvSpPr>
        <p:spPr>
          <a:xfrm>
            <a:off x="231190" y="5592105"/>
            <a:ext cx="1120780" cy="613849"/>
          </a:xfrm>
          <a:prstGeom prst="wedgeRectCallout">
            <a:avLst>
              <a:gd name="adj1" fmla="val -8022"/>
              <a:gd name="adj2" fmla="val -2403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Time</a:t>
            </a:r>
            <a:br>
              <a:rPr lang="en-US" altLang="ko-KR" dirty="0" smtClean="0"/>
            </a:br>
            <a:r>
              <a:rPr lang="en-US" altLang="ko-KR" dirty="0" smtClean="0"/>
              <a:t>Cost</a:t>
            </a:r>
            <a:endParaRPr lang="ko-KR" altLang="en-US" dirty="0"/>
          </a:p>
        </p:txBody>
      </p:sp>
      <p:cxnSp>
        <p:nvCxnSpPr>
          <p:cNvPr id="124" name="Straight Arrow Connector 123"/>
          <p:cNvCxnSpPr>
            <a:stCxn id="7" idx="6"/>
            <a:endCxn id="11" idx="2"/>
          </p:cNvCxnSpPr>
          <p:nvPr/>
        </p:nvCxnSpPr>
        <p:spPr>
          <a:xfrm flipV="1">
            <a:off x="1984961" y="4759189"/>
            <a:ext cx="792088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11" idx="6"/>
            <a:endCxn id="15" idx="2"/>
          </p:cNvCxnSpPr>
          <p:nvPr/>
        </p:nvCxnSpPr>
        <p:spPr>
          <a:xfrm>
            <a:off x="3281105" y="4759189"/>
            <a:ext cx="725328" cy="543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15" idx="6"/>
            <a:endCxn id="19" idx="2"/>
          </p:cNvCxnSpPr>
          <p:nvPr/>
        </p:nvCxnSpPr>
        <p:spPr>
          <a:xfrm flipV="1">
            <a:off x="4510489" y="4762661"/>
            <a:ext cx="709583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9" idx="6"/>
            <a:endCxn id="23" idx="2"/>
          </p:cNvCxnSpPr>
          <p:nvPr/>
        </p:nvCxnSpPr>
        <p:spPr>
          <a:xfrm>
            <a:off x="5724128" y="4762661"/>
            <a:ext cx="730577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23" idx="6"/>
            <a:endCxn id="27" idx="2"/>
          </p:cNvCxnSpPr>
          <p:nvPr/>
        </p:nvCxnSpPr>
        <p:spPr>
          <a:xfrm flipV="1">
            <a:off x="6958761" y="4762661"/>
            <a:ext cx="653321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6" idx="6"/>
            <a:endCxn id="10" idx="2"/>
          </p:cNvCxnSpPr>
          <p:nvPr/>
        </p:nvCxnSpPr>
        <p:spPr>
          <a:xfrm flipV="1">
            <a:off x="1912953" y="2382925"/>
            <a:ext cx="792088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10" idx="6"/>
            <a:endCxn id="14" idx="2"/>
          </p:cNvCxnSpPr>
          <p:nvPr/>
        </p:nvCxnSpPr>
        <p:spPr>
          <a:xfrm>
            <a:off x="3209097" y="2382925"/>
            <a:ext cx="725328" cy="543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14" idx="6"/>
            <a:endCxn id="18" idx="2"/>
          </p:cNvCxnSpPr>
          <p:nvPr/>
        </p:nvCxnSpPr>
        <p:spPr>
          <a:xfrm flipV="1">
            <a:off x="4438481" y="2386397"/>
            <a:ext cx="709583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18" idx="6"/>
            <a:endCxn id="22" idx="2"/>
          </p:cNvCxnSpPr>
          <p:nvPr/>
        </p:nvCxnSpPr>
        <p:spPr>
          <a:xfrm>
            <a:off x="5652120" y="2386397"/>
            <a:ext cx="730577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stCxn id="22" idx="6"/>
            <a:endCxn id="26" idx="2"/>
          </p:cNvCxnSpPr>
          <p:nvPr/>
        </p:nvCxnSpPr>
        <p:spPr>
          <a:xfrm flipV="1">
            <a:off x="6886753" y="2386397"/>
            <a:ext cx="653321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83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435280" cy="706090"/>
          </a:xfrm>
        </p:spPr>
        <p:txBody>
          <a:bodyPr/>
          <a:lstStyle/>
          <a:p>
            <a:r>
              <a:rPr lang="en-US" altLang="ko-KR" sz="3200" i="1" dirty="0"/>
              <a:t>Detour: </a:t>
            </a:r>
            <a:r>
              <a:rPr lang="en-US" altLang="ko-KR" sz="3200" dirty="0" smtClean="0"/>
              <a:t>Tracing Assembly Line Scheduling in DP</a:t>
            </a:r>
            <a:endParaRPr lang="ko-KR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C22C-EC2B-4071-B4C5-3756ABCA11C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991858" y="3605546"/>
            <a:ext cx="7581834" cy="12241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899592" y="941250"/>
            <a:ext cx="7581834" cy="12241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1408897" y="144530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8" name="Oval 7"/>
          <p:cNvSpPr/>
          <p:nvPr/>
        </p:nvSpPr>
        <p:spPr>
          <a:xfrm>
            <a:off x="1480905" y="382157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43608" y="106863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1,1</a:t>
            </a:r>
            <a:endParaRPr lang="ko-KR" alt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352516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/>
              <a:t>2</a:t>
            </a:r>
            <a:r>
              <a:rPr lang="en-US" altLang="ko-KR" baseline="-25000" dirty="0" smtClean="0"/>
              <a:t>,1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2705041" y="1443347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12" name="Oval 11"/>
          <p:cNvSpPr/>
          <p:nvPr/>
        </p:nvSpPr>
        <p:spPr>
          <a:xfrm>
            <a:off x="2777049" y="3819611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339752" y="1066680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1,2</a:t>
            </a:r>
            <a:endParaRPr lang="ko-KR" altLang="en-US" baseline="-25000" dirty="0"/>
          </a:p>
        </p:txBody>
      </p:sp>
      <p:sp>
        <p:nvSpPr>
          <p:cNvPr id="14" name="TextBox 13"/>
          <p:cNvSpPr txBox="1"/>
          <p:nvPr/>
        </p:nvSpPr>
        <p:spPr>
          <a:xfrm>
            <a:off x="2411760" y="4350557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2,2</a:t>
            </a:r>
            <a:endParaRPr lang="ko-KR" altLang="en-US" baseline="-25000" dirty="0"/>
          </a:p>
        </p:txBody>
      </p:sp>
      <p:sp>
        <p:nvSpPr>
          <p:cNvPr id="15" name="Oval 14"/>
          <p:cNvSpPr/>
          <p:nvPr/>
        </p:nvSpPr>
        <p:spPr>
          <a:xfrm>
            <a:off x="3934425" y="1448778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Oval 15"/>
          <p:cNvSpPr/>
          <p:nvPr/>
        </p:nvSpPr>
        <p:spPr>
          <a:xfrm>
            <a:off x="4006433" y="382504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569136" y="1072111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1,3</a:t>
            </a:r>
            <a:endParaRPr lang="ko-KR" alt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3641144" y="435598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2,3</a:t>
            </a:r>
            <a:endParaRPr lang="ko-KR" altLang="en-US" baseline="-25000" dirty="0"/>
          </a:p>
        </p:txBody>
      </p:sp>
      <p:sp>
        <p:nvSpPr>
          <p:cNvPr id="19" name="Oval 18"/>
          <p:cNvSpPr/>
          <p:nvPr/>
        </p:nvSpPr>
        <p:spPr>
          <a:xfrm>
            <a:off x="5148064" y="144681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0" name="Oval 19"/>
          <p:cNvSpPr/>
          <p:nvPr/>
        </p:nvSpPr>
        <p:spPr>
          <a:xfrm>
            <a:off x="5220072" y="382308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782775" y="107015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1,4</a:t>
            </a:r>
            <a:endParaRPr lang="ko-KR" altLang="en-US" baseline="-25000" dirty="0"/>
          </a:p>
        </p:txBody>
      </p:sp>
      <p:sp>
        <p:nvSpPr>
          <p:cNvPr id="22" name="TextBox 21"/>
          <p:cNvSpPr txBox="1"/>
          <p:nvPr/>
        </p:nvSpPr>
        <p:spPr>
          <a:xfrm>
            <a:off x="4854783" y="435402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2,4</a:t>
            </a:r>
            <a:endParaRPr lang="ko-KR" altLang="en-US" baseline="-25000" dirty="0"/>
          </a:p>
        </p:txBody>
      </p:sp>
      <p:sp>
        <p:nvSpPr>
          <p:cNvPr id="23" name="Oval 22"/>
          <p:cNvSpPr/>
          <p:nvPr/>
        </p:nvSpPr>
        <p:spPr>
          <a:xfrm>
            <a:off x="6382697" y="1448778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24" name="Oval 23"/>
          <p:cNvSpPr/>
          <p:nvPr/>
        </p:nvSpPr>
        <p:spPr>
          <a:xfrm>
            <a:off x="6454705" y="382504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017408" y="1072111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1,5</a:t>
            </a:r>
            <a:endParaRPr lang="ko-KR" altLang="en-US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6089416" y="435598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2,5</a:t>
            </a:r>
            <a:endParaRPr lang="ko-KR" altLang="en-US" baseline="-25000" dirty="0"/>
          </a:p>
        </p:txBody>
      </p:sp>
      <p:sp>
        <p:nvSpPr>
          <p:cNvPr id="27" name="Oval 26"/>
          <p:cNvSpPr/>
          <p:nvPr/>
        </p:nvSpPr>
        <p:spPr>
          <a:xfrm>
            <a:off x="7540074" y="144681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8" name="Oval 27"/>
          <p:cNvSpPr/>
          <p:nvPr/>
        </p:nvSpPr>
        <p:spPr>
          <a:xfrm>
            <a:off x="7612082" y="382308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174785" y="1070152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1,6</a:t>
            </a:r>
            <a:endParaRPr lang="ko-KR" altLang="en-US" baseline="-25000" dirty="0"/>
          </a:p>
        </p:txBody>
      </p:sp>
      <p:sp>
        <p:nvSpPr>
          <p:cNvPr id="30" name="TextBox 29"/>
          <p:cNvSpPr txBox="1"/>
          <p:nvPr/>
        </p:nvSpPr>
        <p:spPr>
          <a:xfrm>
            <a:off x="7246793" y="435402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station S</a:t>
            </a:r>
            <a:r>
              <a:rPr lang="en-US" altLang="ko-KR" baseline="-25000" dirty="0" smtClean="0"/>
              <a:t>2,6</a:t>
            </a:r>
            <a:endParaRPr lang="ko-KR" altLang="en-US" baseline="-25000" dirty="0"/>
          </a:p>
        </p:txBody>
      </p:sp>
      <p:sp>
        <p:nvSpPr>
          <p:cNvPr id="31" name="TextBox 30"/>
          <p:cNvSpPr txBox="1"/>
          <p:nvPr/>
        </p:nvSpPr>
        <p:spPr>
          <a:xfrm>
            <a:off x="3856073" y="692696"/>
            <a:ext cx="189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Assembly Line 1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995936" y="4719889"/>
            <a:ext cx="189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Assembly Line 2</a:t>
            </a:r>
            <a:endParaRPr lang="ko-KR" altLang="en-US" b="1" dirty="0"/>
          </a:p>
        </p:txBody>
      </p:sp>
      <p:sp>
        <p:nvSpPr>
          <p:cNvPr id="33" name="Oval 32"/>
          <p:cNvSpPr/>
          <p:nvPr/>
        </p:nvSpPr>
        <p:spPr>
          <a:xfrm>
            <a:off x="539552" y="199687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4" name="Oval 33"/>
          <p:cNvSpPr/>
          <p:nvPr/>
        </p:nvSpPr>
        <p:spPr>
          <a:xfrm>
            <a:off x="539552" y="324550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35" name="Oval 34"/>
          <p:cNvSpPr/>
          <p:nvPr/>
        </p:nvSpPr>
        <p:spPr>
          <a:xfrm>
            <a:off x="1914841" y="215691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6" name="Oval 35"/>
          <p:cNvSpPr/>
          <p:nvPr/>
        </p:nvSpPr>
        <p:spPr>
          <a:xfrm>
            <a:off x="1914841" y="310149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37" name="Straight Arrow Connector 36"/>
          <p:cNvCxnSpPr>
            <a:stCxn id="7" idx="5"/>
            <a:endCxn id="35" idx="1"/>
          </p:cNvCxnSpPr>
          <p:nvPr/>
        </p:nvCxnSpPr>
        <p:spPr>
          <a:xfrm>
            <a:off x="1839136" y="1875545"/>
            <a:ext cx="149522" cy="355191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5"/>
            <a:endCxn id="12" idx="0"/>
          </p:cNvCxnSpPr>
          <p:nvPr/>
        </p:nvCxnSpPr>
        <p:spPr>
          <a:xfrm>
            <a:off x="2345080" y="2587158"/>
            <a:ext cx="683997" cy="123245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" idx="7"/>
            <a:endCxn id="36" idx="3"/>
          </p:cNvCxnSpPr>
          <p:nvPr/>
        </p:nvCxnSpPr>
        <p:spPr>
          <a:xfrm flipV="1">
            <a:off x="1911144" y="3531729"/>
            <a:ext cx="77514" cy="36365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6" idx="7"/>
            <a:endCxn id="11" idx="3"/>
          </p:cNvCxnSpPr>
          <p:nvPr/>
        </p:nvCxnSpPr>
        <p:spPr>
          <a:xfrm flipV="1">
            <a:off x="2345080" y="1873586"/>
            <a:ext cx="433778" cy="130172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3" idx="3"/>
          </p:cNvCxnSpPr>
          <p:nvPr/>
        </p:nvCxnSpPr>
        <p:spPr>
          <a:xfrm flipV="1">
            <a:off x="395536" y="2427112"/>
            <a:ext cx="217833" cy="23386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4" idx="1"/>
          </p:cNvCxnSpPr>
          <p:nvPr/>
        </p:nvCxnSpPr>
        <p:spPr>
          <a:xfrm>
            <a:off x="395536" y="3101490"/>
            <a:ext cx="217833" cy="21783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3" idx="7"/>
            <a:endCxn id="7" idx="2"/>
          </p:cNvCxnSpPr>
          <p:nvPr/>
        </p:nvCxnSpPr>
        <p:spPr>
          <a:xfrm flipV="1">
            <a:off x="969791" y="1697334"/>
            <a:ext cx="439106" cy="37335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4" idx="5"/>
            <a:endCxn id="8" idx="2"/>
          </p:cNvCxnSpPr>
          <p:nvPr/>
        </p:nvCxnSpPr>
        <p:spPr>
          <a:xfrm>
            <a:off x="969791" y="3675745"/>
            <a:ext cx="511114" cy="3978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209097" y="2156919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6" name="Oval 45"/>
          <p:cNvSpPr/>
          <p:nvPr/>
        </p:nvSpPr>
        <p:spPr>
          <a:xfrm>
            <a:off x="3209097" y="310149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47" name="Straight Arrow Connector 46"/>
          <p:cNvCxnSpPr>
            <a:stCxn id="11" idx="5"/>
            <a:endCxn id="45" idx="1"/>
          </p:cNvCxnSpPr>
          <p:nvPr/>
        </p:nvCxnSpPr>
        <p:spPr>
          <a:xfrm>
            <a:off x="3135280" y="1873586"/>
            <a:ext cx="147634" cy="35715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5" idx="5"/>
            <a:endCxn id="16" idx="0"/>
          </p:cNvCxnSpPr>
          <p:nvPr/>
        </p:nvCxnSpPr>
        <p:spPr>
          <a:xfrm>
            <a:off x="3639336" y="2587158"/>
            <a:ext cx="619125" cy="123788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2" idx="7"/>
            <a:endCxn id="46" idx="3"/>
          </p:cNvCxnSpPr>
          <p:nvPr/>
        </p:nvCxnSpPr>
        <p:spPr>
          <a:xfrm flipV="1">
            <a:off x="3207288" y="3531729"/>
            <a:ext cx="75626" cy="36169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6" idx="7"/>
            <a:endCxn id="15" idx="3"/>
          </p:cNvCxnSpPr>
          <p:nvPr/>
        </p:nvCxnSpPr>
        <p:spPr>
          <a:xfrm flipV="1">
            <a:off x="3639336" y="1879017"/>
            <a:ext cx="368906" cy="129629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438481" y="212825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52" name="Oval 51"/>
          <p:cNvSpPr/>
          <p:nvPr/>
        </p:nvSpPr>
        <p:spPr>
          <a:xfrm>
            <a:off x="4438481" y="307282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53" name="Straight Arrow Connector 52"/>
          <p:cNvCxnSpPr>
            <a:stCxn id="15" idx="5"/>
            <a:endCxn id="51" idx="1"/>
          </p:cNvCxnSpPr>
          <p:nvPr/>
        </p:nvCxnSpPr>
        <p:spPr>
          <a:xfrm>
            <a:off x="4364664" y="1879017"/>
            <a:ext cx="147634" cy="32305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1" idx="5"/>
            <a:endCxn id="20" idx="1"/>
          </p:cNvCxnSpPr>
          <p:nvPr/>
        </p:nvCxnSpPr>
        <p:spPr>
          <a:xfrm>
            <a:off x="4868720" y="2558492"/>
            <a:ext cx="425169" cy="1338408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6" idx="7"/>
            <a:endCxn id="52" idx="3"/>
          </p:cNvCxnSpPr>
          <p:nvPr/>
        </p:nvCxnSpPr>
        <p:spPr>
          <a:xfrm flipV="1">
            <a:off x="4436672" y="3503063"/>
            <a:ext cx="75626" cy="39579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7"/>
            <a:endCxn id="19" idx="3"/>
          </p:cNvCxnSpPr>
          <p:nvPr/>
        </p:nvCxnSpPr>
        <p:spPr>
          <a:xfrm flipV="1">
            <a:off x="4868720" y="1877058"/>
            <a:ext cx="353161" cy="12695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705117" y="212825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8" name="Oval 57"/>
          <p:cNvSpPr/>
          <p:nvPr/>
        </p:nvSpPr>
        <p:spPr>
          <a:xfrm>
            <a:off x="5705117" y="307282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59" name="Straight Arrow Connector 58"/>
          <p:cNvCxnSpPr>
            <a:stCxn id="19" idx="5"/>
            <a:endCxn id="57" idx="1"/>
          </p:cNvCxnSpPr>
          <p:nvPr/>
        </p:nvCxnSpPr>
        <p:spPr>
          <a:xfrm>
            <a:off x="5578303" y="1877058"/>
            <a:ext cx="200631" cy="32501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7" idx="5"/>
            <a:endCxn id="24" idx="0"/>
          </p:cNvCxnSpPr>
          <p:nvPr/>
        </p:nvCxnSpPr>
        <p:spPr>
          <a:xfrm>
            <a:off x="6135356" y="2558492"/>
            <a:ext cx="571377" cy="126655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0" idx="7"/>
            <a:endCxn id="58" idx="3"/>
          </p:cNvCxnSpPr>
          <p:nvPr/>
        </p:nvCxnSpPr>
        <p:spPr>
          <a:xfrm flipV="1">
            <a:off x="5650311" y="3503063"/>
            <a:ext cx="128623" cy="39383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8" idx="7"/>
            <a:endCxn id="23" idx="3"/>
          </p:cNvCxnSpPr>
          <p:nvPr/>
        </p:nvCxnSpPr>
        <p:spPr>
          <a:xfrm flipV="1">
            <a:off x="6135356" y="1879017"/>
            <a:ext cx="321158" cy="12676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886753" y="212825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64" name="Oval 63"/>
          <p:cNvSpPr/>
          <p:nvPr/>
        </p:nvSpPr>
        <p:spPr>
          <a:xfrm>
            <a:off x="6886753" y="3072824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65" name="Straight Arrow Connector 64"/>
          <p:cNvCxnSpPr>
            <a:stCxn id="23" idx="5"/>
            <a:endCxn id="63" idx="1"/>
          </p:cNvCxnSpPr>
          <p:nvPr/>
        </p:nvCxnSpPr>
        <p:spPr>
          <a:xfrm>
            <a:off x="6812936" y="1879017"/>
            <a:ext cx="147634" cy="32305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63" idx="5"/>
            <a:endCxn id="28" idx="0"/>
          </p:cNvCxnSpPr>
          <p:nvPr/>
        </p:nvCxnSpPr>
        <p:spPr>
          <a:xfrm>
            <a:off x="7316992" y="2558492"/>
            <a:ext cx="547118" cy="126459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24" idx="7"/>
            <a:endCxn id="64" idx="3"/>
          </p:cNvCxnSpPr>
          <p:nvPr/>
        </p:nvCxnSpPr>
        <p:spPr>
          <a:xfrm flipV="1">
            <a:off x="6884944" y="3503063"/>
            <a:ext cx="75626" cy="39579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4" idx="7"/>
            <a:endCxn id="27" idx="4"/>
          </p:cNvCxnSpPr>
          <p:nvPr/>
        </p:nvCxnSpPr>
        <p:spPr>
          <a:xfrm flipV="1">
            <a:off x="7316992" y="1950875"/>
            <a:ext cx="475110" cy="119576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223107" y="1996873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70" name="Oval 69"/>
          <p:cNvSpPr/>
          <p:nvPr/>
        </p:nvSpPr>
        <p:spPr>
          <a:xfrm>
            <a:off x="8223107" y="3245506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71" name="Straight Arrow Connector 70"/>
          <p:cNvCxnSpPr>
            <a:stCxn id="27" idx="6"/>
            <a:endCxn id="69" idx="1"/>
          </p:cNvCxnSpPr>
          <p:nvPr/>
        </p:nvCxnSpPr>
        <p:spPr>
          <a:xfrm>
            <a:off x="8044130" y="1698847"/>
            <a:ext cx="252794" cy="37184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28" idx="7"/>
            <a:endCxn id="70" idx="3"/>
          </p:cNvCxnSpPr>
          <p:nvPr/>
        </p:nvCxnSpPr>
        <p:spPr>
          <a:xfrm flipV="1">
            <a:off x="8042321" y="3675745"/>
            <a:ext cx="254603" cy="22115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9" idx="5"/>
          </p:cNvCxnSpPr>
          <p:nvPr/>
        </p:nvCxnSpPr>
        <p:spPr>
          <a:xfrm>
            <a:off x="8653346" y="2427112"/>
            <a:ext cx="167126" cy="233863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70" idx="7"/>
          </p:cNvCxnSpPr>
          <p:nvPr/>
        </p:nvCxnSpPr>
        <p:spPr>
          <a:xfrm flipV="1">
            <a:off x="8653346" y="2957475"/>
            <a:ext cx="219553" cy="36184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0" y="2564075"/>
            <a:ext cx="137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Production</a:t>
            </a:r>
            <a:br>
              <a:rPr lang="en-US" altLang="ko-KR" b="1" dirty="0" smtClean="0"/>
            </a:br>
            <a:r>
              <a:rPr lang="en-US" altLang="ko-KR" b="1" dirty="0" smtClean="0"/>
              <a:t>Start</a:t>
            </a:r>
            <a:endParaRPr lang="ko-KR" altLang="en-US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7795276" y="2564904"/>
            <a:ext cx="137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Production</a:t>
            </a:r>
            <a:br>
              <a:rPr lang="en-US" altLang="ko-KR" b="1" dirty="0" smtClean="0"/>
            </a:br>
            <a:r>
              <a:rPr lang="en-US" altLang="ko-KR" b="1" dirty="0" smtClean="0"/>
              <a:t>End</a:t>
            </a:r>
            <a:endParaRPr lang="ko-KR" altLang="en-US" b="1" dirty="0"/>
          </a:p>
        </p:txBody>
      </p:sp>
      <p:cxnSp>
        <p:nvCxnSpPr>
          <p:cNvPr id="78" name="Straight Arrow Connector 77"/>
          <p:cNvCxnSpPr>
            <a:stCxn id="8" idx="6"/>
            <a:endCxn id="12" idx="2"/>
          </p:cNvCxnSpPr>
          <p:nvPr/>
        </p:nvCxnSpPr>
        <p:spPr>
          <a:xfrm flipV="1">
            <a:off x="1984961" y="4071639"/>
            <a:ext cx="792088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2" idx="6"/>
            <a:endCxn id="16" idx="2"/>
          </p:cNvCxnSpPr>
          <p:nvPr/>
        </p:nvCxnSpPr>
        <p:spPr>
          <a:xfrm>
            <a:off x="3281105" y="4071639"/>
            <a:ext cx="725328" cy="543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16" idx="6"/>
            <a:endCxn id="20" idx="2"/>
          </p:cNvCxnSpPr>
          <p:nvPr/>
        </p:nvCxnSpPr>
        <p:spPr>
          <a:xfrm flipV="1">
            <a:off x="4510489" y="4075111"/>
            <a:ext cx="709583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20" idx="6"/>
            <a:endCxn id="24" idx="2"/>
          </p:cNvCxnSpPr>
          <p:nvPr/>
        </p:nvCxnSpPr>
        <p:spPr>
          <a:xfrm>
            <a:off x="5724128" y="4075111"/>
            <a:ext cx="730577" cy="195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24" idx="6"/>
            <a:endCxn id="28" idx="2"/>
          </p:cNvCxnSpPr>
          <p:nvPr/>
        </p:nvCxnSpPr>
        <p:spPr>
          <a:xfrm flipV="1">
            <a:off x="6958761" y="4075111"/>
            <a:ext cx="653321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" idx="6"/>
            <a:endCxn id="11" idx="2"/>
          </p:cNvCxnSpPr>
          <p:nvPr/>
        </p:nvCxnSpPr>
        <p:spPr>
          <a:xfrm flipV="1">
            <a:off x="1912953" y="1695375"/>
            <a:ext cx="792088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11" idx="6"/>
            <a:endCxn id="15" idx="2"/>
          </p:cNvCxnSpPr>
          <p:nvPr/>
        </p:nvCxnSpPr>
        <p:spPr>
          <a:xfrm>
            <a:off x="3209097" y="1695375"/>
            <a:ext cx="725328" cy="543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15" idx="6"/>
            <a:endCxn id="19" idx="2"/>
          </p:cNvCxnSpPr>
          <p:nvPr/>
        </p:nvCxnSpPr>
        <p:spPr>
          <a:xfrm flipV="1">
            <a:off x="4438481" y="1698847"/>
            <a:ext cx="709583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19" idx="6"/>
            <a:endCxn id="23" idx="2"/>
          </p:cNvCxnSpPr>
          <p:nvPr/>
        </p:nvCxnSpPr>
        <p:spPr>
          <a:xfrm>
            <a:off x="5652120" y="1698847"/>
            <a:ext cx="730577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3" idx="6"/>
            <a:endCxn id="27" idx="2"/>
          </p:cNvCxnSpPr>
          <p:nvPr/>
        </p:nvCxnSpPr>
        <p:spPr>
          <a:xfrm flipV="1">
            <a:off x="6886753" y="1698847"/>
            <a:ext cx="653321" cy="195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686150" y="5373216"/>
          <a:ext cx="36967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  <a:gridCol w="480137"/>
                <a:gridCol w="528100"/>
                <a:gridCol w="528100"/>
                <a:gridCol w="528100"/>
                <a:gridCol w="528100"/>
                <a:gridCol w="5281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Time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35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37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/>
          </p:nvPr>
        </p:nvGraphicFramePr>
        <p:xfrm>
          <a:off x="4769572" y="5373216"/>
          <a:ext cx="363984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1"/>
                <a:gridCol w="463895"/>
                <a:gridCol w="519978"/>
                <a:gridCol w="519978"/>
                <a:gridCol w="519978"/>
                <a:gridCol w="519978"/>
                <a:gridCol w="51997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Trace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5" name="Rectangular Callout 94"/>
          <p:cNvSpPr/>
          <p:nvPr/>
        </p:nvSpPr>
        <p:spPr>
          <a:xfrm>
            <a:off x="5994958" y="4829682"/>
            <a:ext cx="3041538" cy="399518"/>
          </a:xfrm>
          <a:prstGeom prst="wedgeRectCallout">
            <a:avLst>
              <a:gd name="adj1" fmla="val -20833"/>
              <a:gd name="adj2" fmla="val 758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u="sng" dirty="0" smtClean="0"/>
              <a:t>Used for retrace purpose</a:t>
            </a:r>
            <a:endParaRPr lang="ko-KR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424753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13" y="231031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Viterbi Decoding </a:t>
            </a:r>
            <a:br>
              <a:rPr lang="en-US" altLang="ko-KR" dirty="0" smtClean="0"/>
            </a:br>
            <a:r>
              <a:rPr lang="en-US" altLang="ko-KR" dirty="0" smtClean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9725" y="1695664"/>
                <a:ext cx="8435280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Need to know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Time X States</a:t>
                </a:r>
              </a:p>
              <a:p>
                <a:pPr lvl="1"/>
                <a:r>
                  <a:rPr lang="en-US" altLang="ko-KR" dirty="0" smtClean="0"/>
                  <a:t>Store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 smtClean="0"/>
                  <a:t>Two variables to store the trace and the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probability up to time </a:t>
                </a:r>
                <a:r>
                  <a:rPr lang="en-US" altLang="ko-KR" i="1" dirty="0" smtClean="0"/>
                  <a:t>t</a:t>
                </a:r>
                <a:r>
                  <a:rPr lang="en-US" altLang="ko-KR" dirty="0" smtClean="0"/>
                  <a:t>: Two </a:t>
                </a:r>
                <a:r>
                  <a:rPr lang="en-US" altLang="ko-KR" dirty="0" err="1" smtClean="0"/>
                  <a:t>memoization</a:t>
                </a:r>
                <a:r>
                  <a:rPr lang="en-US" altLang="ko-KR" dirty="0" smtClean="0"/>
                  <a:t> tables</a:t>
                </a:r>
              </a:p>
              <a:p>
                <a:pPr lvl="1"/>
                <a:r>
                  <a:rPr lang="en-US" altLang="ko-KR" dirty="0" smtClean="0"/>
                  <a:t>Answering </a:t>
                </a:r>
                <a:r>
                  <a:rPr lang="en-US" altLang="ko-KR" dirty="0"/>
                  <a:t>the </a:t>
                </a:r>
                <a:r>
                  <a:rPr lang="en-US" altLang="ko-KR" dirty="0" smtClean="0"/>
                  <a:t>decoding question with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ko-KR" dirty="0"/>
                  <a:t>, X</a:t>
                </a:r>
              </a:p>
              <a:p>
                <a:r>
                  <a:rPr lang="en-US" altLang="ko-KR" dirty="0" err="1" smtClean="0"/>
                  <a:t>ViterbiDecodingAlgorithm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Initialize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Iterate until time T</a:t>
                </a:r>
                <a:endParaRPr lang="en-US" altLang="ko-KR" i="1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𝑖𝑑𝑥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𝑡𝑟𝑎𝑐𝑒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 smtClean="0"/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𝑡𝑟𝑎𝑐𝑒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sSubSup>
                          <m:sSub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sup>
                    </m:sSubSup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Technical difficulties in the </a:t>
                </a:r>
                <a:r>
                  <a:rPr lang="en-US" altLang="ko-KR" dirty="0" err="1" smtClean="0"/>
                  <a:t>implemtation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Very frequent underflow problems.</a:t>
                </a:r>
              </a:p>
              <a:p>
                <a:pPr lvl="1"/>
                <a:r>
                  <a:rPr lang="en-US" altLang="ko-KR" dirty="0" smtClean="0"/>
                  <a:t>Turn this into the log domain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from multiplication to summation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725" y="1695664"/>
                <a:ext cx="8435280" cy="4925144"/>
              </a:xfrm>
              <a:blipFill rotWithShape="0">
                <a:blip r:embed="rId2"/>
                <a:stretch>
                  <a:fillRect t="-17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807" y="-1"/>
            <a:ext cx="3515193" cy="2290593"/>
          </a:xfrm>
          <a:prstGeom prst="rect">
            <a:avLst/>
          </a:prstGeom>
        </p:spPr>
      </p:pic>
      <p:sp>
        <p:nvSpPr>
          <p:cNvPr id="88" name="Freeform 87"/>
          <p:cNvSpPr/>
          <p:nvPr/>
        </p:nvSpPr>
        <p:spPr>
          <a:xfrm>
            <a:off x="4601980" y="2286000"/>
            <a:ext cx="2136099" cy="2293495"/>
          </a:xfrm>
          <a:custGeom>
            <a:avLst/>
            <a:gdLst>
              <a:gd name="connsiteX0" fmla="*/ 0 w 2136099"/>
              <a:gd name="connsiteY0" fmla="*/ 2293495 h 2293495"/>
              <a:gd name="connsiteX1" fmla="*/ 1776335 w 2136099"/>
              <a:gd name="connsiteY1" fmla="*/ 1791325 h 2293495"/>
              <a:gd name="connsiteX2" fmla="*/ 2136099 w 2136099"/>
              <a:gd name="connsiteY2" fmla="*/ 0 h 2293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6099" h="2293495">
                <a:moveTo>
                  <a:pt x="0" y="2293495"/>
                </a:moveTo>
                <a:cubicBezTo>
                  <a:pt x="710159" y="2233534"/>
                  <a:pt x="1420319" y="2173574"/>
                  <a:pt x="1776335" y="1791325"/>
                </a:cubicBezTo>
                <a:cubicBezTo>
                  <a:pt x="2132351" y="1409076"/>
                  <a:pt x="2134225" y="704538"/>
                  <a:pt x="2136099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Freeform 88"/>
          <p:cNvSpPr/>
          <p:nvPr/>
        </p:nvSpPr>
        <p:spPr>
          <a:xfrm>
            <a:off x="4489554" y="2300990"/>
            <a:ext cx="3687580" cy="2777065"/>
          </a:xfrm>
          <a:custGeom>
            <a:avLst/>
            <a:gdLst>
              <a:gd name="connsiteX0" fmla="*/ 0 w 3687580"/>
              <a:gd name="connsiteY0" fmla="*/ 2660754 h 2777065"/>
              <a:gd name="connsiteX1" fmla="*/ 2750695 w 3687580"/>
              <a:gd name="connsiteY1" fmla="*/ 2465882 h 2777065"/>
              <a:gd name="connsiteX2" fmla="*/ 3687580 w 3687580"/>
              <a:gd name="connsiteY2" fmla="*/ 0 h 277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7580" h="2777065">
                <a:moveTo>
                  <a:pt x="0" y="2660754"/>
                </a:moveTo>
                <a:cubicBezTo>
                  <a:pt x="1068049" y="2785047"/>
                  <a:pt x="2136098" y="2909341"/>
                  <a:pt x="2750695" y="2465882"/>
                </a:cubicBezTo>
                <a:cubicBezTo>
                  <a:pt x="3365292" y="2022423"/>
                  <a:pt x="3526436" y="1011211"/>
                  <a:pt x="3687580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392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5205</TotalTime>
  <Words>285</Words>
  <Application>Microsoft Office PowerPoint</Application>
  <PresentationFormat>On-screen Show (4:3)</PresentationFormat>
  <Paragraphs>199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Hidden Markov Model</vt:lpstr>
      <vt:lpstr>Weekly Objectives</vt:lpstr>
      <vt:lpstr>Viterbi decoding</vt:lpstr>
      <vt:lpstr>Viterbi Decoding</vt:lpstr>
      <vt:lpstr>Detour: Assembly  Line Scheduling </vt:lpstr>
      <vt:lpstr>Detour: Tracing Assembly Line Scheduling in DP</vt:lpstr>
      <vt:lpstr>Viterbi Decoding 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Il-Chul Moon</cp:lastModifiedBy>
  <cp:revision>385</cp:revision>
  <dcterms:created xsi:type="dcterms:W3CDTF">2013-08-14T02:12:56Z</dcterms:created>
  <dcterms:modified xsi:type="dcterms:W3CDTF">2015-08-27T01:28:46Z</dcterms:modified>
</cp:coreProperties>
</file>